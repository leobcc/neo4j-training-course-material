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slideMaster" Target="../slideMasters/slideMaster1.xml"/><Relationship Id="rId6" Type="http://schemas.openxmlformats.org/officeDocument/2006/relationships/oleObject" Target="../embeddings/oleObject3.bin"/><Relationship Id="rId7"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 Id="rId14" Type="http://schemas.openxmlformats.org/officeDocument/2006/relationships/hyperlink" Target="http://www.capgemini.com/" TargetMode="External"/><Relationship Id="rId15"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pic>
        <p:nvPicPr>
          <p:cNvPr id="2" name="Picture 1" descr="swirl.png"/>
          <p:cNvPicPr>
            <a:picLocks noChangeAspect="1"/>
          </p:cNvPicPr>
          <p:nvPr/>
        </p:nvPicPr>
        <p:blipFill>
          <a:blip r:embed="rId2"/>
          <a:stretch>
            <a:fillRect/>
          </a:stretch>
        </p:blipFill>
        <p:spPr>
          <a:xfrm>
            <a:off x="4306824" y="3008376"/>
            <a:ext cx="8055864" cy="3849624"/>
          </a:xfrm>
          <a:prstGeom prst="rect">
            <a:avLst/>
          </a:prstGeom>
        </p:spPr>
      </p:pic>
      <p:sp>
        <p:nvSpPr>
          <p:cNvPr id="3" name="Rectangle 2"/>
          <p:cNvSpPr/>
          <p:nvPr/>
        </p:nvSpPr>
        <p:spPr>
          <a:xfrm>
            <a:off x="731520" y="2743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88720"/>
            <a:ext cx="10058400" cy="1097280"/>
          </a:xfrm>
          <a:prstGeom prst="rect">
            <a:avLst/>
          </a:prstGeom>
          <a:noFill/>
        </p:spPr>
        <p:txBody>
          <a:bodyPr wrap="square">
            <a:spAutoFit/>
          </a:bodyPr>
          <a:lstStyle/>
          <a:p>
            <a:pPr algn="ctr">
              <a:defRPr sz="4600" b="1">
                <a:solidFill>
                  <a:srgbClr val="F0C040"/>
                </a:solidFill>
                <a:latin typeface="Calibri"/>
              </a:defRPr>
            </a:pPr>
            <a:r>
              <a:t>Neo4j Fondamentali</a:t>
            </a:r>
          </a:p>
        </p:txBody>
      </p:sp>
      <p:sp>
        <p:nvSpPr>
          <p:cNvPr id="5" name="TextBox 4"/>
          <p:cNvSpPr txBox="1"/>
          <p:nvPr/>
        </p:nvSpPr>
        <p:spPr>
          <a:xfrm>
            <a:off x="914400" y="3017520"/>
            <a:ext cx="10058400" cy="731520"/>
          </a:xfrm>
          <a:prstGeom prst="rect">
            <a:avLst/>
          </a:prstGeom>
          <a:noFill/>
        </p:spPr>
        <p:txBody>
          <a:bodyPr wrap="square">
            <a:spAutoFit/>
          </a:bodyPr>
          <a:lstStyle/>
          <a:p>
            <a:pPr algn="ctr">
              <a:defRPr sz="2600" b="0">
                <a:solidFill>
                  <a:srgbClr val="FFFFFF"/>
                </a:solidFill>
                <a:latin typeface="Calibri"/>
              </a:defRPr>
            </a:pPr>
            <a:r>
              <a:t>Sessione 1: Primi Passi con i Grafi</a:t>
            </a:r>
          </a:p>
        </p:txBody>
      </p:sp>
      <p:sp>
        <p:nvSpPr>
          <p:cNvPr id="6" name="TextBox 5"/>
          <p:cNvSpPr txBox="1"/>
          <p:nvPr/>
        </p:nvSpPr>
        <p:spPr>
          <a:xfrm>
            <a:off x="914400" y="4389120"/>
            <a:ext cx="10058400" cy="457200"/>
          </a:xfrm>
          <a:prstGeom prst="rect">
            <a:avLst/>
          </a:prstGeom>
          <a:noFill/>
        </p:spPr>
        <p:txBody>
          <a:bodyPr wrap="square">
            <a:spAutoFit/>
          </a:bodyPr>
          <a:lstStyle/>
          <a:p>
            <a:pPr algn="ctr">
              <a:defRPr sz="1700" b="0">
                <a:solidFill>
                  <a:srgbClr val="CCCCCC"/>
                </a:solidFill>
                <a:latin typeface="Calibri"/>
              </a:defRPr>
            </a:pPr>
            <a:r>
              <a:t>Database a grafo, Cypher e l’ecosistema Neo4j</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Agenda</a:t>
            </a:r>
          </a:p>
        </p:txBody>
      </p:sp>
      <p:sp>
        <p:nvSpPr>
          <p:cNvPr id="3" name="TextBox 2"/>
          <p:cNvSpPr txBox="1"/>
          <p:nvPr/>
        </p:nvSpPr>
        <p:spPr>
          <a:xfrm>
            <a:off x="731520" y="1188720"/>
            <a:ext cx="8595360" cy="365760"/>
          </a:xfrm>
          <a:prstGeom prst="rect">
            <a:avLst/>
          </a:prstGeom>
          <a:noFill/>
        </p:spPr>
        <p:txBody>
          <a:bodyPr wrap="square">
            <a:spAutoFit/>
          </a:bodyPr>
          <a:lstStyle/>
          <a:p>
            <a:pPr algn="l">
              <a:defRPr sz="1800" b="1">
                <a:solidFill>
                  <a:srgbClr val="F08040"/>
                </a:solidFill>
                <a:latin typeface="Calibri"/>
              </a:defRPr>
            </a:pPr>
            <a:r>
              <a:t>Teoria</a:t>
            </a:r>
          </a:p>
        </p:txBody>
      </p:sp>
      <p:sp>
        <p:nvSpPr>
          <p:cNvPr id="4" name="TextBox 3"/>
          <p:cNvSpPr txBox="1"/>
          <p:nvPr/>
        </p:nvSpPr>
        <p:spPr>
          <a:xfrm>
            <a:off x="73152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Cosa sono i database a grafo</a:t>
            </a:r>
          </a:p>
          <a:p>
            <a:pPr algn="l">
              <a:spcAft>
                <a:spcPts val="1300"/>
              </a:spcAft>
              <a:defRPr sz="1500">
                <a:solidFill>
                  <a:srgbClr val="FFFFFF"/>
                </a:solidFill>
                <a:latin typeface="Calibri"/>
              </a:defRPr>
            </a:pPr>
            <a:r>
              <a:t>•  Property Graph Model</a:t>
            </a:r>
          </a:p>
          <a:p>
            <a:pPr algn="l">
              <a:spcAft>
                <a:spcPts val="1300"/>
              </a:spcAft>
              <a:defRPr sz="1500">
                <a:solidFill>
                  <a:srgbClr val="FFFFFF"/>
                </a:solidFill>
                <a:latin typeface="Calibri"/>
              </a:defRPr>
            </a:pPr>
            <a:r>
              <a:t>•  Ecosistema Neo4j</a:t>
            </a:r>
          </a:p>
          <a:p>
            <a:pPr algn="l">
              <a:spcAft>
                <a:spcPts val="1300"/>
              </a:spcAft>
              <a:defRPr sz="1500">
                <a:solidFill>
                  <a:srgbClr val="FFFFFF"/>
                </a:solidFill>
                <a:latin typeface="Calibri"/>
              </a:defRPr>
            </a:pPr>
            <a:r>
              <a:t>•  Connettersi con Python</a:t>
            </a:r>
          </a:p>
          <a:p>
            <a:pPr algn="l">
              <a:spcAft>
                <a:spcPts val="1300"/>
              </a:spcAft>
              <a:defRPr sz="1500">
                <a:solidFill>
                  <a:srgbClr val="FFFFFF"/>
                </a:solidFill>
                <a:latin typeface="Calibri"/>
              </a:defRPr>
            </a:pPr>
            <a:r>
              <a:t>•  Cypher: pattern matching</a:t>
            </a:r>
          </a:p>
        </p:txBody>
      </p:sp>
      <p:sp>
        <p:nvSpPr>
          <p:cNvPr id="5" name="TextBox 4"/>
          <p:cNvSpPr txBox="1"/>
          <p:nvPr/>
        </p:nvSpPr>
        <p:spPr>
          <a:xfrm>
            <a:off x="4754880" y="1188720"/>
            <a:ext cx="3840480" cy="365760"/>
          </a:xfrm>
          <a:prstGeom prst="rect">
            <a:avLst/>
          </a:prstGeom>
          <a:noFill/>
        </p:spPr>
        <p:txBody>
          <a:bodyPr wrap="square">
            <a:spAutoFit/>
          </a:bodyPr>
          <a:lstStyle/>
          <a:p>
            <a:pPr algn="l">
              <a:defRPr sz="1800" b="1">
                <a:solidFill>
                  <a:srgbClr val="F08040"/>
                </a:solidFill>
                <a:latin typeface="Calibri"/>
              </a:defRPr>
            </a:pPr>
            <a:r>
              <a:t>Pratica</a:t>
            </a:r>
          </a:p>
        </p:txBody>
      </p:sp>
      <p:sp>
        <p:nvSpPr>
          <p:cNvPr id="6" name="TextBox 5"/>
          <p:cNvSpPr txBox="1"/>
          <p:nvPr/>
        </p:nvSpPr>
        <p:spPr>
          <a:xfrm>
            <a:off x="475488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Cypher: leggere e scrivere dati</a:t>
            </a:r>
          </a:p>
          <a:p>
            <a:pPr algn="l">
              <a:spcAft>
                <a:spcPts val="1300"/>
              </a:spcAft>
              <a:defRPr sz="1500">
                <a:solidFill>
                  <a:srgbClr val="FFFFFF"/>
                </a:solidFill>
                <a:latin typeface="Calibri"/>
              </a:defRPr>
            </a:pPr>
            <a:r>
              <a:t>•  Vincoli e integrità</a:t>
            </a:r>
          </a:p>
          <a:p>
            <a:pPr algn="l">
              <a:spcAft>
                <a:spcPts val="1300"/>
              </a:spcAft>
              <a:defRPr sz="1500">
                <a:solidFill>
                  <a:srgbClr val="FFFFFF"/>
                </a:solidFill>
                <a:latin typeface="Calibri"/>
              </a:defRPr>
            </a:pPr>
            <a:r>
              <a:t>•  Strategie di caricamento</a:t>
            </a:r>
          </a:p>
          <a:p>
            <a:pPr algn="l">
              <a:spcAft>
                <a:spcPts val="1300"/>
              </a:spcAft>
              <a:defRPr sz="1500">
                <a:solidFill>
                  <a:srgbClr val="FFFFFF"/>
                </a:solidFill>
                <a:latin typeface="Calibri"/>
              </a:defRPr>
            </a:pPr>
            <a:r>
              <a:t>•  Indici e performance</a:t>
            </a:r>
          </a:p>
          <a:p>
            <a:pPr algn="l">
              <a:spcAft>
                <a:spcPts val="1300"/>
              </a:spcAft>
              <a:defRPr sz="1500">
                <a:solidFill>
                  <a:srgbClr val="FFFFFF"/>
                </a:solidFill>
                <a:latin typeface="Calibri"/>
              </a:defRPr>
            </a:pPr>
            <a:r>
              <a:t>•  Visualizzare il grafo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Cosa sono i database a grafo?</a:t>
            </a:r>
          </a:p>
        </p:txBody>
      </p:sp>
      <p:sp>
        <p:nvSpPr>
          <p:cNvPr id="3" name="TextBox 2"/>
          <p:cNvSpPr txBox="1"/>
          <p:nvPr/>
        </p:nvSpPr>
        <p:spPr>
          <a:xfrm>
            <a:off x="731520" y="1143000"/>
            <a:ext cx="8595360" cy="2103120"/>
          </a:xfrm>
          <a:prstGeom prst="rect">
            <a:avLst/>
          </a:prstGeom>
          <a:noFill/>
        </p:spPr>
        <p:txBody>
          <a:bodyPr wrap="square">
            <a:spAutoFit/>
          </a:bodyPr>
          <a:lstStyle/>
          <a:p>
            <a:pPr algn="l">
              <a:spcAft>
                <a:spcPts val="1400"/>
              </a:spcAft>
              <a:defRPr sz="1600">
                <a:solidFill>
                  <a:srgbClr val="FFFFFF"/>
                </a:solidFill>
                <a:latin typeface="Calibri"/>
              </a:defRPr>
            </a:pPr>
            <a:r>
              <a:t>•  Rappresentano dati come nodi (entità) e relazioni (connessioni)</a:t>
            </a:r>
          </a:p>
          <a:p>
            <a:pPr algn="l">
              <a:spcAft>
                <a:spcPts val="1400"/>
              </a:spcAft>
              <a:defRPr sz="1600">
                <a:solidFill>
                  <a:srgbClr val="FFFFFF"/>
                </a:solidFill>
                <a:latin typeface="Calibri"/>
              </a:defRPr>
            </a:pPr>
            <a:r>
              <a:t>•  Le relazioni sono cittadini di prima classe — non calcolate via JOIN</a:t>
            </a:r>
          </a:p>
          <a:p>
            <a:pPr algn="l">
              <a:spcAft>
                <a:spcPts val="1400"/>
              </a:spcAft>
              <a:defRPr sz="1600">
                <a:solidFill>
                  <a:srgbClr val="FFFFFF"/>
                </a:solidFill>
                <a:latin typeface="Calibri"/>
              </a:defRPr>
            </a:pPr>
            <a:r>
              <a:t>•  Ogni nodo/relazione può avere proprietà (coppie chiave-valore)</a:t>
            </a:r>
          </a:p>
          <a:p>
            <a:pPr algn="l">
              <a:spcAft>
                <a:spcPts val="1400"/>
              </a:spcAft>
              <a:defRPr sz="1600">
                <a:solidFill>
                  <a:srgbClr val="FFFFFF"/>
                </a:solidFill>
                <a:latin typeface="Calibri"/>
              </a:defRPr>
            </a:pPr>
            <a:r>
              <a:t>•  Ideali per: gerarchie, reti sociali, raccomandazioni, frodi, grafi della conoscenza</a:t>
            </a:r>
          </a:p>
        </p:txBody>
      </p:sp>
      <p:sp>
        <p:nvSpPr>
          <p:cNvPr id="4" name="Rectangle 3"/>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03320"/>
            <a:ext cx="8595360" cy="411480"/>
          </a:xfrm>
          <a:prstGeom prst="rect">
            <a:avLst/>
          </a:prstGeom>
          <a:noFill/>
        </p:spPr>
        <p:txBody>
          <a:bodyPr wrap="square">
            <a:spAutoFit/>
          </a:bodyPr>
          <a:lstStyle/>
          <a:p>
            <a:pPr algn="l">
              <a:defRPr sz="2000" b="1">
                <a:solidFill>
                  <a:srgbClr val="F08040"/>
                </a:solidFill>
                <a:latin typeface="Calibri"/>
              </a:defRPr>
            </a:pPr>
            <a:r>
              <a:t>Differenza chiave: DB relazionali vs grafo</a:t>
            </a:r>
          </a:p>
        </p:txBody>
      </p:sp>
      <p:sp>
        <p:nvSpPr>
          <p:cNvPr id="6" name="TextBox 5"/>
          <p:cNvSpPr txBox="1"/>
          <p:nvPr/>
        </p:nvSpPr>
        <p:spPr>
          <a:xfrm>
            <a:off x="731520" y="4206240"/>
            <a:ext cx="8595360" cy="2286000"/>
          </a:xfrm>
          <a:prstGeom prst="rect">
            <a:avLst/>
          </a:prstGeom>
          <a:noFill/>
        </p:spPr>
        <p:txBody>
          <a:bodyPr wrap="square">
            <a:spAutoFit/>
          </a:bodyPr>
          <a:lstStyle/>
          <a:p>
            <a:pPr algn="l">
              <a:spcAft>
                <a:spcPts val="800"/>
              </a:spcAft>
              <a:defRPr sz="1400">
                <a:solidFill>
                  <a:srgbClr val="CCCCCC"/>
                </a:solidFill>
                <a:latin typeface="Calibri"/>
              </a:defRPr>
            </a:pPr>
            <a:r>
              <a:t>•  SQL: JOIN su tabelle → costo cresce con profondità delle relazioni</a:t>
            </a:r>
          </a:p>
          <a:p>
            <a:pPr algn="l">
              <a:spcAft>
                <a:spcPts val="800"/>
              </a:spcAft>
              <a:defRPr sz="1400">
                <a:solidFill>
                  <a:srgbClr val="CCCCCC"/>
                </a:solidFill>
                <a:latin typeface="Calibri"/>
              </a:defRPr>
            </a:pPr>
            <a:r>
              <a:t>•  Grafo: le relazioni sono puntatori diretti → traversal in O(1)</a:t>
            </a:r>
          </a:p>
          <a:p>
            <a:pPr algn="l">
              <a:spcAft>
                <a:spcPts val="800"/>
              </a:spcAft>
              <a:defRPr sz="1400">
                <a:solidFill>
                  <a:srgbClr val="CCCCCC"/>
                </a:solidFill>
                <a:latin typeface="Calibri"/>
              </a:defRPr>
            </a:pPr>
            <a:r>
              <a:t>•  Esempio: “trova cosa hanno in comune 2 persone” → pochi hop nel grafo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Il Property Graph Model</a:t>
            </a:r>
          </a:p>
        </p:txBody>
      </p:sp>
      <p:sp>
        <p:nvSpPr>
          <p:cNvPr id="3" name="TextBox 2"/>
          <p:cNvSpPr txBox="1"/>
          <p:nvPr/>
        </p:nvSpPr>
        <p:spPr>
          <a:xfrm>
            <a:off x="731520" y="1097280"/>
            <a:ext cx="3840480" cy="411480"/>
          </a:xfrm>
          <a:prstGeom prst="rect">
            <a:avLst/>
          </a:prstGeom>
          <a:noFill/>
        </p:spPr>
        <p:txBody>
          <a:bodyPr wrap="square">
            <a:spAutoFit/>
          </a:bodyPr>
          <a:lstStyle/>
          <a:p>
            <a:pPr algn="l">
              <a:defRPr sz="2000" b="1">
                <a:solidFill>
                  <a:srgbClr val="F08040"/>
                </a:solidFill>
                <a:latin typeface="Calibri"/>
              </a:defRPr>
            </a:pPr>
            <a:r>
              <a:t>Nodi</a:t>
            </a:r>
          </a:p>
        </p:txBody>
      </p:sp>
      <p:sp>
        <p:nvSpPr>
          <p:cNvPr id="4" name="TextBox 3"/>
          <p:cNvSpPr txBox="1"/>
          <p:nvPr/>
        </p:nvSpPr>
        <p:spPr>
          <a:xfrm>
            <a:off x="731520" y="1554480"/>
            <a:ext cx="3840480" cy="1645920"/>
          </a:xfrm>
          <a:prstGeom prst="rect">
            <a:avLst/>
          </a:prstGeom>
          <a:noFill/>
        </p:spPr>
        <p:txBody>
          <a:bodyPr wrap="square">
            <a:spAutoFit/>
          </a:bodyPr>
          <a:lstStyle/>
          <a:p>
            <a:pPr algn="l">
              <a:spcAft>
                <a:spcPts val="800"/>
              </a:spcAft>
              <a:defRPr sz="1400">
                <a:solidFill>
                  <a:srgbClr val="FFFFFF"/>
                </a:solidFill>
                <a:latin typeface="Calibri"/>
              </a:defRPr>
            </a:pPr>
            <a:r>
              <a:t>•  Entità: persone, progetti, skills, luoghi</a:t>
            </a:r>
          </a:p>
          <a:p>
            <a:pPr algn="l">
              <a:spcAft>
                <a:spcPts val="800"/>
              </a:spcAft>
              <a:defRPr sz="1400">
                <a:solidFill>
                  <a:srgbClr val="FFFFFF"/>
                </a:solidFill>
                <a:latin typeface="Calibri"/>
              </a:defRPr>
            </a:pPr>
            <a:r>
              <a:t>•  Etichette (labels): :Person, :Project, :Skill</a:t>
            </a:r>
          </a:p>
          <a:p>
            <a:pPr algn="l">
              <a:spcAft>
                <a:spcPts val="800"/>
              </a:spcAft>
              <a:defRPr sz="1400">
                <a:solidFill>
                  <a:srgbClr val="FFFFFF"/>
                </a:solidFill>
                <a:latin typeface="Calibri"/>
              </a:defRPr>
            </a:pPr>
            <a:r>
              <a:t>•  Proprietà: coppie chiave-valore</a:t>
            </a:r>
          </a:p>
          <a:p>
            <a:pPr algn="l">
              <a:spcAft>
                <a:spcPts val="800"/>
              </a:spcAft>
              <a:defRPr sz="1400">
                <a:solidFill>
                  <a:srgbClr val="FFFFFF"/>
                </a:solidFill>
                <a:latin typeface="Calibri"/>
              </a:defRPr>
            </a:pPr>
            <a:r>
              <a:t>•  Un nodo può avere più labels</a:t>
            </a:r>
          </a:p>
        </p:txBody>
      </p:sp>
      <p:sp>
        <p:nvSpPr>
          <p:cNvPr id="5" name="TextBox 4"/>
          <p:cNvSpPr txBox="1"/>
          <p:nvPr/>
        </p:nvSpPr>
        <p:spPr>
          <a:xfrm>
            <a:off x="4754880" y="1097280"/>
            <a:ext cx="3840480" cy="411480"/>
          </a:xfrm>
          <a:prstGeom prst="rect">
            <a:avLst/>
          </a:prstGeom>
          <a:noFill/>
        </p:spPr>
        <p:txBody>
          <a:bodyPr wrap="square">
            <a:spAutoFit/>
          </a:bodyPr>
          <a:lstStyle/>
          <a:p>
            <a:pPr algn="l">
              <a:defRPr sz="2000" b="1">
                <a:solidFill>
                  <a:srgbClr val="F08040"/>
                </a:solidFill>
                <a:latin typeface="Calibri"/>
              </a:defRPr>
            </a:pPr>
            <a:r>
              <a:t>Relazioni</a:t>
            </a:r>
          </a:p>
        </p:txBody>
      </p:sp>
      <p:sp>
        <p:nvSpPr>
          <p:cNvPr id="6" name="TextBox 5"/>
          <p:cNvSpPr txBox="1"/>
          <p:nvPr/>
        </p:nvSpPr>
        <p:spPr>
          <a:xfrm>
            <a:off x="4754880" y="1554480"/>
            <a:ext cx="3840480" cy="1645920"/>
          </a:xfrm>
          <a:prstGeom prst="rect">
            <a:avLst/>
          </a:prstGeom>
          <a:noFill/>
        </p:spPr>
        <p:txBody>
          <a:bodyPr wrap="square">
            <a:spAutoFit/>
          </a:bodyPr>
          <a:lstStyle/>
          <a:p>
            <a:pPr algn="l">
              <a:spcAft>
                <a:spcPts val="800"/>
              </a:spcAft>
              <a:defRPr sz="1400">
                <a:solidFill>
                  <a:srgbClr val="FFFFFF"/>
                </a:solidFill>
                <a:latin typeface="Calibri"/>
              </a:defRPr>
            </a:pPr>
            <a:r>
              <a:t>•  Collegano due nodi con direzione</a:t>
            </a:r>
          </a:p>
          <a:p>
            <a:pPr algn="l">
              <a:spcAft>
                <a:spcPts val="800"/>
              </a:spcAft>
              <a:defRPr sz="1400">
                <a:solidFill>
                  <a:srgbClr val="FFFFFF"/>
                </a:solidFill>
                <a:latin typeface="Calibri"/>
              </a:defRPr>
            </a:pPr>
            <a:r>
              <a:t>•  Tipo: HAS_SKILL, WORKED_ON, REPORTS_TO</a:t>
            </a:r>
          </a:p>
          <a:p>
            <a:pPr algn="l">
              <a:spcAft>
                <a:spcPts val="800"/>
              </a:spcAft>
              <a:defRPr sz="1400">
                <a:solidFill>
                  <a:srgbClr val="FFFFFF"/>
                </a:solidFill>
                <a:latin typeface="Calibri"/>
              </a:defRPr>
            </a:pPr>
            <a:r>
              <a:t>•  Possono avere proprietà (proficiency, anno)</a:t>
            </a:r>
          </a:p>
          <a:p>
            <a:pPr algn="l">
              <a:spcAft>
                <a:spcPts val="800"/>
              </a:spcAft>
              <a:defRPr sz="1400">
                <a:solidFill>
                  <a:srgbClr val="FFFFFF"/>
                </a:solidFill>
                <a:latin typeface="Calibri"/>
              </a:defRPr>
            </a:pPr>
            <a:r>
              <a:t>•  Sempre un inizio e una fine (grafo diretto)</a:t>
            </a:r>
          </a:p>
        </p:txBody>
      </p:sp>
      <p:sp>
        <p:nvSpPr>
          <p:cNvPr id="7" name="Rectangle 6"/>
          <p:cNvSpPr/>
          <p:nvPr/>
        </p:nvSpPr>
        <p:spPr>
          <a:xfrm>
            <a:off x="731520" y="356616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749039"/>
            <a:ext cx="8595360" cy="365760"/>
          </a:xfrm>
          <a:prstGeom prst="rect">
            <a:avLst/>
          </a:prstGeom>
          <a:noFill/>
        </p:spPr>
        <p:txBody>
          <a:bodyPr wrap="square">
            <a:spAutoFit/>
          </a:bodyPr>
          <a:lstStyle/>
          <a:p>
            <a:pPr algn="l">
              <a:defRPr sz="1600" b="1">
                <a:solidFill>
                  <a:srgbClr val="F0C040"/>
                </a:solidFill>
                <a:latin typeface="Calibri"/>
              </a:defRPr>
            </a:pPr>
            <a:r>
              <a:t>Pattern Cypher (notazione ASCII-art):</a:t>
            </a:r>
          </a:p>
        </p:txBody>
      </p:sp>
      <p:sp>
        <p:nvSpPr>
          <p:cNvPr id="9" name="Rectangle 8"/>
          <p:cNvSpPr/>
          <p:nvPr/>
        </p:nvSpPr>
        <p:spPr>
          <a:xfrm>
            <a:off x="731520" y="4251960"/>
            <a:ext cx="8229600" cy="20116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325112"/>
            <a:ext cx="8010144" cy="1865376"/>
          </a:xfrm>
          <a:prstGeom prst="rect">
            <a:avLst/>
          </a:prstGeom>
          <a:noFill/>
        </p:spPr>
        <p:txBody>
          <a:bodyPr wrap="square">
            <a:spAutoFit/>
          </a:bodyPr>
          <a:lstStyle/>
          <a:p>
            <a:pPr>
              <a:spcAft>
                <a:spcPts val="100"/>
              </a:spcAft>
              <a:defRPr sz="1200">
                <a:solidFill>
                  <a:srgbClr val="7EC68E"/>
                </a:solidFill>
                <a:latin typeface="Consolas"/>
              </a:defRPr>
            </a:pPr>
            <a:r>
              <a:t>(:Person {nome: "Alice"})            // nodo con label e proprietà</a:t>
            </a:r>
          </a:p>
          <a:p>
            <a:pPr>
              <a:spcAft>
                <a:spcPts val="100"/>
              </a:spcAft>
              <a:defRPr sz="1200">
                <a:solidFill>
                  <a:srgbClr val="7EC68E"/>
                </a:solidFill>
                <a:latin typeface="Consolas"/>
              </a:defRPr>
            </a:pPr>
            <a:r>
              <a:t>    |</a:t>
            </a:r>
          </a:p>
          <a:p>
            <a:pPr>
              <a:spcAft>
                <a:spcPts val="100"/>
              </a:spcAft>
              <a:defRPr sz="1200">
                <a:solidFill>
                  <a:srgbClr val="7EC68E"/>
                </a:solidFill>
                <a:latin typeface="Consolas"/>
              </a:defRPr>
            </a:pPr>
            <a:r>
              <a:t>  [:HAS_SKILL {livello: "Senior"}]   // relazione con proprietà</a:t>
            </a:r>
          </a:p>
          <a:p>
            <a:pPr>
              <a:spcAft>
                <a:spcPts val="100"/>
              </a:spcAft>
              <a:defRPr sz="1200">
                <a:solidFill>
                  <a:srgbClr val="7EC68E"/>
                </a:solidFill>
                <a:latin typeface="Consolas"/>
              </a:defRPr>
            </a:pPr>
            <a:r>
              <a:t>    └─▶ (:Skill {nome: "Python"})        // nodo destinazione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Perché Neo4j?</a:t>
            </a:r>
          </a:p>
        </p:txBody>
      </p:sp>
      <p:sp>
        <p:nvSpPr>
          <p:cNvPr id="3" name="TextBox 2"/>
          <p:cNvSpPr txBox="1"/>
          <p:nvPr/>
        </p:nvSpPr>
        <p:spPr>
          <a:xfrm>
            <a:off x="731520" y="1143000"/>
            <a:ext cx="8595360" cy="5029200"/>
          </a:xfrm>
          <a:prstGeom prst="rect">
            <a:avLst/>
          </a:prstGeom>
          <a:noFill/>
        </p:spPr>
        <p:txBody>
          <a:bodyPr wrap="square">
            <a:spAutoFit/>
          </a:bodyPr>
          <a:lstStyle/>
          <a:p>
            <a:pPr algn="l">
              <a:spcAft>
                <a:spcPts val="1300"/>
              </a:spcAft>
              <a:defRPr sz="1500">
                <a:solidFill>
                  <a:srgbClr val="FFFFFF"/>
                </a:solidFill>
                <a:latin typeface="Calibri"/>
              </a:defRPr>
            </a:pPr>
            <a:r>
              <a:t>•  Native graph storage — architettura ottimizzata per grafi</a:t>
            </a:r>
          </a:p>
          <a:p>
            <a:pPr algn="l">
              <a:spcAft>
                <a:spcPts val="1300"/>
              </a:spcAft>
              <a:defRPr sz="1500">
                <a:solidFill>
                  <a:srgbClr val="FFFFFF"/>
                </a:solidFill>
                <a:latin typeface="Calibri"/>
              </a:defRPr>
            </a:pPr>
            <a:r>
              <a:t>•  Cypher: linguaggio dichiarativo pattern-based (standard de-facto)</a:t>
            </a:r>
          </a:p>
          <a:p>
            <a:pPr algn="l">
              <a:spcAft>
                <a:spcPts val="1300"/>
              </a:spcAft>
              <a:defRPr sz="1500">
                <a:solidFill>
                  <a:srgbClr val="FFFFFF"/>
                </a:solidFill>
                <a:latin typeface="Calibri"/>
              </a:defRPr>
            </a:pPr>
            <a:r>
              <a:t>•  ACID compliant — transazioni complete con rollback</a:t>
            </a:r>
          </a:p>
          <a:p>
            <a:pPr algn="l">
              <a:spcAft>
                <a:spcPts val="1300"/>
              </a:spcAft>
              <a:defRPr sz="1500">
                <a:solidFill>
                  <a:srgbClr val="FFFFFF"/>
                </a:solidFill>
                <a:latin typeface="Calibri"/>
              </a:defRPr>
            </a:pPr>
            <a:r>
              <a:t>•  Index-free adjacency — traversal senza lookup di indice</a:t>
            </a:r>
          </a:p>
          <a:p>
            <a:pPr algn="l">
              <a:spcAft>
                <a:spcPts val="1300"/>
              </a:spcAft>
              <a:defRPr sz="1500">
                <a:solidFill>
                  <a:srgbClr val="FFFFFF"/>
                </a:solidFill>
                <a:latin typeface="Calibri"/>
              </a:defRPr>
            </a:pPr>
            <a:r>
              <a:t>•  Ecosistema ricco: AuraDB, Browser, Bloom, Workspace, Drivers</a:t>
            </a:r>
          </a:p>
          <a:p>
            <a:pPr algn="l">
              <a:spcAft>
                <a:spcPts val="1300"/>
              </a:spcAft>
              <a:defRPr sz="1500">
                <a:solidFill>
                  <a:srgbClr val="FFFFFF"/>
                </a:solidFill>
                <a:latin typeface="Calibri"/>
              </a:defRPr>
            </a:pPr>
            <a:r>
              <a:t>•  Open source (Community) + Enterprise (clustering, backup)</a:t>
            </a:r>
          </a:p>
          <a:p>
            <a:pPr algn="l">
              <a:spcAft>
                <a:spcPts val="1300"/>
              </a:spcAft>
              <a:defRPr sz="1500">
                <a:solidFill>
                  <a:srgbClr val="FFFFFF"/>
                </a:solidFill>
                <a:latin typeface="Calibri"/>
              </a:defRPr>
            </a:pPr>
            <a:r>
              <a:t>•  OPENCypher → standard ISO (GQL in arrivo)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L’Ecosistema Neo4j</a:t>
            </a:r>
          </a:p>
        </p:txBody>
      </p:sp>
      <p:sp>
        <p:nvSpPr>
          <p:cNvPr id="3" name="TextBox 2"/>
          <p:cNvSpPr txBox="1"/>
          <p:nvPr/>
        </p:nvSpPr>
        <p:spPr>
          <a:xfrm>
            <a:off x="731520" y="1143000"/>
            <a:ext cx="8595360" cy="4572000"/>
          </a:xfrm>
          <a:prstGeom prst="rect">
            <a:avLst/>
          </a:prstGeom>
          <a:noFill/>
        </p:spPr>
        <p:txBody>
          <a:bodyPr wrap="square">
            <a:spAutoFit/>
          </a:bodyPr>
          <a:lstStyle/>
          <a:p>
            <a:pPr algn="l">
              <a:spcAft>
                <a:spcPts val="1300"/>
              </a:spcAft>
              <a:defRPr sz="1500">
                <a:solidFill>
                  <a:srgbClr val="FFFFFF"/>
                </a:solidFill>
                <a:latin typeface="Calibri"/>
              </a:defRPr>
            </a:pPr>
            <a:r>
              <a:t>•  Neo4j Browser — UI web per Cypher (localhost:7474)</a:t>
            </a:r>
          </a:p>
          <a:p>
            <a:pPr algn="l">
              <a:spcAft>
                <a:spcPts val="1300"/>
              </a:spcAft>
              <a:defRPr sz="1500">
                <a:solidFill>
                  <a:srgbClr val="FFFFFF"/>
                </a:solidFill>
                <a:latin typeface="Calibri"/>
              </a:defRPr>
            </a:pPr>
            <a:r>
              <a:t>•  Neo4j AuraDB — cloud managed (Free Tier: 200k nodi)</a:t>
            </a:r>
          </a:p>
          <a:p>
            <a:pPr algn="l">
              <a:spcAft>
                <a:spcPts val="1300"/>
              </a:spcAft>
              <a:defRPr sz="1500">
                <a:solidFill>
                  <a:srgbClr val="FFFFFF"/>
                </a:solidFill>
                <a:latin typeface="Calibri"/>
              </a:defRPr>
            </a:pPr>
            <a:r>
              <a:t>•  Neo4j Bloom — visualizzazione senza scrivere Cypher</a:t>
            </a:r>
          </a:p>
          <a:p>
            <a:pPr algn="l">
              <a:spcAft>
                <a:spcPts val="1300"/>
              </a:spcAft>
              <a:defRPr sz="1500">
                <a:solidFill>
                  <a:srgbClr val="FFFFFF"/>
                </a:solidFill>
                <a:latin typeface="Calibri"/>
              </a:defRPr>
            </a:pPr>
            <a:r>
              <a:t>•  Neo4j Workspace — modellazione collaborativa</a:t>
            </a:r>
          </a:p>
          <a:p>
            <a:pPr algn="l">
              <a:spcAft>
                <a:spcPts val="1300"/>
              </a:spcAft>
              <a:defRPr sz="1500">
                <a:solidFill>
                  <a:srgbClr val="FFFFFF"/>
                </a:solidFill>
                <a:latin typeface="Calibri"/>
              </a:defRPr>
            </a:pPr>
            <a:r>
              <a:t>•  Neo4j Desktop — dev environment locale</a:t>
            </a:r>
          </a:p>
          <a:p>
            <a:pPr algn="l">
              <a:spcAft>
                <a:spcPts val="1300"/>
              </a:spcAft>
              <a:defRPr sz="1500">
                <a:solidFill>
                  <a:srgbClr val="FFFFFF"/>
                </a:solidFill>
                <a:latin typeface="Calibri"/>
              </a:defRPr>
            </a:pPr>
            <a:r>
              <a:t>•  Drivers: Python, Java, JavaScript, Go, .NET, 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Connettersi a Neo4j con Python</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500">
                <a:solidFill>
                  <a:srgbClr val="FFFFFF"/>
                </a:solidFill>
                <a:latin typeface="Calibri"/>
              </a:defRPr>
            </a:pPr>
            <a:r>
              <a:t>•  Driver ufficiale: pip install neo4j</a:t>
            </a:r>
          </a:p>
          <a:p>
            <a:pPr algn="l">
              <a:spcAft>
                <a:spcPts val="800"/>
              </a:spcAft>
              <a:defRPr sz="1500">
                <a:solidFill>
                  <a:srgbClr val="FFFFFF"/>
                </a:solidFill>
                <a:latin typeface="Calibri"/>
              </a:defRPr>
            </a:pPr>
            <a:r>
              <a:t>•  Pattern: GraphDatabase.driver(URI, auth=(user, password))</a:t>
            </a:r>
          </a:p>
          <a:p>
            <a:pPr algn="l">
              <a:spcAft>
                <a:spcPts val="800"/>
              </a:spcAft>
              <a:defRPr sz="1500">
                <a:solidFill>
                  <a:srgbClr val="FFFFFF"/>
                </a:solidFill>
                <a:latin typeface="Calibri"/>
              </a:defRPr>
            </a:pPr>
            <a:r>
              <a:t>•  Driver mantiene un pool di connessioni (thread-safe)</a:t>
            </a:r>
          </a:p>
          <a:p>
            <a:pPr algn="l">
              <a:spcAft>
                <a:spcPts val="800"/>
              </a:spcAft>
              <a:defRPr sz="1500">
                <a:solidFill>
                  <a:srgbClr val="FFFFFF"/>
                </a:solidFill>
                <a:latin typeface="Calibri"/>
              </a:defRPr>
            </a:pPr>
            <a:r>
              <a:t>•  Usare context manager o driver.close()</a:t>
            </a:r>
          </a:p>
        </p:txBody>
      </p:sp>
      <p:sp>
        <p:nvSpPr>
          <p:cNvPr id="4" name="Rectangle 3"/>
          <p:cNvSpPr/>
          <p:nvPr/>
        </p:nvSpPr>
        <p:spPr>
          <a:xfrm>
            <a:off x="731520" y="2834640"/>
            <a:ext cx="8595360" cy="32004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907792"/>
            <a:ext cx="8375904" cy="3054096"/>
          </a:xfrm>
          <a:prstGeom prst="rect">
            <a:avLst/>
          </a:prstGeom>
          <a:noFill/>
        </p:spPr>
        <p:txBody>
          <a:bodyPr wrap="square">
            <a:spAutoFit/>
          </a:bodyPr>
          <a:lstStyle/>
          <a:p>
            <a:pPr>
              <a:spcAft>
                <a:spcPts val="100"/>
              </a:spcAft>
              <a:defRPr sz="1100">
                <a:solidFill>
                  <a:srgbClr val="7EC68E"/>
                </a:solidFill>
                <a:latin typeface="Consolas"/>
              </a:defRPr>
            </a:pPr>
            <a:r>
              <a:t>from neo4j import GraphDatabase</a:t>
            </a:r>
          </a:p>
          <a:p>
            <a:pPr>
              <a:spcAft>
                <a:spcPts val="100"/>
              </a:spcAft>
              <a:defRPr sz="1100">
                <a:solidFill>
                  <a:srgbClr val="7EC68E"/>
                </a:solidFill>
                <a:latin typeface="Consolas"/>
              </a:defRPr>
            </a:pPr>
            <a:r>
              <a:t>import os</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URI  = os.getenv("NEO4J_URI", "bolt://localhost:7687")</a:t>
            </a:r>
          </a:p>
          <a:p>
            <a:pPr>
              <a:spcAft>
                <a:spcPts val="100"/>
              </a:spcAft>
              <a:defRPr sz="1100">
                <a:solidFill>
                  <a:srgbClr val="7EC68E"/>
                </a:solidFill>
                <a:latin typeface="Consolas"/>
              </a:defRPr>
            </a:pPr>
            <a:r>
              <a:t>USER = os.getenv("NEO4J_USERNAME", "neo4j")</a:t>
            </a:r>
          </a:p>
          <a:p>
            <a:pPr>
              <a:spcAft>
                <a:spcPts val="100"/>
              </a:spcAft>
              <a:defRPr sz="1100">
                <a:solidFill>
                  <a:srgbClr val="7EC68E"/>
                </a:solidFill>
                <a:latin typeface="Consolas"/>
              </a:defRPr>
            </a:pPr>
            <a:r>
              <a:t>PASS = os.getenv("NEO4J_PASSWORD", "password")</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driver = GraphDatabase.driver(URI, auth=(USER, PASS))</a:t>
            </a:r>
          </a:p>
          <a:p>
            <a:pPr>
              <a:spcAft>
                <a:spcPts val="100"/>
              </a:spcAft>
              <a:defRPr sz="1100">
                <a:solidFill>
                  <a:srgbClr val="7EC68E"/>
                </a:solidFill>
                <a:latin typeface="Consolas"/>
              </a:defRPr>
            </a:pPr>
            <a:r>
              <a:t>driver.verify_connectivity()</a:t>
            </a:r>
          </a:p>
          <a:p>
            <a:pPr>
              <a:spcAft>
                <a:spcPts val="100"/>
              </a:spcAft>
              <a:defRPr sz="1100">
                <a:solidFill>
                  <a:srgbClr val="7EC68E"/>
                </a:solidFill>
                <a:latin typeface="Consolas"/>
              </a:defRPr>
            </a:pPr>
            <a:r>
              <a:t># "Connected to neo4j!"</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records, _, _ = driver.execute_query(</a:t>
            </a:r>
          </a:p>
          <a:p>
            <a:pPr>
              <a:spcAft>
                <a:spcPts val="100"/>
              </a:spcAft>
              <a:defRPr sz="1100">
                <a:solidFill>
                  <a:srgbClr val="7EC68E"/>
                </a:solidFill>
                <a:latin typeface="Consolas"/>
              </a:defRPr>
            </a:pPr>
            <a:r>
              <a:t>    "MATCH (n) RETURN count(n) AS cnt")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Cypher: Pattern Matching</a:t>
            </a:r>
          </a:p>
        </p:txBody>
      </p:sp>
      <p:sp>
        <p:nvSpPr>
          <p:cNvPr id="3" name="TextBox 2"/>
          <p:cNvSpPr txBox="1"/>
          <p:nvPr/>
        </p:nvSpPr>
        <p:spPr>
          <a:xfrm>
            <a:off x="731520" y="1005840"/>
            <a:ext cx="8595360" cy="365760"/>
          </a:xfrm>
          <a:prstGeom prst="rect">
            <a:avLst/>
          </a:prstGeom>
          <a:noFill/>
        </p:spPr>
        <p:txBody>
          <a:bodyPr wrap="square">
            <a:spAutoFit/>
          </a:bodyPr>
          <a:lstStyle/>
          <a:p>
            <a:pPr algn="l">
              <a:defRPr sz="1400" b="0">
                <a:solidFill>
                  <a:srgbClr val="CCCCCC"/>
                </a:solidFill>
                <a:latin typeface="Calibri"/>
              </a:defRPr>
            </a:pPr>
            <a:r>
              <a:t>Cypher usa una sintassi ASCII-art per descrivere pattern nel grafo:</a:t>
            </a:r>
          </a:p>
        </p:txBody>
      </p:sp>
      <p:sp>
        <p:nvSpPr>
          <p:cNvPr id="4" name="TextBox 3"/>
          <p:cNvSpPr txBox="1"/>
          <p:nvPr/>
        </p:nvSpPr>
        <p:spPr>
          <a:xfrm>
            <a:off x="731520" y="1463040"/>
            <a:ext cx="3840480" cy="411480"/>
          </a:xfrm>
          <a:prstGeom prst="rect">
            <a:avLst/>
          </a:prstGeom>
          <a:noFill/>
        </p:spPr>
        <p:txBody>
          <a:bodyPr wrap="square">
            <a:spAutoFit/>
          </a:bodyPr>
          <a:lstStyle/>
          <a:p>
            <a:pPr algn="l">
              <a:defRPr sz="1800" b="1">
                <a:solidFill>
                  <a:srgbClr val="F08040"/>
                </a:solidFill>
                <a:latin typeface="Calibri"/>
              </a:defRPr>
            </a:pPr>
            <a:r>
              <a:t>Pattern per nodi</a:t>
            </a:r>
          </a:p>
        </p:txBody>
      </p:sp>
      <p:sp>
        <p:nvSpPr>
          <p:cNvPr id="5" name="Rectangle 4"/>
          <p:cNvSpPr/>
          <p:nvPr/>
        </p:nvSpPr>
        <p:spPr>
          <a:xfrm>
            <a:off x="731520" y="1920240"/>
            <a:ext cx="4023360" cy="128016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93392"/>
            <a:ext cx="3803904" cy="1133856"/>
          </a:xfrm>
          <a:prstGeom prst="rect">
            <a:avLst/>
          </a:prstGeom>
          <a:noFill/>
        </p:spPr>
        <p:txBody>
          <a:bodyPr wrap="square">
            <a:spAutoFit/>
          </a:bodyPr>
          <a:lstStyle/>
          <a:p>
            <a:pPr>
              <a:spcAft>
                <a:spcPts val="100"/>
              </a:spcAft>
              <a:defRPr sz="1100">
                <a:solidFill>
                  <a:srgbClr val="7EC68E"/>
                </a:solidFill>
                <a:latin typeface="Consolas"/>
              </a:defRPr>
            </a:pPr>
            <a:r>
              <a:t>(n)</a:t>
            </a:r>
          </a:p>
          <a:p>
            <a:pPr>
              <a:spcAft>
                <a:spcPts val="100"/>
              </a:spcAft>
              <a:defRPr sz="1100">
                <a:solidFill>
                  <a:srgbClr val="7EC68E"/>
                </a:solidFill>
                <a:latin typeface="Consolas"/>
              </a:defRPr>
            </a:pPr>
            <a:r>
              <a:t>(:Person)</a:t>
            </a:r>
          </a:p>
          <a:p>
            <a:pPr>
              <a:spcAft>
                <a:spcPts val="100"/>
              </a:spcAft>
              <a:defRPr sz="1100">
                <a:solidFill>
                  <a:srgbClr val="7EC68E"/>
                </a:solidFill>
                <a:latin typeface="Consolas"/>
              </a:defRPr>
            </a:pPr>
            <a:r>
              <a:t>(p:Person)</a:t>
            </a:r>
          </a:p>
          <a:p>
            <a:pPr>
              <a:spcAft>
                <a:spcPts val="100"/>
              </a:spcAft>
              <a:defRPr sz="1100">
                <a:solidFill>
                  <a:srgbClr val="7EC68E"/>
                </a:solidFill>
                <a:latin typeface="Consolas"/>
              </a:defRPr>
            </a:pPr>
            <a:r>
              <a:t>(p:Person {nome:"Alice"})</a:t>
            </a:r>
          </a:p>
        </p:txBody>
      </p:sp>
      <p:sp>
        <p:nvSpPr>
          <p:cNvPr id="7" name="TextBox 6"/>
          <p:cNvSpPr txBox="1"/>
          <p:nvPr/>
        </p:nvSpPr>
        <p:spPr>
          <a:xfrm>
            <a:off x="4754880" y="1463040"/>
            <a:ext cx="3840480" cy="411480"/>
          </a:xfrm>
          <a:prstGeom prst="rect">
            <a:avLst/>
          </a:prstGeom>
          <a:noFill/>
        </p:spPr>
        <p:txBody>
          <a:bodyPr wrap="square">
            <a:spAutoFit/>
          </a:bodyPr>
          <a:lstStyle/>
          <a:p>
            <a:pPr algn="l">
              <a:defRPr sz="1800" b="1">
                <a:solidFill>
                  <a:srgbClr val="F08040"/>
                </a:solidFill>
                <a:latin typeface="Calibri"/>
              </a:defRPr>
            </a:pPr>
            <a:r>
              <a:t>Pattern per relazioni</a:t>
            </a:r>
          </a:p>
        </p:txBody>
      </p:sp>
      <p:sp>
        <p:nvSpPr>
          <p:cNvPr id="8" name="Rectangle 7"/>
          <p:cNvSpPr/>
          <p:nvPr/>
        </p:nvSpPr>
        <p:spPr>
          <a:xfrm>
            <a:off x="4754880" y="1920240"/>
            <a:ext cx="4023360" cy="128016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64608" y="1993392"/>
            <a:ext cx="3803904" cy="1133856"/>
          </a:xfrm>
          <a:prstGeom prst="rect">
            <a:avLst/>
          </a:prstGeom>
          <a:noFill/>
        </p:spPr>
        <p:txBody>
          <a:bodyPr wrap="square">
            <a:spAutoFit/>
          </a:bodyPr>
          <a:lstStyle/>
          <a:p>
            <a:pPr>
              <a:spcAft>
                <a:spcPts val="100"/>
              </a:spcAft>
              <a:defRPr sz="1100">
                <a:solidFill>
                  <a:srgbClr val="7EC68E"/>
                </a:solidFill>
                <a:latin typeface="Consolas"/>
              </a:defRPr>
            </a:pPr>
            <a:r>
              <a:t>(p)-[:HAS_SKILL]-&gt;(s)</a:t>
            </a:r>
          </a:p>
          <a:p>
            <a:pPr>
              <a:spcAft>
                <a:spcPts val="100"/>
              </a:spcAft>
              <a:defRPr sz="1100">
                <a:solidFill>
                  <a:srgbClr val="7EC68E"/>
                </a:solidFill>
                <a:latin typeface="Consolas"/>
              </a:defRPr>
            </a:pPr>
            <a:r>
              <a:t>(p)&lt;-[:REPORTS_TO]-(s)</a:t>
            </a:r>
          </a:p>
          <a:p>
            <a:pPr>
              <a:spcAft>
                <a:spcPts val="100"/>
              </a:spcAft>
              <a:defRPr sz="1100">
                <a:solidFill>
                  <a:srgbClr val="7EC68E"/>
                </a:solidFill>
                <a:latin typeface="Consolas"/>
              </a:defRPr>
            </a:pPr>
            <a:r>
              <a:t>(p)-[r:HAS_SKILL]-&gt;(s)</a:t>
            </a:r>
          </a:p>
          <a:p>
            <a:pPr>
              <a:spcAft>
                <a:spcPts val="100"/>
              </a:spcAft>
              <a:defRPr sz="1100">
                <a:solidFill>
                  <a:srgbClr val="7EC68E"/>
                </a:solidFill>
                <a:latin typeface="Consolas"/>
              </a:defRPr>
            </a:pPr>
            <a:r>
              <a:t>(p)-[r {livello:"Senior"}]-&gt;(s)</a:t>
            </a:r>
          </a:p>
        </p:txBody>
      </p:sp>
      <p:sp>
        <p:nvSpPr>
          <p:cNvPr id="10" name="Rectangle 9"/>
          <p:cNvSpPr/>
          <p:nvPr/>
        </p:nvSpPr>
        <p:spPr>
          <a:xfrm>
            <a:off x="731520" y="3520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749039"/>
            <a:ext cx="8595360" cy="365760"/>
          </a:xfrm>
          <a:prstGeom prst="rect">
            <a:avLst/>
          </a:prstGeom>
          <a:noFill/>
        </p:spPr>
        <p:txBody>
          <a:bodyPr wrap="square">
            <a:spAutoFit/>
          </a:bodyPr>
          <a:lstStyle/>
          <a:p>
            <a:pPr algn="l">
              <a:defRPr sz="1600" b="1">
                <a:solidFill>
                  <a:srgbClr val="F0C040"/>
                </a:solidFill>
                <a:latin typeface="Calibri"/>
              </a:defRPr>
            </a:pPr>
            <a:r>
              <a:t>Struttura base di una query:</a:t>
            </a:r>
          </a:p>
        </p:txBody>
      </p:sp>
      <p:sp>
        <p:nvSpPr>
          <p:cNvPr id="12" name="Rectangle 11"/>
          <p:cNvSpPr/>
          <p:nvPr/>
        </p:nvSpPr>
        <p:spPr>
          <a:xfrm>
            <a:off x="731520" y="4206240"/>
            <a:ext cx="8595360" cy="20116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279392"/>
            <a:ext cx="8375904" cy="1865376"/>
          </a:xfrm>
          <a:prstGeom prst="rect">
            <a:avLst/>
          </a:prstGeom>
          <a:noFill/>
        </p:spPr>
        <p:txBody>
          <a:bodyPr wrap="square">
            <a:spAutoFit/>
          </a:bodyPr>
          <a:lstStyle/>
          <a:p>
            <a:pPr>
              <a:spcAft>
                <a:spcPts val="100"/>
              </a:spcAft>
              <a:defRPr sz="1100">
                <a:solidFill>
                  <a:srgbClr val="7EC68E"/>
                </a:solidFill>
                <a:latin typeface="Consolas"/>
              </a:defRPr>
            </a:pPr>
            <a:r>
              <a:t>MATCH pattern   -- cerca nel grafo</a:t>
            </a:r>
          </a:p>
          <a:p>
            <a:pPr>
              <a:spcAft>
                <a:spcPts val="100"/>
              </a:spcAft>
              <a:defRPr sz="1100">
                <a:solidFill>
                  <a:srgbClr val="7EC68E"/>
                </a:solidFill>
                <a:latin typeface="Consolas"/>
              </a:defRPr>
            </a:pPr>
            <a:r>
              <a:t>WHERE condizione -- filtra (opzionale)</a:t>
            </a:r>
          </a:p>
          <a:p>
            <a:pPr>
              <a:spcAft>
                <a:spcPts val="100"/>
              </a:spcAft>
              <a:defRPr sz="1100">
                <a:solidFill>
                  <a:srgbClr val="7EC68E"/>
                </a:solidFill>
                <a:latin typeface="Consolas"/>
              </a:defRPr>
            </a:pPr>
            <a:r>
              <a:t>RETURN expr     -- proietta i risultati</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WHERE p.location = "Roma"</a:t>
            </a:r>
          </a:p>
          <a:p>
            <a:pPr>
              <a:spcAft>
                <a:spcPts val="100"/>
              </a:spcAft>
              <a:defRPr sz="1100">
                <a:solidFill>
                  <a:srgbClr val="7EC68E"/>
                </a:solidFill>
                <a:latin typeface="Consolas"/>
              </a:defRPr>
            </a:pPr>
            <a:r>
              <a:t>RETURN p.nome, p.eta</a:t>
            </a:r>
          </a:p>
          <a:p>
            <a:pPr>
              <a:spcAft>
                <a:spcPts val="100"/>
              </a:spcAft>
              <a:defRPr sz="1100">
                <a:solidFill>
                  <a:srgbClr val="7EC68E"/>
                </a:solidFill>
                <a:latin typeface="Consolas"/>
              </a:defRPr>
            </a:pPr>
            <a:r>
              <a:t>ORDER BY p.eta DESC LIMIT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Cypher: Leggere Dati</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MATCH + RETURN: struttura portante di Cypher</a:t>
            </a:r>
          </a:p>
          <a:p>
            <a:pPr algn="l">
              <a:spcAft>
                <a:spcPts val="800"/>
              </a:spcAft>
              <a:defRPr sz="1400">
                <a:solidFill>
                  <a:srgbClr val="FFFFFF"/>
                </a:solidFill>
                <a:latin typeface="Calibri"/>
              </a:defRPr>
            </a:pPr>
            <a:r>
              <a:t>•  WHERE con AND, OR, IN, CONTAINS, =, &gt;, &lt;, STARTS WITH</a:t>
            </a:r>
          </a:p>
          <a:p>
            <a:pPr algn="l">
              <a:spcAft>
                <a:spcPts val="800"/>
              </a:spcAft>
              <a:defRPr sz="1400">
                <a:solidFill>
                  <a:srgbClr val="FFFFFF"/>
                </a:solidFill>
                <a:latin typeface="Calibri"/>
              </a:defRPr>
            </a:pPr>
            <a:r>
              <a:t>•  Aggregazioni: count(), collect(), avg(), sum(), min(), max()</a:t>
            </a:r>
          </a:p>
          <a:p>
            <a:pPr algn="l">
              <a:spcAft>
                <a:spcPts val="800"/>
              </a:spcAft>
              <a:defRPr sz="1400">
                <a:solidFill>
                  <a:srgbClr val="FFFFFF"/>
                </a:solidFill>
                <a:latin typeface="Calibri"/>
              </a:defRPr>
            </a:pPr>
            <a:r>
              <a:t>•  Ordinamento: ORDER BY ... ASC/DESC, LIMIT, SKIP</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WHERE p.location = "Roma"</a:t>
            </a:r>
          </a:p>
          <a:p>
            <a:pPr>
              <a:spcAft>
                <a:spcPts val="100"/>
              </a:spcAft>
              <a:defRPr sz="1100">
                <a:solidFill>
                  <a:srgbClr val="7EC68E"/>
                </a:solidFill>
                <a:latin typeface="Consolas"/>
              </a:defRPr>
            </a:pPr>
            <a:r>
              <a:t>RETURN p.nome, p.eta</a:t>
            </a:r>
          </a:p>
          <a:p>
            <a:pPr>
              <a:spcAft>
                <a:spcPts val="100"/>
              </a:spcAft>
              <a:defRPr sz="1100">
                <a:solidFill>
                  <a:srgbClr val="7EC68E"/>
                </a:solidFill>
                <a:latin typeface="Consolas"/>
              </a:defRPr>
            </a:pPr>
            <a:r>
              <a:t>ORDER BY p.eta DESC LIMIT 10;</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MATCH (p:Person)-[:HAS_SKILL]-&gt;(s:Skill)</a:t>
            </a:r>
          </a:p>
          <a:p>
            <a:pPr>
              <a:spcAft>
                <a:spcPts val="100"/>
              </a:spcAft>
              <a:defRPr sz="1100">
                <a:solidFill>
                  <a:srgbClr val="7EC68E"/>
                </a:solidFill>
                <a:latin typeface="Consolas"/>
              </a:defRPr>
            </a:pPr>
            <a:r>
              <a:t>RETURN s.nome, count(*) AS persone</a:t>
            </a:r>
          </a:p>
          <a:p>
            <a:pPr>
              <a:spcAft>
                <a:spcPts val="100"/>
              </a:spcAft>
              <a:defRPr sz="1100">
                <a:solidFill>
                  <a:srgbClr val="7EC68E"/>
                </a:solidFill>
                <a:latin typeface="Consolas"/>
              </a:defRPr>
            </a:pPr>
            <a:r>
              <a:t>ORDER BY persone DESC;</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MATCH (p:Person)-[h:HAS_SKILL]-&gt;(s:Skill)</a:t>
            </a:r>
          </a:p>
          <a:p>
            <a:pPr>
              <a:spcAft>
                <a:spcPts val="100"/>
              </a:spcAft>
              <a:defRPr sz="1100">
                <a:solidFill>
                  <a:srgbClr val="7EC68E"/>
                </a:solidFill>
                <a:latin typeface="Consolas"/>
              </a:defRPr>
            </a:pPr>
            <a:r>
              <a:t>RETURN s.nome, avg(h.livello) AS media</a:t>
            </a:r>
          </a:p>
          <a:p>
            <a:pPr>
              <a:spcAft>
                <a:spcPts val="100"/>
              </a:spcAft>
              <a:defRPr sz="1100">
                <a:solidFill>
                  <a:srgbClr val="7EC68E"/>
                </a:solidFill>
                <a:latin typeface="Consolas"/>
              </a:defRPr>
            </a:pPr>
            <a:r>
              <a:t>ORDER BY media DESC;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Cypher: Scrivere Dati</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CREATE — crea nodi/relazioni (fallisce se già esiste)</a:t>
            </a:r>
          </a:p>
          <a:p>
            <a:pPr algn="l">
              <a:spcAft>
                <a:spcPts val="800"/>
              </a:spcAft>
              <a:defRPr sz="1400">
                <a:solidFill>
                  <a:srgbClr val="FFFFFF"/>
                </a:solidFill>
                <a:latin typeface="Calibri"/>
              </a:defRPr>
            </a:pPr>
            <a:r>
              <a:t>•  MERGE — cerca o crea (pattern match + insert if not exists)</a:t>
            </a:r>
          </a:p>
          <a:p>
            <a:pPr algn="l">
              <a:spcAft>
                <a:spcPts val="800"/>
              </a:spcAft>
              <a:defRPr sz="1400">
                <a:solidFill>
                  <a:srgbClr val="FFFFFF"/>
                </a:solidFill>
                <a:latin typeface="Calibri"/>
              </a:defRPr>
            </a:pPr>
            <a:r>
              <a:t>•  SET — aggiorna proprietà o ne aggiunge di nuove</a:t>
            </a:r>
          </a:p>
          <a:p>
            <a:pPr algn="l">
              <a:spcAft>
                <a:spcPts val="800"/>
              </a:spcAft>
              <a:defRPr sz="1400">
                <a:solidFill>
                  <a:srgbClr val="FFFFFF"/>
                </a:solidFill>
                <a:latin typeface="Calibri"/>
              </a:defRPr>
            </a:pPr>
            <a:r>
              <a:t>•  DELETE + DETACH DELETE — rimuove nodi</a:t>
            </a:r>
          </a:p>
        </p:txBody>
      </p:sp>
      <p:sp>
        <p:nvSpPr>
          <p:cNvPr id="4" name="Rectangle 3"/>
          <p:cNvSpPr/>
          <p:nvPr/>
        </p:nvSpPr>
        <p:spPr>
          <a:xfrm>
            <a:off x="731520" y="2743200"/>
            <a:ext cx="8229600" cy="32004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010144" cy="3054096"/>
          </a:xfrm>
          <a:prstGeom prst="rect">
            <a:avLst/>
          </a:prstGeom>
          <a:noFill/>
        </p:spPr>
        <p:txBody>
          <a:bodyPr wrap="square">
            <a:spAutoFit/>
          </a:bodyPr>
          <a:lstStyle/>
          <a:p>
            <a:pPr>
              <a:spcAft>
                <a:spcPts val="100"/>
              </a:spcAft>
              <a:defRPr sz="1100">
                <a:solidFill>
                  <a:srgbClr val="7EC68E"/>
                </a:solidFill>
                <a:latin typeface="Consolas"/>
              </a:defRPr>
            </a:pPr>
            <a:r>
              <a:t>CREATE (p:Person {id: 1, nome: "Alice", location: "Roma"});</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MERGE (p:Person {id: 1})</a:t>
            </a:r>
          </a:p>
          <a:p>
            <a:pPr>
              <a:spcAft>
                <a:spcPts val="100"/>
              </a:spcAft>
              <a:defRPr sz="1100">
                <a:solidFill>
                  <a:srgbClr val="7EC68E"/>
                </a:solidFill>
                <a:latin typeface="Consolas"/>
              </a:defRPr>
            </a:pPr>
            <a:r>
              <a:t>  SET p.nome = "Alice", p.location = "Roma";</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MATCH (p:Person {id: 1}), (s:Skill {nome: "Python"})</a:t>
            </a:r>
          </a:p>
          <a:p>
            <a:pPr>
              <a:spcAft>
                <a:spcPts val="100"/>
              </a:spcAft>
              <a:defRPr sz="1100">
                <a:solidFill>
                  <a:srgbClr val="7EC68E"/>
                </a:solidFill>
                <a:latin typeface="Consolas"/>
              </a:defRPr>
            </a:pPr>
            <a:r>
              <a:t>MERGE (p)-[h:HAS_SKILL]-&gt;(s)</a:t>
            </a:r>
          </a:p>
          <a:p>
            <a:pPr>
              <a:spcAft>
                <a:spcPts val="100"/>
              </a:spcAft>
              <a:defRPr sz="1100">
                <a:solidFill>
                  <a:srgbClr val="7EC68E"/>
                </a:solidFill>
                <a:latin typeface="Consolas"/>
              </a:defRPr>
            </a:pPr>
            <a:r>
              <a:t>  SET h.livello = "Senior";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Vincoli (Constraints)</a:t>
            </a:r>
          </a:p>
        </p:txBody>
      </p:sp>
      <p:sp>
        <p:nvSpPr>
          <p:cNvPr id="3" name="TextBox 2"/>
          <p:cNvSpPr txBox="1"/>
          <p:nvPr/>
        </p:nvSpPr>
        <p:spPr>
          <a:xfrm>
            <a:off x="731520" y="1051560"/>
            <a:ext cx="8595360" cy="2011680"/>
          </a:xfrm>
          <a:prstGeom prst="rect">
            <a:avLst/>
          </a:prstGeom>
          <a:noFill/>
        </p:spPr>
        <p:txBody>
          <a:bodyPr wrap="square">
            <a:spAutoFit/>
          </a:bodyPr>
          <a:lstStyle/>
          <a:p>
            <a:pPr algn="l">
              <a:spcAft>
                <a:spcPts val="800"/>
              </a:spcAft>
              <a:defRPr sz="1400">
                <a:solidFill>
                  <a:srgbClr val="FFFFFF"/>
                </a:solidFill>
                <a:latin typeface="Calibri"/>
              </a:defRPr>
            </a:pPr>
            <a:r>
              <a:t>•  UNIQUE — unicità su una proprietà (es: Person.id)</a:t>
            </a:r>
          </a:p>
          <a:p>
            <a:pPr algn="l">
              <a:spcAft>
                <a:spcPts val="800"/>
              </a:spcAft>
              <a:defRPr sz="1400">
                <a:solidFill>
                  <a:srgbClr val="FFFFFF"/>
                </a:solidFill>
                <a:latin typeface="Calibri"/>
              </a:defRPr>
            </a:pPr>
            <a:r>
              <a:t>•  EXISTS — proprietà obbligatoria sempre presente</a:t>
            </a:r>
          </a:p>
          <a:p>
            <a:pPr algn="l">
              <a:spcAft>
                <a:spcPts val="800"/>
              </a:spcAft>
              <a:defRPr sz="1400">
                <a:solidFill>
                  <a:srgbClr val="FFFFFF"/>
                </a:solidFill>
                <a:latin typeface="Calibri"/>
              </a:defRPr>
            </a:pPr>
            <a:r>
              <a:t>•  Node Key — unicità + exists combinati</a:t>
            </a:r>
          </a:p>
          <a:p>
            <a:pPr algn="l">
              <a:spcAft>
                <a:spcPts val="800"/>
              </a:spcAft>
              <a:defRPr sz="1400">
                <a:solidFill>
                  <a:srgbClr val="FFFFFF"/>
                </a:solidFill>
                <a:latin typeface="Calibri"/>
              </a:defRPr>
            </a:pPr>
            <a:r>
              <a:t>•  CREATE CONSTRAINT ... IF NOT EXISTS</a:t>
            </a:r>
          </a:p>
          <a:p>
            <a:pPr algn="l">
              <a:spcAft>
                <a:spcPts val="800"/>
              </a:spcAft>
              <a:defRPr sz="1400">
                <a:solidFill>
                  <a:srgbClr val="FFFFFF"/>
                </a:solidFill>
                <a:latin typeface="Calibri"/>
              </a:defRPr>
            </a:pPr>
            <a:r>
              <a:t>•  Creare PRIMA del caricamento</a:t>
            </a:r>
          </a:p>
        </p:txBody>
      </p:sp>
      <p:sp>
        <p:nvSpPr>
          <p:cNvPr id="4" name="Rectangle 3"/>
          <p:cNvSpPr/>
          <p:nvPr/>
        </p:nvSpPr>
        <p:spPr>
          <a:xfrm>
            <a:off x="731520" y="3383280"/>
            <a:ext cx="822960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3456432"/>
            <a:ext cx="8010144" cy="2414016"/>
          </a:xfrm>
          <a:prstGeom prst="rect">
            <a:avLst/>
          </a:prstGeom>
          <a:noFill/>
        </p:spPr>
        <p:txBody>
          <a:bodyPr wrap="square">
            <a:spAutoFit/>
          </a:bodyPr>
          <a:lstStyle/>
          <a:p>
            <a:pPr>
              <a:spcAft>
                <a:spcPts val="100"/>
              </a:spcAft>
              <a:defRPr sz="1100">
                <a:solidFill>
                  <a:srgbClr val="7EC68E"/>
                </a:solidFill>
                <a:latin typeface="Consolas"/>
              </a:defRPr>
            </a:pPr>
            <a:r>
              <a:t>CREATE CONSTRAINT person_id IF NOT EXISTS</a:t>
            </a:r>
          </a:p>
          <a:p>
            <a:pPr>
              <a:spcAft>
                <a:spcPts val="100"/>
              </a:spcAft>
              <a:defRPr sz="1100">
                <a:solidFill>
                  <a:srgbClr val="7EC68E"/>
                </a:solidFill>
                <a:latin typeface="Consolas"/>
              </a:defRPr>
            </a:pPr>
            <a:r>
              <a:t>  FOR (p:Person) REQUIRE p.id IS UNIQUE;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Verificare i constraint:</a:t>
            </a:r>
          </a:p>
          <a:p>
            <a:pPr>
              <a:spcAft>
                <a:spcPts val="100"/>
              </a:spcAft>
              <a:defRPr sz="1100">
                <a:solidFill>
                  <a:srgbClr val="7EC68E"/>
                </a:solidFill>
                <a:latin typeface="Consolas"/>
              </a:defRPr>
            </a:pPr>
            <a:r>
              <a:t>SHOW CONSTRAINTS;</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SHOW INDEXES;  -- anche gli indici creati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Strategie di Caricamento</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Row-by-row: una query per ogni riga → N chiamate</a:t>
            </a:r>
          </a:p>
          <a:p>
            <a:pPr algn="l">
              <a:spcAft>
                <a:spcPts val="800"/>
              </a:spcAft>
              <a:defRPr sz="1400">
                <a:solidFill>
                  <a:srgbClr val="FFFFFF"/>
                </a:solidFill>
                <a:latin typeface="Calibri"/>
              </a:defRPr>
            </a:pPr>
            <a:r>
              <a:t>•  UNWIND batch: colleziona dati, invia in un’unica transazione</a:t>
            </a:r>
          </a:p>
          <a:p>
            <a:pPr algn="l">
              <a:spcAft>
                <a:spcPts val="800"/>
              </a:spcAft>
              <a:defRPr sz="1400">
                <a:solidFill>
                  <a:srgbClr val="FFFFFF"/>
                </a:solidFill>
                <a:latin typeface="Calibri"/>
              </a:defRPr>
            </a:pPr>
            <a:r>
              <a:t>•  MERGE evita duplicati, CREATE è più veloce ma rischioso</a:t>
            </a:r>
          </a:p>
          <a:p>
            <a:pPr algn="l">
              <a:spcAft>
                <a:spcPts val="800"/>
              </a:spcAft>
              <a:defRPr sz="1400">
                <a:solidFill>
                  <a:srgbClr val="FFFFFF"/>
                </a:solidFill>
                <a:latin typeface="Calibri"/>
              </a:defRPr>
            </a:pPr>
            <a:r>
              <a:t>•  Sempre batch con UNWIND + MERGE per dati nuovi</a:t>
            </a:r>
          </a:p>
        </p:txBody>
      </p:sp>
      <p:sp>
        <p:nvSpPr>
          <p:cNvPr id="4" name="Rectangle 3"/>
          <p:cNvSpPr/>
          <p:nvPr/>
        </p:nvSpPr>
        <p:spPr>
          <a:xfrm>
            <a:off x="731520" y="2743200"/>
            <a:ext cx="822960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010144" cy="3328416"/>
          </a:xfrm>
          <a:prstGeom prst="rect">
            <a:avLst/>
          </a:prstGeom>
          <a:noFill/>
        </p:spPr>
        <p:txBody>
          <a:bodyPr wrap="square">
            <a:spAutoFit/>
          </a:bodyPr>
          <a:lstStyle/>
          <a:p>
            <a:pPr>
              <a:spcAft>
                <a:spcPts val="100"/>
              </a:spcAft>
              <a:defRPr sz="1100">
                <a:solidFill>
                  <a:srgbClr val="7EC68E"/>
                </a:solidFill>
                <a:latin typeface="Consolas"/>
              </a:defRPr>
            </a:pPr>
            <a:r>
              <a:t># Collezione dati (Python):</a:t>
            </a:r>
          </a:p>
          <a:p>
            <a:pPr>
              <a:spcAft>
                <a:spcPts val="100"/>
              </a:spcAft>
              <a:defRPr sz="1100">
                <a:solidFill>
                  <a:srgbClr val="7EC68E"/>
                </a:solidFill>
                <a:latin typeface="Consolas"/>
              </a:defRPr>
            </a:pPr>
            <a:r>
              <a:t>batch = df[['id','nome','location']].to_dict("records")</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UNWIND bulk (Cypher):</a:t>
            </a:r>
          </a:p>
          <a:p>
            <a:pPr>
              <a:spcAft>
                <a:spcPts val="100"/>
              </a:spcAft>
              <a:defRPr sz="1100">
                <a:solidFill>
                  <a:srgbClr val="7EC68E"/>
                </a:solidFill>
                <a:latin typeface="Consolas"/>
              </a:defRPr>
            </a:pPr>
            <a:r>
              <a:t>UNWIND $batch AS row</a:t>
            </a:r>
          </a:p>
          <a:p>
            <a:pPr>
              <a:spcAft>
                <a:spcPts val="100"/>
              </a:spcAft>
              <a:defRPr sz="1100">
                <a:solidFill>
                  <a:srgbClr val="7EC68E"/>
                </a:solidFill>
                <a:latin typeface="Consolas"/>
              </a:defRPr>
            </a:pPr>
            <a:r>
              <a:t>MERGE (p:Person {id: row.id})</a:t>
            </a:r>
          </a:p>
          <a:p>
            <a:pPr>
              <a:spcAft>
                <a:spcPts val="100"/>
              </a:spcAft>
              <a:defRPr sz="1100">
                <a:solidFill>
                  <a:srgbClr val="7EC68E"/>
                </a:solidFill>
                <a:latin typeface="Consolas"/>
              </a:defRPr>
            </a:pPr>
            <a:r>
              <a:t>  SET p.nome = row.nome, p.location = row.location</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Performance:</a:t>
            </a:r>
          </a:p>
          <a:p>
            <a:pPr>
              <a:spcAft>
                <a:spcPts val="100"/>
              </a:spcAft>
              <a:defRPr sz="1100">
                <a:solidFill>
                  <a:srgbClr val="7EC68E"/>
                </a:solidFill>
                <a:latin typeface="Consolas"/>
              </a:defRPr>
            </a:pPr>
            <a:r>
              <a:t># 31.500 query singole  440 secondi</a:t>
            </a:r>
          </a:p>
          <a:p>
            <a:pPr>
              <a:spcAft>
                <a:spcPts val="100"/>
              </a:spcAft>
              <a:defRPr sz="1100">
                <a:solidFill>
                  <a:srgbClr val="7EC68E"/>
                </a:solidFill>
                <a:latin typeface="Consolas"/>
              </a:defRPr>
            </a:pPr>
            <a:r>
              <a:t># 7 query UNWIND         1.4 secondi  (300x)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Indici e Performance</a:t>
            </a:r>
          </a:p>
        </p:txBody>
      </p:sp>
      <p:sp>
        <p:nvSpPr>
          <p:cNvPr id="3" name="TextBox 2"/>
          <p:cNvSpPr txBox="1"/>
          <p:nvPr/>
        </p:nvSpPr>
        <p:spPr>
          <a:xfrm>
            <a:off x="731520" y="1051560"/>
            <a:ext cx="8595360" cy="2011680"/>
          </a:xfrm>
          <a:prstGeom prst="rect">
            <a:avLst/>
          </a:prstGeom>
          <a:noFill/>
        </p:spPr>
        <p:txBody>
          <a:bodyPr wrap="square">
            <a:spAutoFit/>
          </a:bodyPr>
          <a:lstStyle/>
          <a:p>
            <a:pPr algn="l">
              <a:spcAft>
                <a:spcPts val="800"/>
              </a:spcAft>
              <a:defRPr sz="1400">
                <a:solidFill>
                  <a:srgbClr val="FFFFFF"/>
                </a:solidFill>
                <a:latin typeface="Calibri"/>
              </a:defRPr>
            </a:pPr>
            <a:r>
              <a:t>•  UNIQUE crea automaticamente un indice</a:t>
            </a:r>
          </a:p>
          <a:p>
            <a:pPr algn="l">
              <a:spcAft>
                <a:spcPts val="800"/>
              </a:spcAft>
              <a:defRPr sz="1400">
                <a:solidFill>
                  <a:srgbClr val="FFFFFF"/>
                </a:solidFill>
                <a:latin typeface="Calibri"/>
              </a:defRPr>
            </a:pPr>
            <a:r>
              <a:t>•  Tipi: RANGE (default), TEXT, POINT (geospaziale)</a:t>
            </a:r>
          </a:p>
          <a:p>
            <a:pPr algn="l">
              <a:spcAft>
                <a:spcPts val="800"/>
              </a:spcAft>
              <a:defRPr sz="1400">
                <a:solidFill>
                  <a:srgbClr val="FFFFFF"/>
                </a:solidFill>
                <a:latin typeface="Calibri"/>
              </a:defRPr>
            </a:pPr>
            <a:r>
              <a:t>•  CREATE INDEX ... FOR (p:Person) ON (p.location)</a:t>
            </a:r>
          </a:p>
          <a:p>
            <a:pPr algn="l">
              <a:spcAft>
                <a:spcPts val="800"/>
              </a:spcAft>
              <a:defRPr sz="1400">
                <a:solidFill>
                  <a:srgbClr val="FFFFFF"/>
                </a:solidFill>
                <a:latin typeface="Calibri"/>
              </a:defRPr>
            </a:pPr>
            <a:r>
              <a:t>•  PROFILE / EXPLAIN per vedere se usa indici</a:t>
            </a:r>
          </a:p>
          <a:p>
            <a:pPr algn="l">
              <a:spcAft>
                <a:spcPts val="800"/>
              </a:spcAft>
              <a:defRPr sz="1400">
                <a:solidFill>
                  <a:srgbClr val="FFFFFF"/>
                </a:solidFill>
                <a:latin typeface="Calibri"/>
              </a:defRPr>
            </a:pPr>
            <a:r>
              <a:t>•  Indici migliorano LETTURA ma rallentano SCRITTURA</a:t>
            </a:r>
          </a:p>
        </p:txBody>
      </p:sp>
      <p:sp>
        <p:nvSpPr>
          <p:cNvPr id="4" name="Rectangle 3"/>
          <p:cNvSpPr/>
          <p:nvPr/>
        </p:nvSpPr>
        <p:spPr>
          <a:xfrm>
            <a:off x="731520" y="3383280"/>
            <a:ext cx="859536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3456432"/>
            <a:ext cx="8375904" cy="2414016"/>
          </a:xfrm>
          <a:prstGeom prst="rect">
            <a:avLst/>
          </a:prstGeom>
          <a:noFill/>
        </p:spPr>
        <p:txBody>
          <a:bodyPr wrap="square">
            <a:spAutoFit/>
          </a:bodyPr>
          <a:lstStyle/>
          <a:p>
            <a:pPr>
              <a:spcAft>
                <a:spcPts val="100"/>
              </a:spcAft>
              <a:defRPr sz="1100">
                <a:solidFill>
                  <a:srgbClr val="7EC68E"/>
                </a:solidFill>
                <a:latin typeface="Consolas"/>
              </a:defRPr>
            </a:pPr>
            <a:r>
              <a:t>CREATE INDEX person_location IF NOT EXISTS</a:t>
            </a:r>
          </a:p>
          <a:p>
            <a:pPr>
              <a:spcAft>
                <a:spcPts val="100"/>
              </a:spcAft>
              <a:defRPr sz="1100">
                <a:solidFill>
                  <a:srgbClr val="7EC68E"/>
                </a:solidFill>
                <a:latin typeface="Consolas"/>
              </a:defRPr>
            </a:pPr>
            <a:r>
              <a:t>  FOR (p:Person) ON (p.location);</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PROFILE</a:t>
            </a:r>
          </a:p>
          <a:p>
            <a:pPr>
              <a:spcAft>
                <a:spcPts val="100"/>
              </a:spcAft>
              <a:defRPr sz="1100">
                <a:solidFill>
                  <a:srgbClr val="7EC68E"/>
                </a:solidFill>
                <a:latin typeface="Consolas"/>
              </a:defRPr>
            </a:pPr>
            <a:r>
              <a:t>MATCH (p:Person) WHERE p.location = "Roma" RETURN 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Visualizzare il Grafo</a:t>
            </a:r>
          </a:p>
        </p:txBody>
      </p:sp>
      <p:sp>
        <p:nvSpPr>
          <p:cNvPr id="3" name="TextBox 2"/>
          <p:cNvSpPr txBox="1"/>
          <p:nvPr/>
        </p:nvSpPr>
        <p:spPr>
          <a:xfrm>
            <a:off x="731520" y="1051560"/>
            <a:ext cx="8595360" cy="2286000"/>
          </a:xfrm>
          <a:prstGeom prst="rect">
            <a:avLst/>
          </a:prstGeom>
          <a:noFill/>
        </p:spPr>
        <p:txBody>
          <a:bodyPr wrap="square">
            <a:spAutoFit/>
          </a:bodyPr>
          <a:lstStyle/>
          <a:p>
            <a:pPr algn="l">
              <a:spcAft>
                <a:spcPts val="800"/>
              </a:spcAft>
              <a:defRPr sz="1400">
                <a:solidFill>
                  <a:srgbClr val="FFFFFF"/>
                </a:solidFill>
                <a:latin typeface="Calibri"/>
              </a:defRPr>
            </a:pPr>
            <a:r>
              <a:t>•  Neo4j Browser — :play movie-graph per esempio interattivo</a:t>
            </a:r>
          </a:p>
          <a:p>
            <a:pPr algn="l">
              <a:spcAft>
                <a:spcPts val="800"/>
              </a:spcAft>
              <a:defRPr sz="1400">
                <a:solidFill>
                  <a:srgbClr val="FFFFFF"/>
                </a:solidFill>
                <a:latin typeface="Calibri"/>
              </a:defRPr>
            </a:pPr>
            <a:r>
              <a:t>•  Neo4j Bloom — drag &amp; drop, storytelling visuale</a:t>
            </a:r>
          </a:p>
          <a:p>
            <a:pPr algn="l">
              <a:spcAft>
                <a:spcPts val="800"/>
              </a:spcAft>
              <a:defRPr sz="1400">
                <a:solidFill>
                  <a:srgbClr val="FFFFFF"/>
                </a:solidFill>
                <a:latin typeface="Calibri"/>
              </a:defRPr>
            </a:pPr>
            <a:r>
              <a:t>•  Python networkx + matplotlib — grafi statici</a:t>
            </a:r>
          </a:p>
          <a:p>
            <a:pPr algn="l">
              <a:spcAft>
                <a:spcPts val="800"/>
              </a:spcAft>
              <a:defRPr sz="1400">
                <a:solidFill>
                  <a:srgbClr val="FFFFFF"/>
                </a:solidFill>
                <a:latin typeface="Calibri"/>
              </a:defRPr>
            </a:pPr>
            <a:r>
              <a:t>•  Python pyvis — grafi interattivi HTML</a:t>
            </a:r>
          </a:p>
          <a:p>
            <a:pPr algn="l">
              <a:spcAft>
                <a:spcPts val="800"/>
              </a:spcAft>
              <a:defRPr sz="1400">
                <a:solidFill>
                  <a:srgbClr val="FFFFFF"/>
                </a:solidFill>
                <a:latin typeface="Calibri"/>
              </a:defRPr>
            </a:pPr>
            <a:r>
              <a:t>•  yFiles, Linkurious, Keylines — enterprise</a:t>
            </a:r>
          </a:p>
        </p:txBody>
      </p:sp>
      <p:sp>
        <p:nvSpPr>
          <p:cNvPr id="4" name="Rectangle 3"/>
          <p:cNvSpPr/>
          <p:nvPr/>
        </p:nvSpPr>
        <p:spPr>
          <a:xfrm>
            <a:off x="731520" y="3657600"/>
            <a:ext cx="8595360" cy="22860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3730752"/>
            <a:ext cx="8375904" cy="2139696"/>
          </a:xfrm>
          <a:prstGeom prst="rect">
            <a:avLst/>
          </a:prstGeom>
          <a:noFill/>
        </p:spPr>
        <p:txBody>
          <a:bodyPr wrap="square">
            <a:spAutoFit/>
          </a:bodyPr>
          <a:lstStyle/>
          <a:p>
            <a:pPr>
              <a:spcAft>
                <a:spcPts val="100"/>
              </a:spcAft>
              <a:defRPr sz="1100">
                <a:solidFill>
                  <a:srgbClr val="7EC68E"/>
                </a:solidFill>
                <a:latin typeface="Consolas"/>
              </a:defRPr>
            </a:pPr>
            <a:r>
              <a:t># Grafo statico con networkx + matplotlib:</a:t>
            </a:r>
          </a:p>
          <a:p>
            <a:pPr>
              <a:spcAft>
                <a:spcPts val="100"/>
              </a:spcAft>
              <a:defRPr sz="1100">
                <a:solidFill>
                  <a:srgbClr val="7EC68E"/>
                </a:solidFill>
                <a:latin typeface="Consolas"/>
              </a:defRPr>
            </a:pPr>
            <a:r>
              <a:t>import networkx as nx, matplotlib.pyplot as plt</a:t>
            </a:r>
          </a:p>
          <a:p>
            <a:pPr>
              <a:spcAft>
                <a:spcPts val="100"/>
              </a:spcAft>
              <a:defRPr sz="1100">
                <a:solidFill>
                  <a:srgbClr val="7EC68E"/>
                </a:solidFill>
                <a:latin typeface="Consolas"/>
              </a:defRPr>
            </a:pPr>
            <a:r>
              <a:t>G = nx.Graph()</a:t>
            </a:r>
          </a:p>
          <a:p>
            <a:pPr>
              <a:spcAft>
                <a:spcPts val="100"/>
              </a:spcAft>
              <a:defRPr sz="1100">
                <a:solidFill>
                  <a:srgbClr val="7EC68E"/>
                </a:solidFill>
                <a:latin typeface="Consolas"/>
              </a:defRPr>
            </a:pPr>
            <a:r>
              <a:t>G.add_edge("Alice", "Python", relation="HAS_SKILL")</a:t>
            </a:r>
          </a:p>
          <a:p>
            <a:pPr>
              <a:spcAft>
                <a:spcPts val="100"/>
              </a:spcAft>
              <a:defRPr sz="1100">
                <a:solidFill>
                  <a:srgbClr val="7EC68E"/>
                </a:solidFill>
                <a:latin typeface="Consolas"/>
              </a:defRPr>
            </a:pPr>
            <a:r>
              <a:t>nx.draw(G, with_labels=True)</a:t>
            </a:r>
          </a:p>
          <a:p>
            <a:pPr>
              <a:spcAft>
                <a:spcPts val="100"/>
              </a:spcAft>
              <a:defRPr sz="1100">
                <a:solidFill>
                  <a:srgbClr val="7EC68E"/>
                </a:solidFill>
                <a:latin typeface="Consolas"/>
              </a:defRPr>
            </a:pPr>
            <a:r>
              <a:t>plt.show()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Esempio: Movie Graph</a:t>
            </a:r>
          </a:p>
        </p:txBody>
      </p:sp>
      <p:sp>
        <p:nvSpPr>
          <p:cNvPr id="3" name="TextBox 2"/>
          <p:cNvSpPr txBox="1"/>
          <p:nvPr/>
        </p:nvSpPr>
        <p:spPr>
          <a:xfrm>
            <a:off x="731520" y="1051560"/>
            <a:ext cx="8595360" cy="1188720"/>
          </a:xfrm>
          <a:prstGeom prst="rect">
            <a:avLst/>
          </a:prstGeom>
          <a:noFill/>
        </p:spPr>
        <p:txBody>
          <a:bodyPr wrap="square">
            <a:spAutoFit/>
          </a:bodyPr>
          <a:lstStyle/>
          <a:p>
            <a:pPr algn="l">
              <a:spcAft>
                <a:spcPts val="800"/>
              </a:spcAft>
              <a:defRPr sz="1400">
                <a:solidFill>
                  <a:srgbClr val="FFFFFF"/>
                </a:solidFill>
                <a:latin typeface="Calibri"/>
              </a:defRPr>
            </a:pPr>
            <a:r>
              <a:t>•  Dataset incluso in Neo4j Browser: :play movie-graph</a:t>
            </a:r>
          </a:p>
          <a:p>
            <a:pPr algn="l">
              <a:spcAft>
                <a:spcPts val="800"/>
              </a:spcAft>
              <a:defRPr sz="1400">
                <a:solidFill>
                  <a:srgbClr val="FFFFFF"/>
                </a:solidFill>
                <a:latin typeface="Calibri"/>
              </a:defRPr>
            </a:pPr>
            <a:r>
              <a:t>•  Nodi: Movie, Person (attori/registi)</a:t>
            </a:r>
          </a:p>
          <a:p>
            <a:pPr algn="l">
              <a:spcAft>
                <a:spcPts val="800"/>
              </a:spcAft>
              <a:defRPr sz="1400">
                <a:solidFill>
                  <a:srgbClr val="FFFFFF"/>
                </a:solidFill>
                <a:latin typeface="Calibri"/>
              </a:defRPr>
            </a:pPr>
            <a:r>
              <a:t>•  Relazioni: ACTED_IN, DIRECTED, REVIEWED</a:t>
            </a:r>
          </a:p>
        </p:txBody>
      </p:sp>
      <p:sp>
        <p:nvSpPr>
          <p:cNvPr id="4" name="Rectangle 3"/>
          <p:cNvSpPr/>
          <p:nvPr/>
        </p:nvSpPr>
        <p:spPr>
          <a:xfrm>
            <a:off x="731520" y="2560320"/>
            <a:ext cx="822960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633472"/>
            <a:ext cx="8010144" cy="3511296"/>
          </a:xfrm>
          <a:prstGeom prst="rect">
            <a:avLst/>
          </a:prstGeom>
          <a:noFill/>
        </p:spPr>
        <p:txBody>
          <a:bodyPr wrap="square">
            <a:spAutoFit/>
          </a:bodyPr>
          <a:lstStyle/>
          <a:p>
            <a:pPr>
              <a:spcAft>
                <a:spcPts val="100"/>
              </a:spcAft>
              <a:defRPr sz="1100">
                <a:solidFill>
                  <a:srgbClr val="7EC68E"/>
                </a:solidFill>
                <a:latin typeface="Consolas"/>
              </a:defRPr>
            </a:pPr>
            <a:r>
              <a:t>// Creare il dataset: esegui dal Browser</a:t>
            </a:r>
          </a:p>
          <a:p>
            <a:pPr>
              <a:spcAft>
                <a:spcPts val="100"/>
              </a:spcAft>
              <a:defRPr sz="1100">
                <a:solidFill>
                  <a:srgbClr val="7EC68E"/>
                </a:solidFill>
                <a:latin typeface="Consolas"/>
              </a:defRPr>
            </a:pPr>
            <a:r>
              <a:t>:play movie-graph</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Attori di film usciti dopo il 2000:</a:t>
            </a:r>
          </a:p>
          <a:p>
            <a:pPr>
              <a:spcAft>
                <a:spcPts val="100"/>
              </a:spcAft>
              <a:defRPr sz="1100">
                <a:solidFill>
                  <a:srgbClr val="7EC68E"/>
                </a:solidFill>
                <a:latin typeface="Consolas"/>
              </a:defRPr>
            </a:pPr>
            <a:r>
              <a:t>MATCH (p:Person)-[:ACTED_IN]-&gt;(m:Movie)</a:t>
            </a:r>
          </a:p>
          <a:p>
            <a:pPr>
              <a:spcAft>
                <a:spcPts val="100"/>
              </a:spcAft>
              <a:defRPr sz="1100">
                <a:solidFill>
                  <a:srgbClr val="7EC68E"/>
                </a:solidFill>
                <a:latin typeface="Consolas"/>
              </a:defRPr>
            </a:pPr>
            <a:r>
              <a:t>WHERE m.released &gt; 2000</a:t>
            </a:r>
          </a:p>
          <a:p>
            <a:pPr>
              <a:spcAft>
                <a:spcPts val="100"/>
              </a:spcAft>
              <a:defRPr sz="1100">
                <a:solidFill>
                  <a:srgbClr val="7EC68E"/>
                </a:solidFill>
                <a:latin typeface="Consolas"/>
              </a:defRPr>
            </a:pPr>
            <a:r>
              <a:t>RETURN p.name, m.title, m.released</a:t>
            </a:r>
          </a:p>
          <a:p>
            <a:pPr>
              <a:spcAft>
                <a:spcPts val="100"/>
              </a:spcAft>
              <a:defRPr sz="1100">
                <a:solidFill>
                  <a:srgbClr val="7EC68E"/>
                </a:solidFill>
                <a:latin typeface="Consolas"/>
              </a:defRPr>
            </a:pPr>
            <a:r>
              <a:t>ORDER BY m.released DESC;</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Co-protagonisti di Tom Hanks:</a:t>
            </a:r>
          </a:p>
          <a:p>
            <a:pPr>
              <a:spcAft>
                <a:spcPts val="100"/>
              </a:spcAft>
              <a:defRPr sz="1100">
                <a:solidFill>
                  <a:srgbClr val="7EC68E"/>
                </a:solidFill>
                <a:latin typeface="Consolas"/>
              </a:defRPr>
            </a:pPr>
            <a:r>
              <a:t>MATCH (tom:Person {name: "Tom Hanks"})</a:t>
            </a:r>
          </a:p>
          <a:p>
            <a:pPr>
              <a:spcAft>
                <a:spcPts val="100"/>
              </a:spcAft>
              <a:defRPr sz="1100">
                <a:solidFill>
                  <a:srgbClr val="7EC68E"/>
                </a:solidFill>
                <a:latin typeface="Consolas"/>
              </a:defRPr>
            </a:pPr>
            <a:r>
              <a:t>  -[:ACTED_IN]-&gt;(m:Movie)&lt;-[:ACTED_IN]-(co)</a:t>
            </a:r>
          </a:p>
          <a:p>
            <a:pPr>
              <a:spcAft>
                <a:spcPts val="100"/>
              </a:spcAft>
              <a:defRPr sz="1100">
                <a:solidFill>
                  <a:srgbClr val="7EC68E"/>
                </a:solidFill>
                <a:latin typeface="Consolas"/>
              </a:defRPr>
            </a:pPr>
            <a:r>
              <a:t>RETURN co.name, m.title;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Esercizi</a:t>
            </a:r>
          </a:p>
        </p:txBody>
      </p:sp>
      <p:sp>
        <p:nvSpPr>
          <p:cNvPr id="3" name="TextBox 2"/>
          <p:cNvSpPr txBox="1"/>
          <p:nvPr/>
        </p:nvSpPr>
        <p:spPr>
          <a:xfrm>
            <a:off x="731520" y="1143000"/>
            <a:ext cx="8595360" cy="4114800"/>
          </a:xfrm>
          <a:prstGeom prst="rect">
            <a:avLst/>
          </a:prstGeom>
          <a:noFill/>
        </p:spPr>
        <p:txBody>
          <a:bodyPr wrap="square">
            <a:spAutoFit/>
          </a:bodyPr>
          <a:lstStyle/>
          <a:p>
            <a:pPr algn="l">
              <a:spcAft>
                <a:spcPts val="1300"/>
              </a:spcAft>
              <a:defRPr sz="1500">
                <a:solidFill>
                  <a:srgbClr val="FFFFFF"/>
                </a:solidFill>
                <a:latin typeface="Calibri"/>
              </a:defRPr>
            </a:pPr>
            <a:r>
              <a:t>•  Carica Movie Graph, trova attori di un film specifico</a:t>
            </a:r>
          </a:p>
          <a:p>
            <a:pPr algn="l">
              <a:spcAft>
                <a:spcPts val="1300"/>
              </a:spcAft>
              <a:defRPr sz="1500">
                <a:solidFill>
                  <a:srgbClr val="FFFFFF"/>
                </a:solidFill>
                <a:latin typeface="Calibri"/>
              </a:defRPr>
            </a:pPr>
            <a:r>
              <a:t>•  Query: film diretti da un regista con anno e rating</a:t>
            </a:r>
          </a:p>
          <a:p>
            <a:pPr algn="l">
              <a:spcAft>
                <a:spcPts val="1300"/>
              </a:spcAft>
              <a:defRPr sz="1500">
                <a:solidFill>
                  <a:srgbClr val="FFFFFF"/>
                </a:solidFill>
                <a:latin typeface="Calibri"/>
              </a:defRPr>
            </a:pPr>
            <a:r>
              <a:t>•  Trova attori che NON hanno recitato con Tom Hanks</a:t>
            </a:r>
          </a:p>
          <a:p>
            <a:pPr algn="l">
              <a:spcAft>
                <a:spcPts val="1300"/>
              </a:spcAft>
              <a:defRPr sz="1500">
                <a:solidFill>
                  <a:srgbClr val="FFFFFF"/>
                </a:solidFill>
                <a:latin typeface="Calibri"/>
              </a:defRPr>
            </a:pPr>
            <a:r>
              <a:t>•  Connettiti via Python driver, esegui MATCH (n) RETURN n LIMIT 25</a:t>
            </a:r>
          </a:p>
          <a:p>
            <a:pPr algn="l">
              <a:spcAft>
                <a:spcPts val="1300"/>
              </a:spcAft>
              <a:defRPr sz="1500">
                <a:solidFill>
                  <a:srgbClr val="FFFFFF"/>
                </a:solidFill>
                <a:latin typeface="Calibri"/>
              </a:defRPr>
            </a:pPr>
            <a:r>
              <a:t>•  Crea un nuovo nodo Person e una relazione ACTED_IN</a:t>
            </a:r>
          </a:p>
          <a:p>
            <a:pPr algn="l">
              <a:spcAft>
                <a:spcPts val="1300"/>
              </a:spcAft>
              <a:defRPr sz="1500">
                <a:solidFill>
                  <a:srgbClr val="FFFFFF"/>
                </a:solidFill>
                <a:latin typeface="Calibri"/>
              </a:defRPr>
            </a:pPr>
            <a:r>
              <a:t>•  Esplora il dataset del progetto nel notebook</a:t>
            </a:r>
          </a:p>
        </p:txBody>
      </p:sp>
      <p:sp>
        <p:nvSpPr>
          <p:cNvPr id="4" name="TextBox 3"/>
          <p:cNvSpPr txBox="1"/>
          <p:nvPr/>
        </p:nvSpPr>
        <p:spPr>
          <a:xfrm>
            <a:off x="731520" y="5303520"/>
            <a:ext cx="8595360" cy="365760"/>
          </a:xfrm>
          <a:prstGeom prst="rect">
            <a:avLst/>
          </a:prstGeom>
          <a:noFill/>
        </p:spPr>
        <p:txBody>
          <a:bodyPr wrap="square">
            <a:spAutoFit/>
          </a:bodyPr>
          <a:lstStyle/>
          <a:p>
            <a:pPr algn="l">
              <a:defRPr sz="1300" b="0">
                <a:solidFill>
                  <a:srgbClr val="F0C040"/>
                </a:solidFill>
                <a:latin typeface="Calibri"/>
              </a:defRPr>
            </a:pPr>
            <a:r>
              <a:t>Le soluzioni sono nel notebook della Sessione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Punti Chiave</a:t>
            </a:r>
          </a:p>
        </p:txBody>
      </p:sp>
      <p:sp>
        <p:nvSpPr>
          <p:cNvPr id="3" name="TextBox 2"/>
          <p:cNvSpPr txBox="1"/>
          <p:nvPr/>
        </p:nvSpPr>
        <p:spPr>
          <a:xfrm>
            <a:off x="731520" y="1143000"/>
            <a:ext cx="8595360" cy="5029200"/>
          </a:xfrm>
          <a:prstGeom prst="rect">
            <a:avLst/>
          </a:prstGeom>
          <a:noFill/>
        </p:spPr>
        <p:txBody>
          <a:bodyPr wrap="square">
            <a:spAutoFit/>
          </a:bodyPr>
          <a:lstStyle/>
          <a:p>
            <a:pPr algn="l">
              <a:spcAft>
                <a:spcPts val="1300"/>
              </a:spcAft>
              <a:defRPr sz="1500">
                <a:solidFill>
                  <a:srgbClr val="FFFFFF"/>
                </a:solidFill>
                <a:latin typeface="Calibri"/>
              </a:defRPr>
            </a:pPr>
            <a:r>
              <a:t>•  DB a grafo eccellono con dati connessi (no JOIN costosi)</a:t>
            </a:r>
          </a:p>
          <a:p>
            <a:pPr algn="l">
              <a:spcAft>
                <a:spcPts val="1300"/>
              </a:spcAft>
              <a:defRPr sz="1500">
                <a:solidFill>
                  <a:srgbClr val="FFFFFF"/>
                </a:solidFill>
                <a:latin typeface="Calibri"/>
              </a:defRPr>
            </a:pPr>
            <a:r>
              <a:t>•  Neo4j: Property Graph Model — nodi + relazioni + labels</a:t>
            </a:r>
          </a:p>
          <a:p>
            <a:pPr algn="l">
              <a:spcAft>
                <a:spcPts val="1300"/>
              </a:spcAft>
              <a:defRPr sz="1500">
                <a:solidFill>
                  <a:srgbClr val="FFFFFF"/>
                </a:solidFill>
                <a:latin typeface="Calibri"/>
              </a:defRPr>
            </a:pPr>
            <a:r>
              <a:t>•  Cypher è dichiarativo: descrivi il pattern, non il percorso</a:t>
            </a:r>
          </a:p>
          <a:p>
            <a:pPr algn="l">
              <a:spcAft>
                <a:spcPts val="1300"/>
              </a:spcAft>
              <a:defRPr sz="1500">
                <a:solidFill>
                  <a:srgbClr val="FFFFFF"/>
                </a:solidFill>
                <a:latin typeface="Calibri"/>
              </a:defRPr>
            </a:pPr>
            <a:r>
              <a:t>•  MERGE cerca o crea — caricamenti idempotenti</a:t>
            </a:r>
          </a:p>
          <a:p>
            <a:pPr algn="l">
              <a:spcAft>
                <a:spcPts val="1300"/>
              </a:spcAft>
              <a:defRPr sz="1500">
                <a:solidFill>
                  <a:srgbClr val="FFFFFF"/>
                </a:solidFill>
                <a:latin typeface="Calibri"/>
              </a:defRPr>
            </a:pPr>
            <a:r>
              <a:t>•  UNWIND batching: 300× più veloce del row-by-row</a:t>
            </a:r>
          </a:p>
          <a:p>
            <a:pPr algn="l">
              <a:spcAft>
                <a:spcPts val="1300"/>
              </a:spcAft>
              <a:defRPr sz="1500">
                <a:solidFill>
                  <a:srgbClr val="FFFFFF"/>
                </a:solidFill>
                <a:latin typeface="Calibri"/>
              </a:defRPr>
            </a:pPr>
            <a:r>
              <a:t>•  Constraints e indici vanno creati PRIMA del caricamento</a:t>
            </a:r>
          </a:p>
          <a:p>
            <a:pPr algn="l">
              <a:spcAft>
                <a:spcPts val="1300"/>
              </a:spcAft>
              <a:defRPr sz="1500">
                <a:solidFill>
                  <a:srgbClr val="FFFFFF"/>
                </a:solidFill>
                <a:latin typeface="Calibri"/>
              </a:defRPr>
            </a:pPr>
            <a:r>
              <a:t>•  Neo4j Browser: esplorazione rapida e test query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377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058400" cy="1097280"/>
          </a:xfrm>
          <a:prstGeom prst="rect">
            <a:avLst/>
          </a:prstGeom>
          <a:noFill/>
        </p:spPr>
        <p:txBody>
          <a:bodyPr wrap="square">
            <a:spAutoFit/>
          </a:bodyPr>
          <a:lstStyle/>
          <a:p>
            <a:pPr algn="ctr">
              <a:defRPr sz="4200" b="1">
                <a:solidFill>
                  <a:srgbClr val="F0C040"/>
                </a:solidFill>
                <a:latin typeface="Calibri"/>
              </a:defRPr>
            </a:pPr>
            <a:r>
              <a:t>Alla prossima!</a:t>
            </a:r>
          </a:p>
        </p:txBody>
      </p:sp>
      <p:sp>
        <p:nvSpPr>
          <p:cNvPr id="4" name="TextBox 3"/>
          <p:cNvSpPr txBox="1"/>
          <p:nvPr/>
        </p:nvSpPr>
        <p:spPr>
          <a:xfrm>
            <a:off x="914400" y="2651760"/>
            <a:ext cx="10058400" cy="548640"/>
          </a:xfrm>
          <a:prstGeom prst="rect">
            <a:avLst/>
          </a:prstGeom>
          <a:noFill/>
        </p:spPr>
        <p:txBody>
          <a:bodyPr wrap="square">
            <a:spAutoFit/>
          </a:bodyPr>
          <a:lstStyle/>
          <a:p>
            <a:pPr algn="ctr">
              <a:defRPr sz="2400" b="0">
                <a:solidFill>
                  <a:srgbClr val="FFFFFF"/>
                </a:solidFill>
                <a:latin typeface="Calibri"/>
              </a:defRPr>
            </a:pPr>
            <a:r>
              <a:t>Sessione 2: Cypher Avanzato</a:t>
            </a:r>
          </a:p>
        </p:txBody>
      </p:sp>
      <p:sp>
        <p:nvSpPr>
          <p:cNvPr id="5" name="TextBox 4"/>
          <p:cNvSpPr txBox="1"/>
          <p:nvPr/>
        </p:nvSpPr>
        <p:spPr>
          <a:xfrm>
            <a:off x="2286000" y="3566160"/>
            <a:ext cx="8229600" cy="2286000"/>
          </a:xfrm>
          <a:prstGeom prst="rect">
            <a:avLst/>
          </a:prstGeom>
          <a:noFill/>
        </p:spPr>
        <p:txBody>
          <a:bodyPr wrap="square">
            <a:spAutoFit/>
          </a:bodyPr>
          <a:lstStyle/>
          <a:p>
            <a:pPr algn="l">
              <a:spcAft>
                <a:spcPts val="1200"/>
              </a:spcAft>
              <a:defRPr sz="1400">
                <a:solidFill>
                  <a:srgbClr val="CCCCCC"/>
                </a:solidFill>
                <a:latin typeface="Calibri"/>
              </a:defRPr>
            </a:pPr>
            <a:r>
              <a:t>•  Pattern matching avanzato (path variables, shortestPath)</a:t>
            </a:r>
          </a:p>
          <a:p>
            <a:pPr algn="l">
              <a:spcAft>
                <a:spcPts val="1200"/>
              </a:spcAft>
              <a:defRPr sz="1400">
                <a:solidFill>
                  <a:srgbClr val="CCCCCC"/>
                </a:solidFill>
                <a:latin typeface="Calibri"/>
              </a:defRPr>
            </a:pPr>
            <a:r>
              <a:t>•  Aggregazioni complesse e subquery</a:t>
            </a:r>
          </a:p>
          <a:p>
            <a:pPr algn="l">
              <a:spcAft>
                <a:spcPts val="1200"/>
              </a:spcAft>
              <a:defRPr sz="1400">
                <a:solidFill>
                  <a:srgbClr val="CCCCCC"/>
                </a:solidFill>
                <a:latin typeface="Calibri"/>
              </a:defRPr>
            </a:pPr>
            <a:r>
              <a:t>•  Date, liste, map in Cypher</a:t>
            </a:r>
          </a:p>
          <a:p>
            <a:pPr algn="l">
              <a:spcAft>
                <a:spcPts val="1200"/>
              </a:spcAft>
              <a:defRPr sz="1400">
                <a:solidFill>
                  <a:srgbClr val="CCCCCC"/>
                </a:solidFill>
                <a:latin typeface="Calibri"/>
              </a:defRPr>
            </a:pPr>
            <a:r>
              <a:t>•  Query tuning con PROFILE ed EXPLAIN</a:t>
            </a:r>
          </a:p>
          <a:p>
            <a:pPr algn="l">
              <a:spcAft>
                <a:spcPts val="1200"/>
              </a:spcAft>
              <a:defRPr sz="1400">
                <a:solidFill>
                  <a:srgbClr val="CCCCCC"/>
                </a:solidFill>
                <a:latin typeface="Calibri"/>
              </a:defRPr>
            </a:pPr>
            <a:r>
              <a:t>•  APOC: procedure standard di Neo4j</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TotalTime>
  <Words>0</Words>
  <Application>Microsoft Office PowerPoint</Application>
  <PresentationFormat>Widescreen</PresentationFormat>
  <Paragraphs>0</Paragraphs>
  <Slides>1</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8" baseType="lpstr">
      <vt:lpstr>Amazon Ember Display</vt:lpstr>
      <vt:lpstr>Arial</vt:lpstr>
      <vt:lpstr>Helvetica Light</vt:lpstr>
      <vt:lpstr>Ubuntu</vt:lpstr>
      <vt:lpstr>Wingdings</vt:lpstr>
      <vt:lpstr>1_AWS Summit</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1</cp:revision>
  <dcterms:created xsi:type="dcterms:W3CDTF">2026-07-10T07:18:38Z</dcterms:created>
  <dcterms:modified xsi:type="dcterms:W3CDTF">2026-07-10T07:20:50Z</dcterms:modified>
</cp:coreProperties>
</file>