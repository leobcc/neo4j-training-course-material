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media/image6.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9" d="100"/>
          <a:sy n="59" d="100"/>
        </p:scale>
        <p:origin x="964"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4.emf"/></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tags" Target="../tags/tag8.xml"/><Relationship Id="rId5" Type="http://schemas.openxmlformats.org/officeDocument/2006/relationships/slideMaster" Target="../slideMasters/slideMaster1.xml"/><Relationship Id="rId6" Type="http://schemas.openxmlformats.org/officeDocument/2006/relationships/oleObject" Target="../embeddings/oleObject3.bin"/><Relationship Id="rId7" Type="http://schemas.openxmlformats.org/officeDocument/2006/relationships/image" Target="../media/image5.em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4.emf"/></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 Id="rId3"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 Id="rId3" Type="http://schemas.openxmlformats.org/officeDocument/2006/relationships/oleObject" Target="../embeddings/oleObject4.bin"/><Relationship Id="rId4" Type="http://schemas.openxmlformats.org/officeDocument/2006/relationships/image" Target="../media/image4.emf"/></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linkedin.com/company/capgemini" TargetMode="External"/><Relationship Id="rId3" Type="http://schemas.openxmlformats.org/officeDocument/2006/relationships/image" Target="../media/image7.png"/><Relationship Id="rId4" Type="http://schemas.openxmlformats.org/officeDocument/2006/relationships/hyperlink" Target="http://www.slideshare.net/capgemini" TargetMode="External"/><Relationship Id="rId5" Type="http://schemas.openxmlformats.org/officeDocument/2006/relationships/image" Target="../media/image8.png"/><Relationship Id="rId6" Type="http://schemas.openxmlformats.org/officeDocument/2006/relationships/hyperlink" Target="http://www.twitter.com/capgemini" TargetMode="External"/><Relationship Id="rId7" Type="http://schemas.openxmlformats.org/officeDocument/2006/relationships/image" Target="../media/image9.png"/><Relationship Id="rId8" Type="http://schemas.openxmlformats.org/officeDocument/2006/relationships/hyperlink" Target="http://www.youtube.com/capgeminimedia" TargetMode="External"/><Relationship Id="rId9" Type="http://schemas.openxmlformats.org/officeDocument/2006/relationships/image" Target="../media/image10.png"/><Relationship Id="rId10" Type="http://schemas.openxmlformats.org/officeDocument/2006/relationships/hyperlink" Target="http://www.facebook.com/capgemini" TargetMode="External"/><Relationship Id="rId11" Type="http://schemas.openxmlformats.org/officeDocument/2006/relationships/image" Target="../media/image11.png"/><Relationship Id="rId12" Type="http://schemas.openxmlformats.org/officeDocument/2006/relationships/hyperlink" Target="http://www.capgemini.com/about/how-we-work/the-collaborative-business-experiencetm" TargetMode="External"/><Relationship Id="rId13" Type="http://schemas.openxmlformats.org/officeDocument/2006/relationships/hyperlink" Target="http://www.capgemini.com/about/how-we-work/rightshorer" TargetMode="External"/><Relationship Id="rId14" Type="http://schemas.openxmlformats.org/officeDocument/2006/relationships/hyperlink" Target="http://www.capgemini.com/" TargetMode="External"/><Relationship Id="rId15" Type="http://schemas.openxmlformats.org/officeDocument/2006/relationships/image" Target="../media/image1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linkedin.com/company/capgemini" TargetMode="External"/><Relationship Id="rId3" Type="http://schemas.openxmlformats.org/officeDocument/2006/relationships/image" Target="../media/image7.png"/><Relationship Id="rId4" Type="http://schemas.openxmlformats.org/officeDocument/2006/relationships/hyperlink" Target="http://www.slideshare.net/capgemini" TargetMode="External"/><Relationship Id="rId5" Type="http://schemas.openxmlformats.org/officeDocument/2006/relationships/image" Target="../media/image8.png"/><Relationship Id="rId6" Type="http://schemas.openxmlformats.org/officeDocument/2006/relationships/hyperlink" Target="http://www.twitter.com/capgemini" TargetMode="External"/><Relationship Id="rId7" Type="http://schemas.openxmlformats.org/officeDocument/2006/relationships/image" Target="../media/image9.png"/><Relationship Id="rId8" Type="http://schemas.openxmlformats.org/officeDocument/2006/relationships/hyperlink" Target="http://www.youtube.com/capgeminimedia" TargetMode="External"/><Relationship Id="rId9" Type="http://schemas.openxmlformats.org/officeDocument/2006/relationships/image" Target="../media/image10.png"/><Relationship Id="rId10" Type="http://schemas.openxmlformats.org/officeDocument/2006/relationships/hyperlink" Target="http://www.facebook.com/capgemini" TargetMode="External"/><Relationship Id="rId11" Type="http://schemas.openxmlformats.org/officeDocument/2006/relationships/image" Target="../media/image11.png"/><Relationship Id="rId12" Type="http://schemas.openxmlformats.org/officeDocument/2006/relationships/hyperlink" Target="http://www.capgemini.com/about/how-we-work/the-collaborative-business-experiencetm" TargetMode="External"/><Relationship Id="rId13" Type="http://schemas.openxmlformats.org/officeDocument/2006/relationships/hyperlink" Target="http://www.capgemini.com/about/how-we-work/rightshorer" TargetMode="Externa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Walk-In">
    <p:spTree>
      <p:nvGrpSpPr>
        <p:cNvPr id="1" name=""/>
        <p:cNvGrpSpPr/>
        <p:nvPr/>
      </p:nvGrpSpPr>
      <p:grpSpPr>
        <a:xfrm>
          <a:off x="0" y="0"/>
          <a:ext cx="0" cy="0"/>
          <a:chOff x="0" y="0"/>
          <a:chExt cx="0" cy="0"/>
        </a:xfrm>
      </p:grpSpPr>
      <p:pic>
        <p:nvPicPr>
          <p:cNvPr id="7" name="Content Placeholder 16">
            <a:extLst>
              <a:ext uri="{FF2B5EF4-FFF2-40B4-BE49-F238E27FC236}">
                <a16:creationId xmlns:a16="http://schemas.microsoft.com/office/drawing/2014/main" id="{810E1061-A44A-A554-F24D-33361C93E53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1279" r="18225"/>
          <a:stretch/>
        </p:blipFill>
        <p:spPr>
          <a:xfrm>
            <a:off x="6153150" y="1"/>
            <a:ext cx="6038850" cy="6858000"/>
          </a:xfrm>
          <a:prstGeom prst="rect">
            <a:avLst/>
          </a:prstGeom>
        </p:spPr>
      </p:pic>
      <p:pic>
        <p:nvPicPr>
          <p:cNvPr id="2" name="Picture 1" descr="A picture containing lamp&#10;&#10;Description automatically generated">
            <a:extLst>
              <a:ext uri="{FF2B5EF4-FFF2-40B4-BE49-F238E27FC236}">
                <a16:creationId xmlns:a16="http://schemas.microsoft.com/office/drawing/2014/main" id="{784FD2C4-7C76-FDA5-3DDA-6F3155DF7428}"/>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rot="3600000">
            <a:off x="611517" y="-2"/>
            <a:ext cx="9695699" cy="6858000"/>
          </a:xfrm>
          <a:prstGeom prst="rect">
            <a:avLst/>
          </a:prstGeom>
        </p:spPr>
      </p:pic>
      <p:sp>
        <p:nvSpPr>
          <p:cNvPr id="3" name="Title 1">
            <a:extLst>
              <a:ext uri="{FF2B5EF4-FFF2-40B4-BE49-F238E27FC236}">
                <a16:creationId xmlns:a16="http://schemas.microsoft.com/office/drawing/2014/main" id="{E93AA952-AC13-ABF0-FA1E-8CA3E3C3A877}"/>
              </a:ext>
            </a:extLst>
          </p:cNvPr>
          <p:cNvSpPr>
            <a:spLocks noGrp="1"/>
          </p:cNvSpPr>
          <p:nvPr>
            <p:ph type="ctrTitle" hasCustomPrompt="1"/>
          </p:nvPr>
        </p:nvSpPr>
        <p:spPr bwMode="invGray">
          <a:xfrm>
            <a:off x="191344" y="3287890"/>
            <a:ext cx="4494765" cy="11761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noAutofit/>
          </a:bodyPr>
          <a:lstStyle>
            <a:lvl1pPr algn="ctr">
              <a:lnSpc>
                <a:spcPct val="100000"/>
              </a:lnSpc>
              <a:defRPr lang="en-US" sz="3200" b="0" cap="all" baseline="0" dirty="0">
                <a:solidFill>
                  <a:schemeClr val="tx1"/>
                </a:solidFill>
                <a:latin typeface="Ubuntu" panose="020B0504030602030204" pitchFamily="34" charset="0"/>
              </a:defRPr>
            </a:lvl1pPr>
          </a:lstStyle>
          <a:p>
            <a:pPr marL="0" lvl="0"/>
            <a:r>
              <a:rPr lang="en-US"/>
              <a:t>SECTION TITLE ALL CAPS, LOREM IPSUM DOLOR AMET.</a:t>
            </a:r>
          </a:p>
        </p:txBody>
      </p:sp>
    </p:spTree>
    <p:extLst>
      <p:ext uri="{BB962C8B-B14F-4D97-AF65-F5344CB8AC3E}">
        <p14:creationId xmlns:p14="http://schemas.microsoft.com/office/powerpoint/2010/main" val="1741874436"/>
      </p:ext>
    </p:extLst>
  </p:cSld>
  <p:clrMapOvr>
    <a:masterClrMapping/>
  </p:clrMapOvr>
  <p:extLst>
    <p:ext uri="{DCECCB84-F9BA-43D5-87BE-67443E8EF086}">
      <p15:sldGuideLst xmlns:p15="http://schemas.microsoft.com/office/powerpoint/2012/main">
        <p15:guide id="1" orient="horz" pos="2376">
          <p15:clr>
            <a:srgbClr val="FBAE40"/>
          </p15:clr>
        </p15:guide>
        <p15:guide id="2" pos="38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rgbClr val="220E4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926313-2FA2-469F-957D-B5D4672A72D1}"/>
              </a:ext>
            </a:extLst>
          </p:cNvPr>
          <p:cNvSpPr>
            <a:spLocks noGrp="1"/>
          </p:cNvSpPr>
          <p:nvPr>
            <p:ph type="title" hasCustomPrompt="1"/>
          </p:nvPr>
        </p:nvSpPr>
        <p:spPr/>
        <p:txBody>
          <a:bodyPr/>
          <a:lstStyle>
            <a:lvl1pPr>
              <a:defRPr/>
            </a:lvl1pPr>
          </a:lstStyle>
          <a:p>
            <a:r>
              <a:rPr lang="en-US"/>
              <a:t>Title only layout</a:t>
            </a:r>
          </a:p>
        </p:txBody>
      </p:sp>
    </p:spTree>
    <p:extLst>
      <p:ext uri="{BB962C8B-B14F-4D97-AF65-F5344CB8AC3E}">
        <p14:creationId xmlns:p14="http://schemas.microsoft.com/office/powerpoint/2010/main" val="2230484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subtitle and content ">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304800" y="1899138"/>
            <a:ext cx="11582398" cy="1717393"/>
          </a:xfrm>
        </p:spPr>
        <p:txBody>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space réservé du texte 4"/>
          <p:cNvSpPr>
            <a:spLocks noGrp="1"/>
          </p:cNvSpPr>
          <p:nvPr>
            <p:ph type="body" sz="quarter" idx="11" hasCustomPrompt="1"/>
          </p:nvPr>
        </p:nvSpPr>
        <p:spPr>
          <a:xfrm>
            <a:off x="304799" y="822325"/>
            <a:ext cx="11582399" cy="424732"/>
          </a:xfrm>
          <a:prstGeom prst="rect">
            <a:avLst/>
          </a:prstGeom>
        </p:spPr>
        <p:txBody>
          <a:bodyPr anchor="ctr" anchorCtr="0"/>
          <a:lstStyle>
            <a:lvl1pPr marL="0" indent="0">
              <a:buNone/>
              <a:defRPr>
                <a:solidFill>
                  <a:srgbClr val="01AADD"/>
                </a:solidFill>
              </a:defRPr>
            </a:lvl1pPr>
          </a:lstStyle>
          <a:p>
            <a:pPr lvl="0"/>
            <a:r>
              <a:rPr lang="en-US"/>
              <a:t>Click to edit Master subtitle styles</a:t>
            </a:r>
          </a:p>
        </p:txBody>
      </p:sp>
      <p:sp>
        <p:nvSpPr>
          <p:cNvPr id="2" name="Title 1">
            <a:extLst>
              <a:ext uri="{FF2B5EF4-FFF2-40B4-BE49-F238E27FC236}">
                <a16:creationId xmlns:a16="http://schemas.microsoft.com/office/drawing/2014/main" id="{171054D7-80F5-442C-9F9E-FCC6CF14C5F1}"/>
              </a:ext>
            </a:extLst>
          </p:cNvPr>
          <p:cNvSpPr>
            <a:spLocks noGrp="1"/>
          </p:cNvSpPr>
          <p:nvPr>
            <p:ph type="title"/>
          </p:nvPr>
        </p:nvSpPr>
        <p:spPr>
          <a:xfrm>
            <a:off x="304800" y="304801"/>
            <a:ext cx="11582400" cy="495300"/>
          </a:xfrm>
        </p:spPr>
        <p:txBody>
          <a:bodyPr anchor="ctr" anchorCtr="0"/>
          <a:lstStyle>
            <a:lvl1pPr>
              <a:defRPr sz="2800" cap="all" baseline="0"/>
            </a:lvl1pPr>
          </a:lstStyle>
          <a:p>
            <a:r>
              <a:rPr lang="en-US"/>
              <a:t>Click to edit Master title style</a:t>
            </a:r>
            <a:endParaRPr lang="de-DE"/>
          </a:p>
        </p:txBody>
      </p:sp>
    </p:spTree>
    <p:extLst>
      <p:ext uri="{BB962C8B-B14F-4D97-AF65-F5344CB8AC3E}">
        <p14:creationId xmlns:p14="http://schemas.microsoft.com/office/powerpoint/2010/main" val="33899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Title, subtitle and content ">
    <p:spTree>
      <p:nvGrpSpPr>
        <p:cNvPr id="1" name=""/>
        <p:cNvGrpSpPr/>
        <p:nvPr/>
      </p:nvGrpSpPr>
      <p:grpSpPr>
        <a:xfrm>
          <a:off x="0" y="0"/>
          <a:ext cx="0" cy="0"/>
          <a:chOff x="0" y="0"/>
          <a:chExt cx="0" cy="0"/>
        </a:xfrm>
      </p:grpSpPr>
      <p:sp>
        <p:nvSpPr>
          <p:cNvPr id="3" name="Parallelogram 2">
            <a:extLst>
              <a:ext uri="{FF2B5EF4-FFF2-40B4-BE49-F238E27FC236}">
                <a16:creationId xmlns:a16="http://schemas.microsoft.com/office/drawing/2014/main" id="{C7EC611B-E20B-F9F1-FC23-540C98C6B806}"/>
              </a:ext>
            </a:extLst>
          </p:cNvPr>
          <p:cNvSpPr/>
          <p:nvPr userDrawn="1"/>
        </p:nvSpPr>
        <p:spPr>
          <a:xfrm>
            <a:off x="7469900" y="-1"/>
            <a:ext cx="4722676" cy="6858001"/>
          </a:xfrm>
          <a:custGeom>
            <a:avLst/>
            <a:gdLst>
              <a:gd name="connsiteX0" fmla="*/ 0 w 4722101"/>
              <a:gd name="connsiteY0" fmla="*/ 6858001 h 6858001"/>
              <a:gd name="connsiteX1" fmla="*/ 1180525 w 4722101"/>
              <a:gd name="connsiteY1" fmla="*/ 0 h 6858001"/>
              <a:gd name="connsiteX2" fmla="*/ 4722101 w 4722101"/>
              <a:gd name="connsiteY2" fmla="*/ 0 h 6858001"/>
              <a:gd name="connsiteX3" fmla="*/ 3541576 w 4722101"/>
              <a:gd name="connsiteY3" fmla="*/ 6858001 h 6858001"/>
              <a:gd name="connsiteX4" fmla="*/ 0 w 4722101"/>
              <a:gd name="connsiteY4" fmla="*/ 6858001 h 6858001"/>
              <a:gd name="connsiteX0" fmla="*/ 0 w 4722676"/>
              <a:gd name="connsiteY0" fmla="*/ 6858001 h 6858001"/>
              <a:gd name="connsiteX1" fmla="*/ 1180525 w 4722676"/>
              <a:gd name="connsiteY1" fmla="*/ 0 h 6858001"/>
              <a:gd name="connsiteX2" fmla="*/ 4722101 w 4722676"/>
              <a:gd name="connsiteY2" fmla="*/ 0 h 6858001"/>
              <a:gd name="connsiteX3" fmla="*/ 4722676 w 4722676"/>
              <a:gd name="connsiteY3" fmla="*/ 6858001 h 6858001"/>
              <a:gd name="connsiteX4" fmla="*/ 0 w 4722676"/>
              <a:gd name="connsiteY4" fmla="*/ 6858001 h 68580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2676" h="6858001">
                <a:moveTo>
                  <a:pt x="0" y="6858001"/>
                </a:moveTo>
                <a:lnTo>
                  <a:pt x="1180525" y="0"/>
                </a:lnTo>
                <a:lnTo>
                  <a:pt x="4722101" y="0"/>
                </a:lnTo>
                <a:cubicBezTo>
                  <a:pt x="4722293" y="2286000"/>
                  <a:pt x="4722484" y="4572001"/>
                  <a:pt x="4722676" y="6858001"/>
                </a:cubicBezTo>
                <a:lnTo>
                  <a:pt x="0" y="6858001"/>
                </a:lnTo>
                <a:close/>
              </a:path>
            </a:pathLst>
          </a:custGeom>
          <a:gradFill flip="none" rotWithShape="1">
            <a:gsLst>
              <a:gs pos="0">
                <a:srgbClr val="C51248"/>
              </a:gs>
              <a:gs pos="50000">
                <a:srgbClr val="512677"/>
              </a:gs>
              <a:gs pos="100000">
                <a:srgbClr val="2C2A7A"/>
              </a:gs>
            </a:gsLst>
            <a:path path="circle">
              <a:fillToRect l="100000" b="100000"/>
            </a:path>
            <a:tileRect t="-100000" r="-100000"/>
          </a:gra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0" tIns="0" rIns="0" bIns="0" numCol="1" spcCol="38100" rtlCol="0" anchor="ctr">
            <a:no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it-IT" sz="3200" b="0" i="0" u="none" strike="noStrike" cap="none" spc="0" normalizeH="0" baseline="0">
              <a:ln>
                <a:noFill/>
              </a:ln>
              <a:solidFill>
                <a:srgbClr val="FFFFFF"/>
              </a:solidFill>
              <a:effectLst/>
              <a:uFillTx/>
              <a:latin typeface="Helvetica Light"/>
              <a:ea typeface="Helvetica Light"/>
              <a:cs typeface="Helvetica Light"/>
              <a:sym typeface="Helvetica Light"/>
            </a:endParaRPr>
          </a:p>
        </p:txBody>
      </p:sp>
      <p:sp>
        <p:nvSpPr>
          <p:cNvPr id="4" name="Text Placeholder 3"/>
          <p:cNvSpPr>
            <a:spLocks noGrp="1"/>
          </p:cNvSpPr>
          <p:nvPr>
            <p:ph type="body" sz="quarter" idx="10"/>
          </p:nvPr>
        </p:nvSpPr>
        <p:spPr>
          <a:xfrm>
            <a:off x="404812" y="1899138"/>
            <a:ext cx="11379201" cy="457067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space réservé du texte 4"/>
          <p:cNvSpPr>
            <a:spLocks noGrp="1"/>
          </p:cNvSpPr>
          <p:nvPr>
            <p:ph type="body" sz="quarter" idx="11" hasCustomPrompt="1"/>
          </p:nvPr>
        </p:nvSpPr>
        <p:spPr>
          <a:xfrm>
            <a:off x="404813" y="1327150"/>
            <a:ext cx="11379200" cy="457688"/>
          </a:xfrm>
          <a:prstGeom prst="rect">
            <a:avLst/>
          </a:prstGeom>
        </p:spPr>
        <p:txBody>
          <a:bodyPr/>
          <a:lstStyle>
            <a:lvl1pPr>
              <a:defRPr>
                <a:solidFill>
                  <a:schemeClr val="accent2"/>
                </a:solidFill>
              </a:defRPr>
            </a:lvl1pPr>
          </a:lstStyle>
          <a:p>
            <a:pPr lvl="0"/>
            <a:r>
              <a:rPr lang="en-US"/>
              <a:t>Click to edit Master subtitle styles</a:t>
            </a:r>
          </a:p>
        </p:txBody>
      </p:sp>
      <p:sp>
        <p:nvSpPr>
          <p:cNvPr id="2" name="Title 1">
            <a:extLst>
              <a:ext uri="{FF2B5EF4-FFF2-40B4-BE49-F238E27FC236}">
                <a16:creationId xmlns:a16="http://schemas.microsoft.com/office/drawing/2014/main" id="{171054D7-80F5-442C-9F9E-FCC6CF14C5F1}"/>
              </a:ext>
            </a:extLst>
          </p:cNvPr>
          <p:cNvSpPr>
            <a:spLocks noGrp="1"/>
          </p:cNvSpPr>
          <p:nvPr>
            <p:ph type="title"/>
          </p:nvPr>
        </p:nvSpPr>
        <p:spPr/>
        <p:txBody>
          <a:bodyPr/>
          <a:lstStyle/>
          <a:p>
            <a:r>
              <a:rPr lang="en-US"/>
              <a:t>Click to edit Master title style</a:t>
            </a:r>
            <a:endParaRPr lang="de-DE"/>
          </a:p>
        </p:txBody>
      </p:sp>
    </p:spTree>
    <p:extLst>
      <p:ext uri="{BB962C8B-B14F-4D97-AF65-F5344CB8AC3E}">
        <p14:creationId xmlns:p14="http://schemas.microsoft.com/office/powerpoint/2010/main" val="22687694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Large title">
    <p:bg>
      <p:bgPr>
        <a:solidFill>
          <a:srgbClr val="24134F"/>
        </a:solidFill>
        <a:effectLst/>
      </p:bgPr>
    </p:bg>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81D5C5CA-E0F9-4194-9FD7-26150AB2A870}"/>
              </a:ext>
            </a:extLst>
          </p:cNvPr>
          <p:cNvSpPr>
            <a:spLocks noGrp="1"/>
          </p:cNvSpPr>
          <p:nvPr>
            <p:ph type="subTitle" idx="1"/>
          </p:nvPr>
        </p:nvSpPr>
        <p:spPr>
          <a:xfrm>
            <a:off x="457200" y="6003700"/>
            <a:ext cx="11277600" cy="822325"/>
          </a:xfrm>
        </p:spPr>
        <p:txBody>
          <a:bodyPr lIns="36000" tIns="144000">
            <a:normAutofit/>
          </a:bodyPr>
          <a:lstStyle>
            <a:lvl1pPr marL="0" indent="0" algn="l">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7" name="Text Placeholder 6">
            <a:extLst>
              <a:ext uri="{FF2B5EF4-FFF2-40B4-BE49-F238E27FC236}">
                <a16:creationId xmlns:a16="http://schemas.microsoft.com/office/drawing/2014/main" id="{79EA84EC-0E0C-41F6-8286-BC5A87DC6C7B}"/>
              </a:ext>
            </a:extLst>
          </p:cNvPr>
          <p:cNvSpPr>
            <a:spLocks noGrp="1"/>
          </p:cNvSpPr>
          <p:nvPr>
            <p:ph type="body" sz="quarter" idx="10"/>
          </p:nvPr>
        </p:nvSpPr>
        <p:spPr>
          <a:xfrm>
            <a:off x="457200" y="1644650"/>
            <a:ext cx="11277600" cy="3567113"/>
          </a:xfrm>
        </p:spPr>
        <p:txBody>
          <a:bodyPr anchor="ctr" anchorCtr="0">
            <a:normAutofit/>
          </a:bodyPr>
          <a:lstStyle>
            <a:lvl1pPr marL="0" indent="0" algn="l">
              <a:lnSpc>
                <a:spcPct val="70000"/>
              </a:lnSpc>
              <a:buFontTx/>
              <a:buNone/>
              <a:defRPr sz="8000" b="1" cap="all"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a:t>Click to edit Master text styles</a:t>
            </a:r>
          </a:p>
        </p:txBody>
      </p:sp>
      <p:pic>
        <p:nvPicPr>
          <p:cNvPr id="5" name="Image 4" descr="Une image contenant texte&#10;&#10;Description générée automatiquement">
            <a:extLst>
              <a:ext uri="{FF2B5EF4-FFF2-40B4-BE49-F238E27FC236}">
                <a16:creationId xmlns:a16="http://schemas.microsoft.com/office/drawing/2014/main" id="{D1A9B987-E149-4E99-9E1F-336980D5EC1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672" y="260648"/>
            <a:ext cx="3024000" cy="1226177"/>
          </a:xfrm>
          <a:prstGeom prst="rect">
            <a:avLst/>
          </a:prstGeom>
        </p:spPr>
      </p:pic>
    </p:spTree>
    <p:extLst>
      <p:ext uri="{BB962C8B-B14F-4D97-AF65-F5344CB8AC3E}">
        <p14:creationId xmlns:p14="http://schemas.microsoft.com/office/powerpoint/2010/main" val="29383165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1">
    <p:bg>
      <p:bgPr>
        <a:solidFill>
          <a:srgbClr val="E6E7E7"/>
        </a:solidFill>
        <a:effectLst/>
      </p:bgPr>
    </p:bg>
    <p:spTree>
      <p:nvGrpSpPr>
        <p:cNvPr id="1" name=""/>
        <p:cNvGrpSpPr/>
        <p:nvPr/>
      </p:nvGrpSpPr>
      <p:grpSpPr>
        <a:xfrm>
          <a:off x="0" y="0"/>
          <a:ext cx="0" cy="0"/>
          <a:chOff x="0" y="0"/>
          <a:chExt cx="0" cy="0"/>
        </a:xfrm>
      </p:grpSpPr>
      <p:graphicFrame>
        <p:nvGraphicFramePr>
          <p:cNvPr id="7" name="Object 6"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7" name="Object 6"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79" name="Freeform 7"/>
          <p:cNvSpPr>
            <a:spLocks/>
          </p:cNvSpPr>
          <p:nvPr userDrawn="1"/>
        </p:nvSpPr>
        <p:spPr bwMode="auto">
          <a:xfrm>
            <a:off x="5137150" y="0"/>
            <a:ext cx="7054850" cy="6854825"/>
          </a:xfrm>
          <a:custGeom>
            <a:avLst/>
            <a:gdLst/>
            <a:ahLst/>
            <a:cxnLst>
              <a:cxn ang="0">
                <a:pos x="4444" y="0"/>
              </a:cxn>
              <a:cxn ang="0">
                <a:pos x="4444" y="32"/>
              </a:cxn>
              <a:cxn ang="0">
                <a:pos x="4444" y="4292"/>
              </a:cxn>
              <a:cxn ang="0">
                <a:pos x="4440" y="4306"/>
              </a:cxn>
              <a:cxn ang="0">
                <a:pos x="4426" y="4314"/>
              </a:cxn>
              <a:cxn ang="0">
                <a:pos x="4326" y="4318"/>
              </a:cxn>
              <a:cxn ang="0">
                <a:pos x="4228" y="4310"/>
              </a:cxn>
              <a:cxn ang="0">
                <a:pos x="4076" y="4282"/>
              </a:cxn>
              <a:cxn ang="0">
                <a:pos x="3928" y="4240"/>
              </a:cxn>
              <a:cxn ang="0">
                <a:pos x="3740" y="4170"/>
              </a:cxn>
              <a:cxn ang="0">
                <a:pos x="3474" y="4042"/>
              </a:cxn>
              <a:cxn ang="0">
                <a:pos x="3216" y="3896"/>
              </a:cxn>
              <a:cxn ang="0">
                <a:pos x="3024" y="3772"/>
              </a:cxn>
              <a:cxn ang="0">
                <a:pos x="2704" y="3544"/>
              </a:cxn>
              <a:cxn ang="0">
                <a:pos x="2396" y="3300"/>
              </a:cxn>
              <a:cxn ang="0">
                <a:pos x="2180" y="3116"/>
              </a:cxn>
              <a:cxn ang="0">
                <a:pos x="2256" y="2964"/>
              </a:cxn>
              <a:cxn ang="0">
                <a:pos x="2286" y="2890"/>
              </a:cxn>
              <a:cxn ang="0">
                <a:pos x="2322" y="2774"/>
              </a:cxn>
              <a:cxn ang="0">
                <a:pos x="2338" y="2654"/>
              </a:cxn>
              <a:cxn ang="0">
                <a:pos x="2336" y="2562"/>
              </a:cxn>
              <a:cxn ang="0">
                <a:pos x="2306" y="2432"/>
              </a:cxn>
              <a:cxn ang="0">
                <a:pos x="2242" y="2310"/>
              </a:cxn>
              <a:cxn ang="0">
                <a:pos x="2188" y="2238"/>
              </a:cxn>
              <a:cxn ang="0">
                <a:pos x="2092" y="2144"/>
              </a:cxn>
              <a:cxn ang="0">
                <a:pos x="1986" y="2062"/>
              </a:cxn>
              <a:cxn ang="0">
                <a:pos x="1878" y="1990"/>
              </a:cxn>
              <a:cxn ang="0">
                <a:pos x="1712" y="1894"/>
              </a:cxn>
              <a:cxn ang="0">
                <a:pos x="1538" y="1808"/>
              </a:cxn>
              <a:cxn ang="0">
                <a:pos x="1156" y="1640"/>
              </a:cxn>
              <a:cxn ang="0">
                <a:pos x="710" y="1446"/>
              </a:cxn>
              <a:cxn ang="0">
                <a:pos x="524" y="1350"/>
              </a:cxn>
              <a:cxn ang="0">
                <a:pos x="354" y="1230"/>
              </a:cxn>
              <a:cxn ang="0">
                <a:pos x="262" y="1144"/>
              </a:cxn>
              <a:cxn ang="0">
                <a:pos x="158" y="1020"/>
              </a:cxn>
              <a:cxn ang="0">
                <a:pos x="80" y="884"/>
              </a:cxn>
              <a:cxn ang="0">
                <a:pos x="28" y="740"/>
              </a:cxn>
              <a:cxn ang="0">
                <a:pos x="2" y="584"/>
              </a:cxn>
              <a:cxn ang="0">
                <a:pos x="4" y="418"/>
              </a:cxn>
              <a:cxn ang="0">
                <a:pos x="18" y="314"/>
              </a:cxn>
              <a:cxn ang="0">
                <a:pos x="58" y="162"/>
              </a:cxn>
              <a:cxn ang="0">
                <a:pos x="118" y="16"/>
              </a:cxn>
              <a:cxn ang="0">
                <a:pos x="122" y="0"/>
              </a:cxn>
            </a:cxnLst>
            <a:rect l="0" t="0" r="r" b="b"/>
            <a:pathLst>
              <a:path w="4444" h="4318">
                <a:moveTo>
                  <a:pt x="122" y="0"/>
                </a:moveTo>
                <a:lnTo>
                  <a:pt x="122" y="0"/>
                </a:lnTo>
                <a:lnTo>
                  <a:pt x="4444" y="0"/>
                </a:lnTo>
                <a:lnTo>
                  <a:pt x="4444" y="0"/>
                </a:lnTo>
                <a:lnTo>
                  <a:pt x="4444" y="32"/>
                </a:lnTo>
                <a:lnTo>
                  <a:pt x="4444" y="32"/>
                </a:lnTo>
                <a:lnTo>
                  <a:pt x="4444" y="4272"/>
                </a:lnTo>
                <a:lnTo>
                  <a:pt x="4444" y="4272"/>
                </a:lnTo>
                <a:lnTo>
                  <a:pt x="4444" y="4292"/>
                </a:lnTo>
                <a:lnTo>
                  <a:pt x="4444" y="4292"/>
                </a:lnTo>
                <a:lnTo>
                  <a:pt x="4444" y="4300"/>
                </a:lnTo>
                <a:lnTo>
                  <a:pt x="4440" y="4306"/>
                </a:lnTo>
                <a:lnTo>
                  <a:pt x="4436" y="4310"/>
                </a:lnTo>
                <a:lnTo>
                  <a:pt x="4426" y="4314"/>
                </a:lnTo>
                <a:lnTo>
                  <a:pt x="4426" y="4314"/>
                </a:lnTo>
                <a:lnTo>
                  <a:pt x="4402" y="4316"/>
                </a:lnTo>
                <a:lnTo>
                  <a:pt x="4376" y="4318"/>
                </a:lnTo>
                <a:lnTo>
                  <a:pt x="4326" y="4318"/>
                </a:lnTo>
                <a:lnTo>
                  <a:pt x="4278" y="4316"/>
                </a:lnTo>
                <a:lnTo>
                  <a:pt x="4228" y="4310"/>
                </a:lnTo>
                <a:lnTo>
                  <a:pt x="4228" y="4310"/>
                </a:lnTo>
                <a:lnTo>
                  <a:pt x="4176" y="4302"/>
                </a:lnTo>
                <a:lnTo>
                  <a:pt x="4126" y="4294"/>
                </a:lnTo>
                <a:lnTo>
                  <a:pt x="4076" y="4282"/>
                </a:lnTo>
                <a:lnTo>
                  <a:pt x="4026" y="4270"/>
                </a:lnTo>
                <a:lnTo>
                  <a:pt x="3978" y="4256"/>
                </a:lnTo>
                <a:lnTo>
                  <a:pt x="3928" y="4240"/>
                </a:lnTo>
                <a:lnTo>
                  <a:pt x="3832" y="4206"/>
                </a:lnTo>
                <a:lnTo>
                  <a:pt x="3832" y="4206"/>
                </a:lnTo>
                <a:lnTo>
                  <a:pt x="3740" y="4170"/>
                </a:lnTo>
                <a:lnTo>
                  <a:pt x="3650" y="4130"/>
                </a:lnTo>
                <a:lnTo>
                  <a:pt x="3562" y="4088"/>
                </a:lnTo>
                <a:lnTo>
                  <a:pt x="3474" y="4042"/>
                </a:lnTo>
                <a:lnTo>
                  <a:pt x="3386" y="3996"/>
                </a:lnTo>
                <a:lnTo>
                  <a:pt x="3302" y="3946"/>
                </a:lnTo>
                <a:lnTo>
                  <a:pt x="3216" y="3896"/>
                </a:lnTo>
                <a:lnTo>
                  <a:pt x="3134" y="3844"/>
                </a:lnTo>
                <a:lnTo>
                  <a:pt x="3134" y="3844"/>
                </a:lnTo>
                <a:lnTo>
                  <a:pt x="3024" y="3772"/>
                </a:lnTo>
                <a:lnTo>
                  <a:pt x="2916" y="3698"/>
                </a:lnTo>
                <a:lnTo>
                  <a:pt x="2808" y="3622"/>
                </a:lnTo>
                <a:lnTo>
                  <a:pt x="2704" y="3544"/>
                </a:lnTo>
                <a:lnTo>
                  <a:pt x="2600" y="3464"/>
                </a:lnTo>
                <a:lnTo>
                  <a:pt x="2498" y="3382"/>
                </a:lnTo>
                <a:lnTo>
                  <a:pt x="2396" y="3300"/>
                </a:lnTo>
                <a:lnTo>
                  <a:pt x="2296" y="3214"/>
                </a:lnTo>
                <a:lnTo>
                  <a:pt x="2296" y="3214"/>
                </a:lnTo>
                <a:lnTo>
                  <a:pt x="2180" y="3116"/>
                </a:lnTo>
                <a:lnTo>
                  <a:pt x="2180" y="3116"/>
                </a:lnTo>
                <a:lnTo>
                  <a:pt x="2220" y="3040"/>
                </a:lnTo>
                <a:lnTo>
                  <a:pt x="2256" y="2964"/>
                </a:lnTo>
                <a:lnTo>
                  <a:pt x="2256" y="2964"/>
                </a:lnTo>
                <a:lnTo>
                  <a:pt x="2272" y="2928"/>
                </a:lnTo>
                <a:lnTo>
                  <a:pt x="2286" y="2890"/>
                </a:lnTo>
                <a:lnTo>
                  <a:pt x="2300" y="2852"/>
                </a:lnTo>
                <a:lnTo>
                  <a:pt x="2312" y="2814"/>
                </a:lnTo>
                <a:lnTo>
                  <a:pt x="2322" y="2774"/>
                </a:lnTo>
                <a:lnTo>
                  <a:pt x="2330" y="2736"/>
                </a:lnTo>
                <a:lnTo>
                  <a:pt x="2334" y="2696"/>
                </a:lnTo>
                <a:lnTo>
                  <a:pt x="2338" y="2654"/>
                </a:lnTo>
                <a:lnTo>
                  <a:pt x="2338" y="2654"/>
                </a:lnTo>
                <a:lnTo>
                  <a:pt x="2340" y="2608"/>
                </a:lnTo>
                <a:lnTo>
                  <a:pt x="2336" y="2562"/>
                </a:lnTo>
                <a:lnTo>
                  <a:pt x="2330" y="2518"/>
                </a:lnTo>
                <a:lnTo>
                  <a:pt x="2320" y="2474"/>
                </a:lnTo>
                <a:lnTo>
                  <a:pt x="2306" y="2432"/>
                </a:lnTo>
                <a:lnTo>
                  <a:pt x="2288" y="2390"/>
                </a:lnTo>
                <a:lnTo>
                  <a:pt x="2266" y="2350"/>
                </a:lnTo>
                <a:lnTo>
                  <a:pt x="2242" y="2310"/>
                </a:lnTo>
                <a:lnTo>
                  <a:pt x="2242" y="2310"/>
                </a:lnTo>
                <a:lnTo>
                  <a:pt x="2216" y="2274"/>
                </a:lnTo>
                <a:lnTo>
                  <a:pt x="2188" y="2238"/>
                </a:lnTo>
                <a:lnTo>
                  <a:pt x="2158" y="2206"/>
                </a:lnTo>
                <a:lnTo>
                  <a:pt x="2126" y="2174"/>
                </a:lnTo>
                <a:lnTo>
                  <a:pt x="2092" y="2144"/>
                </a:lnTo>
                <a:lnTo>
                  <a:pt x="2058" y="2116"/>
                </a:lnTo>
                <a:lnTo>
                  <a:pt x="2022" y="2088"/>
                </a:lnTo>
                <a:lnTo>
                  <a:pt x="1986" y="2062"/>
                </a:lnTo>
                <a:lnTo>
                  <a:pt x="1986" y="2062"/>
                </a:lnTo>
                <a:lnTo>
                  <a:pt x="1932" y="2024"/>
                </a:lnTo>
                <a:lnTo>
                  <a:pt x="1878" y="1990"/>
                </a:lnTo>
                <a:lnTo>
                  <a:pt x="1824" y="1956"/>
                </a:lnTo>
                <a:lnTo>
                  <a:pt x="1768" y="1924"/>
                </a:lnTo>
                <a:lnTo>
                  <a:pt x="1712" y="1894"/>
                </a:lnTo>
                <a:lnTo>
                  <a:pt x="1654" y="1864"/>
                </a:lnTo>
                <a:lnTo>
                  <a:pt x="1596" y="1836"/>
                </a:lnTo>
                <a:lnTo>
                  <a:pt x="1538" y="1808"/>
                </a:lnTo>
                <a:lnTo>
                  <a:pt x="1538" y="1808"/>
                </a:lnTo>
                <a:lnTo>
                  <a:pt x="1346" y="1724"/>
                </a:lnTo>
                <a:lnTo>
                  <a:pt x="1156" y="1640"/>
                </a:lnTo>
                <a:lnTo>
                  <a:pt x="774" y="1474"/>
                </a:lnTo>
                <a:lnTo>
                  <a:pt x="774" y="1474"/>
                </a:lnTo>
                <a:lnTo>
                  <a:pt x="710" y="1446"/>
                </a:lnTo>
                <a:lnTo>
                  <a:pt x="646" y="1416"/>
                </a:lnTo>
                <a:lnTo>
                  <a:pt x="584" y="1384"/>
                </a:lnTo>
                <a:lnTo>
                  <a:pt x="524" y="1350"/>
                </a:lnTo>
                <a:lnTo>
                  <a:pt x="466" y="1312"/>
                </a:lnTo>
                <a:lnTo>
                  <a:pt x="410" y="1272"/>
                </a:lnTo>
                <a:lnTo>
                  <a:pt x="354" y="1230"/>
                </a:lnTo>
                <a:lnTo>
                  <a:pt x="302" y="1184"/>
                </a:lnTo>
                <a:lnTo>
                  <a:pt x="302" y="1184"/>
                </a:lnTo>
                <a:lnTo>
                  <a:pt x="262" y="1144"/>
                </a:lnTo>
                <a:lnTo>
                  <a:pt x="224" y="1104"/>
                </a:lnTo>
                <a:lnTo>
                  <a:pt x="188" y="1062"/>
                </a:lnTo>
                <a:lnTo>
                  <a:pt x="158" y="1020"/>
                </a:lnTo>
                <a:lnTo>
                  <a:pt x="128" y="976"/>
                </a:lnTo>
                <a:lnTo>
                  <a:pt x="102" y="930"/>
                </a:lnTo>
                <a:lnTo>
                  <a:pt x="80" y="884"/>
                </a:lnTo>
                <a:lnTo>
                  <a:pt x="58" y="838"/>
                </a:lnTo>
                <a:lnTo>
                  <a:pt x="42" y="790"/>
                </a:lnTo>
                <a:lnTo>
                  <a:pt x="28" y="740"/>
                </a:lnTo>
                <a:lnTo>
                  <a:pt x="16" y="688"/>
                </a:lnTo>
                <a:lnTo>
                  <a:pt x="8" y="636"/>
                </a:lnTo>
                <a:lnTo>
                  <a:pt x="2" y="584"/>
                </a:lnTo>
                <a:lnTo>
                  <a:pt x="0" y="530"/>
                </a:lnTo>
                <a:lnTo>
                  <a:pt x="0" y="474"/>
                </a:lnTo>
                <a:lnTo>
                  <a:pt x="4" y="418"/>
                </a:lnTo>
                <a:lnTo>
                  <a:pt x="4" y="418"/>
                </a:lnTo>
                <a:lnTo>
                  <a:pt x="10" y="366"/>
                </a:lnTo>
                <a:lnTo>
                  <a:pt x="18" y="314"/>
                </a:lnTo>
                <a:lnTo>
                  <a:pt x="30" y="262"/>
                </a:lnTo>
                <a:lnTo>
                  <a:pt x="42" y="212"/>
                </a:lnTo>
                <a:lnTo>
                  <a:pt x="58" y="162"/>
                </a:lnTo>
                <a:lnTo>
                  <a:pt x="76" y="112"/>
                </a:lnTo>
                <a:lnTo>
                  <a:pt x="94" y="64"/>
                </a:lnTo>
                <a:lnTo>
                  <a:pt x="118" y="16"/>
                </a:lnTo>
                <a:lnTo>
                  <a:pt x="118" y="16"/>
                </a:lnTo>
                <a:lnTo>
                  <a:pt x="122" y="0"/>
                </a:lnTo>
                <a:lnTo>
                  <a:pt x="122"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1" name="Title 1"/>
          <p:cNvSpPr>
            <a:spLocks noGrp="1"/>
          </p:cNvSpPr>
          <p:nvPr>
            <p:ph type="ctrTitle" hasCustomPrompt="1"/>
          </p:nvPr>
        </p:nvSpPr>
        <p:spPr>
          <a:xfrm>
            <a:off x="407988" y="1358153"/>
            <a:ext cx="4774258" cy="147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defRPr lang="en-US" sz="2600" b="0" dirty="0">
                <a:solidFill>
                  <a:schemeClr val="accent1"/>
                </a:solidFill>
              </a:defRPr>
            </a:lvl1pPr>
          </a:lstStyle>
          <a:p>
            <a:pPr marL="0" lvl="0"/>
            <a:r>
              <a:rPr lang="en-US"/>
              <a:t>Click to insert title</a:t>
            </a:r>
          </a:p>
        </p:txBody>
      </p:sp>
      <p:sp>
        <p:nvSpPr>
          <p:cNvPr id="12" name="Subtitle 2"/>
          <p:cNvSpPr>
            <a:spLocks noGrp="1"/>
          </p:cNvSpPr>
          <p:nvPr>
            <p:ph type="subTitle" idx="1" hasCustomPrompt="1"/>
          </p:nvPr>
        </p:nvSpPr>
        <p:spPr>
          <a:xfrm>
            <a:off x="407988" y="2976180"/>
            <a:ext cx="4774257"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grpSp>
        <p:nvGrpSpPr>
          <p:cNvPr id="13" name="Group 14"/>
          <p:cNvGrpSpPr>
            <a:grpSpLocks noChangeAspect="1"/>
          </p:cNvGrpSpPr>
          <p:nvPr userDrawn="1"/>
        </p:nvGrpSpPr>
        <p:grpSpPr>
          <a:xfrm>
            <a:off x="416888" y="4537346"/>
            <a:ext cx="5040000" cy="1123654"/>
            <a:chOff x="728663" y="4465638"/>
            <a:chExt cx="5354637" cy="1193801"/>
          </a:xfrm>
        </p:grpSpPr>
        <p:sp>
          <p:nvSpPr>
            <p:cNvPr id="14"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6"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7"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8"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2352832821"/>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9" name="Object 8"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9" name="Freeform 5"/>
          <p:cNvSpPr>
            <a:spLocks/>
          </p:cNvSpPr>
          <p:nvPr userDrawn="1"/>
        </p:nvSpPr>
        <p:spPr bwMode="auto">
          <a:xfrm>
            <a:off x="1009650" y="0"/>
            <a:ext cx="11182350" cy="6858000"/>
          </a:xfrm>
          <a:custGeom>
            <a:avLst/>
            <a:gdLst/>
            <a:ahLst/>
            <a:cxnLst>
              <a:cxn ang="0">
                <a:pos x="0" y="0"/>
              </a:cxn>
              <a:cxn ang="0">
                <a:pos x="7044" y="0"/>
              </a:cxn>
              <a:cxn ang="0">
                <a:pos x="7044" y="4320"/>
              </a:cxn>
              <a:cxn ang="0">
                <a:pos x="7040" y="4320"/>
              </a:cxn>
              <a:cxn ang="0">
                <a:pos x="4170" y="4320"/>
              </a:cxn>
              <a:cxn ang="0">
                <a:pos x="4150" y="4318"/>
              </a:cxn>
              <a:cxn ang="0">
                <a:pos x="4132" y="4308"/>
              </a:cxn>
              <a:cxn ang="0">
                <a:pos x="3522" y="3806"/>
              </a:cxn>
              <a:cxn ang="0">
                <a:pos x="3468" y="3760"/>
              </a:cxn>
              <a:cxn ang="0">
                <a:pos x="3416" y="3714"/>
              </a:cxn>
              <a:cxn ang="0">
                <a:pos x="3492" y="3568"/>
              </a:cxn>
              <a:cxn ang="0">
                <a:pos x="3522" y="3504"/>
              </a:cxn>
              <a:cxn ang="0">
                <a:pos x="3578" y="3378"/>
              </a:cxn>
              <a:cxn ang="0">
                <a:pos x="3622" y="3248"/>
              </a:cxn>
              <a:cxn ang="0">
                <a:pos x="3652" y="3116"/>
              </a:cxn>
              <a:cxn ang="0">
                <a:pos x="3664" y="3046"/>
              </a:cxn>
              <a:cxn ang="0">
                <a:pos x="3670" y="2964"/>
              </a:cxn>
              <a:cxn ang="0">
                <a:pos x="3670" y="2884"/>
              </a:cxn>
              <a:cxn ang="0">
                <a:pos x="3662" y="2802"/>
              </a:cxn>
              <a:cxn ang="0">
                <a:pos x="3648" y="2722"/>
              </a:cxn>
              <a:cxn ang="0">
                <a:pos x="3632" y="2666"/>
              </a:cxn>
              <a:cxn ang="0">
                <a:pos x="3590" y="2560"/>
              </a:cxn>
              <a:cxn ang="0">
                <a:pos x="3536" y="2460"/>
              </a:cxn>
              <a:cxn ang="0">
                <a:pos x="3470" y="2366"/>
              </a:cxn>
              <a:cxn ang="0">
                <a:pos x="3434" y="2322"/>
              </a:cxn>
              <a:cxn ang="0">
                <a:pos x="3338" y="2220"/>
              </a:cxn>
              <a:cxn ang="0">
                <a:pos x="3236" y="2130"/>
              </a:cxn>
              <a:cxn ang="0">
                <a:pos x="3126" y="2046"/>
              </a:cxn>
              <a:cxn ang="0">
                <a:pos x="3012" y="1966"/>
              </a:cxn>
              <a:cxn ang="0">
                <a:pos x="2932" y="1916"/>
              </a:cxn>
              <a:cxn ang="0">
                <a:pos x="2766" y="1818"/>
              </a:cxn>
              <a:cxn ang="0">
                <a:pos x="2598" y="1728"/>
              </a:cxn>
              <a:cxn ang="0">
                <a:pos x="2340" y="1602"/>
              </a:cxn>
              <a:cxn ang="0">
                <a:pos x="2198" y="1536"/>
              </a:cxn>
              <a:cxn ang="0">
                <a:pos x="1772" y="1348"/>
              </a:cxn>
              <a:cxn ang="0">
                <a:pos x="1200" y="1106"/>
              </a:cxn>
              <a:cxn ang="0">
                <a:pos x="1118" y="1070"/>
              </a:cxn>
              <a:cxn ang="0">
                <a:pos x="954" y="994"/>
              </a:cxn>
              <a:cxn ang="0">
                <a:pos x="798" y="908"/>
              </a:cxn>
              <a:cxn ang="0">
                <a:pos x="646" y="814"/>
              </a:cxn>
              <a:cxn ang="0">
                <a:pos x="572" y="760"/>
              </a:cxn>
              <a:cxn ang="0">
                <a:pos x="448" y="658"/>
              </a:cxn>
              <a:cxn ang="0">
                <a:pos x="332" y="548"/>
              </a:cxn>
              <a:cxn ang="0">
                <a:pos x="228" y="426"/>
              </a:cxn>
              <a:cxn ang="0">
                <a:pos x="136" y="292"/>
              </a:cxn>
              <a:cxn ang="0">
                <a:pos x="94" y="222"/>
              </a:cxn>
              <a:cxn ang="0">
                <a:pos x="58" y="150"/>
              </a:cxn>
              <a:cxn ang="0">
                <a:pos x="28" y="76"/>
              </a:cxn>
              <a:cxn ang="0">
                <a:pos x="0" y="0"/>
              </a:cxn>
            </a:cxnLst>
            <a:rect l="0" t="0" r="r" b="b"/>
            <a:pathLst>
              <a:path w="7044" h="4320">
                <a:moveTo>
                  <a:pt x="0" y="0"/>
                </a:moveTo>
                <a:lnTo>
                  <a:pt x="0" y="0"/>
                </a:lnTo>
                <a:lnTo>
                  <a:pt x="7044" y="0"/>
                </a:lnTo>
                <a:lnTo>
                  <a:pt x="7044" y="0"/>
                </a:lnTo>
                <a:lnTo>
                  <a:pt x="7044" y="4320"/>
                </a:lnTo>
                <a:lnTo>
                  <a:pt x="7044" y="4320"/>
                </a:lnTo>
                <a:lnTo>
                  <a:pt x="7040" y="4320"/>
                </a:lnTo>
                <a:lnTo>
                  <a:pt x="7040" y="4320"/>
                </a:lnTo>
                <a:lnTo>
                  <a:pt x="4170" y="4320"/>
                </a:lnTo>
                <a:lnTo>
                  <a:pt x="4170" y="4320"/>
                </a:lnTo>
                <a:lnTo>
                  <a:pt x="4160" y="4320"/>
                </a:lnTo>
                <a:lnTo>
                  <a:pt x="4150" y="4318"/>
                </a:lnTo>
                <a:lnTo>
                  <a:pt x="4140" y="4314"/>
                </a:lnTo>
                <a:lnTo>
                  <a:pt x="4132" y="4308"/>
                </a:lnTo>
                <a:lnTo>
                  <a:pt x="4132" y="4308"/>
                </a:lnTo>
                <a:lnTo>
                  <a:pt x="3522" y="3806"/>
                </a:lnTo>
                <a:lnTo>
                  <a:pt x="3522" y="3806"/>
                </a:lnTo>
                <a:lnTo>
                  <a:pt x="3468" y="3760"/>
                </a:lnTo>
                <a:lnTo>
                  <a:pt x="3416" y="3714"/>
                </a:lnTo>
                <a:lnTo>
                  <a:pt x="3416" y="3714"/>
                </a:lnTo>
                <a:lnTo>
                  <a:pt x="3454" y="3640"/>
                </a:lnTo>
                <a:lnTo>
                  <a:pt x="3492" y="3568"/>
                </a:lnTo>
                <a:lnTo>
                  <a:pt x="3492" y="3568"/>
                </a:lnTo>
                <a:lnTo>
                  <a:pt x="3522" y="3504"/>
                </a:lnTo>
                <a:lnTo>
                  <a:pt x="3552" y="3442"/>
                </a:lnTo>
                <a:lnTo>
                  <a:pt x="3578" y="3378"/>
                </a:lnTo>
                <a:lnTo>
                  <a:pt x="3600" y="3314"/>
                </a:lnTo>
                <a:lnTo>
                  <a:pt x="3622" y="3248"/>
                </a:lnTo>
                <a:lnTo>
                  <a:pt x="3638" y="3182"/>
                </a:lnTo>
                <a:lnTo>
                  <a:pt x="3652" y="3116"/>
                </a:lnTo>
                <a:lnTo>
                  <a:pt x="3664" y="3046"/>
                </a:lnTo>
                <a:lnTo>
                  <a:pt x="3664" y="3046"/>
                </a:lnTo>
                <a:lnTo>
                  <a:pt x="3668" y="3006"/>
                </a:lnTo>
                <a:lnTo>
                  <a:pt x="3670" y="2964"/>
                </a:lnTo>
                <a:lnTo>
                  <a:pt x="3670" y="2924"/>
                </a:lnTo>
                <a:lnTo>
                  <a:pt x="3670" y="2884"/>
                </a:lnTo>
                <a:lnTo>
                  <a:pt x="3666" y="2844"/>
                </a:lnTo>
                <a:lnTo>
                  <a:pt x="3662" y="2802"/>
                </a:lnTo>
                <a:lnTo>
                  <a:pt x="3656" y="2762"/>
                </a:lnTo>
                <a:lnTo>
                  <a:pt x="3648" y="2722"/>
                </a:lnTo>
                <a:lnTo>
                  <a:pt x="3648" y="2722"/>
                </a:lnTo>
                <a:lnTo>
                  <a:pt x="3632" y="2666"/>
                </a:lnTo>
                <a:lnTo>
                  <a:pt x="3612" y="2612"/>
                </a:lnTo>
                <a:lnTo>
                  <a:pt x="3590" y="2560"/>
                </a:lnTo>
                <a:lnTo>
                  <a:pt x="3564" y="2508"/>
                </a:lnTo>
                <a:lnTo>
                  <a:pt x="3536" y="2460"/>
                </a:lnTo>
                <a:lnTo>
                  <a:pt x="3504" y="2412"/>
                </a:lnTo>
                <a:lnTo>
                  <a:pt x="3470" y="2366"/>
                </a:lnTo>
                <a:lnTo>
                  <a:pt x="3434" y="2322"/>
                </a:lnTo>
                <a:lnTo>
                  <a:pt x="3434" y="2322"/>
                </a:lnTo>
                <a:lnTo>
                  <a:pt x="3388" y="2270"/>
                </a:lnTo>
                <a:lnTo>
                  <a:pt x="3338" y="2220"/>
                </a:lnTo>
                <a:lnTo>
                  <a:pt x="3288" y="2174"/>
                </a:lnTo>
                <a:lnTo>
                  <a:pt x="3236" y="2130"/>
                </a:lnTo>
                <a:lnTo>
                  <a:pt x="3182" y="2086"/>
                </a:lnTo>
                <a:lnTo>
                  <a:pt x="3126" y="2046"/>
                </a:lnTo>
                <a:lnTo>
                  <a:pt x="3070" y="2006"/>
                </a:lnTo>
                <a:lnTo>
                  <a:pt x="3012" y="1966"/>
                </a:lnTo>
                <a:lnTo>
                  <a:pt x="3012" y="1966"/>
                </a:lnTo>
                <a:lnTo>
                  <a:pt x="2932" y="1916"/>
                </a:lnTo>
                <a:lnTo>
                  <a:pt x="2850" y="1866"/>
                </a:lnTo>
                <a:lnTo>
                  <a:pt x="2766" y="1818"/>
                </a:lnTo>
                <a:lnTo>
                  <a:pt x="2682" y="1772"/>
                </a:lnTo>
                <a:lnTo>
                  <a:pt x="2598" y="1728"/>
                </a:lnTo>
                <a:lnTo>
                  <a:pt x="2512" y="1686"/>
                </a:lnTo>
                <a:lnTo>
                  <a:pt x="2340" y="1602"/>
                </a:lnTo>
                <a:lnTo>
                  <a:pt x="2340" y="1602"/>
                </a:lnTo>
                <a:lnTo>
                  <a:pt x="2198" y="1536"/>
                </a:lnTo>
                <a:lnTo>
                  <a:pt x="2056" y="1472"/>
                </a:lnTo>
                <a:lnTo>
                  <a:pt x="1772" y="1348"/>
                </a:lnTo>
                <a:lnTo>
                  <a:pt x="1486" y="1226"/>
                </a:lnTo>
                <a:lnTo>
                  <a:pt x="1200" y="1106"/>
                </a:lnTo>
                <a:lnTo>
                  <a:pt x="1200" y="1106"/>
                </a:lnTo>
                <a:lnTo>
                  <a:pt x="1118" y="1070"/>
                </a:lnTo>
                <a:lnTo>
                  <a:pt x="1036" y="1034"/>
                </a:lnTo>
                <a:lnTo>
                  <a:pt x="954" y="994"/>
                </a:lnTo>
                <a:lnTo>
                  <a:pt x="876" y="952"/>
                </a:lnTo>
                <a:lnTo>
                  <a:pt x="798" y="908"/>
                </a:lnTo>
                <a:lnTo>
                  <a:pt x="720" y="862"/>
                </a:lnTo>
                <a:lnTo>
                  <a:pt x="646" y="814"/>
                </a:lnTo>
                <a:lnTo>
                  <a:pt x="572" y="760"/>
                </a:lnTo>
                <a:lnTo>
                  <a:pt x="572" y="760"/>
                </a:lnTo>
                <a:lnTo>
                  <a:pt x="508" y="710"/>
                </a:lnTo>
                <a:lnTo>
                  <a:pt x="448" y="658"/>
                </a:lnTo>
                <a:lnTo>
                  <a:pt x="388" y="604"/>
                </a:lnTo>
                <a:lnTo>
                  <a:pt x="332" y="548"/>
                </a:lnTo>
                <a:lnTo>
                  <a:pt x="278" y="488"/>
                </a:lnTo>
                <a:lnTo>
                  <a:pt x="228" y="426"/>
                </a:lnTo>
                <a:lnTo>
                  <a:pt x="180" y="360"/>
                </a:lnTo>
                <a:lnTo>
                  <a:pt x="136" y="292"/>
                </a:lnTo>
                <a:lnTo>
                  <a:pt x="136" y="292"/>
                </a:lnTo>
                <a:lnTo>
                  <a:pt x="94" y="222"/>
                </a:lnTo>
                <a:lnTo>
                  <a:pt x="76" y="186"/>
                </a:lnTo>
                <a:lnTo>
                  <a:pt x="58" y="150"/>
                </a:lnTo>
                <a:lnTo>
                  <a:pt x="42" y="114"/>
                </a:lnTo>
                <a:lnTo>
                  <a:pt x="28" y="76"/>
                </a:lnTo>
                <a:lnTo>
                  <a:pt x="14" y="38"/>
                </a:lnTo>
                <a:lnTo>
                  <a:pt x="0" y="0"/>
                </a:lnTo>
                <a:lnTo>
                  <a:pt x="0" y="0"/>
                </a:lnTo>
                <a:close/>
              </a:path>
            </a:pathLst>
          </a:custGeom>
          <a:solidFill>
            <a:schemeClr val="tx2"/>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nvGrpSpPr>
          <p:cNvPr id="15" name="Group 14"/>
          <p:cNvGrpSpPr>
            <a:grpSpLocks noChangeAspect="1"/>
          </p:cNvGrpSpPr>
          <p:nvPr userDrawn="1"/>
        </p:nvGrpSpPr>
        <p:grpSpPr>
          <a:xfrm>
            <a:off x="416888" y="4537346"/>
            <a:ext cx="5040000" cy="1123654"/>
            <a:chOff x="728663" y="4465638"/>
            <a:chExt cx="5354637" cy="1193801"/>
          </a:xfrm>
        </p:grpSpPr>
        <p:sp>
          <p:nvSpPr>
            <p:cNvPr id="16"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7"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8"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0"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
        <p:nvSpPr>
          <p:cNvPr id="22" name="Subtitle 2"/>
          <p:cNvSpPr>
            <a:spLocks noGrp="1"/>
          </p:cNvSpPr>
          <p:nvPr>
            <p:ph type="subTitle" idx="1" hasCustomPrompt="1"/>
          </p:nvPr>
        </p:nvSpPr>
        <p:spPr>
          <a:xfrm>
            <a:off x="5665976" y="1690688"/>
            <a:ext cx="6234859" cy="11260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sp>
        <p:nvSpPr>
          <p:cNvPr id="2" name="Titre 1"/>
          <p:cNvSpPr>
            <a:spLocks noGrp="1"/>
          </p:cNvSpPr>
          <p:nvPr>
            <p:ph type="title" hasCustomPrompt="1"/>
          </p:nvPr>
        </p:nvSpPr>
        <p:spPr>
          <a:xfrm>
            <a:off x="5655320" y="622300"/>
            <a:ext cx="6260455" cy="1068388"/>
          </a:xfrm>
          <a:prstGeom prst="rect">
            <a:avLst/>
          </a:prstGeom>
        </p:spPr>
        <p:txBody>
          <a:bodyPr lIns="0" anchor="b"/>
          <a:lstStyle>
            <a:lvl1pPr>
              <a:defRPr sz="2600">
                <a:solidFill>
                  <a:schemeClr val="accent2"/>
                </a:solidFill>
              </a:defRPr>
            </a:lvl1pPr>
          </a:lstStyle>
          <a:p>
            <a:r>
              <a:rPr lang="en-US"/>
              <a:t>Click to insert title</a:t>
            </a:r>
          </a:p>
        </p:txBody>
      </p:sp>
    </p:spTree>
    <p:extLst>
      <p:ext uri="{BB962C8B-B14F-4D97-AF65-F5344CB8AC3E}">
        <p14:creationId xmlns:p14="http://schemas.microsoft.com/office/powerpoint/2010/main" val="1132199565"/>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3">
    <p:bg>
      <p:bgPr>
        <a:solidFill>
          <a:srgbClr val="E6E7E7"/>
        </a:solidFill>
        <a:effectLst/>
      </p:bgPr>
    </p:bg>
    <p:spTree>
      <p:nvGrpSpPr>
        <p:cNvPr id="1" name=""/>
        <p:cNvGrpSpPr/>
        <p:nvPr/>
      </p:nvGrpSpPr>
      <p:grpSpPr>
        <a:xfrm>
          <a:off x="0" y="0"/>
          <a:ext cx="0" cy="0"/>
          <a:chOff x="0" y="0"/>
          <a:chExt cx="0" cy="0"/>
        </a:xfrm>
      </p:grpSpPr>
      <p:graphicFrame>
        <p:nvGraphicFramePr>
          <p:cNvPr id="16" name="Object 15"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6" name="Object 15"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46" name="Freeform 6"/>
          <p:cNvSpPr>
            <a:spLocks/>
          </p:cNvSpPr>
          <p:nvPr userDrawn="1"/>
        </p:nvSpPr>
        <p:spPr bwMode="auto">
          <a:xfrm>
            <a:off x="3771900" y="1847851"/>
            <a:ext cx="8420100" cy="5010150"/>
          </a:xfrm>
          <a:custGeom>
            <a:avLst/>
            <a:gdLst/>
            <a:ahLst/>
            <a:cxnLst>
              <a:cxn ang="0">
                <a:pos x="5302" y="3130"/>
              </a:cxn>
              <a:cxn ang="0">
                <a:pos x="5302" y="994"/>
              </a:cxn>
              <a:cxn ang="0">
                <a:pos x="5302" y="982"/>
              </a:cxn>
              <a:cxn ang="0">
                <a:pos x="5302" y="966"/>
              </a:cxn>
              <a:cxn ang="0">
                <a:pos x="5298" y="962"/>
              </a:cxn>
              <a:cxn ang="0">
                <a:pos x="5284" y="968"/>
              </a:cxn>
              <a:cxn ang="0">
                <a:pos x="5234" y="992"/>
              </a:cxn>
              <a:cxn ang="0">
                <a:pos x="5132" y="1030"/>
              </a:cxn>
              <a:cxn ang="0">
                <a:pos x="5080" y="1044"/>
              </a:cxn>
              <a:cxn ang="0">
                <a:pos x="4944" y="1076"/>
              </a:cxn>
              <a:cxn ang="0">
                <a:pos x="4806" y="1094"/>
              </a:cxn>
              <a:cxn ang="0">
                <a:pos x="4668" y="1104"/>
              </a:cxn>
              <a:cxn ang="0">
                <a:pos x="4528" y="1102"/>
              </a:cxn>
              <a:cxn ang="0">
                <a:pos x="4436" y="1098"/>
              </a:cxn>
              <a:cxn ang="0">
                <a:pos x="4254" y="1080"/>
              </a:cxn>
              <a:cxn ang="0">
                <a:pos x="4074" y="1054"/>
              </a:cxn>
              <a:cxn ang="0">
                <a:pos x="3894" y="1018"/>
              </a:cxn>
              <a:cxn ang="0">
                <a:pos x="3806" y="996"/>
              </a:cxn>
              <a:cxn ang="0">
                <a:pos x="3518" y="918"/>
              </a:cxn>
              <a:cxn ang="0">
                <a:pos x="3236" y="828"/>
              </a:cxn>
              <a:cxn ang="0">
                <a:pos x="2956" y="724"/>
              </a:cxn>
              <a:cxn ang="0">
                <a:pos x="2680" y="612"/>
              </a:cxn>
              <a:cxn ang="0">
                <a:pos x="2522" y="544"/>
              </a:cxn>
              <a:cxn ang="0">
                <a:pos x="2210" y="402"/>
              </a:cxn>
              <a:cxn ang="0">
                <a:pos x="1902" y="250"/>
              </a:cxn>
              <a:cxn ang="0">
                <a:pos x="1596" y="92"/>
              </a:cxn>
              <a:cxn ang="0">
                <a:pos x="1446" y="10"/>
              </a:cxn>
              <a:cxn ang="0">
                <a:pos x="1434" y="4"/>
              </a:cxn>
              <a:cxn ang="0">
                <a:pos x="1432" y="0"/>
              </a:cxn>
              <a:cxn ang="0">
                <a:pos x="1424" y="0"/>
              </a:cxn>
              <a:cxn ang="0">
                <a:pos x="1286" y="88"/>
              </a:cxn>
              <a:cxn ang="0">
                <a:pos x="1132" y="194"/>
              </a:cxn>
              <a:cxn ang="0">
                <a:pos x="982" y="304"/>
              </a:cxn>
              <a:cxn ang="0">
                <a:pos x="838" y="422"/>
              </a:cxn>
              <a:cxn ang="0">
                <a:pos x="702" y="548"/>
              </a:cxn>
              <a:cxn ang="0">
                <a:pos x="660" y="592"/>
              </a:cxn>
              <a:cxn ang="0">
                <a:pos x="578" y="678"/>
              </a:cxn>
              <a:cxn ang="0">
                <a:pos x="500" y="768"/>
              </a:cxn>
              <a:cxn ang="0">
                <a:pos x="428" y="862"/>
              </a:cxn>
              <a:cxn ang="0">
                <a:pos x="360" y="958"/>
              </a:cxn>
              <a:cxn ang="0">
                <a:pos x="296" y="1058"/>
              </a:cxn>
              <a:cxn ang="0">
                <a:pos x="240" y="1162"/>
              </a:cxn>
              <a:cxn ang="0">
                <a:pos x="188" y="1270"/>
              </a:cxn>
              <a:cxn ang="0">
                <a:pos x="164" y="1326"/>
              </a:cxn>
              <a:cxn ang="0">
                <a:pos x="114" y="1460"/>
              </a:cxn>
              <a:cxn ang="0">
                <a:pos x="72" y="1596"/>
              </a:cxn>
              <a:cxn ang="0">
                <a:pos x="42" y="1736"/>
              </a:cxn>
              <a:cxn ang="0">
                <a:pos x="18" y="1876"/>
              </a:cxn>
              <a:cxn ang="0">
                <a:pos x="10" y="1958"/>
              </a:cxn>
              <a:cxn ang="0">
                <a:pos x="4" y="2038"/>
              </a:cxn>
              <a:cxn ang="0">
                <a:pos x="2" y="2052"/>
              </a:cxn>
              <a:cxn ang="0">
                <a:pos x="0" y="2054"/>
              </a:cxn>
              <a:cxn ang="0">
                <a:pos x="0" y="2312"/>
              </a:cxn>
              <a:cxn ang="0">
                <a:pos x="6" y="2330"/>
              </a:cxn>
              <a:cxn ang="0">
                <a:pos x="6" y="2350"/>
              </a:cxn>
              <a:cxn ang="0">
                <a:pos x="26" y="2552"/>
              </a:cxn>
              <a:cxn ang="0">
                <a:pos x="56" y="2752"/>
              </a:cxn>
              <a:cxn ang="0">
                <a:pos x="100" y="2950"/>
              </a:cxn>
              <a:cxn ang="0">
                <a:pos x="150" y="3148"/>
              </a:cxn>
              <a:cxn ang="0">
                <a:pos x="154" y="3156"/>
              </a:cxn>
              <a:cxn ang="0">
                <a:pos x="5304" y="3156"/>
              </a:cxn>
              <a:cxn ang="0">
                <a:pos x="5302" y="3130"/>
              </a:cxn>
            </a:cxnLst>
            <a:rect l="0" t="0" r="r" b="b"/>
            <a:pathLst>
              <a:path w="5304" h="3156">
                <a:moveTo>
                  <a:pt x="5302" y="3130"/>
                </a:moveTo>
                <a:lnTo>
                  <a:pt x="5302" y="3130"/>
                </a:lnTo>
                <a:lnTo>
                  <a:pt x="5302" y="994"/>
                </a:lnTo>
                <a:lnTo>
                  <a:pt x="5302" y="994"/>
                </a:lnTo>
                <a:lnTo>
                  <a:pt x="5302" y="982"/>
                </a:lnTo>
                <a:lnTo>
                  <a:pt x="5302" y="982"/>
                </a:lnTo>
                <a:lnTo>
                  <a:pt x="5302" y="968"/>
                </a:lnTo>
                <a:lnTo>
                  <a:pt x="5302" y="966"/>
                </a:lnTo>
                <a:lnTo>
                  <a:pt x="5300" y="964"/>
                </a:lnTo>
                <a:lnTo>
                  <a:pt x="5298" y="962"/>
                </a:lnTo>
                <a:lnTo>
                  <a:pt x="5294" y="964"/>
                </a:lnTo>
                <a:lnTo>
                  <a:pt x="5284" y="968"/>
                </a:lnTo>
                <a:lnTo>
                  <a:pt x="5284" y="968"/>
                </a:lnTo>
                <a:lnTo>
                  <a:pt x="5234" y="992"/>
                </a:lnTo>
                <a:lnTo>
                  <a:pt x="5184" y="1012"/>
                </a:lnTo>
                <a:lnTo>
                  <a:pt x="5132" y="1030"/>
                </a:lnTo>
                <a:lnTo>
                  <a:pt x="5080" y="1044"/>
                </a:lnTo>
                <a:lnTo>
                  <a:pt x="5080" y="1044"/>
                </a:lnTo>
                <a:lnTo>
                  <a:pt x="5012" y="1062"/>
                </a:lnTo>
                <a:lnTo>
                  <a:pt x="4944" y="1076"/>
                </a:lnTo>
                <a:lnTo>
                  <a:pt x="4876" y="1086"/>
                </a:lnTo>
                <a:lnTo>
                  <a:pt x="4806" y="1094"/>
                </a:lnTo>
                <a:lnTo>
                  <a:pt x="4736" y="1100"/>
                </a:lnTo>
                <a:lnTo>
                  <a:pt x="4668" y="1104"/>
                </a:lnTo>
                <a:lnTo>
                  <a:pt x="4598" y="1104"/>
                </a:lnTo>
                <a:lnTo>
                  <a:pt x="4528" y="1102"/>
                </a:lnTo>
                <a:lnTo>
                  <a:pt x="4528" y="1102"/>
                </a:lnTo>
                <a:lnTo>
                  <a:pt x="4436" y="1098"/>
                </a:lnTo>
                <a:lnTo>
                  <a:pt x="4344" y="1090"/>
                </a:lnTo>
                <a:lnTo>
                  <a:pt x="4254" y="1080"/>
                </a:lnTo>
                <a:lnTo>
                  <a:pt x="4164" y="1068"/>
                </a:lnTo>
                <a:lnTo>
                  <a:pt x="4074" y="1054"/>
                </a:lnTo>
                <a:lnTo>
                  <a:pt x="3984" y="1036"/>
                </a:lnTo>
                <a:lnTo>
                  <a:pt x="3894" y="1018"/>
                </a:lnTo>
                <a:lnTo>
                  <a:pt x="3806" y="996"/>
                </a:lnTo>
                <a:lnTo>
                  <a:pt x="3806" y="996"/>
                </a:lnTo>
                <a:lnTo>
                  <a:pt x="3660" y="960"/>
                </a:lnTo>
                <a:lnTo>
                  <a:pt x="3518" y="918"/>
                </a:lnTo>
                <a:lnTo>
                  <a:pt x="3376" y="874"/>
                </a:lnTo>
                <a:lnTo>
                  <a:pt x="3236" y="828"/>
                </a:lnTo>
                <a:lnTo>
                  <a:pt x="3096" y="778"/>
                </a:lnTo>
                <a:lnTo>
                  <a:pt x="2956" y="724"/>
                </a:lnTo>
                <a:lnTo>
                  <a:pt x="2818" y="670"/>
                </a:lnTo>
                <a:lnTo>
                  <a:pt x="2680" y="612"/>
                </a:lnTo>
                <a:lnTo>
                  <a:pt x="2680" y="612"/>
                </a:lnTo>
                <a:lnTo>
                  <a:pt x="2522" y="544"/>
                </a:lnTo>
                <a:lnTo>
                  <a:pt x="2366" y="474"/>
                </a:lnTo>
                <a:lnTo>
                  <a:pt x="2210" y="402"/>
                </a:lnTo>
                <a:lnTo>
                  <a:pt x="2056" y="326"/>
                </a:lnTo>
                <a:lnTo>
                  <a:pt x="1902" y="250"/>
                </a:lnTo>
                <a:lnTo>
                  <a:pt x="1748" y="172"/>
                </a:lnTo>
                <a:lnTo>
                  <a:pt x="1596" y="92"/>
                </a:lnTo>
                <a:lnTo>
                  <a:pt x="1446" y="10"/>
                </a:lnTo>
                <a:lnTo>
                  <a:pt x="1446" y="10"/>
                </a:lnTo>
                <a:lnTo>
                  <a:pt x="1438" y="6"/>
                </a:lnTo>
                <a:lnTo>
                  <a:pt x="1434" y="4"/>
                </a:lnTo>
                <a:lnTo>
                  <a:pt x="1432" y="0"/>
                </a:lnTo>
                <a:lnTo>
                  <a:pt x="1432" y="0"/>
                </a:lnTo>
                <a:lnTo>
                  <a:pt x="1424" y="0"/>
                </a:lnTo>
                <a:lnTo>
                  <a:pt x="1424" y="0"/>
                </a:lnTo>
                <a:lnTo>
                  <a:pt x="1286" y="88"/>
                </a:lnTo>
                <a:lnTo>
                  <a:pt x="1286" y="88"/>
                </a:lnTo>
                <a:lnTo>
                  <a:pt x="1208" y="140"/>
                </a:lnTo>
                <a:lnTo>
                  <a:pt x="1132" y="194"/>
                </a:lnTo>
                <a:lnTo>
                  <a:pt x="1056" y="248"/>
                </a:lnTo>
                <a:lnTo>
                  <a:pt x="982" y="304"/>
                </a:lnTo>
                <a:lnTo>
                  <a:pt x="910" y="362"/>
                </a:lnTo>
                <a:lnTo>
                  <a:pt x="838" y="422"/>
                </a:lnTo>
                <a:lnTo>
                  <a:pt x="770" y="484"/>
                </a:lnTo>
                <a:lnTo>
                  <a:pt x="702" y="548"/>
                </a:lnTo>
                <a:lnTo>
                  <a:pt x="702" y="548"/>
                </a:lnTo>
                <a:lnTo>
                  <a:pt x="660" y="592"/>
                </a:lnTo>
                <a:lnTo>
                  <a:pt x="618" y="634"/>
                </a:lnTo>
                <a:lnTo>
                  <a:pt x="578" y="678"/>
                </a:lnTo>
                <a:lnTo>
                  <a:pt x="538" y="724"/>
                </a:lnTo>
                <a:lnTo>
                  <a:pt x="500" y="768"/>
                </a:lnTo>
                <a:lnTo>
                  <a:pt x="464" y="814"/>
                </a:lnTo>
                <a:lnTo>
                  <a:pt x="428" y="862"/>
                </a:lnTo>
                <a:lnTo>
                  <a:pt x="392" y="910"/>
                </a:lnTo>
                <a:lnTo>
                  <a:pt x="360" y="958"/>
                </a:lnTo>
                <a:lnTo>
                  <a:pt x="328" y="1008"/>
                </a:lnTo>
                <a:lnTo>
                  <a:pt x="296" y="1058"/>
                </a:lnTo>
                <a:lnTo>
                  <a:pt x="268" y="1110"/>
                </a:lnTo>
                <a:lnTo>
                  <a:pt x="240" y="1162"/>
                </a:lnTo>
                <a:lnTo>
                  <a:pt x="212" y="1216"/>
                </a:lnTo>
                <a:lnTo>
                  <a:pt x="188" y="1270"/>
                </a:lnTo>
                <a:lnTo>
                  <a:pt x="164" y="1326"/>
                </a:lnTo>
                <a:lnTo>
                  <a:pt x="164" y="1326"/>
                </a:lnTo>
                <a:lnTo>
                  <a:pt x="136" y="1392"/>
                </a:lnTo>
                <a:lnTo>
                  <a:pt x="114" y="1460"/>
                </a:lnTo>
                <a:lnTo>
                  <a:pt x="92" y="1528"/>
                </a:lnTo>
                <a:lnTo>
                  <a:pt x="72" y="1596"/>
                </a:lnTo>
                <a:lnTo>
                  <a:pt x="56" y="1666"/>
                </a:lnTo>
                <a:lnTo>
                  <a:pt x="42" y="1736"/>
                </a:lnTo>
                <a:lnTo>
                  <a:pt x="28" y="1806"/>
                </a:lnTo>
                <a:lnTo>
                  <a:pt x="18" y="1876"/>
                </a:lnTo>
                <a:lnTo>
                  <a:pt x="18" y="1876"/>
                </a:lnTo>
                <a:lnTo>
                  <a:pt x="10" y="1958"/>
                </a:lnTo>
                <a:lnTo>
                  <a:pt x="4" y="2038"/>
                </a:lnTo>
                <a:lnTo>
                  <a:pt x="4" y="2038"/>
                </a:lnTo>
                <a:lnTo>
                  <a:pt x="4" y="2048"/>
                </a:lnTo>
                <a:lnTo>
                  <a:pt x="2" y="2052"/>
                </a:lnTo>
                <a:lnTo>
                  <a:pt x="0" y="2054"/>
                </a:lnTo>
                <a:lnTo>
                  <a:pt x="0" y="2054"/>
                </a:lnTo>
                <a:lnTo>
                  <a:pt x="0" y="2312"/>
                </a:lnTo>
                <a:lnTo>
                  <a:pt x="0" y="2312"/>
                </a:lnTo>
                <a:lnTo>
                  <a:pt x="4" y="2320"/>
                </a:lnTo>
                <a:lnTo>
                  <a:pt x="6" y="2330"/>
                </a:lnTo>
                <a:lnTo>
                  <a:pt x="6" y="2350"/>
                </a:lnTo>
                <a:lnTo>
                  <a:pt x="6" y="2350"/>
                </a:lnTo>
                <a:lnTo>
                  <a:pt x="14" y="2452"/>
                </a:lnTo>
                <a:lnTo>
                  <a:pt x="26" y="2552"/>
                </a:lnTo>
                <a:lnTo>
                  <a:pt x="40" y="2652"/>
                </a:lnTo>
                <a:lnTo>
                  <a:pt x="56" y="2752"/>
                </a:lnTo>
                <a:lnTo>
                  <a:pt x="76" y="2852"/>
                </a:lnTo>
                <a:lnTo>
                  <a:pt x="100" y="2950"/>
                </a:lnTo>
                <a:lnTo>
                  <a:pt x="124" y="3050"/>
                </a:lnTo>
                <a:lnTo>
                  <a:pt x="150" y="3148"/>
                </a:lnTo>
                <a:lnTo>
                  <a:pt x="150" y="3148"/>
                </a:lnTo>
                <a:lnTo>
                  <a:pt x="154" y="3156"/>
                </a:lnTo>
                <a:lnTo>
                  <a:pt x="154" y="3156"/>
                </a:lnTo>
                <a:lnTo>
                  <a:pt x="5304" y="3156"/>
                </a:lnTo>
                <a:lnTo>
                  <a:pt x="5304" y="3156"/>
                </a:lnTo>
                <a:lnTo>
                  <a:pt x="5302" y="3130"/>
                </a:lnTo>
                <a:lnTo>
                  <a:pt x="5302" y="313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7" name="Title 1"/>
          <p:cNvSpPr>
            <a:spLocks noGrp="1"/>
          </p:cNvSpPr>
          <p:nvPr>
            <p:ph type="ctrTitle" hasCustomPrompt="1"/>
          </p:nvPr>
        </p:nvSpPr>
        <p:spPr>
          <a:xfrm>
            <a:off x="5016499" y="3644152"/>
            <a:ext cx="6899275"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gn="l">
              <a:lnSpc>
                <a:spcPts val="3000"/>
              </a:lnSpc>
              <a:defRPr lang="en-US" sz="2600" b="0" dirty="0">
                <a:solidFill>
                  <a:schemeClr val="bg1"/>
                </a:solidFill>
              </a:defRPr>
            </a:lvl1pPr>
          </a:lstStyle>
          <a:p>
            <a:pPr marL="0" lvl="0"/>
            <a:r>
              <a:rPr lang="en-US"/>
              <a:t>Click to insert title</a:t>
            </a:r>
          </a:p>
        </p:txBody>
      </p:sp>
      <p:sp>
        <p:nvSpPr>
          <p:cNvPr id="8" name="Subtitle 2"/>
          <p:cNvSpPr>
            <a:spLocks noGrp="1"/>
          </p:cNvSpPr>
          <p:nvPr>
            <p:ph type="subTitle" idx="1" hasCustomPrompt="1"/>
          </p:nvPr>
        </p:nvSpPr>
        <p:spPr>
          <a:xfrm>
            <a:off x="5016499" y="5236923"/>
            <a:ext cx="6899275"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grpSp>
        <p:nvGrpSpPr>
          <p:cNvPr id="22" name="Group 14"/>
          <p:cNvGrpSpPr>
            <a:grpSpLocks noChangeAspect="1"/>
          </p:cNvGrpSpPr>
          <p:nvPr userDrawn="1"/>
        </p:nvGrpSpPr>
        <p:grpSpPr>
          <a:xfrm>
            <a:off x="407988" y="695702"/>
            <a:ext cx="5040000" cy="1123653"/>
            <a:chOff x="728663" y="4465638"/>
            <a:chExt cx="5354637" cy="1193800"/>
          </a:xfrm>
        </p:grpSpPr>
        <p:sp>
          <p:nvSpPr>
            <p:cNvPr id="23"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4"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5"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6"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7"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2664802671"/>
      </p:ext>
    </p:extLst>
  </p:cSld>
  <p:clrMapOvr>
    <a:masterClrMapping/>
  </p:clrMapOvr>
  <p:extLst>
    <p:ext uri="{DCECCB84-F9BA-43D5-87BE-67443E8EF086}">
      <p15:sldGuideLst xmlns:p15="http://schemas.microsoft.com/office/powerpoint/2012/main">
        <p15:guide id="1" orient="horz" pos="935">
          <p15:clr>
            <a:srgbClr val="FBAE40"/>
          </p15:clr>
        </p15:guide>
        <p15:guide id="2" pos="257">
          <p15:clr>
            <a:srgbClr val="FBAE40"/>
          </p15:clr>
        </p15:guide>
        <p15:guide id="3" pos="31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4">
    <p:bg>
      <p:bgPr>
        <a:solidFill>
          <a:srgbClr val="E6E7E7"/>
        </a:solidFill>
        <a:effectLst/>
      </p:bgPr>
    </p:bg>
    <p:spTree>
      <p:nvGrpSpPr>
        <p:cNvPr id="1" name=""/>
        <p:cNvGrpSpPr/>
        <p:nvPr/>
      </p:nvGrpSpPr>
      <p:grpSpPr>
        <a:xfrm>
          <a:off x="0" y="0"/>
          <a:ext cx="0" cy="0"/>
          <a:chOff x="0" y="0"/>
          <a:chExt cx="0" cy="0"/>
        </a:xfrm>
      </p:grpSpPr>
      <p:graphicFrame>
        <p:nvGraphicFramePr>
          <p:cNvPr id="14" name="Object 13"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4" name="Object 13"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71" name="Freeform 7"/>
          <p:cNvSpPr>
            <a:spLocks/>
          </p:cNvSpPr>
          <p:nvPr userDrawn="1"/>
        </p:nvSpPr>
        <p:spPr bwMode="auto">
          <a:xfrm>
            <a:off x="5892403" y="1"/>
            <a:ext cx="6327776" cy="5670550"/>
          </a:xfrm>
          <a:custGeom>
            <a:avLst/>
            <a:gdLst/>
            <a:ahLst/>
            <a:cxnLst>
              <a:cxn ang="0">
                <a:pos x="3986" y="2526"/>
              </a:cxn>
              <a:cxn ang="0">
                <a:pos x="3986" y="2512"/>
              </a:cxn>
              <a:cxn ang="0">
                <a:pos x="3986" y="0"/>
              </a:cxn>
              <a:cxn ang="0">
                <a:pos x="648" y="0"/>
              </a:cxn>
              <a:cxn ang="0">
                <a:pos x="682" y="84"/>
              </a:cxn>
              <a:cxn ang="0">
                <a:pos x="698" y="132"/>
              </a:cxn>
              <a:cxn ang="0">
                <a:pos x="724" y="230"/>
              </a:cxn>
              <a:cxn ang="0">
                <a:pos x="738" y="328"/>
              </a:cxn>
              <a:cxn ang="0">
                <a:pos x="744" y="428"/>
              </a:cxn>
              <a:cxn ang="0">
                <a:pos x="744" y="478"/>
              </a:cxn>
              <a:cxn ang="0">
                <a:pos x="734" y="656"/>
              </a:cxn>
              <a:cxn ang="0">
                <a:pos x="710" y="830"/>
              </a:cxn>
              <a:cxn ang="0">
                <a:pos x="674" y="1002"/>
              </a:cxn>
              <a:cxn ang="0">
                <a:pos x="628" y="1172"/>
              </a:cxn>
              <a:cxn ang="0">
                <a:pos x="590" y="1296"/>
              </a:cxn>
              <a:cxn ang="0">
                <a:pos x="504" y="1542"/>
              </a:cxn>
              <a:cxn ang="0">
                <a:pos x="406" y="1782"/>
              </a:cxn>
              <a:cxn ang="0">
                <a:pos x="300" y="2020"/>
              </a:cxn>
              <a:cxn ang="0">
                <a:pos x="244" y="2136"/>
              </a:cxn>
              <a:cxn ang="0">
                <a:pos x="128" y="2366"/>
              </a:cxn>
              <a:cxn ang="0">
                <a:pos x="8" y="2594"/>
              </a:cxn>
              <a:cxn ang="0">
                <a:pos x="0" y="2608"/>
              </a:cxn>
              <a:cxn ang="0">
                <a:pos x="0" y="2612"/>
              </a:cxn>
              <a:cxn ang="0">
                <a:pos x="50" y="2690"/>
              </a:cxn>
              <a:cxn ang="0">
                <a:pos x="100" y="2766"/>
              </a:cxn>
              <a:cxn ang="0">
                <a:pos x="190" y="2890"/>
              </a:cxn>
              <a:cxn ang="0">
                <a:pos x="286" y="3006"/>
              </a:cxn>
              <a:cxn ang="0">
                <a:pos x="390" y="3116"/>
              </a:cxn>
              <a:cxn ang="0">
                <a:pos x="502" y="3220"/>
              </a:cxn>
              <a:cxn ang="0">
                <a:pos x="540" y="3252"/>
              </a:cxn>
              <a:cxn ang="0">
                <a:pos x="622" y="3312"/>
              </a:cxn>
              <a:cxn ang="0">
                <a:pos x="706" y="3366"/>
              </a:cxn>
              <a:cxn ang="0">
                <a:pos x="792" y="3414"/>
              </a:cxn>
              <a:cxn ang="0">
                <a:pos x="882" y="3456"/>
              </a:cxn>
              <a:cxn ang="0">
                <a:pos x="976" y="3492"/>
              </a:cxn>
              <a:cxn ang="0">
                <a:pos x="1070" y="3520"/>
              </a:cxn>
              <a:cxn ang="0">
                <a:pos x="1170" y="3542"/>
              </a:cxn>
              <a:cxn ang="0">
                <a:pos x="1220" y="3552"/>
              </a:cxn>
              <a:cxn ang="0">
                <a:pos x="1374" y="3568"/>
              </a:cxn>
              <a:cxn ang="0">
                <a:pos x="1382" y="3568"/>
              </a:cxn>
              <a:cxn ang="0">
                <a:pos x="1390" y="3572"/>
              </a:cxn>
              <a:cxn ang="0">
                <a:pos x="1420" y="3572"/>
              </a:cxn>
              <a:cxn ang="0">
                <a:pos x="1544" y="3572"/>
              </a:cxn>
              <a:cxn ang="0">
                <a:pos x="1544" y="3568"/>
              </a:cxn>
              <a:cxn ang="0">
                <a:pos x="1610" y="3564"/>
              </a:cxn>
              <a:cxn ang="0">
                <a:pos x="1740" y="3552"/>
              </a:cxn>
              <a:cxn ang="0">
                <a:pos x="1870" y="3530"/>
              </a:cxn>
              <a:cxn ang="0">
                <a:pos x="1998" y="3502"/>
              </a:cxn>
              <a:cxn ang="0">
                <a:pos x="2062" y="3486"/>
              </a:cxn>
              <a:cxn ang="0">
                <a:pos x="2262" y="3426"/>
              </a:cxn>
              <a:cxn ang="0">
                <a:pos x="2458" y="3356"/>
              </a:cxn>
              <a:cxn ang="0">
                <a:pos x="2650" y="3276"/>
              </a:cxn>
              <a:cxn ang="0">
                <a:pos x="2840" y="3190"/>
              </a:cxn>
              <a:cxn ang="0">
                <a:pos x="2966" y="3128"/>
              </a:cxn>
              <a:cxn ang="0">
                <a:pos x="3218" y="2996"/>
              </a:cxn>
              <a:cxn ang="0">
                <a:pos x="3464" y="2858"/>
              </a:cxn>
              <a:cxn ang="0">
                <a:pos x="3708" y="2714"/>
              </a:cxn>
              <a:cxn ang="0">
                <a:pos x="3828" y="2640"/>
              </a:cxn>
              <a:cxn ang="0">
                <a:pos x="3974" y="2548"/>
              </a:cxn>
              <a:cxn ang="0">
                <a:pos x="3984" y="2540"/>
              </a:cxn>
              <a:cxn ang="0">
                <a:pos x="3986" y="2526"/>
              </a:cxn>
            </a:cxnLst>
            <a:rect l="0" t="0" r="r" b="b"/>
            <a:pathLst>
              <a:path w="3986" h="3572">
                <a:moveTo>
                  <a:pt x="3986" y="2526"/>
                </a:moveTo>
                <a:lnTo>
                  <a:pt x="3986" y="2526"/>
                </a:lnTo>
                <a:lnTo>
                  <a:pt x="3986" y="2512"/>
                </a:lnTo>
                <a:lnTo>
                  <a:pt x="3986" y="2512"/>
                </a:lnTo>
                <a:lnTo>
                  <a:pt x="3986" y="0"/>
                </a:lnTo>
                <a:lnTo>
                  <a:pt x="3986" y="0"/>
                </a:lnTo>
                <a:lnTo>
                  <a:pt x="648" y="0"/>
                </a:lnTo>
                <a:lnTo>
                  <a:pt x="648" y="0"/>
                </a:lnTo>
                <a:lnTo>
                  <a:pt x="666" y="42"/>
                </a:lnTo>
                <a:lnTo>
                  <a:pt x="682" y="84"/>
                </a:lnTo>
                <a:lnTo>
                  <a:pt x="682" y="84"/>
                </a:lnTo>
                <a:lnTo>
                  <a:pt x="698" y="132"/>
                </a:lnTo>
                <a:lnTo>
                  <a:pt x="712" y="182"/>
                </a:lnTo>
                <a:lnTo>
                  <a:pt x="724" y="230"/>
                </a:lnTo>
                <a:lnTo>
                  <a:pt x="732" y="280"/>
                </a:lnTo>
                <a:lnTo>
                  <a:pt x="738" y="328"/>
                </a:lnTo>
                <a:lnTo>
                  <a:pt x="742" y="378"/>
                </a:lnTo>
                <a:lnTo>
                  <a:pt x="744" y="428"/>
                </a:lnTo>
                <a:lnTo>
                  <a:pt x="744" y="478"/>
                </a:lnTo>
                <a:lnTo>
                  <a:pt x="744" y="478"/>
                </a:lnTo>
                <a:lnTo>
                  <a:pt x="742" y="568"/>
                </a:lnTo>
                <a:lnTo>
                  <a:pt x="734" y="656"/>
                </a:lnTo>
                <a:lnTo>
                  <a:pt x="724" y="742"/>
                </a:lnTo>
                <a:lnTo>
                  <a:pt x="710" y="830"/>
                </a:lnTo>
                <a:lnTo>
                  <a:pt x="694" y="916"/>
                </a:lnTo>
                <a:lnTo>
                  <a:pt x="674" y="1002"/>
                </a:lnTo>
                <a:lnTo>
                  <a:pt x="652" y="1088"/>
                </a:lnTo>
                <a:lnTo>
                  <a:pt x="628" y="1172"/>
                </a:lnTo>
                <a:lnTo>
                  <a:pt x="628" y="1172"/>
                </a:lnTo>
                <a:lnTo>
                  <a:pt x="590" y="1296"/>
                </a:lnTo>
                <a:lnTo>
                  <a:pt x="548" y="1420"/>
                </a:lnTo>
                <a:lnTo>
                  <a:pt x="504" y="1542"/>
                </a:lnTo>
                <a:lnTo>
                  <a:pt x="456" y="1662"/>
                </a:lnTo>
                <a:lnTo>
                  <a:pt x="406" y="1782"/>
                </a:lnTo>
                <a:lnTo>
                  <a:pt x="354" y="1900"/>
                </a:lnTo>
                <a:lnTo>
                  <a:pt x="300" y="2020"/>
                </a:lnTo>
                <a:lnTo>
                  <a:pt x="244" y="2136"/>
                </a:lnTo>
                <a:lnTo>
                  <a:pt x="244" y="2136"/>
                </a:lnTo>
                <a:lnTo>
                  <a:pt x="188" y="2252"/>
                </a:lnTo>
                <a:lnTo>
                  <a:pt x="128" y="2366"/>
                </a:lnTo>
                <a:lnTo>
                  <a:pt x="70" y="2480"/>
                </a:lnTo>
                <a:lnTo>
                  <a:pt x="8" y="2594"/>
                </a:lnTo>
                <a:lnTo>
                  <a:pt x="8" y="2594"/>
                </a:lnTo>
                <a:lnTo>
                  <a:pt x="0" y="2608"/>
                </a:lnTo>
                <a:lnTo>
                  <a:pt x="0" y="2608"/>
                </a:lnTo>
                <a:lnTo>
                  <a:pt x="0" y="2612"/>
                </a:lnTo>
                <a:lnTo>
                  <a:pt x="0" y="2612"/>
                </a:lnTo>
                <a:lnTo>
                  <a:pt x="50" y="2690"/>
                </a:lnTo>
                <a:lnTo>
                  <a:pt x="100" y="2766"/>
                </a:lnTo>
                <a:lnTo>
                  <a:pt x="100" y="2766"/>
                </a:lnTo>
                <a:lnTo>
                  <a:pt x="144" y="2828"/>
                </a:lnTo>
                <a:lnTo>
                  <a:pt x="190" y="2890"/>
                </a:lnTo>
                <a:lnTo>
                  <a:pt x="236" y="2948"/>
                </a:lnTo>
                <a:lnTo>
                  <a:pt x="286" y="3006"/>
                </a:lnTo>
                <a:lnTo>
                  <a:pt x="336" y="3062"/>
                </a:lnTo>
                <a:lnTo>
                  <a:pt x="390" y="3116"/>
                </a:lnTo>
                <a:lnTo>
                  <a:pt x="444" y="3170"/>
                </a:lnTo>
                <a:lnTo>
                  <a:pt x="502" y="3220"/>
                </a:lnTo>
                <a:lnTo>
                  <a:pt x="502" y="3220"/>
                </a:lnTo>
                <a:lnTo>
                  <a:pt x="540" y="3252"/>
                </a:lnTo>
                <a:lnTo>
                  <a:pt x="582" y="3282"/>
                </a:lnTo>
                <a:lnTo>
                  <a:pt x="622" y="3312"/>
                </a:lnTo>
                <a:lnTo>
                  <a:pt x="664" y="3340"/>
                </a:lnTo>
                <a:lnTo>
                  <a:pt x="706" y="3366"/>
                </a:lnTo>
                <a:lnTo>
                  <a:pt x="750" y="3390"/>
                </a:lnTo>
                <a:lnTo>
                  <a:pt x="792" y="3414"/>
                </a:lnTo>
                <a:lnTo>
                  <a:pt x="838" y="3436"/>
                </a:lnTo>
                <a:lnTo>
                  <a:pt x="882" y="3456"/>
                </a:lnTo>
                <a:lnTo>
                  <a:pt x="928" y="3474"/>
                </a:lnTo>
                <a:lnTo>
                  <a:pt x="976" y="3492"/>
                </a:lnTo>
                <a:lnTo>
                  <a:pt x="1022" y="3506"/>
                </a:lnTo>
                <a:lnTo>
                  <a:pt x="1070" y="3520"/>
                </a:lnTo>
                <a:lnTo>
                  <a:pt x="1120" y="3532"/>
                </a:lnTo>
                <a:lnTo>
                  <a:pt x="1170" y="3542"/>
                </a:lnTo>
                <a:lnTo>
                  <a:pt x="1220" y="3552"/>
                </a:lnTo>
                <a:lnTo>
                  <a:pt x="1220" y="3552"/>
                </a:lnTo>
                <a:lnTo>
                  <a:pt x="1296" y="3562"/>
                </a:lnTo>
                <a:lnTo>
                  <a:pt x="1374" y="3568"/>
                </a:lnTo>
                <a:lnTo>
                  <a:pt x="1374" y="3568"/>
                </a:lnTo>
                <a:lnTo>
                  <a:pt x="1382" y="3568"/>
                </a:lnTo>
                <a:lnTo>
                  <a:pt x="1386" y="3568"/>
                </a:lnTo>
                <a:lnTo>
                  <a:pt x="1390" y="3572"/>
                </a:lnTo>
                <a:lnTo>
                  <a:pt x="1390" y="3572"/>
                </a:lnTo>
                <a:lnTo>
                  <a:pt x="1420" y="3572"/>
                </a:lnTo>
                <a:lnTo>
                  <a:pt x="1420" y="3572"/>
                </a:lnTo>
                <a:lnTo>
                  <a:pt x="1544" y="3572"/>
                </a:lnTo>
                <a:lnTo>
                  <a:pt x="1544" y="3572"/>
                </a:lnTo>
                <a:lnTo>
                  <a:pt x="1544" y="3568"/>
                </a:lnTo>
                <a:lnTo>
                  <a:pt x="1544" y="3568"/>
                </a:lnTo>
                <a:lnTo>
                  <a:pt x="1610" y="3564"/>
                </a:lnTo>
                <a:lnTo>
                  <a:pt x="1676" y="3558"/>
                </a:lnTo>
                <a:lnTo>
                  <a:pt x="1740" y="3552"/>
                </a:lnTo>
                <a:lnTo>
                  <a:pt x="1806" y="3542"/>
                </a:lnTo>
                <a:lnTo>
                  <a:pt x="1870" y="3530"/>
                </a:lnTo>
                <a:lnTo>
                  <a:pt x="1934" y="3516"/>
                </a:lnTo>
                <a:lnTo>
                  <a:pt x="1998" y="3502"/>
                </a:lnTo>
                <a:lnTo>
                  <a:pt x="2062" y="3486"/>
                </a:lnTo>
                <a:lnTo>
                  <a:pt x="2062" y="3486"/>
                </a:lnTo>
                <a:lnTo>
                  <a:pt x="2162" y="3458"/>
                </a:lnTo>
                <a:lnTo>
                  <a:pt x="2262" y="3426"/>
                </a:lnTo>
                <a:lnTo>
                  <a:pt x="2360" y="3392"/>
                </a:lnTo>
                <a:lnTo>
                  <a:pt x="2458" y="3356"/>
                </a:lnTo>
                <a:lnTo>
                  <a:pt x="2554" y="3316"/>
                </a:lnTo>
                <a:lnTo>
                  <a:pt x="2650" y="3276"/>
                </a:lnTo>
                <a:lnTo>
                  <a:pt x="2746" y="3234"/>
                </a:lnTo>
                <a:lnTo>
                  <a:pt x="2840" y="3190"/>
                </a:lnTo>
                <a:lnTo>
                  <a:pt x="2840" y="3190"/>
                </a:lnTo>
                <a:lnTo>
                  <a:pt x="2966" y="3128"/>
                </a:lnTo>
                <a:lnTo>
                  <a:pt x="3092" y="3062"/>
                </a:lnTo>
                <a:lnTo>
                  <a:pt x="3218" y="2996"/>
                </a:lnTo>
                <a:lnTo>
                  <a:pt x="3342" y="2928"/>
                </a:lnTo>
                <a:lnTo>
                  <a:pt x="3464" y="2858"/>
                </a:lnTo>
                <a:lnTo>
                  <a:pt x="3586" y="2786"/>
                </a:lnTo>
                <a:lnTo>
                  <a:pt x="3708" y="2714"/>
                </a:lnTo>
                <a:lnTo>
                  <a:pt x="3828" y="2640"/>
                </a:lnTo>
                <a:lnTo>
                  <a:pt x="3828" y="2640"/>
                </a:lnTo>
                <a:lnTo>
                  <a:pt x="3974" y="2548"/>
                </a:lnTo>
                <a:lnTo>
                  <a:pt x="3974" y="2548"/>
                </a:lnTo>
                <a:lnTo>
                  <a:pt x="3980" y="2544"/>
                </a:lnTo>
                <a:lnTo>
                  <a:pt x="3984" y="2540"/>
                </a:lnTo>
                <a:lnTo>
                  <a:pt x="3986" y="2534"/>
                </a:lnTo>
                <a:lnTo>
                  <a:pt x="3986" y="2526"/>
                </a:lnTo>
                <a:lnTo>
                  <a:pt x="3986" y="2526"/>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7" name="Title 1"/>
          <p:cNvSpPr>
            <a:spLocks noGrp="1"/>
          </p:cNvSpPr>
          <p:nvPr>
            <p:ph type="ctrTitle" hasCustomPrompt="1"/>
          </p:nvPr>
        </p:nvSpPr>
        <p:spPr>
          <a:xfrm>
            <a:off x="407988" y="2339788"/>
            <a:ext cx="4967932"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nSpc>
                <a:spcPts val="3000"/>
              </a:lnSpc>
              <a:defRPr lang="en-US" sz="2600" b="0" dirty="0">
                <a:solidFill>
                  <a:schemeClr val="accent1"/>
                </a:solidFill>
              </a:defRPr>
            </a:lvl1pPr>
          </a:lstStyle>
          <a:p>
            <a:pPr marL="0" lvl="0"/>
            <a:r>
              <a:rPr lang="en-US"/>
              <a:t>Click to insert title</a:t>
            </a:r>
          </a:p>
        </p:txBody>
      </p:sp>
      <p:sp>
        <p:nvSpPr>
          <p:cNvPr id="8" name="Subtitle 2"/>
          <p:cNvSpPr>
            <a:spLocks noGrp="1"/>
          </p:cNvSpPr>
          <p:nvPr>
            <p:ph type="subTitle" idx="1" hasCustomPrompt="1"/>
          </p:nvPr>
        </p:nvSpPr>
        <p:spPr>
          <a:xfrm>
            <a:off x="407988" y="3932559"/>
            <a:ext cx="4967932"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sp>
        <p:nvSpPr>
          <p:cNvPr id="16" name="Picture Placeholder 11">
            <a:extLst>
              <a:ext uri="{FF2B5EF4-FFF2-40B4-BE49-F238E27FC236}">
                <a16:creationId xmlns:a16="http://schemas.microsoft.com/office/drawing/2014/main" id="{D4E263B9-5E55-409E-9F7C-2F67A89E06AA}"/>
              </a:ext>
            </a:extLst>
          </p:cNvPr>
          <p:cNvSpPr>
            <a:spLocks noGrp="1"/>
          </p:cNvSpPr>
          <p:nvPr>
            <p:ph type="pic" sz="quarter" idx="10"/>
          </p:nvPr>
        </p:nvSpPr>
        <p:spPr>
          <a:xfrm>
            <a:off x="5537200" y="-1588"/>
            <a:ext cx="6654800" cy="6859588"/>
          </a:xfrm>
          <a:prstGeom prst="rect">
            <a:avLst/>
          </a:prstGeom>
        </p:spPr>
        <p:txBody>
          <a:bodyPr anchor="ctr"/>
          <a:lstStyle>
            <a:lvl1pPr marL="0" indent="0" algn="ctr">
              <a:buNone/>
              <a:defRPr/>
            </a:lvl1pPr>
          </a:lstStyle>
          <a:p>
            <a:r>
              <a:rPr lang="en-US" err="1"/>
              <a:t>Cliquez</a:t>
            </a:r>
            <a:r>
              <a:rPr lang="en-US"/>
              <a:t> sur </a:t>
            </a:r>
            <a:r>
              <a:rPr lang="en-US" err="1"/>
              <a:t>l'icône</a:t>
            </a:r>
            <a:r>
              <a:rPr lang="en-US"/>
              <a:t> pour </a:t>
            </a:r>
            <a:r>
              <a:rPr lang="en-US" err="1"/>
              <a:t>ajouter</a:t>
            </a:r>
            <a:r>
              <a:rPr lang="en-US"/>
              <a:t> </a:t>
            </a:r>
            <a:r>
              <a:rPr lang="en-US" err="1"/>
              <a:t>une</a:t>
            </a:r>
            <a:r>
              <a:rPr lang="en-US"/>
              <a:t> image</a:t>
            </a:r>
          </a:p>
        </p:txBody>
      </p:sp>
      <p:grpSp>
        <p:nvGrpSpPr>
          <p:cNvPr id="17" name="Group 14"/>
          <p:cNvGrpSpPr>
            <a:grpSpLocks noChangeAspect="1"/>
          </p:cNvGrpSpPr>
          <p:nvPr userDrawn="1"/>
        </p:nvGrpSpPr>
        <p:grpSpPr>
          <a:xfrm>
            <a:off x="407988" y="695702"/>
            <a:ext cx="5040000" cy="1123653"/>
            <a:chOff x="728663" y="4465638"/>
            <a:chExt cx="5354637" cy="1193800"/>
          </a:xfrm>
        </p:grpSpPr>
        <p:sp>
          <p:nvSpPr>
            <p:cNvPr id="18"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0"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1"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2"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1503174146"/>
      </p:ext>
    </p:extLst>
  </p:cSld>
  <p:clrMapOvr>
    <a:masterClrMapping/>
  </p:clrMapOvr>
  <p:extLst>
    <p:ext uri="{DCECCB84-F9BA-43D5-87BE-67443E8EF086}">
      <p15:sldGuideLst xmlns:p15="http://schemas.microsoft.com/office/powerpoint/2012/main">
        <p15:guide id="1" pos="257">
          <p15:clr>
            <a:srgbClr val="FBAE40"/>
          </p15:clr>
        </p15:guide>
        <p15:guide id="2" orient="horz" pos="935">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Content &amp; Headin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p:custDataLst>
              <p:tags r:id="rId1"/>
            </p:custDataLst>
          </p:nvPr>
        </p:nvGraphicFramePr>
        <p:xfrm>
          <a:off x="4" y="4"/>
          <a:ext cx="180998" cy="143985"/>
        </p:xfrm>
        <a:graphic>
          <a:graphicData uri="http://schemas.openxmlformats.org/presentationml/2006/ole">
            <mc:AlternateContent xmlns:mc="http://schemas.openxmlformats.org/markup-compatibility/2006">
              <mc:Choice xmlns:v="urn:schemas-microsoft-com:vml" Requires="v">
                <p:oleObj name="think-cell Slide" r:id="rId6" imgW="360" imgH="360" progId="">
                  <p:embed/>
                </p:oleObj>
              </mc:Choice>
              <mc:Fallback>
                <p:oleObj name="think-cell Slide" r:id="rId6" imgW="360" imgH="360" progId="">
                  <p:embed/>
                  <p:pic>
                    <p:nvPicPr>
                      <p:cNvPr id="4" name="Object 3" hidden="1"/>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 y="4"/>
                        <a:ext cx="180998" cy="14398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custDataLst>
              <p:tags r:id="rId2"/>
            </p:custDataLst>
          </p:nvPr>
        </p:nvSpPr>
        <p:spPr/>
        <p:txBody>
          <a:bodyPr/>
          <a:lstStyle>
            <a:lvl1pPr>
              <a:defRPr>
                <a:solidFill>
                  <a:schemeClr val="tx1"/>
                </a:solidFill>
              </a:defRPr>
            </a:lvl1pPr>
          </a:lstStyle>
          <a:p>
            <a:r>
              <a:rPr lang="en-US" noProof="0"/>
              <a:t>Click to edit Master title style</a:t>
            </a:r>
            <a:endParaRPr lang="en-US"/>
          </a:p>
        </p:txBody>
      </p:sp>
      <p:sp>
        <p:nvSpPr>
          <p:cNvPr id="3" name="Content Placeholder 2"/>
          <p:cNvSpPr>
            <a:spLocks noGrp="1"/>
          </p:cNvSpPr>
          <p:nvPr>
            <p:ph idx="1"/>
            <p:custDataLst>
              <p:tags r:id="rId3"/>
            </p:custDataLst>
          </p:nvPr>
        </p:nvSpPr>
        <p:spPr>
          <a:xfrm>
            <a:off x="420081" y="1882776"/>
            <a:ext cx="11351847" cy="4384675"/>
          </a:xfrm>
        </p:spPr>
        <p:txBody>
          <a:bodyPr/>
          <a:lstStyle>
            <a:lvl1pPr>
              <a:defRPr b="0"/>
            </a:lvl1pPr>
            <a:lvl2pPr marL="457083" indent="-223781">
              <a:defRPr/>
            </a:lvl2pPr>
            <a:lvl3pPr>
              <a:defRPr/>
            </a:lvl3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p:txBody>
      </p:sp>
      <p:sp>
        <p:nvSpPr>
          <p:cNvPr id="8" name="Espace réservé du texte 7"/>
          <p:cNvSpPr>
            <a:spLocks noGrp="1"/>
          </p:cNvSpPr>
          <p:nvPr>
            <p:ph type="body" sz="quarter" idx="11"/>
            <p:custDataLst>
              <p:tags r:id="rId4"/>
            </p:custDataLst>
          </p:nvPr>
        </p:nvSpPr>
        <p:spPr>
          <a:xfrm>
            <a:off x="420081" y="1309688"/>
            <a:ext cx="11351847" cy="548640"/>
          </a:xfrm>
        </p:spPr>
        <p:txBody>
          <a:bodyPr/>
          <a:lstStyle>
            <a:lvl1pPr marL="0" indent="0">
              <a:buNone/>
              <a:defRPr sz="2000" b="1">
                <a:solidFill>
                  <a:srgbClr val="E47E1A"/>
                </a:solidFill>
              </a:defRPr>
            </a:lvl1pPr>
          </a:lstStyle>
          <a:p>
            <a:pPr lvl="0"/>
            <a:r>
              <a:rPr lang="en-US"/>
              <a:t>Click to edit Master text styles</a:t>
            </a:r>
          </a:p>
        </p:txBody>
      </p:sp>
    </p:spTree>
    <p:extLst>
      <p:ext uri="{BB962C8B-B14F-4D97-AF65-F5344CB8AC3E}">
        <p14:creationId xmlns:p14="http://schemas.microsoft.com/office/powerpoint/2010/main" val="35099187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Big Table">
    <p:spTree>
      <p:nvGrpSpPr>
        <p:cNvPr id="1" name=""/>
        <p:cNvGrpSpPr/>
        <p:nvPr/>
      </p:nvGrpSpPr>
      <p:grpSpPr>
        <a:xfrm>
          <a:off x="0" y="0"/>
          <a:ext cx="0" cy="0"/>
          <a:chOff x="0" y="0"/>
          <a:chExt cx="0" cy="0"/>
        </a:xfrm>
      </p:grpSpPr>
      <p:sp>
        <p:nvSpPr>
          <p:cNvPr id="6" name="Retângulo 43">
            <a:extLst>
              <a:ext uri="{FF2B5EF4-FFF2-40B4-BE49-F238E27FC236}">
                <a16:creationId xmlns:a16="http://schemas.microsoft.com/office/drawing/2014/main" id="{25FC8637-25BD-4C09-AF25-56B4243DAB3D}"/>
              </a:ext>
            </a:extLst>
          </p:cNvPr>
          <p:cNvSpPr/>
          <p:nvPr userDrawn="1"/>
        </p:nvSpPr>
        <p:spPr>
          <a:xfrm>
            <a:off x="6924021" y="6592810"/>
            <a:ext cx="242375" cy="215444"/>
          </a:xfrm>
          <a:prstGeom prst="rect">
            <a:avLst/>
          </a:prstGeom>
        </p:spPr>
        <p:txBody>
          <a:bodyPr wrap="none">
            <a:spAutoFit/>
          </a:bodyPr>
          <a:lstStyle/>
          <a:p>
            <a:pPr algn="r" defTabSz="914400"/>
            <a:fld id="{0502E5A9-B53C-401E-A0E0-4A359BB0A9E5}" type="slidenum">
              <a:rPr lang="en-US" sz="800" smtClean="0">
                <a:solidFill>
                  <a:prstClr val="black">
                    <a:lumMod val="50000"/>
                    <a:lumOff val="50000"/>
                  </a:prstClr>
                </a:solidFill>
                <a:cs typeface="Arial" panose="020B0604020202020204" pitchFamily="34" charset="0"/>
              </a:rPr>
              <a:pPr algn="r" defTabSz="914400"/>
              <a:t>‹#›</a:t>
            </a:fld>
            <a:endParaRPr lang="en-US" sz="800">
              <a:solidFill>
                <a:prstClr val="black">
                  <a:lumMod val="50000"/>
                  <a:lumOff val="50000"/>
                </a:prstClr>
              </a:solidFill>
              <a:cs typeface="Arial" panose="020B0604020202020204" pitchFamily="34" charset="0"/>
            </a:endParaRPr>
          </a:p>
        </p:txBody>
      </p:sp>
      <p:cxnSp>
        <p:nvCxnSpPr>
          <p:cNvPr id="7"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8"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defTabSz="914400">
              <a:lnSpc>
                <a:spcPct val="85000"/>
              </a:lnSpc>
              <a:defRPr/>
            </a:pPr>
            <a:r>
              <a:rPr lang="en-US" sz="800" kern="0">
                <a:solidFill>
                  <a:srgbClr val="00458D"/>
                </a:solidFill>
                <a:cs typeface="Arial" panose="020B0604020202020204" pitchFamily="34" charset="0"/>
              </a:rPr>
              <a:t>Presentation Title | Author | Date</a:t>
            </a:r>
          </a:p>
        </p:txBody>
      </p:sp>
      <p:sp>
        <p:nvSpPr>
          <p:cNvPr id="9"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pPr defTabSz="914400"/>
            <a:r>
              <a:rPr lang="en-US" sz="800">
                <a:solidFill>
                  <a:srgbClr val="E6E7E7">
                    <a:lumMod val="50000"/>
                  </a:srgbClr>
                </a:solidFill>
                <a:cs typeface="Arial" panose="020B0604020202020204" pitchFamily="34" charset="0"/>
              </a:rPr>
              <a:t>© 2017 Capgemini. All rights reserved.</a:t>
            </a:r>
          </a:p>
        </p:txBody>
      </p:sp>
      <p:sp>
        <p:nvSpPr>
          <p:cNvPr id="10" name="Title Placeholder 1">
            <a:extLst>
              <a:ext uri="{FF2B5EF4-FFF2-40B4-BE49-F238E27FC236}">
                <a16:creationId xmlns:a16="http://schemas.microsoft.com/office/drawing/2014/main" id="{552BBB0A-405D-419D-8BD5-EC8D9F84B795}"/>
              </a:ext>
            </a:extLst>
          </p:cNvPr>
          <p:cNvSpPr>
            <a:spLocks noGrp="1"/>
          </p:cNvSpPr>
          <p:nvPr>
            <p:ph type="title" hasCustomPrompt="1"/>
          </p:nvPr>
        </p:nvSpPr>
        <p:spPr>
          <a:xfrm>
            <a:off x="407988" y="404813"/>
            <a:ext cx="10944596" cy="863600"/>
          </a:xfrm>
          <a:prstGeom prst="rect">
            <a:avLst/>
          </a:prstGeom>
        </p:spPr>
        <p:txBody>
          <a:bodyPr vert="horz" lIns="0" tIns="0" rIns="0" bIns="0" rtlCol="0" anchor="t">
            <a:normAutofit/>
          </a:bodyPr>
          <a:lstStyle>
            <a:lvl1pPr>
              <a:defRPr lang="pt-PT" b="0" i="0" dirty="0">
                <a:latin typeface="+mn-lt"/>
              </a:defRPr>
            </a:lvl1pPr>
          </a:lstStyle>
          <a:p>
            <a:pPr lvl="0">
              <a:lnSpc>
                <a:spcPts val="3000"/>
              </a:lnSpc>
            </a:pPr>
            <a:r>
              <a:rPr lang="en-US"/>
              <a:t>Click to add title</a:t>
            </a:r>
            <a:endParaRPr lang="pt-PT"/>
          </a:p>
        </p:txBody>
      </p:sp>
      <p:pic>
        <p:nvPicPr>
          <p:cNvPr id="12" name="Graphic 4">
            <a:extLst>
              <a:ext uri="{FF2B5EF4-FFF2-40B4-BE49-F238E27FC236}">
                <a16:creationId xmlns:a16="http://schemas.microsoft.com/office/drawing/2014/main" id="{25EEA1D4-3AF7-42D7-AE97-AE404AECFAEB}"/>
              </a:ext>
            </a:extLst>
          </p:cNvPr>
          <p:cNvPicPr>
            <a:picLocks noChangeAspect="1"/>
          </p:cNvPicPr>
          <p:nvPr userDrawn="1"/>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t="-5676"/>
          <a:stretch/>
        </p:blipFill>
        <p:spPr>
          <a:xfrm>
            <a:off x="11635686" y="6398376"/>
            <a:ext cx="424356" cy="459624"/>
          </a:xfrm>
          <a:prstGeom prst="rect">
            <a:avLst/>
          </a:prstGeom>
        </p:spPr>
      </p:pic>
      <p:sp>
        <p:nvSpPr>
          <p:cNvPr id="14" name="Text Placeholder 2"/>
          <p:cNvSpPr>
            <a:spLocks noGrp="1"/>
          </p:cNvSpPr>
          <p:nvPr>
            <p:ph idx="1"/>
          </p:nvPr>
        </p:nvSpPr>
        <p:spPr>
          <a:xfrm>
            <a:off x="413067" y="1412875"/>
            <a:ext cx="11370945" cy="5040313"/>
          </a:xfrm>
          <a:prstGeom prst="rect">
            <a:avLst/>
          </a:prstGeom>
        </p:spPr>
        <p:txBody>
          <a:bodyPr vert="horz" lIns="0" tIns="0" rIns="0" bIns="0" rtlCol="0">
            <a:normAutofit/>
          </a:bodyPr>
          <a:lstStyle>
            <a:lvl1pPr>
              <a:defRPr lang="en-US" dirty="0">
                <a:latin typeface="+mn-lt"/>
                <a:ea typeface="+mn-ea"/>
                <a:cs typeface="+mn-cs"/>
              </a:defRPr>
            </a:lvl1pPr>
            <a:lvl2pPr>
              <a:defRPr lang="en-US" dirty="0">
                <a:latin typeface="+mn-lt"/>
                <a:ea typeface="+mn-ea"/>
                <a:cs typeface="+mn-cs"/>
              </a:defRPr>
            </a:lvl2pPr>
            <a:lvl3pPr>
              <a:defRPr lang="en-US" dirty="0">
                <a:latin typeface="+mn-lt"/>
                <a:ea typeface="+mn-ea"/>
                <a:cs typeface="+mn-cs"/>
              </a:defRPr>
            </a:lvl3pPr>
            <a:lvl4pPr>
              <a:defRPr lang="en-US" dirty="0">
                <a:latin typeface="+mn-lt"/>
                <a:ea typeface="+mn-ea"/>
                <a:cs typeface="+mn-cs"/>
              </a:defRPr>
            </a:lvl4pPr>
          </a:lstStyle>
          <a:p>
            <a:pPr lvl="0">
              <a:lnSpc>
                <a:spcPts val="2200"/>
              </a:lnSpc>
              <a:spcBef>
                <a:spcPts val="0"/>
              </a:spcBef>
              <a:spcAft>
                <a:spcPts val="600"/>
              </a:spcAft>
            </a:pPr>
            <a:r>
              <a:rPr lang="en-US"/>
              <a:t>Edit Master text styles</a:t>
            </a:r>
          </a:p>
          <a:p>
            <a:pPr marL="233363" lvl="1">
              <a:lnSpc>
                <a:spcPts val="2000"/>
              </a:lnSpc>
              <a:spcBef>
                <a:spcPts val="0"/>
              </a:spcBef>
              <a:spcAft>
                <a:spcPts val="600"/>
              </a:spcAft>
              <a:buClr>
                <a:schemeClr val="accent1"/>
              </a:buClr>
              <a:buFont typeface="Wingdings" panose="05000000000000000000" pitchFamily="2" charset="2"/>
              <a:buChar char="§"/>
            </a:pPr>
            <a:r>
              <a:rPr lang="en-US"/>
              <a:t>Second level</a:t>
            </a:r>
          </a:p>
          <a:p>
            <a:pPr marL="457200" lvl="2" indent="-223838">
              <a:lnSpc>
                <a:spcPts val="1600"/>
              </a:lnSpc>
              <a:spcBef>
                <a:spcPts val="0"/>
              </a:spcBef>
              <a:spcAft>
                <a:spcPts val="600"/>
              </a:spcAft>
              <a:buClr>
                <a:schemeClr val="accent1"/>
              </a:buClr>
            </a:pPr>
            <a:r>
              <a:rPr lang="en-US"/>
              <a:t>Third level</a:t>
            </a:r>
          </a:p>
          <a:p>
            <a:pPr marL="690563" lvl="3" indent="-233363">
              <a:spcBef>
                <a:spcPts val="0"/>
              </a:spcBef>
              <a:spcAft>
                <a:spcPts val="600"/>
              </a:spcAft>
              <a:buClr>
                <a:schemeClr val="accent1"/>
              </a:buClr>
              <a:buChar char="‒"/>
            </a:pPr>
            <a:r>
              <a:rPr lang="en-US"/>
              <a:t>Fourth level</a:t>
            </a:r>
          </a:p>
        </p:txBody>
      </p:sp>
    </p:spTree>
    <p:extLst>
      <p:ext uri="{BB962C8B-B14F-4D97-AF65-F5344CB8AC3E}">
        <p14:creationId xmlns:p14="http://schemas.microsoft.com/office/powerpoint/2010/main" val="2432450362"/>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Diapositiva titolo">
    <p:bg>
      <p:bgRef idx="1001">
        <a:schemeClr val="bg1"/>
      </p:bgRef>
    </p:bg>
    <p:spTree>
      <p:nvGrpSpPr>
        <p:cNvPr id="1" name=""/>
        <p:cNvGrpSpPr/>
        <p:nvPr/>
      </p:nvGrpSpPr>
      <p:grpSpPr>
        <a:xfrm>
          <a:off x="0" y="0"/>
          <a:ext cx="0" cy="0"/>
          <a:chOff x="0" y="0"/>
          <a:chExt cx="0" cy="0"/>
        </a:xfrm>
      </p:grpSpPr>
      <p:sp>
        <p:nvSpPr>
          <p:cNvPr id="2" name="Titolo 1"/>
          <p:cNvSpPr>
            <a:spLocks noGrp="1"/>
          </p:cNvSpPr>
          <p:nvPr>
            <p:ph type="ctrTitle" hasCustomPrompt="1"/>
          </p:nvPr>
        </p:nvSpPr>
        <p:spPr>
          <a:xfrm>
            <a:off x="2816555" y="2294992"/>
            <a:ext cx="8944075" cy="615552"/>
          </a:xfrm>
          <a:prstGeom prst="rect">
            <a:avLst/>
          </a:prstGeom>
        </p:spPr>
        <p:txBody>
          <a:bodyPr lIns="0" bIns="0"/>
          <a:lstStyle>
            <a:lvl1pPr>
              <a:defRPr>
                <a:solidFill>
                  <a:srgbClr val="C3231E"/>
                </a:solidFill>
              </a:defRPr>
            </a:lvl1pPr>
          </a:lstStyle>
          <a:p>
            <a:r>
              <a:rPr lang="en-US" noProof="0"/>
              <a:t>Presentation title</a:t>
            </a:r>
          </a:p>
        </p:txBody>
      </p:sp>
      <p:sp>
        <p:nvSpPr>
          <p:cNvPr id="3" name="Sottotitolo 2"/>
          <p:cNvSpPr>
            <a:spLocks noGrp="1"/>
          </p:cNvSpPr>
          <p:nvPr>
            <p:ph type="subTitle" idx="1" hasCustomPrompt="1"/>
          </p:nvPr>
        </p:nvSpPr>
        <p:spPr>
          <a:xfrm>
            <a:off x="2816555" y="2930059"/>
            <a:ext cx="8944075" cy="345637"/>
          </a:xfrm>
          <a:prstGeom prst="rect">
            <a:avLst/>
          </a:prstGeom>
        </p:spPr>
        <p:txBody>
          <a:bodyPr lIns="0" rIns="0" bIns="0" anchor="t"/>
          <a:lstStyle>
            <a:lvl1pPr marL="0" indent="0" algn="l">
              <a:buNone/>
              <a:defRPr>
                <a:solidFill>
                  <a:srgbClr val="6E6E6E"/>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Possible subtitle of the presentation</a:t>
            </a:r>
          </a:p>
        </p:txBody>
      </p:sp>
      <p:sp>
        <p:nvSpPr>
          <p:cNvPr id="15" name="Segnaposto testo 14"/>
          <p:cNvSpPr>
            <a:spLocks noGrp="1"/>
          </p:cNvSpPr>
          <p:nvPr>
            <p:ph type="body" sz="quarter" idx="13" hasCustomPrompt="1"/>
          </p:nvPr>
        </p:nvSpPr>
        <p:spPr>
          <a:xfrm>
            <a:off x="2816555" y="4725144"/>
            <a:ext cx="3149600" cy="457200"/>
          </a:xfrm>
          <a:prstGeom prst="rect">
            <a:avLst/>
          </a:prstGeom>
        </p:spPr>
        <p:txBody>
          <a:bodyPr vert="horz" lIns="0" tIns="0" rIns="0" bIns="0"/>
          <a:lstStyle>
            <a:lvl1pPr>
              <a:defRPr sz="1600">
                <a:solidFill>
                  <a:srgbClr val="6E6E6E"/>
                </a:solidFill>
              </a:defRPr>
            </a:lvl1pPr>
          </a:lstStyle>
          <a:p>
            <a:pPr lvl="0"/>
            <a:r>
              <a:rPr lang="en-US" noProof="0"/>
              <a:t>Name and title </a:t>
            </a:r>
          </a:p>
        </p:txBody>
      </p:sp>
      <p:sp>
        <p:nvSpPr>
          <p:cNvPr id="8" name="Segnaposto testo 7"/>
          <p:cNvSpPr>
            <a:spLocks noGrp="1"/>
          </p:cNvSpPr>
          <p:nvPr>
            <p:ph type="body" sz="quarter" idx="14" hasCustomPrompt="1"/>
          </p:nvPr>
        </p:nvSpPr>
        <p:spPr>
          <a:xfrm>
            <a:off x="2817283" y="5311357"/>
            <a:ext cx="3148871" cy="344806"/>
          </a:xfrm>
          <a:prstGeom prst="rect">
            <a:avLst/>
          </a:prstGeom>
        </p:spPr>
        <p:txBody>
          <a:bodyPr vert="horz" lIns="0" rIns="0"/>
          <a:lstStyle>
            <a:lvl1pPr>
              <a:defRPr>
                <a:solidFill>
                  <a:srgbClr val="C3231E"/>
                </a:solidFill>
              </a:defRPr>
            </a:lvl1pPr>
            <a:lvl2pPr>
              <a:defRPr>
                <a:solidFill>
                  <a:srgbClr val="C3231E"/>
                </a:solidFill>
              </a:defRPr>
            </a:lvl2pPr>
            <a:lvl3pPr>
              <a:defRPr>
                <a:solidFill>
                  <a:srgbClr val="C3231E"/>
                </a:solidFill>
              </a:defRPr>
            </a:lvl3pPr>
            <a:lvl4pPr>
              <a:defRPr>
                <a:solidFill>
                  <a:srgbClr val="C3231E"/>
                </a:solidFill>
              </a:defRPr>
            </a:lvl4pPr>
            <a:lvl5pPr>
              <a:defRPr>
                <a:solidFill>
                  <a:srgbClr val="C3231E"/>
                </a:solidFill>
              </a:defRPr>
            </a:lvl5pPr>
          </a:lstStyle>
          <a:p>
            <a:pPr lvl="0"/>
            <a:r>
              <a:rPr lang="en-US" noProof="0"/>
              <a:t>City, Nation</a:t>
            </a:r>
          </a:p>
        </p:txBody>
      </p:sp>
      <p:sp>
        <p:nvSpPr>
          <p:cNvPr id="10" name="Segnaposto testo 9"/>
          <p:cNvSpPr>
            <a:spLocks noGrp="1"/>
          </p:cNvSpPr>
          <p:nvPr>
            <p:ph type="body" sz="quarter" idx="16" hasCustomPrompt="1"/>
          </p:nvPr>
        </p:nvSpPr>
        <p:spPr>
          <a:xfrm>
            <a:off x="2841601" y="5943600"/>
            <a:ext cx="9374716" cy="288000"/>
          </a:xfrm>
          <a:prstGeom prst="rect">
            <a:avLst/>
          </a:prstGeom>
        </p:spPr>
        <p:txBody>
          <a:bodyPr vert="horz" wrap="none" lIns="0" tIns="0" rIns="0" bIns="0" anchor="ctr" anchorCtr="0"/>
          <a:lstStyle>
            <a:lvl1pPr marL="342900" marR="0" indent="-342900" algn="l" defTabSz="457200" rtl="0" eaLnBrk="1" fontAlgn="auto" latinLnBrk="0" hangingPunct="1">
              <a:lnSpc>
                <a:spcPct val="100000"/>
              </a:lnSpc>
              <a:spcBef>
                <a:spcPct val="20000"/>
              </a:spcBef>
              <a:spcAft>
                <a:spcPts val="0"/>
              </a:spcAft>
              <a:buClrTx/>
              <a:buSzTx/>
              <a:buFont typeface="Arial"/>
              <a:buNone/>
              <a:tabLst/>
              <a:defRPr sz="800"/>
            </a:lvl1pPr>
          </a:lstStyle>
          <a:p>
            <a:pPr marL="342900" marR="0" lvl="0" indent="-342900" algn="l" defTabSz="457200" rtl="0" eaLnBrk="1" fontAlgn="auto" latinLnBrk="0" hangingPunct="1">
              <a:lnSpc>
                <a:spcPct val="100000"/>
              </a:lnSpc>
              <a:spcBef>
                <a:spcPct val="20000"/>
              </a:spcBef>
              <a:spcAft>
                <a:spcPts val="0"/>
              </a:spcAft>
              <a:buClrTx/>
              <a:buSzTx/>
              <a:buFont typeface="Arial"/>
              <a:buNone/>
              <a:tabLst/>
              <a:defRPr/>
            </a:pPr>
            <a:r>
              <a:rPr lang="en-US" noProof="0"/>
              <a:t>Contains confidential proprietary and trade secrets information of CNH Industrial. Any use of this work without express written consent is strictly prohibited.</a:t>
            </a:r>
          </a:p>
          <a:p>
            <a:pPr lvl="0"/>
            <a:endParaRPr lang="en-US" noProof="0"/>
          </a:p>
        </p:txBody>
      </p:sp>
      <p:sp>
        <p:nvSpPr>
          <p:cNvPr id="14" name="Segnaposto testo 13"/>
          <p:cNvSpPr>
            <a:spLocks noGrp="1"/>
          </p:cNvSpPr>
          <p:nvPr>
            <p:ph type="body" sz="quarter" idx="17" hasCustomPrompt="1"/>
          </p:nvPr>
        </p:nvSpPr>
        <p:spPr>
          <a:xfrm>
            <a:off x="2817283" y="5689600"/>
            <a:ext cx="3148871" cy="228600"/>
          </a:xfrm>
          <a:prstGeom prst="rect">
            <a:avLst/>
          </a:prstGeom>
        </p:spPr>
        <p:txBody>
          <a:bodyPr vert="horz" lIns="0" tIns="0" rIns="0" bIns="0"/>
          <a:lstStyle>
            <a:lvl1pPr>
              <a:defRPr>
                <a:solidFill>
                  <a:srgbClr val="6E6E6E"/>
                </a:solidFill>
              </a:defRPr>
            </a:lvl1pPr>
          </a:lstStyle>
          <a:p>
            <a:r>
              <a:rPr lang="en-US" sz="1200" noProof="0">
                <a:solidFill>
                  <a:srgbClr val="6E6E6E"/>
                </a:solidFill>
                <a:latin typeface="Arial"/>
                <a:cs typeface="Arial"/>
              </a:rPr>
              <a:t>May 5th, 2017</a:t>
            </a:r>
          </a:p>
        </p:txBody>
      </p:sp>
    </p:spTree>
    <p:extLst>
      <p:ext uri="{BB962C8B-B14F-4D97-AF65-F5344CB8AC3E}">
        <p14:creationId xmlns:p14="http://schemas.microsoft.com/office/powerpoint/2010/main" val="3928062779"/>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hasCustomPrompt="1"/>
          </p:nvPr>
        </p:nvSpPr>
        <p:spPr>
          <a:xfrm>
            <a:off x="407987" y="2010606"/>
            <a:ext cx="5543551" cy="4442581"/>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1" name="Text Placeholder 7">
            <a:extLst>
              <a:ext uri="{FF2B5EF4-FFF2-40B4-BE49-F238E27FC236}">
                <a16:creationId xmlns:a16="http://schemas.microsoft.com/office/drawing/2014/main" id="{4F279807-494A-45DD-A5C6-24F625316B92}"/>
              </a:ext>
            </a:extLst>
          </p:cNvPr>
          <p:cNvSpPr>
            <a:spLocks noGrp="1"/>
          </p:cNvSpPr>
          <p:nvPr>
            <p:ph type="body" sz="quarter" idx="11" hasCustomPrompt="1"/>
          </p:nvPr>
        </p:nvSpPr>
        <p:spPr>
          <a:xfrm>
            <a:off x="6240465" y="2010606"/>
            <a:ext cx="5516444" cy="4441372"/>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407987" y="1420990"/>
            <a:ext cx="5543551"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240465" y="1420990"/>
            <a:ext cx="5516444"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9" name="Title Placeholder 1">
            <a:extLst>
              <a:ext uri="{FF2B5EF4-FFF2-40B4-BE49-F238E27FC236}">
                <a16:creationId xmlns:a16="http://schemas.microsoft.com/office/drawing/2014/main" id="{6733E381-C11A-4F10-88ED-DDEA4B9167E2}"/>
              </a:ext>
            </a:extLst>
          </p:cNvPr>
          <p:cNvSpPr>
            <a:spLocks noGrp="1"/>
          </p:cNvSpPr>
          <p:nvPr>
            <p:ph type="title" hasCustomPrompt="1"/>
          </p:nvPr>
        </p:nvSpPr>
        <p:spPr>
          <a:xfrm>
            <a:off x="407988" y="404813"/>
            <a:ext cx="10944596" cy="865054"/>
          </a:xfrm>
          <a:prstGeom prst="rect">
            <a:avLst/>
          </a:prstGeom>
        </p:spPr>
        <p:txBody>
          <a:bodyPr vert="horz" lIns="0" tIns="0" rIns="0" bIns="0" rtlCol="0" anchor="t">
            <a:normAutofit/>
          </a:bodyPr>
          <a:lstStyle>
            <a:lvl1pPr>
              <a:defRPr lang="pt-PT" dirty="0">
                <a:solidFill>
                  <a:schemeClr val="tx2"/>
                </a:solidFill>
              </a:defRPr>
            </a:lvl1pPr>
          </a:lstStyle>
          <a:p>
            <a:pPr lvl="0">
              <a:lnSpc>
                <a:spcPts val="3000"/>
              </a:lnSpc>
            </a:pPr>
            <a:r>
              <a:rPr lang="en-US"/>
              <a:t>Click to insert title</a:t>
            </a:r>
            <a:endParaRPr lang="pt-PT"/>
          </a:p>
        </p:txBody>
      </p:sp>
    </p:spTree>
    <p:extLst>
      <p:ext uri="{BB962C8B-B14F-4D97-AF65-F5344CB8AC3E}">
        <p14:creationId xmlns:p14="http://schemas.microsoft.com/office/powerpoint/2010/main" val="1354936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Title Slide 1">
    <p:bg>
      <p:bgPr>
        <a:solidFill>
          <a:srgbClr val="E6E7E7"/>
        </a:solidFill>
        <a:effectLst/>
      </p:bgPr>
    </p:bg>
    <p:spTree>
      <p:nvGrpSpPr>
        <p:cNvPr id="1" name=""/>
        <p:cNvGrpSpPr/>
        <p:nvPr/>
      </p:nvGrpSpPr>
      <p:grpSpPr>
        <a:xfrm>
          <a:off x="0" y="0"/>
          <a:ext cx="0" cy="0"/>
          <a:chOff x="0" y="0"/>
          <a:chExt cx="0" cy="0"/>
        </a:xfrm>
      </p:grpSpPr>
      <p:graphicFrame>
        <p:nvGraphicFramePr>
          <p:cNvPr id="7" name="Object 6"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7" name="Object 6"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79" name="Freeform 7"/>
          <p:cNvSpPr>
            <a:spLocks/>
          </p:cNvSpPr>
          <p:nvPr userDrawn="1"/>
        </p:nvSpPr>
        <p:spPr bwMode="auto">
          <a:xfrm>
            <a:off x="5137150" y="0"/>
            <a:ext cx="7054850" cy="6854825"/>
          </a:xfrm>
          <a:custGeom>
            <a:avLst/>
            <a:gdLst/>
            <a:ahLst/>
            <a:cxnLst>
              <a:cxn ang="0">
                <a:pos x="4444" y="0"/>
              </a:cxn>
              <a:cxn ang="0">
                <a:pos x="4444" y="32"/>
              </a:cxn>
              <a:cxn ang="0">
                <a:pos x="4444" y="4292"/>
              </a:cxn>
              <a:cxn ang="0">
                <a:pos x="4440" y="4306"/>
              </a:cxn>
              <a:cxn ang="0">
                <a:pos x="4426" y="4314"/>
              </a:cxn>
              <a:cxn ang="0">
                <a:pos x="4326" y="4318"/>
              </a:cxn>
              <a:cxn ang="0">
                <a:pos x="4228" y="4310"/>
              </a:cxn>
              <a:cxn ang="0">
                <a:pos x="4076" y="4282"/>
              </a:cxn>
              <a:cxn ang="0">
                <a:pos x="3928" y="4240"/>
              </a:cxn>
              <a:cxn ang="0">
                <a:pos x="3740" y="4170"/>
              </a:cxn>
              <a:cxn ang="0">
                <a:pos x="3474" y="4042"/>
              </a:cxn>
              <a:cxn ang="0">
                <a:pos x="3216" y="3896"/>
              </a:cxn>
              <a:cxn ang="0">
                <a:pos x="3024" y="3772"/>
              </a:cxn>
              <a:cxn ang="0">
                <a:pos x="2704" y="3544"/>
              </a:cxn>
              <a:cxn ang="0">
                <a:pos x="2396" y="3300"/>
              </a:cxn>
              <a:cxn ang="0">
                <a:pos x="2180" y="3116"/>
              </a:cxn>
              <a:cxn ang="0">
                <a:pos x="2256" y="2964"/>
              </a:cxn>
              <a:cxn ang="0">
                <a:pos x="2286" y="2890"/>
              </a:cxn>
              <a:cxn ang="0">
                <a:pos x="2322" y="2774"/>
              </a:cxn>
              <a:cxn ang="0">
                <a:pos x="2338" y="2654"/>
              </a:cxn>
              <a:cxn ang="0">
                <a:pos x="2336" y="2562"/>
              </a:cxn>
              <a:cxn ang="0">
                <a:pos x="2306" y="2432"/>
              </a:cxn>
              <a:cxn ang="0">
                <a:pos x="2242" y="2310"/>
              </a:cxn>
              <a:cxn ang="0">
                <a:pos x="2188" y="2238"/>
              </a:cxn>
              <a:cxn ang="0">
                <a:pos x="2092" y="2144"/>
              </a:cxn>
              <a:cxn ang="0">
                <a:pos x="1986" y="2062"/>
              </a:cxn>
              <a:cxn ang="0">
                <a:pos x="1878" y="1990"/>
              </a:cxn>
              <a:cxn ang="0">
                <a:pos x="1712" y="1894"/>
              </a:cxn>
              <a:cxn ang="0">
                <a:pos x="1538" y="1808"/>
              </a:cxn>
              <a:cxn ang="0">
                <a:pos x="1156" y="1640"/>
              </a:cxn>
              <a:cxn ang="0">
                <a:pos x="710" y="1446"/>
              </a:cxn>
              <a:cxn ang="0">
                <a:pos x="524" y="1350"/>
              </a:cxn>
              <a:cxn ang="0">
                <a:pos x="354" y="1230"/>
              </a:cxn>
              <a:cxn ang="0">
                <a:pos x="262" y="1144"/>
              </a:cxn>
              <a:cxn ang="0">
                <a:pos x="158" y="1020"/>
              </a:cxn>
              <a:cxn ang="0">
                <a:pos x="80" y="884"/>
              </a:cxn>
              <a:cxn ang="0">
                <a:pos x="28" y="740"/>
              </a:cxn>
              <a:cxn ang="0">
                <a:pos x="2" y="584"/>
              </a:cxn>
              <a:cxn ang="0">
                <a:pos x="4" y="418"/>
              </a:cxn>
              <a:cxn ang="0">
                <a:pos x="18" y="314"/>
              </a:cxn>
              <a:cxn ang="0">
                <a:pos x="58" y="162"/>
              </a:cxn>
              <a:cxn ang="0">
                <a:pos x="118" y="16"/>
              </a:cxn>
              <a:cxn ang="0">
                <a:pos x="122" y="0"/>
              </a:cxn>
            </a:cxnLst>
            <a:rect l="0" t="0" r="r" b="b"/>
            <a:pathLst>
              <a:path w="4444" h="4318">
                <a:moveTo>
                  <a:pt x="122" y="0"/>
                </a:moveTo>
                <a:lnTo>
                  <a:pt x="122" y="0"/>
                </a:lnTo>
                <a:lnTo>
                  <a:pt x="4444" y="0"/>
                </a:lnTo>
                <a:lnTo>
                  <a:pt x="4444" y="0"/>
                </a:lnTo>
                <a:lnTo>
                  <a:pt x="4444" y="32"/>
                </a:lnTo>
                <a:lnTo>
                  <a:pt x="4444" y="32"/>
                </a:lnTo>
                <a:lnTo>
                  <a:pt x="4444" y="4272"/>
                </a:lnTo>
                <a:lnTo>
                  <a:pt x="4444" y="4272"/>
                </a:lnTo>
                <a:lnTo>
                  <a:pt x="4444" y="4292"/>
                </a:lnTo>
                <a:lnTo>
                  <a:pt x="4444" y="4292"/>
                </a:lnTo>
                <a:lnTo>
                  <a:pt x="4444" y="4300"/>
                </a:lnTo>
                <a:lnTo>
                  <a:pt x="4440" y="4306"/>
                </a:lnTo>
                <a:lnTo>
                  <a:pt x="4436" y="4310"/>
                </a:lnTo>
                <a:lnTo>
                  <a:pt x="4426" y="4314"/>
                </a:lnTo>
                <a:lnTo>
                  <a:pt x="4426" y="4314"/>
                </a:lnTo>
                <a:lnTo>
                  <a:pt x="4402" y="4316"/>
                </a:lnTo>
                <a:lnTo>
                  <a:pt x="4376" y="4318"/>
                </a:lnTo>
                <a:lnTo>
                  <a:pt x="4326" y="4318"/>
                </a:lnTo>
                <a:lnTo>
                  <a:pt x="4278" y="4316"/>
                </a:lnTo>
                <a:lnTo>
                  <a:pt x="4228" y="4310"/>
                </a:lnTo>
                <a:lnTo>
                  <a:pt x="4228" y="4310"/>
                </a:lnTo>
                <a:lnTo>
                  <a:pt x="4176" y="4302"/>
                </a:lnTo>
                <a:lnTo>
                  <a:pt x="4126" y="4294"/>
                </a:lnTo>
                <a:lnTo>
                  <a:pt x="4076" y="4282"/>
                </a:lnTo>
                <a:lnTo>
                  <a:pt x="4026" y="4270"/>
                </a:lnTo>
                <a:lnTo>
                  <a:pt x="3978" y="4256"/>
                </a:lnTo>
                <a:lnTo>
                  <a:pt x="3928" y="4240"/>
                </a:lnTo>
                <a:lnTo>
                  <a:pt x="3832" y="4206"/>
                </a:lnTo>
                <a:lnTo>
                  <a:pt x="3832" y="4206"/>
                </a:lnTo>
                <a:lnTo>
                  <a:pt x="3740" y="4170"/>
                </a:lnTo>
                <a:lnTo>
                  <a:pt x="3650" y="4130"/>
                </a:lnTo>
                <a:lnTo>
                  <a:pt x="3562" y="4088"/>
                </a:lnTo>
                <a:lnTo>
                  <a:pt x="3474" y="4042"/>
                </a:lnTo>
                <a:lnTo>
                  <a:pt x="3386" y="3996"/>
                </a:lnTo>
                <a:lnTo>
                  <a:pt x="3302" y="3946"/>
                </a:lnTo>
                <a:lnTo>
                  <a:pt x="3216" y="3896"/>
                </a:lnTo>
                <a:lnTo>
                  <a:pt x="3134" y="3844"/>
                </a:lnTo>
                <a:lnTo>
                  <a:pt x="3134" y="3844"/>
                </a:lnTo>
                <a:lnTo>
                  <a:pt x="3024" y="3772"/>
                </a:lnTo>
                <a:lnTo>
                  <a:pt x="2916" y="3698"/>
                </a:lnTo>
                <a:lnTo>
                  <a:pt x="2808" y="3622"/>
                </a:lnTo>
                <a:lnTo>
                  <a:pt x="2704" y="3544"/>
                </a:lnTo>
                <a:lnTo>
                  <a:pt x="2600" y="3464"/>
                </a:lnTo>
                <a:lnTo>
                  <a:pt x="2498" y="3382"/>
                </a:lnTo>
                <a:lnTo>
                  <a:pt x="2396" y="3300"/>
                </a:lnTo>
                <a:lnTo>
                  <a:pt x="2296" y="3214"/>
                </a:lnTo>
                <a:lnTo>
                  <a:pt x="2296" y="3214"/>
                </a:lnTo>
                <a:lnTo>
                  <a:pt x="2180" y="3116"/>
                </a:lnTo>
                <a:lnTo>
                  <a:pt x="2180" y="3116"/>
                </a:lnTo>
                <a:lnTo>
                  <a:pt x="2220" y="3040"/>
                </a:lnTo>
                <a:lnTo>
                  <a:pt x="2256" y="2964"/>
                </a:lnTo>
                <a:lnTo>
                  <a:pt x="2256" y="2964"/>
                </a:lnTo>
                <a:lnTo>
                  <a:pt x="2272" y="2928"/>
                </a:lnTo>
                <a:lnTo>
                  <a:pt x="2286" y="2890"/>
                </a:lnTo>
                <a:lnTo>
                  <a:pt x="2300" y="2852"/>
                </a:lnTo>
                <a:lnTo>
                  <a:pt x="2312" y="2814"/>
                </a:lnTo>
                <a:lnTo>
                  <a:pt x="2322" y="2774"/>
                </a:lnTo>
                <a:lnTo>
                  <a:pt x="2330" y="2736"/>
                </a:lnTo>
                <a:lnTo>
                  <a:pt x="2334" y="2696"/>
                </a:lnTo>
                <a:lnTo>
                  <a:pt x="2338" y="2654"/>
                </a:lnTo>
                <a:lnTo>
                  <a:pt x="2338" y="2654"/>
                </a:lnTo>
                <a:lnTo>
                  <a:pt x="2340" y="2608"/>
                </a:lnTo>
                <a:lnTo>
                  <a:pt x="2336" y="2562"/>
                </a:lnTo>
                <a:lnTo>
                  <a:pt x="2330" y="2518"/>
                </a:lnTo>
                <a:lnTo>
                  <a:pt x="2320" y="2474"/>
                </a:lnTo>
                <a:lnTo>
                  <a:pt x="2306" y="2432"/>
                </a:lnTo>
                <a:lnTo>
                  <a:pt x="2288" y="2390"/>
                </a:lnTo>
                <a:lnTo>
                  <a:pt x="2266" y="2350"/>
                </a:lnTo>
                <a:lnTo>
                  <a:pt x="2242" y="2310"/>
                </a:lnTo>
                <a:lnTo>
                  <a:pt x="2242" y="2310"/>
                </a:lnTo>
                <a:lnTo>
                  <a:pt x="2216" y="2274"/>
                </a:lnTo>
                <a:lnTo>
                  <a:pt x="2188" y="2238"/>
                </a:lnTo>
                <a:lnTo>
                  <a:pt x="2158" y="2206"/>
                </a:lnTo>
                <a:lnTo>
                  <a:pt x="2126" y="2174"/>
                </a:lnTo>
                <a:lnTo>
                  <a:pt x="2092" y="2144"/>
                </a:lnTo>
                <a:lnTo>
                  <a:pt x="2058" y="2116"/>
                </a:lnTo>
                <a:lnTo>
                  <a:pt x="2022" y="2088"/>
                </a:lnTo>
                <a:lnTo>
                  <a:pt x="1986" y="2062"/>
                </a:lnTo>
                <a:lnTo>
                  <a:pt x="1986" y="2062"/>
                </a:lnTo>
                <a:lnTo>
                  <a:pt x="1932" y="2024"/>
                </a:lnTo>
                <a:lnTo>
                  <a:pt x="1878" y="1990"/>
                </a:lnTo>
                <a:lnTo>
                  <a:pt x="1824" y="1956"/>
                </a:lnTo>
                <a:lnTo>
                  <a:pt x="1768" y="1924"/>
                </a:lnTo>
                <a:lnTo>
                  <a:pt x="1712" y="1894"/>
                </a:lnTo>
                <a:lnTo>
                  <a:pt x="1654" y="1864"/>
                </a:lnTo>
                <a:lnTo>
                  <a:pt x="1596" y="1836"/>
                </a:lnTo>
                <a:lnTo>
                  <a:pt x="1538" y="1808"/>
                </a:lnTo>
                <a:lnTo>
                  <a:pt x="1538" y="1808"/>
                </a:lnTo>
                <a:lnTo>
                  <a:pt x="1346" y="1724"/>
                </a:lnTo>
                <a:lnTo>
                  <a:pt x="1156" y="1640"/>
                </a:lnTo>
                <a:lnTo>
                  <a:pt x="774" y="1474"/>
                </a:lnTo>
                <a:lnTo>
                  <a:pt x="774" y="1474"/>
                </a:lnTo>
                <a:lnTo>
                  <a:pt x="710" y="1446"/>
                </a:lnTo>
                <a:lnTo>
                  <a:pt x="646" y="1416"/>
                </a:lnTo>
                <a:lnTo>
                  <a:pt x="584" y="1384"/>
                </a:lnTo>
                <a:lnTo>
                  <a:pt x="524" y="1350"/>
                </a:lnTo>
                <a:lnTo>
                  <a:pt x="466" y="1312"/>
                </a:lnTo>
                <a:lnTo>
                  <a:pt x="410" y="1272"/>
                </a:lnTo>
                <a:lnTo>
                  <a:pt x="354" y="1230"/>
                </a:lnTo>
                <a:lnTo>
                  <a:pt x="302" y="1184"/>
                </a:lnTo>
                <a:lnTo>
                  <a:pt x="302" y="1184"/>
                </a:lnTo>
                <a:lnTo>
                  <a:pt x="262" y="1144"/>
                </a:lnTo>
                <a:lnTo>
                  <a:pt x="224" y="1104"/>
                </a:lnTo>
                <a:lnTo>
                  <a:pt x="188" y="1062"/>
                </a:lnTo>
                <a:lnTo>
                  <a:pt x="158" y="1020"/>
                </a:lnTo>
                <a:lnTo>
                  <a:pt x="128" y="976"/>
                </a:lnTo>
                <a:lnTo>
                  <a:pt x="102" y="930"/>
                </a:lnTo>
                <a:lnTo>
                  <a:pt x="80" y="884"/>
                </a:lnTo>
                <a:lnTo>
                  <a:pt x="58" y="838"/>
                </a:lnTo>
                <a:lnTo>
                  <a:pt x="42" y="790"/>
                </a:lnTo>
                <a:lnTo>
                  <a:pt x="28" y="740"/>
                </a:lnTo>
                <a:lnTo>
                  <a:pt x="16" y="688"/>
                </a:lnTo>
                <a:lnTo>
                  <a:pt x="8" y="636"/>
                </a:lnTo>
                <a:lnTo>
                  <a:pt x="2" y="584"/>
                </a:lnTo>
                <a:lnTo>
                  <a:pt x="0" y="530"/>
                </a:lnTo>
                <a:lnTo>
                  <a:pt x="0" y="474"/>
                </a:lnTo>
                <a:lnTo>
                  <a:pt x="4" y="418"/>
                </a:lnTo>
                <a:lnTo>
                  <a:pt x="4" y="418"/>
                </a:lnTo>
                <a:lnTo>
                  <a:pt x="10" y="366"/>
                </a:lnTo>
                <a:lnTo>
                  <a:pt x="18" y="314"/>
                </a:lnTo>
                <a:lnTo>
                  <a:pt x="30" y="262"/>
                </a:lnTo>
                <a:lnTo>
                  <a:pt x="42" y="212"/>
                </a:lnTo>
                <a:lnTo>
                  <a:pt x="58" y="162"/>
                </a:lnTo>
                <a:lnTo>
                  <a:pt x="76" y="112"/>
                </a:lnTo>
                <a:lnTo>
                  <a:pt x="94" y="64"/>
                </a:lnTo>
                <a:lnTo>
                  <a:pt x="118" y="16"/>
                </a:lnTo>
                <a:lnTo>
                  <a:pt x="118" y="16"/>
                </a:lnTo>
                <a:lnTo>
                  <a:pt x="122" y="0"/>
                </a:lnTo>
                <a:lnTo>
                  <a:pt x="122"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1" name="Title 1"/>
          <p:cNvSpPr>
            <a:spLocks noGrp="1"/>
          </p:cNvSpPr>
          <p:nvPr>
            <p:ph type="ctrTitle" hasCustomPrompt="1"/>
          </p:nvPr>
        </p:nvSpPr>
        <p:spPr>
          <a:xfrm>
            <a:off x="407988" y="1358153"/>
            <a:ext cx="4774258" cy="147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defRPr lang="en-US" sz="2600" b="0" dirty="0">
                <a:solidFill>
                  <a:schemeClr val="accent1"/>
                </a:solidFill>
              </a:defRPr>
            </a:lvl1pPr>
          </a:lstStyle>
          <a:p>
            <a:pPr marL="0" lvl="0"/>
            <a:r>
              <a:rPr lang="en-US"/>
              <a:t>Click to insert title</a:t>
            </a:r>
          </a:p>
        </p:txBody>
      </p:sp>
      <p:sp>
        <p:nvSpPr>
          <p:cNvPr id="12" name="Subtitle 2"/>
          <p:cNvSpPr>
            <a:spLocks noGrp="1"/>
          </p:cNvSpPr>
          <p:nvPr>
            <p:ph type="subTitle" idx="1" hasCustomPrompt="1"/>
          </p:nvPr>
        </p:nvSpPr>
        <p:spPr>
          <a:xfrm>
            <a:off x="407988" y="2976180"/>
            <a:ext cx="4774257"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grpSp>
        <p:nvGrpSpPr>
          <p:cNvPr id="13" name="Group 14"/>
          <p:cNvGrpSpPr>
            <a:grpSpLocks noChangeAspect="1"/>
          </p:cNvGrpSpPr>
          <p:nvPr userDrawn="1"/>
        </p:nvGrpSpPr>
        <p:grpSpPr>
          <a:xfrm>
            <a:off x="416888" y="4537346"/>
            <a:ext cx="5040000" cy="1123654"/>
            <a:chOff x="728663" y="4465638"/>
            <a:chExt cx="5354637" cy="1193801"/>
          </a:xfrm>
        </p:grpSpPr>
        <p:sp>
          <p:nvSpPr>
            <p:cNvPr id="14"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6"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7"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8"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1098424076"/>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Slide 2">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9" name="Object 8"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9" name="Freeform 5"/>
          <p:cNvSpPr>
            <a:spLocks/>
          </p:cNvSpPr>
          <p:nvPr userDrawn="1"/>
        </p:nvSpPr>
        <p:spPr bwMode="auto">
          <a:xfrm>
            <a:off x="1009650" y="0"/>
            <a:ext cx="11182350" cy="6858000"/>
          </a:xfrm>
          <a:custGeom>
            <a:avLst/>
            <a:gdLst/>
            <a:ahLst/>
            <a:cxnLst>
              <a:cxn ang="0">
                <a:pos x="0" y="0"/>
              </a:cxn>
              <a:cxn ang="0">
                <a:pos x="7044" y="0"/>
              </a:cxn>
              <a:cxn ang="0">
                <a:pos x="7044" y="4320"/>
              </a:cxn>
              <a:cxn ang="0">
                <a:pos x="7040" y="4320"/>
              </a:cxn>
              <a:cxn ang="0">
                <a:pos x="4170" y="4320"/>
              </a:cxn>
              <a:cxn ang="0">
                <a:pos x="4150" y="4318"/>
              </a:cxn>
              <a:cxn ang="0">
                <a:pos x="4132" y="4308"/>
              </a:cxn>
              <a:cxn ang="0">
                <a:pos x="3522" y="3806"/>
              </a:cxn>
              <a:cxn ang="0">
                <a:pos x="3468" y="3760"/>
              </a:cxn>
              <a:cxn ang="0">
                <a:pos x="3416" y="3714"/>
              </a:cxn>
              <a:cxn ang="0">
                <a:pos x="3492" y="3568"/>
              </a:cxn>
              <a:cxn ang="0">
                <a:pos x="3522" y="3504"/>
              </a:cxn>
              <a:cxn ang="0">
                <a:pos x="3578" y="3378"/>
              </a:cxn>
              <a:cxn ang="0">
                <a:pos x="3622" y="3248"/>
              </a:cxn>
              <a:cxn ang="0">
                <a:pos x="3652" y="3116"/>
              </a:cxn>
              <a:cxn ang="0">
                <a:pos x="3664" y="3046"/>
              </a:cxn>
              <a:cxn ang="0">
                <a:pos x="3670" y="2964"/>
              </a:cxn>
              <a:cxn ang="0">
                <a:pos x="3670" y="2884"/>
              </a:cxn>
              <a:cxn ang="0">
                <a:pos x="3662" y="2802"/>
              </a:cxn>
              <a:cxn ang="0">
                <a:pos x="3648" y="2722"/>
              </a:cxn>
              <a:cxn ang="0">
                <a:pos x="3632" y="2666"/>
              </a:cxn>
              <a:cxn ang="0">
                <a:pos x="3590" y="2560"/>
              </a:cxn>
              <a:cxn ang="0">
                <a:pos x="3536" y="2460"/>
              </a:cxn>
              <a:cxn ang="0">
                <a:pos x="3470" y="2366"/>
              </a:cxn>
              <a:cxn ang="0">
                <a:pos x="3434" y="2322"/>
              </a:cxn>
              <a:cxn ang="0">
                <a:pos x="3338" y="2220"/>
              </a:cxn>
              <a:cxn ang="0">
                <a:pos x="3236" y="2130"/>
              </a:cxn>
              <a:cxn ang="0">
                <a:pos x="3126" y="2046"/>
              </a:cxn>
              <a:cxn ang="0">
                <a:pos x="3012" y="1966"/>
              </a:cxn>
              <a:cxn ang="0">
                <a:pos x="2932" y="1916"/>
              </a:cxn>
              <a:cxn ang="0">
                <a:pos x="2766" y="1818"/>
              </a:cxn>
              <a:cxn ang="0">
                <a:pos x="2598" y="1728"/>
              </a:cxn>
              <a:cxn ang="0">
                <a:pos x="2340" y="1602"/>
              </a:cxn>
              <a:cxn ang="0">
                <a:pos x="2198" y="1536"/>
              </a:cxn>
              <a:cxn ang="0">
                <a:pos x="1772" y="1348"/>
              </a:cxn>
              <a:cxn ang="0">
                <a:pos x="1200" y="1106"/>
              </a:cxn>
              <a:cxn ang="0">
                <a:pos x="1118" y="1070"/>
              </a:cxn>
              <a:cxn ang="0">
                <a:pos x="954" y="994"/>
              </a:cxn>
              <a:cxn ang="0">
                <a:pos x="798" y="908"/>
              </a:cxn>
              <a:cxn ang="0">
                <a:pos x="646" y="814"/>
              </a:cxn>
              <a:cxn ang="0">
                <a:pos x="572" y="760"/>
              </a:cxn>
              <a:cxn ang="0">
                <a:pos x="448" y="658"/>
              </a:cxn>
              <a:cxn ang="0">
                <a:pos x="332" y="548"/>
              </a:cxn>
              <a:cxn ang="0">
                <a:pos x="228" y="426"/>
              </a:cxn>
              <a:cxn ang="0">
                <a:pos x="136" y="292"/>
              </a:cxn>
              <a:cxn ang="0">
                <a:pos x="94" y="222"/>
              </a:cxn>
              <a:cxn ang="0">
                <a:pos x="58" y="150"/>
              </a:cxn>
              <a:cxn ang="0">
                <a:pos x="28" y="76"/>
              </a:cxn>
              <a:cxn ang="0">
                <a:pos x="0" y="0"/>
              </a:cxn>
            </a:cxnLst>
            <a:rect l="0" t="0" r="r" b="b"/>
            <a:pathLst>
              <a:path w="7044" h="4320">
                <a:moveTo>
                  <a:pt x="0" y="0"/>
                </a:moveTo>
                <a:lnTo>
                  <a:pt x="0" y="0"/>
                </a:lnTo>
                <a:lnTo>
                  <a:pt x="7044" y="0"/>
                </a:lnTo>
                <a:lnTo>
                  <a:pt x="7044" y="0"/>
                </a:lnTo>
                <a:lnTo>
                  <a:pt x="7044" y="4320"/>
                </a:lnTo>
                <a:lnTo>
                  <a:pt x="7044" y="4320"/>
                </a:lnTo>
                <a:lnTo>
                  <a:pt x="7040" y="4320"/>
                </a:lnTo>
                <a:lnTo>
                  <a:pt x="7040" y="4320"/>
                </a:lnTo>
                <a:lnTo>
                  <a:pt x="4170" y="4320"/>
                </a:lnTo>
                <a:lnTo>
                  <a:pt x="4170" y="4320"/>
                </a:lnTo>
                <a:lnTo>
                  <a:pt x="4160" y="4320"/>
                </a:lnTo>
                <a:lnTo>
                  <a:pt x="4150" y="4318"/>
                </a:lnTo>
                <a:lnTo>
                  <a:pt x="4140" y="4314"/>
                </a:lnTo>
                <a:lnTo>
                  <a:pt x="4132" y="4308"/>
                </a:lnTo>
                <a:lnTo>
                  <a:pt x="4132" y="4308"/>
                </a:lnTo>
                <a:lnTo>
                  <a:pt x="3522" y="3806"/>
                </a:lnTo>
                <a:lnTo>
                  <a:pt x="3522" y="3806"/>
                </a:lnTo>
                <a:lnTo>
                  <a:pt x="3468" y="3760"/>
                </a:lnTo>
                <a:lnTo>
                  <a:pt x="3416" y="3714"/>
                </a:lnTo>
                <a:lnTo>
                  <a:pt x="3416" y="3714"/>
                </a:lnTo>
                <a:lnTo>
                  <a:pt x="3454" y="3640"/>
                </a:lnTo>
                <a:lnTo>
                  <a:pt x="3492" y="3568"/>
                </a:lnTo>
                <a:lnTo>
                  <a:pt x="3492" y="3568"/>
                </a:lnTo>
                <a:lnTo>
                  <a:pt x="3522" y="3504"/>
                </a:lnTo>
                <a:lnTo>
                  <a:pt x="3552" y="3442"/>
                </a:lnTo>
                <a:lnTo>
                  <a:pt x="3578" y="3378"/>
                </a:lnTo>
                <a:lnTo>
                  <a:pt x="3600" y="3314"/>
                </a:lnTo>
                <a:lnTo>
                  <a:pt x="3622" y="3248"/>
                </a:lnTo>
                <a:lnTo>
                  <a:pt x="3638" y="3182"/>
                </a:lnTo>
                <a:lnTo>
                  <a:pt x="3652" y="3116"/>
                </a:lnTo>
                <a:lnTo>
                  <a:pt x="3664" y="3046"/>
                </a:lnTo>
                <a:lnTo>
                  <a:pt x="3664" y="3046"/>
                </a:lnTo>
                <a:lnTo>
                  <a:pt x="3668" y="3006"/>
                </a:lnTo>
                <a:lnTo>
                  <a:pt x="3670" y="2964"/>
                </a:lnTo>
                <a:lnTo>
                  <a:pt x="3670" y="2924"/>
                </a:lnTo>
                <a:lnTo>
                  <a:pt x="3670" y="2884"/>
                </a:lnTo>
                <a:lnTo>
                  <a:pt x="3666" y="2844"/>
                </a:lnTo>
                <a:lnTo>
                  <a:pt x="3662" y="2802"/>
                </a:lnTo>
                <a:lnTo>
                  <a:pt x="3656" y="2762"/>
                </a:lnTo>
                <a:lnTo>
                  <a:pt x="3648" y="2722"/>
                </a:lnTo>
                <a:lnTo>
                  <a:pt x="3648" y="2722"/>
                </a:lnTo>
                <a:lnTo>
                  <a:pt x="3632" y="2666"/>
                </a:lnTo>
                <a:lnTo>
                  <a:pt x="3612" y="2612"/>
                </a:lnTo>
                <a:lnTo>
                  <a:pt x="3590" y="2560"/>
                </a:lnTo>
                <a:lnTo>
                  <a:pt x="3564" y="2508"/>
                </a:lnTo>
                <a:lnTo>
                  <a:pt x="3536" y="2460"/>
                </a:lnTo>
                <a:lnTo>
                  <a:pt x="3504" y="2412"/>
                </a:lnTo>
                <a:lnTo>
                  <a:pt x="3470" y="2366"/>
                </a:lnTo>
                <a:lnTo>
                  <a:pt x="3434" y="2322"/>
                </a:lnTo>
                <a:lnTo>
                  <a:pt x="3434" y="2322"/>
                </a:lnTo>
                <a:lnTo>
                  <a:pt x="3388" y="2270"/>
                </a:lnTo>
                <a:lnTo>
                  <a:pt x="3338" y="2220"/>
                </a:lnTo>
                <a:lnTo>
                  <a:pt x="3288" y="2174"/>
                </a:lnTo>
                <a:lnTo>
                  <a:pt x="3236" y="2130"/>
                </a:lnTo>
                <a:lnTo>
                  <a:pt x="3182" y="2086"/>
                </a:lnTo>
                <a:lnTo>
                  <a:pt x="3126" y="2046"/>
                </a:lnTo>
                <a:lnTo>
                  <a:pt x="3070" y="2006"/>
                </a:lnTo>
                <a:lnTo>
                  <a:pt x="3012" y="1966"/>
                </a:lnTo>
                <a:lnTo>
                  <a:pt x="3012" y="1966"/>
                </a:lnTo>
                <a:lnTo>
                  <a:pt x="2932" y="1916"/>
                </a:lnTo>
                <a:lnTo>
                  <a:pt x="2850" y="1866"/>
                </a:lnTo>
                <a:lnTo>
                  <a:pt x="2766" y="1818"/>
                </a:lnTo>
                <a:lnTo>
                  <a:pt x="2682" y="1772"/>
                </a:lnTo>
                <a:lnTo>
                  <a:pt x="2598" y="1728"/>
                </a:lnTo>
                <a:lnTo>
                  <a:pt x="2512" y="1686"/>
                </a:lnTo>
                <a:lnTo>
                  <a:pt x="2340" y="1602"/>
                </a:lnTo>
                <a:lnTo>
                  <a:pt x="2340" y="1602"/>
                </a:lnTo>
                <a:lnTo>
                  <a:pt x="2198" y="1536"/>
                </a:lnTo>
                <a:lnTo>
                  <a:pt x="2056" y="1472"/>
                </a:lnTo>
                <a:lnTo>
                  <a:pt x="1772" y="1348"/>
                </a:lnTo>
                <a:lnTo>
                  <a:pt x="1486" y="1226"/>
                </a:lnTo>
                <a:lnTo>
                  <a:pt x="1200" y="1106"/>
                </a:lnTo>
                <a:lnTo>
                  <a:pt x="1200" y="1106"/>
                </a:lnTo>
                <a:lnTo>
                  <a:pt x="1118" y="1070"/>
                </a:lnTo>
                <a:lnTo>
                  <a:pt x="1036" y="1034"/>
                </a:lnTo>
                <a:lnTo>
                  <a:pt x="954" y="994"/>
                </a:lnTo>
                <a:lnTo>
                  <a:pt x="876" y="952"/>
                </a:lnTo>
                <a:lnTo>
                  <a:pt x="798" y="908"/>
                </a:lnTo>
                <a:lnTo>
                  <a:pt x="720" y="862"/>
                </a:lnTo>
                <a:lnTo>
                  <a:pt x="646" y="814"/>
                </a:lnTo>
                <a:lnTo>
                  <a:pt x="572" y="760"/>
                </a:lnTo>
                <a:lnTo>
                  <a:pt x="572" y="760"/>
                </a:lnTo>
                <a:lnTo>
                  <a:pt x="508" y="710"/>
                </a:lnTo>
                <a:lnTo>
                  <a:pt x="448" y="658"/>
                </a:lnTo>
                <a:lnTo>
                  <a:pt x="388" y="604"/>
                </a:lnTo>
                <a:lnTo>
                  <a:pt x="332" y="548"/>
                </a:lnTo>
                <a:lnTo>
                  <a:pt x="278" y="488"/>
                </a:lnTo>
                <a:lnTo>
                  <a:pt x="228" y="426"/>
                </a:lnTo>
                <a:lnTo>
                  <a:pt x="180" y="360"/>
                </a:lnTo>
                <a:lnTo>
                  <a:pt x="136" y="292"/>
                </a:lnTo>
                <a:lnTo>
                  <a:pt x="136" y="292"/>
                </a:lnTo>
                <a:lnTo>
                  <a:pt x="94" y="222"/>
                </a:lnTo>
                <a:lnTo>
                  <a:pt x="76" y="186"/>
                </a:lnTo>
                <a:lnTo>
                  <a:pt x="58" y="150"/>
                </a:lnTo>
                <a:lnTo>
                  <a:pt x="42" y="114"/>
                </a:lnTo>
                <a:lnTo>
                  <a:pt x="28" y="76"/>
                </a:lnTo>
                <a:lnTo>
                  <a:pt x="14" y="38"/>
                </a:lnTo>
                <a:lnTo>
                  <a:pt x="0" y="0"/>
                </a:lnTo>
                <a:lnTo>
                  <a:pt x="0" y="0"/>
                </a:lnTo>
                <a:close/>
              </a:path>
            </a:pathLst>
          </a:custGeom>
          <a:solidFill>
            <a:schemeClr val="tx2"/>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nvGrpSpPr>
          <p:cNvPr id="15" name="Group 14"/>
          <p:cNvGrpSpPr>
            <a:grpSpLocks noChangeAspect="1"/>
          </p:cNvGrpSpPr>
          <p:nvPr userDrawn="1"/>
        </p:nvGrpSpPr>
        <p:grpSpPr>
          <a:xfrm>
            <a:off x="416888" y="4537346"/>
            <a:ext cx="5040000" cy="1123654"/>
            <a:chOff x="728663" y="4465638"/>
            <a:chExt cx="5354637" cy="1193801"/>
          </a:xfrm>
        </p:grpSpPr>
        <p:sp>
          <p:nvSpPr>
            <p:cNvPr id="16"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7"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8"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0"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
        <p:nvSpPr>
          <p:cNvPr id="22" name="Subtitle 2"/>
          <p:cNvSpPr>
            <a:spLocks noGrp="1"/>
          </p:cNvSpPr>
          <p:nvPr>
            <p:ph type="subTitle" idx="1" hasCustomPrompt="1"/>
          </p:nvPr>
        </p:nvSpPr>
        <p:spPr>
          <a:xfrm>
            <a:off x="5665976" y="1690688"/>
            <a:ext cx="6234859" cy="11260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sp>
        <p:nvSpPr>
          <p:cNvPr id="2" name="Titre 1"/>
          <p:cNvSpPr>
            <a:spLocks noGrp="1"/>
          </p:cNvSpPr>
          <p:nvPr>
            <p:ph type="title" hasCustomPrompt="1"/>
          </p:nvPr>
        </p:nvSpPr>
        <p:spPr>
          <a:xfrm>
            <a:off x="5655320" y="622300"/>
            <a:ext cx="6260455" cy="1068388"/>
          </a:xfrm>
          <a:prstGeom prst="rect">
            <a:avLst/>
          </a:prstGeom>
        </p:spPr>
        <p:txBody>
          <a:bodyPr lIns="0" anchor="b"/>
          <a:lstStyle>
            <a:lvl1pPr>
              <a:defRPr sz="2600">
                <a:solidFill>
                  <a:schemeClr val="accent2"/>
                </a:solidFill>
              </a:defRPr>
            </a:lvl1pPr>
          </a:lstStyle>
          <a:p>
            <a:r>
              <a:rPr lang="en-US"/>
              <a:t>Click to insert title</a:t>
            </a:r>
          </a:p>
        </p:txBody>
      </p:sp>
    </p:spTree>
    <p:extLst>
      <p:ext uri="{BB962C8B-B14F-4D97-AF65-F5344CB8AC3E}">
        <p14:creationId xmlns:p14="http://schemas.microsoft.com/office/powerpoint/2010/main" val="3450125348"/>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Title Slide 3">
    <p:bg>
      <p:bgPr>
        <a:solidFill>
          <a:srgbClr val="E6E7E7"/>
        </a:solidFill>
        <a:effectLst/>
      </p:bgPr>
    </p:bg>
    <p:spTree>
      <p:nvGrpSpPr>
        <p:cNvPr id="1" name=""/>
        <p:cNvGrpSpPr/>
        <p:nvPr/>
      </p:nvGrpSpPr>
      <p:grpSpPr>
        <a:xfrm>
          <a:off x="0" y="0"/>
          <a:ext cx="0" cy="0"/>
          <a:chOff x="0" y="0"/>
          <a:chExt cx="0" cy="0"/>
        </a:xfrm>
      </p:grpSpPr>
      <p:graphicFrame>
        <p:nvGraphicFramePr>
          <p:cNvPr id="16" name="Object 15"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6" name="Object 15"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46" name="Freeform 6"/>
          <p:cNvSpPr>
            <a:spLocks/>
          </p:cNvSpPr>
          <p:nvPr userDrawn="1"/>
        </p:nvSpPr>
        <p:spPr bwMode="auto">
          <a:xfrm>
            <a:off x="3771900" y="1847851"/>
            <a:ext cx="8420100" cy="5010150"/>
          </a:xfrm>
          <a:custGeom>
            <a:avLst/>
            <a:gdLst/>
            <a:ahLst/>
            <a:cxnLst>
              <a:cxn ang="0">
                <a:pos x="5302" y="3130"/>
              </a:cxn>
              <a:cxn ang="0">
                <a:pos x="5302" y="994"/>
              </a:cxn>
              <a:cxn ang="0">
                <a:pos x="5302" y="982"/>
              </a:cxn>
              <a:cxn ang="0">
                <a:pos x="5302" y="966"/>
              </a:cxn>
              <a:cxn ang="0">
                <a:pos x="5298" y="962"/>
              </a:cxn>
              <a:cxn ang="0">
                <a:pos x="5284" y="968"/>
              </a:cxn>
              <a:cxn ang="0">
                <a:pos x="5234" y="992"/>
              </a:cxn>
              <a:cxn ang="0">
                <a:pos x="5132" y="1030"/>
              </a:cxn>
              <a:cxn ang="0">
                <a:pos x="5080" y="1044"/>
              </a:cxn>
              <a:cxn ang="0">
                <a:pos x="4944" y="1076"/>
              </a:cxn>
              <a:cxn ang="0">
                <a:pos x="4806" y="1094"/>
              </a:cxn>
              <a:cxn ang="0">
                <a:pos x="4668" y="1104"/>
              </a:cxn>
              <a:cxn ang="0">
                <a:pos x="4528" y="1102"/>
              </a:cxn>
              <a:cxn ang="0">
                <a:pos x="4436" y="1098"/>
              </a:cxn>
              <a:cxn ang="0">
                <a:pos x="4254" y="1080"/>
              </a:cxn>
              <a:cxn ang="0">
                <a:pos x="4074" y="1054"/>
              </a:cxn>
              <a:cxn ang="0">
                <a:pos x="3894" y="1018"/>
              </a:cxn>
              <a:cxn ang="0">
                <a:pos x="3806" y="996"/>
              </a:cxn>
              <a:cxn ang="0">
                <a:pos x="3518" y="918"/>
              </a:cxn>
              <a:cxn ang="0">
                <a:pos x="3236" y="828"/>
              </a:cxn>
              <a:cxn ang="0">
                <a:pos x="2956" y="724"/>
              </a:cxn>
              <a:cxn ang="0">
                <a:pos x="2680" y="612"/>
              </a:cxn>
              <a:cxn ang="0">
                <a:pos x="2522" y="544"/>
              </a:cxn>
              <a:cxn ang="0">
                <a:pos x="2210" y="402"/>
              </a:cxn>
              <a:cxn ang="0">
                <a:pos x="1902" y="250"/>
              </a:cxn>
              <a:cxn ang="0">
                <a:pos x="1596" y="92"/>
              </a:cxn>
              <a:cxn ang="0">
                <a:pos x="1446" y="10"/>
              </a:cxn>
              <a:cxn ang="0">
                <a:pos x="1434" y="4"/>
              </a:cxn>
              <a:cxn ang="0">
                <a:pos x="1432" y="0"/>
              </a:cxn>
              <a:cxn ang="0">
                <a:pos x="1424" y="0"/>
              </a:cxn>
              <a:cxn ang="0">
                <a:pos x="1286" y="88"/>
              </a:cxn>
              <a:cxn ang="0">
                <a:pos x="1132" y="194"/>
              </a:cxn>
              <a:cxn ang="0">
                <a:pos x="982" y="304"/>
              </a:cxn>
              <a:cxn ang="0">
                <a:pos x="838" y="422"/>
              </a:cxn>
              <a:cxn ang="0">
                <a:pos x="702" y="548"/>
              </a:cxn>
              <a:cxn ang="0">
                <a:pos x="660" y="592"/>
              </a:cxn>
              <a:cxn ang="0">
                <a:pos x="578" y="678"/>
              </a:cxn>
              <a:cxn ang="0">
                <a:pos x="500" y="768"/>
              </a:cxn>
              <a:cxn ang="0">
                <a:pos x="428" y="862"/>
              </a:cxn>
              <a:cxn ang="0">
                <a:pos x="360" y="958"/>
              </a:cxn>
              <a:cxn ang="0">
                <a:pos x="296" y="1058"/>
              </a:cxn>
              <a:cxn ang="0">
                <a:pos x="240" y="1162"/>
              </a:cxn>
              <a:cxn ang="0">
                <a:pos x="188" y="1270"/>
              </a:cxn>
              <a:cxn ang="0">
                <a:pos x="164" y="1326"/>
              </a:cxn>
              <a:cxn ang="0">
                <a:pos x="114" y="1460"/>
              </a:cxn>
              <a:cxn ang="0">
                <a:pos x="72" y="1596"/>
              </a:cxn>
              <a:cxn ang="0">
                <a:pos x="42" y="1736"/>
              </a:cxn>
              <a:cxn ang="0">
                <a:pos x="18" y="1876"/>
              </a:cxn>
              <a:cxn ang="0">
                <a:pos x="10" y="1958"/>
              </a:cxn>
              <a:cxn ang="0">
                <a:pos x="4" y="2038"/>
              </a:cxn>
              <a:cxn ang="0">
                <a:pos x="2" y="2052"/>
              </a:cxn>
              <a:cxn ang="0">
                <a:pos x="0" y="2054"/>
              </a:cxn>
              <a:cxn ang="0">
                <a:pos x="0" y="2312"/>
              </a:cxn>
              <a:cxn ang="0">
                <a:pos x="6" y="2330"/>
              </a:cxn>
              <a:cxn ang="0">
                <a:pos x="6" y="2350"/>
              </a:cxn>
              <a:cxn ang="0">
                <a:pos x="26" y="2552"/>
              </a:cxn>
              <a:cxn ang="0">
                <a:pos x="56" y="2752"/>
              </a:cxn>
              <a:cxn ang="0">
                <a:pos x="100" y="2950"/>
              </a:cxn>
              <a:cxn ang="0">
                <a:pos x="150" y="3148"/>
              </a:cxn>
              <a:cxn ang="0">
                <a:pos x="154" y="3156"/>
              </a:cxn>
              <a:cxn ang="0">
                <a:pos x="5304" y="3156"/>
              </a:cxn>
              <a:cxn ang="0">
                <a:pos x="5302" y="3130"/>
              </a:cxn>
            </a:cxnLst>
            <a:rect l="0" t="0" r="r" b="b"/>
            <a:pathLst>
              <a:path w="5304" h="3156">
                <a:moveTo>
                  <a:pt x="5302" y="3130"/>
                </a:moveTo>
                <a:lnTo>
                  <a:pt x="5302" y="3130"/>
                </a:lnTo>
                <a:lnTo>
                  <a:pt x="5302" y="994"/>
                </a:lnTo>
                <a:lnTo>
                  <a:pt x="5302" y="994"/>
                </a:lnTo>
                <a:lnTo>
                  <a:pt x="5302" y="982"/>
                </a:lnTo>
                <a:lnTo>
                  <a:pt x="5302" y="982"/>
                </a:lnTo>
                <a:lnTo>
                  <a:pt x="5302" y="968"/>
                </a:lnTo>
                <a:lnTo>
                  <a:pt x="5302" y="966"/>
                </a:lnTo>
                <a:lnTo>
                  <a:pt x="5300" y="964"/>
                </a:lnTo>
                <a:lnTo>
                  <a:pt x="5298" y="962"/>
                </a:lnTo>
                <a:lnTo>
                  <a:pt x="5294" y="964"/>
                </a:lnTo>
                <a:lnTo>
                  <a:pt x="5284" y="968"/>
                </a:lnTo>
                <a:lnTo>
                  <a:pt x="5284" y="968"/>
                </a:lnTo>
                <a:lnTo>
                  <a:pt x="5234" y="992"/>
                </a:lnTo>
                <a:lnTo>
                  <a:pt x="5184" y="1012"/>
                </a:lnTo>
                <a:lnTo>
                  <a:pt x="5132" y="1030"/>
                </a:lnTo>
                <a:lnTo>
                  <a:pt x="5080" y="1044"/>
                </a:lnTo>
                <a:lnTo>
                  <a:pt x="5080" y="1044"/>
                </a:lnTo>
                <a:lnTo>
                  <a:pt x="5012" y="1062"/>
                </a:lnTo>
                <a:lnTo>
                  <a:pt x="4944" y="1076"/>
                </a:lnTo>
                <a:lnTo>
                  <a:pt x="4876" y="1086"/>
                </a:lnTo>
                <a:lnTo>
                  <a:pt x="4806" y="1094"/>
                </a:lnTo>
                <a:lnTo>
                  <a:pt x="4736" y="1100"/>
                </a:lnTo>
                <a:lnTo>
                  <a:pt x="4668" y="1104"/>
                </a:lnTo>
                <a:lnTo>
                  <a:pt x="4598" y="1104"/>
                </a:lnTo>
                <a:lnTo>
                  <a:pt x="4528" y="1102"/>
                </a:lnTo>
                <a:lnTo>
                  <a:pt x="4528" y="1102"/>
                </a:lnTo>
                <a:lnTo>
                  <a:pt x="4436" y="1098"/>
                </a:lnTo>
                <a:lnTo>
                  <a:pt x="4344" y="1090"/>
                </a:lnTo>
                <a:lnTo>
                  <a:pt x="4254" y="1080"/>
                </a:lnTo>
                <a:lnTo>
                  <a:pt x="4164" y="1068"/>
                </a:lnTo>
                <a:lnTo>
                  <a:pt x="4074" y="1054"/>
                </a:lnTo>
                <a:lnTo>
                  <a:pt x="3984" y="1036"/>
                </a:lnTo>
                <a:lnTo>
                  <a:pt x="3894" y="1018"/>
                </a:lnTo>
                <a:lnTo>
                  <a:pt x="3806" y="996"/>
                </a:lnTo>
                <a:lnTo>
                  <a:pt x="3806" y="996"/>
                </a:lnTo>
                <a:lnTo>
                  <a:pt x="3660" y="960"/>
                </a:lnTo>
                <a:lnTo>
                  <a:pt x="3518" y="918"/>
                </a:lnTo>
                <a:lnTo>
                  <a:pt x="3376" y="874"/>
                </a:lnTo>
                <a:lnTo>
                  <a:pt x="3236" y="828"/>
                </a:lnTo>
                <a:lnTo>
                  <a:pt x="3096" y="778"/>
                </a:lnTo>
                <a:lnTo>
                  <a:pt x="2956" y="724"/>
                </a:lnTo>
                <a:lnTo>
                  <a:pt x="2818" y="670"/>
                </a:lnTo>
                <a:lnTo>
                  <a:pt x="2680" y="612"/>
                </a:lnTo>
                <a:lnTo>
                  <a:pt x="2680" y="612"/>
                </a:lnTo>
                <a:lnTo>
                  <a:pt x="2522" y="544"/>
                </a:lnTo>
                <a:lnTo>
                  <a:pt x="2366" y="474"/>
                </a:lnTo>
                <a:lnTo>
                  <a:pt x="2210" y="402"/>
                </a:lnTo>
                <a:lnTo>
                  <a:pt x="2056" y="326"/>
                </a:lnTo>
                <a:lnTo>
                  <a:pt x="1902" y="250"/>
                </a:lnTo>
                <a:lnTo>
                  <a:pt x="1748" y="172"/>
                </a:lnTo>
                <a:lnTo>
                  <a:pt x="1596" y="92"/>
                </a:lnTo>
                <a:lnTo>
                  <a:pt x="1446" y="10"/>
                </a:lnTo>
                <a:lnTo>
                  <a:pt x="1446" y="10"/>
                </a:lnTo>
                <a:lnTo>
                  <a:pt x="1438" y="6"/>
                </a:lnTo>
                <a:lnTo>
                  <a:pt x="1434" y="4"/>
                </a:lnTo>
                <a:lnTo>
                  <a:pt x="1432" y="0"/>
                </a:lnTo>
                <a:lnTo>
                  <a:pt x="1432" y="0"/>
                </a:lnTo>
                <a:lnTo>
                  <a:pt x="1424" y="0"/>
                </a:lnTo>
                <a:lnTo>
                  <a:pt x="1424" y="0"/>
                </a:lnTo>
                <a:lnTo>
                  <a:pt x="1286" y="88"/>
                </a:lnTo>
                <a:lnTo>
                  <a:pt x="1286" y="88"/>
                </a:lnTo>
                <a:lnTo>
                  <a:pt x="1208" y="140"/>
                </a:lnTo>
                <a:lnTo>
                  <a:pt x="1132" y="194"/>
                </a:lnTo>
                <a:lnTo>
                  <a:pt x="1056" y="248"/>
                </a:lnTo>
                <a:lnTo>
                  <a:pt x="982" y="304"/>
                </a:lnTo>
                <a:lnTo>
                  <a:pt x="910" y="362"/>
                </a:lnTo>
                <a:lnTo>
                  <a:pt x="838" y="422"/>
                </a:lnTo>
                <a:lnTo>
                  <a:pt x="770" y="484"/>
                </a:lnTo>
                <a:lnTo>
                  <a:pt x="702" y="548"/>
                </a:lnTo>
                <a:lnTo>
                  <a:pt x="702" y="548"/>
                </a:lnTo>
                <a:lnTo>
                  <a:pt x="660" y="592"/>
                </a:lnTo>
                <a:lnTo>
                  <a:pt x="618" y="634"/>
                </a:lnTo>
                <a:lnTo>
                  <a:pt x="578" y="678"/>
                </a:lnTo>
                <a:lnTo>
                  <a:pt x="538" y="724"/>
                </a:lnTo>
                <a:lnTo>
                  <a:pt x="500" y="768"/>
                </a:lnTo>
                <a:lnTo>
                  <a:pt x="464" y="814"/>
                </a:lnTo>
                <a:lnTo>
                  <a:pt x="428" y="862"/>
                </a:lnTo>
                <a:lnTo>
                  <a:pt x="392" y="910"/>
                </a:lnTo>
                <a:lnTo>
                  <a:pt x="360" y="958"/>
                </a:lnTo>
                <a:lnTo>
                  <a:pt x="328" y="1008"/>
                </a:lnTo>
                <a:lnTo>
                  <a:pt x="296" y="1058"/>
                </a:lnTo>
                <a:lnTo>
                  <a:pt x="268" y="1110"/>
                </a:lnTo>
                <a:lnTo>
                  <a:pt x="240" y="1162"/>
                </a:lnTo>
                <a:lnTo>
                  <a:pt x="212" y="1216"/>
                </a:lnTo>
                <a:lnTo>
                  <a:pt x="188" y="1270"/>
                </a:lnTo>
                <a:lnTo>
                  <a:pt x="164" y="1326"/>
                </a:lnTo>
                <a:lnTo>
                  <a:pt x="164" y="1326"/>
                </a:lnTo>
                <a:lnTo>
                  <a:pt x="136" y="1392"/>
                </a:lnTo>
                <a:lnTo>
                  <a:pt x="114" y="1460"/>
                </a:lnTo>
                <a:lnTo>
                  <a:pt x="92" y="1528"/>
                </a:lnTo>
                <a:lnTo>
                  <a:pt x="72" y="1596"/>
                </a:lnTo>
                <a:lnTo>
                  <a:pt x="56" y="1666"/>
                </a:lnTo>
                <a:lnTo>
                  <a:pt x="42" y="1736"/>
                </a:lnTo>
                <a:lnTo>
                  <a:pt x="28" y="1806"/>
                </a:lnTo>
                <a:lnTo>
                  <a:pt x="18" y="1876"/>
                </a:lnTo>
                <a:lnTo>
                  <a:pt x="18" y="1876"/>
                </a:lnTo>
                <a:lnTo>
                  <a:pt x="10" y="1958"/>
                </a:lnTo>
                <a:lnTo>
                  <a:pt x="4" y="2038"/>
                </a:lnTo>
                <a:lnTo>
                  <a:pt x="4" y="2038"/>
                </a:lnTo>
                <a:lnTo>
                  <a:pt x="4" y="2048"/>
                </a:lnTo>
                <a:lnTo>
                  <a:pt x="2" y="2052"/>
                </a:lnTo>
                <a:lnTo>
                  <a:pt x="0" y="2054"/>
                </a:lnTo>
                <a:lnTo>
                  <a:pt x="0" y="2054"/>
                </a:lnTo>
                <a:lnTo>
                  <a:pt x="0" y="2312"/>
                </a:lnTo>
                <a:lnTo>
                  <a:pt x="0" y="2312"/>
                </a:lnTo>
                <a:lnTo>
                  <a:pt x="4" y="2320"/>
                </a:lnTo>
                <a:lnTo>
                  <a:pt x="6" y="2330"/>
                </a:lnTo>
                <a:lnTo>
                  <a:pt x="6" y="2350"/>
                </a:lnTo>
                <a:lnTo>
                  <a:pt x="6" y="2350"/>
                </a:lnTo>
                <a:lnTo>
                  <a:pt x="14" y="2452"/>
                </a:lnTo>
                <a:lnTo>
                  <a:pt x="26" y="2552"/>
                </a:lnTo>
                <a:lnTo>
                  <a:pt x="40" y="2652"/>
                </a:lnTo>
                <a:lnTo>
                  <a:pt x="56" y="2752"/>
                </a:lnTo>
                <a:lnTo>
                  <a:pt x="76" y="2852"/>
                </a:lnTo>
                <a:lnTo>
                  <a:pt x="100" y="2950"/>
                </a:lnTo>
                <a:lnTo>
                  <a:pt x="124" y="3050"/>
                </a:lnTo>
                <a:lnTo>
                  <a:pt x="150" y="3148"/>
                </a:lnTo>
                <a:lnTo>
                  <a:pt x="150" y="3148"/>
                </a:lnTo>
                <a:lnTo>
                  <a:pt x="154" y="3156"/>
                </a:lnTo>
                <a:lnTo>
                  <a:pt x="154" y="3156"/>
                </a:lnTo>
                <a:lnTo>
                  <a:pt x="5304" y="3156"/>
                </a:lnTo>
                <a:lnTo>
                  <a:pt x="5304" y="3156"/>
                </a:lnTo>
                <a:lnTo>
                  <a:pt x="5302" y="3130"/>
                </a:lnTo>
                <a:lnTo>
                  <a:pt x="5302" y="313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7" name="Title 1"/>
          <p:cNvSpPr>
            <a:spLocks noGrp="1"/>
          </p:cNvSpPr>
          <p:nvPr>
            <p:ph type="ctrTitle" hasCustomPrompt="1"/>
          </p:nvPr>
        </p:nvSpPr>
        <p:spPr>
          <a:xfrm>
            <a:off x="5016499" y="3644152"/>
            <a:ext cx="6899275"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gn="l">
              <a:lnSpc>
                <a:spcPts val="3000"/>
              </a:lnSpc>
              <a:defRPr lang="en-US" sz="2600" b="0" dirty="0">
                <a:solidFill>
                  <a:schemeClr val="bg1"/>
                </a:solidFill>
              </a:defRPr>
            </a:lvl1pPr>
          </a:lstStyle>
          <a:p>
            <a:pPr marL="0" lvl="0"/>
            <a:r>
              <a:rPr lang="en-US"/>
              <a:t>Click to insert title</a:t>
            </a:r>
          </a:p>
        </p:txBody>
      </p:sp>
      <p:sp>
        <p:nvSpPr>
          <p:cNvPr id="8" name="Subtitle 2"/>
          <p:cNvSpPr>
            <a:spLocks noGrp="1"/>
          </p:cNvSpPr>
          <p:nvPr>
            <p:ph type="subTitle" idx="1" hasCustomPrompt="1"/>
          </p:nvPr>
        </p:nvSpPr>
        <p:spPr>
          <a:xfrm>
            <a:off x="5016499" y="5236923"/>
            <a:ext cx="6899275"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grpSp>
        <p:nvGrpSpPr>
          <p:cNvPr id="22" name="Group 14"/>
          <p:cNvGrpSpPr>
            <a:grpSpLocks noChangeAspect="1"/>
          </p:cNvGrpSpPr>
          <p:nvPr userDrawn="1"/>
        </p:nvGrpSpPr>
        <p:grpSpPr>
          <a:xfrm>
            <a:off x="407988" y="695702"/>
            <a:ext cx="5040000" cy="1123653"/>
            <a:chOff x="728663" y="4465638"/>
            <a:chExt cx="5354637" cy="1193800"/>
          </a:xfrm>
        </p:grpSpPr>
        <p:sp>
          <p:nvSpPr>
            <p:cNvPr id="23"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4"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5"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6"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7"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1749621551"/>
      </p:ext>
    </p:extLst>
  </p:cSld>
  <p:clrMapOvr>
    <a:masterClrMapping/>
  </p:clrMapOvr>
  <p:extLst>
    <p:ext uri="{DCECCB84-F9BA-43D5-87BE-67443E8EF086}">
      <p15:sldGuideLst xmlns:p15="http://schemas.microsoft.com/office/powerpoint/2012/main">
        <p15:guide id="1" orient="horz" pos="935">
          <p15:clr>
            <a:srgbClr val="FBAE40"/>
          </p15:clr>
        </p15:guide>
        <p15:guide id="2" pos="257">
          <p15:clr>
            <a:srgbClr val="FBAE40"/>
          </p15:clr>
        </p15:guide>
        <p15:guide id="3" pos="316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Title Slide 4">
    <p:bg>
      <p:bgPr>
        <a:solidFill>
          <a:srgbClr val="E6E7E7"/>
        </a:solidFill>
        <a:effectLst/>
      </p:bgPr>
    </p:bg>
    <p:spTree>
      <p:nvGrpSpPr>
        <p:cNvPr id="1" name=""/>
        <p:cNvGrpSpPr/>
        <p:nvPr/>
      </p:nvGrpSpPr>
      <p:grpSpPr>
        <a:xfrm>
          <a:off x="0" y="0"/>
          <a:ext cx="0" cy="0"/>
          <a:chOff x="0" y="0"/>
          <a:chExt cx="0" cy="0"/>
        </a:xfrm>
      </p:grpSpPr>
      <p:graphicFrame>
        <p:nvGraphicFramePr>
          <p:cNvPr id="14" name="Object 13"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4" name="Object 13"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71" name="Freeform 7"/>
          <p:cNvSpPr>
            <a:spLocks/>
          </p:cNvSpPr>
          <p:nvPr userDrawn="1"/>
        </p:nvSpPr>
        <p:spPr bwMode="auto">
          <a:xfrm>
            <a:off x="5892403" y="1"/>
            <a:ext cx="6327776" cy="5670550"/>
          </a:xfrm>
          <a:custGeom>
            <a:avLst/>
            <a:gdLst/>
            <a:ahLst/>
            <a:cxnLst>
              <a:cxn ang="0">
                <a:pos x="3986" y="2526"/>
              </a:cxn>
              <a:cxn ang="0">
                <a:pos x="3986" y="2512"/>
              </a:cxn>
              <a:cxn ang="0">
                <a:pos x="3986" y="0"/>
              </a:cxn>
              <a:cxn ang="0">
                <a:pos x="648" y="0"/>
              </a:cxn>
              <a:cxn ang="0">
                <a:pos x="682" y="84"/>
              </a:cxn>
              <a:cxn ang="0">
                <a:pos x="698" y="132"/>
              </a:cxn>
              <a:cxn ang="0">
                <a:pos x="724" y="230"/>
              </a:cxn>
              <a:cxn ang="0">
                <a:pos x="738" y="328"/>
              </a:cxn>
              <a:cxn ang="0">
                <a:pos x="744" y="428"/>
              </a:cxn>
              <a:cxn ang="0">
                <a:pos x="744" y="478"/>
              </a:cxn>
              <a:cxn ang="0">
                <a:pos x="734" y="656"/>
              </a:cxn>
              <a:cxn ang="0">
                <a:pos x="710" y="830"/>
              </a:cxn>
              <a:cxn ang="0">
                <a:pos x="674" y="1002"/>
              </a:cxn>
              <a:cxn ang="0">
                <a:pos x="628" y="1172"/>
              </a:cxn>
              <a:cxn ang="0">
                <a:pos x="590" y="1296"/>
              </a:cxn>
              <a:cxn ang="0">
                <a:pos x="504" y="1542"/>
              </a:cxn>
              <a:cxn ang="0">
                <a:pos x="406" y="1782"/>
              </a:cxn>
              <a:cxn ang="0">
                <a:pos x="300" y="2020"/>
              </a:cxn>
              <a:cxn ang="0">
                <a:pos x="244" y="2136"/>
              </a:cxn>
              <a:cxn ang="0">
                <a:pos x="128" y="2366"/>
              </a:cxn>
              <a:cxn ang="0">
                <a:pos x="8" y="2594"/>
              </a:cxn>
              <a:cxn ang="0">
                <a:pos x="0" y="2608"/>
              </a:cxn>
              <a:cxn ang="0">
                <a:pos x="0" y="2612"/>
              </a:cxn>
              <a:cxn ang="0">
                <a:pos x="50" y="2690"/>
              </a:cxn>
              <a:cxn ang="0">
                <a:pos x="100" y="2766"/>
              </a:cxn>
              <a:cxn ang="0">
                <a:pos x="190" y="2890"/>
              </a:cxn>
              <a:cxn ang="0">
                <a:pos x="286" y="3006"/>
              </a:cxn>
              <a:cxn ang="0">
                <a:pos x="390" y="3116"/>
              </a:cxn>
              <a:cxn ang="0">
                <a:pos x="502" y="3220"/>
              </a:cxn>
              <a:cxn ang="0">
                <a:pos x="540" y="3252"/>
              </a:cxn>
              <a:cxn ang="0">
                <a:pos x="622" y="3312"/>
              </a:cxn>
              <a:cxn ang="0">
                <a:pos x="706" y="3366"/>
              </a:cxn>
              <a:cxn ang="0">
                <a:pos x="792" y="3414"/>
              </a:cxn>
              <a:cxn ang="0">
                <a:pos x="882" y="3456"/>
              </a:cxn>
              <a:cxn ang="0">
                <a:pos x="976" y="3492"/>
              </a:cxn>
              <a:cxn ang="0">
                <a:pos x="1070" y="3520"/>
              </a:cxn>
              <a:cxn ang="0">
                <a:pos x="1170" y="3542"/>
              </a:cxn>
              <a:cxn ang="0">
                <a:pos x="1220" y="3552"/>
              </a:cxn>
              <a:cxn ang="0">
                <a:pos x="1374" y="3568"/>
              </a:cxn>
              <a:cxn ang="0">
                <a:pos x="1382" y="3568"/>
              </a:cxn>
              <a:cxn ang="0">
                <a:pos x="1390" y="3572"/>
              </a:cxn>
              <a:cxn ang="0">
                <a:pos x="1420" y="3572"/>
              </a:cxn>
              <a:cxn ang="0">
                <a:pos x="1544" y="3572"/>
              </a:cxn>
              <a:cxn ang="0">
                <a:pos x="1544" y="3568"/>
              </a:cxn>
              <a:cxn ang="0">
                <a:pos x="1610" y="3564"/>
              </a:cxn>
              <a:cxn ang="0">
                <a:pos x="1740" y="3552"/>
              </a:cxn>
              <a:cxn ang="0">
                <a:pos x="1870" y="3530"/>
              </a:cxn>
              <a:cxn ang="0">
                <a:pos x="1998" y="3502"/>
              </a:cxn>
              <a:cxn ang="0">
                <a:pos x="2062" y="3486"/>
              </a:cxn>
              <a:cxn ang="0">
                <a:pos x="2262" y="3426"/>
              </a:cxn>
              <a:cxn ang="0">
                <a:pos x="2458" y="3356"/>
              </a:cxn>
              <a:cxn ang="0">
                <a:pos x="2650" y="3276"/>
              </a:cxn>
              <a:cxn ang="0">
                <a:pos x="2840" y="3190"/>
              </a:cxn>
              <a:cxn ang="0">
                <a:pos x="2966" y="3128"/>
              </a:cxn>
              <a:cxn ang="0">
                <a:pos x="3218" y="2996"/>
              </a:cxn>
              <a:cxn ang="0">
                <a:pos x="3464" y="2858"/>
              </a:cxn>
              <a:cxn ang="0">
                <a:pos x="3708" y="2714"/>
              </a:cxn>
              <a:cxn ang="0">
                <a:pos x="3828" y="2640"/>
              </a:cxn>
              <a:cxn ang="0">
                <a:pos x="3974" y="2548"/>
              </a:cxn>
              <a:cxn ang="0">
                <a:pos x="3984" y="2540"/>
              </a:cxn>
              <a:cxn ang="0">
                <a:pos x="3986" y="2526"/>
              </a:cxn>
            </a:cxnLst>
            <a:rect l="0" t="0" r="r" b="b"/>
            <a:pathLst>
              <a:path w="3986" h="3572">
                <a:moveTo>
                  <a:pt x="3986" y="2526"/>
                </a:moveTo>
                <a:lnTo>
                  <a:pt x="3986" y="2526"/>
                </a:lnTo>
                <a:lnTo>
                  <a:pt x="3986" y="2512"/>
                </a:lnTo>
                <a:lnTo>
                  <a:pt x="3986" y="2512"/>
                </a:lnTo>
                <a:lnTo>
                  <a:pt x="3986" y="0"/>
                </a:lnTo>
                <a:lnTo>
                  <a:pt x="3986" y="0"/>
                </a:lnTo>
                <a:lnTo>
                  <a:pt x="648" y="0"/>
                </a:lnTo>
                <a:lnTo>
                  <a:pt x="648" y="0"/>
                </a:lnTo>
                <a:lnTo>
                  <a:pt x="666" y="42"/>
                </a:lnTo>
                <a:lnTo>
                  <a:pt x="682" y="84"/>
                </a:lnTo>
                <a:lnTo>
                  <a:pt x="682" y="84"/>
                </a:lnTo>
                <a:lnTo>
                  <a:pt x="698" y="132"/>
                </a:lnTo>
                <a:lnTo>
                  <a:pt x="712" y="182"/>
                </a:lnTo>
                <a:lnTo>
                  <a:pt x="724" y="230"/>
                </a:lnTo>
                <a:lnTo>
                  <a:pt x="732" y="280"/>
                </a:lnTo>
                <a:lnTo>
                  <a:pt x="738" y="328"/>
                </a:lnTo>
                <a:lnTo>
                  <a:pt x="742" y="378"/>
                </a:lnTo>
                <a:lnTo>
                  <a:pt x="744" y="428"/>
                </a:lnTo>
                <a:lnTo>
                  <a:pt x="744" y="478"/>
                </a:lnTo>
                <a:lnTo>
                  <a:pt x="744" y="478"/>
                </a:lnTo>
                <a:lnTo>
                  <a:pt x="742" y="568"/>
                </a:lnTo>
                <a:lnTo>
                  <a:pt x="734" y="656"/>
                </a:lnTo>
                <a:lnTo>
                  <a:pt x="724" y="742"/>
                </a:lnTo>
                <a:lnTo>
                  <a:pt x="710" y="830"/>
                </a:lnTo>
                <a:lnTo>
                  <a:pt x="694" y="916"/>
                </a:lnTo>
                <a:lnTo>
                  <a:pt x="674" y="1002"/>
                </a:lnTo>
                <a:lnTo>
                  <a:pt x="652" y="1088"/>
                </a:lnTo>
                <a:lnTo>
                  <a:pt x="628" y="1172"/>
                </a:lnTo>
                <a:lnTo>
                  <a:pt x="628" y="1172"/>
                </a:lnTo>
                <a:lnTo>
                  <a:pt x="590" y="1296"/>
                </a:lnTo>
                <a:lnTo>
                  <a:pt x="548" y="1420"/>
                </a:lnTo>
                <a:lnTo>
                  <a:pt x="504" y="1542"/>
                </a:lnTo>
                <a:lnTo>
                  <a:pt x="456" y="1662"/>
                </a:lnTo>
                <a:lnTo>
                  <a:pt x="406" y="1782"/>
                </a:lnTo>
                <a:lnTo>
                  <a:pt x="354" y="1900"/>
                </a:lnTo>
                <a:lnTo>
                  <a:pt x="300" y="2020"/>
                </a:lnTo>
                <a:lnTo>
                  <a:pt x="244" y="2136"/>
                </a:lnTo>
                <a:lnTo>
                  <a:pt x="244" y="2136"/>
                </a:lnTo>
                <a:lnTo>
                  <a:pt x="188" y="2252"/>
                </a:lnTo>
                <a:lnTo>
                  <a:pt x="128" y="2366"/>
                </a:lnTo>
                <a:lnTo>
                  <a:pt x="70" y="2480"/>
                </a:lnTo>
                <a:lnTo>
                  <a:pt x="8" y="2594"/>
                </a:lnTo>
                <a:lnTo>
                  <a:pt x="8" y="2594"/>
                </a:lnTo>
                <a:lnTo>
                  <a:pt x="0" y="2608"/>
                </a:lnTo>
                <a:lnTo>
                  <a:pt x="0" y="2608"/>
                </a:lnTo>
                <a:lnTo>
                  <a:pt x="0" y="2612"/>
                </a:lnTo>
                <a:lnTo>
                  <a:pt x="0" y="2612"/>
                </a:lnTo>
                <a:lnTo>
                  <a:pt x="50" y="2690"/>
                </a:lnTo>
                <a:lnTo>
                  <a:pt x="100" y="2766"/>
                </a:lnTo>
                <a:lnTo>
                  <a:pt x="100" y="2766"/>
                </a:lnTo>
                <a:lnTo>
                  <a:pt x="144" y="2828"/>
                </a:lnTo>
                <a:lnTo>
                  <a:pt x="190" y="2890"/>
                </a:lnTo>
                <a:lnTo>
                  <a:pt x="236" y="2948"/>
                </a:lnTo>
                <a:lnTo>
                  <a:pt x="286" y="3006"/>
                </a:lnTo>
                <a:lnTo>
                  <a:pt x="336" y="3062"/>
                </a:lnTo>
                <a:lnTo>
                  <a:pt x="390" y="3116"/>
                </a:lnTo>
                <a:lnTo>
                  <a:pt x="444" y="3170"/>
                </a:lnTo>
                <a:lnTo>
                  <a:pt x="502" y="3220"/>
                </a:lnTo>
                <a:lnTo>
                  <a:pt x="502" y="3220"/>
                </a:lnTo>
                <a:lnTo>
                  <a:pt x="540" y="3252"/>
                </a:lnTo>
                <a:lnTo>
                  <a:pt x="582" y="3282"/>
                </a:lnTo>
                <a:lnTo>
                  <a:pt x="622" y="3312"/>
                </a:lnTo>
                <a:lnTo>
                  <a:pt x="664" y="3340"/>
                </a:lnTo>
                <a:lnTo>
                  <a:pt x="706" y="3366"/>
                </a:lnTo>
                <a:lnTo>
                  <a:pt x="750" y="3390"/>
                </a:lnTo>
                <a:lnTo>
                  <a:pt x="792" y="3414"/>
                </a:lnTo>
                <a:lnTo>
                  <a:pt x="838" y="3436"/>
                </a:lnTo>
                <a:lnTo>
                  <a:pt x="882" y="3456"/>
                </a:lnTo>
                <a:lnTo>
                  <a:pt x="928" y="3474"/>
                </a:lnTo>
                <a:lnTo>
                  <a:pt x="976" y="3492"/>
                </a:lnTo>
                <a:lnTo>
                  <a:pt x="1022" y="3506"/>
                </a:lnTo>
                <a:lnTo>
                  <a:pt x="1070" y="3520"/>
                </a:lnTo>
                <a:lnTo>
                  <a:pt x="1120" y="3532"/>
                </a:lnTo>
                <a:lnTo>
                  <a:pt x="1170" y="3542"/>
                </a:lnTo>
                <a:lnTo>
                  <a:pt x="1220" y="3552"/>
                </a:lnTo>
                <a:lnTo>
                  <a:pt x="1220" y="3552"/>
                </a:lnTo>
                <a:lnTo>
                  <a:pt x="1296" y="3562"/>
                </a:lnTo>
                <a:lnTo>
                  <a:pt x="1374" y="3568"/>
                </a:lnTo>
                <a:lnTo>
                  <a:pt x="1374" y="3568"/>
                </a:lnTo>
                <a:lnTo>
                  <a:pt x="1382" y="3568"/>
                </a:lnTo>
                <a:lnTo>
                  <a:pt x="1386" y="3568"/>
                </a:lnTo>
                <a:lnTo>
                  <a:pt x="1390" y="3572"/>
                </a:lnTo>
                <a:lnTo>
                  <a:pt x="1390" y="3572"/>
                </a:lnTo>
                <a:lnTo>
                  <a:pt x="1420" y="3572"/>
                </a:lnTo>
                <a:lnTo>
                  <a:pt x="1420" y="3572"/>
                </a:lnTo>
                <a:lnTo>
                  <a:pt x="1544" y="3572"/>
                </a:lnTo>
                <a:lnTo>
                  <a:pt x="1544" y="3572"/>
                </a:lnTo>
                <a:lnTo>
                  <a:pt x="1544" y="3568"/>
                </a:lnTo>
                <a:lnTo>
                  <a:pt x="1544" y="3568"/>
                </a:lnTo>
                <a:lnTo>
                  <a:pt x="1610" y="3564"/>
                </a:lnTo>
                <a:lnTo>
                  <a:pt x="1676" y="3558"/>
                </a:lnTo>
                <a:lnTo>
                  <a:pt x="1740" y="3552"/>
                </a:lnTo>
                <a:lnTo>
                  <a:pt x="1806" y="3542"/>
                </a:lnTo>
                <a:lnTo>
                  <a:pt x="1870" y="3530"/>
                </a:lnTo>
                <a:lnTo>
                  <a:pt x="1934" y="3516"/>
                </a:lnTo>
                <a:lnTo>
                  <a:pt x="1998" y="3502"/>
                </a:lnTo>
                <a:lnTo>
                  <a:pt x="2062" y="3486"/>
                </a:lnTo>
                <a:lnTo>
                  <a:pt x="2062" y="3486"/>
                </a:lnTo>
                <a:lnTo>
                  <a:pt x="2162" y="3458"/>
                </a:lnTo>
                <a:lnTo>
                  <a:pt x="2262" y="3426"/>
                </a:lnTo>
                <a:lnTo>
                  <a:pt x="2360" y="3392"/>
                </a:lnTo>
                <a:lnTo>
                  <a:pt x="2458" y="3356"/>
                </a:lnTo>
                <a:lnTo>
                  <a:pt x="2554" y="3316"/>
                </a:lnTo>
                <a:lnTo>
                  <a:pt x="2650" y="3276"/>
                </a:lnTo>
                <a:lnTo>
                  <a:pt x="2746" y="3234"/>
                </a:lnTo>
                <a:lnTo>
                  <a:pt x="2840" y="3190"/>
                </a:lnTo>
                <a:lnTo>
                  <a:pt x="2840" y="3190"/>
                </a:lnTo>
                <a:lnTo>
                  <a:pt x="2966" y="3128"/>
                </a:lnTo>
                <a:lnTo>
                  <a:pt x="3092" y="3062"/>
                </a:lnTo>
                <a:lnTo>
                  <a:pt x="3218" y="2996"/>
                </a:lnTo>
                <a:lnTo>
                  <a:pt x="3342" y="2928"/>
                </a:lnTo>
                <a:lnTo>
                  <a:pt x="3464" y="2858"/>
                </a:lnTo>
                <a:lnTo>
                  <a:pt x="3586" y="2786"/>
                </a:lnTo>
                <a:lnTo>
                  <a:pt x="3708" y="2714"/>
                </a:lnTo>
                <a:lnTo>
                  <a:pt x="3828" y="2640"/>
                </a:lnTo>
                <a:lnTo>
                  <a:pt x="3828" y="2640"/>
                </a:lnTo>
                <a:lnTo>
                  <a:pt x="3974" y="2548"/>
                </a:lnTo>
                <a:lnTo>
                  <a:pt x="3974" y="2548"/>
                </a:lnTo>
                <a:lnTo>
                  <a:pt x="3980" y="2544"/>
                </a:lnTo>
                <a:lnTo>
                  <a:pt x="3984" y="2540"/>
                </a:lnTo>
                <a:lnTo>
                  <a:pt x="3986" y="2534"/>
                </a:lnTo>
                <a:lnTo>
                  <a:pt x="3986" y="2526"/>
                </a:lnTo>
                <a:lnTo>
                  <a:pt x="3986" y="2526"/>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7" name="Title 1"/>
          <p:cNvSpPr>
            <a:spLocks noGrp="1"/>
          </p:cNvSpPr>
          <p:nvPr>
            <p:ph type="ctrTitle" hasCustomPrompt="1"/>
          </p:nvPr>
        </p:nvSpPr>
        <p:spPr>
          <a:xfrm>
            <a:off x="407988" y="2339788"/>
            <a:ext cx="4967932"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nSpc>
                <a:spcPts val="3000"/>
              </a:lnSpc>
              <a:defRPr lang="en-US" sz="2600" b="0" dirty="0">
                <a:solidFill>
                  <a:schemeClr val="accent1"/>
                </a:solidFill>
              </a:defRPr>
            </a:lvl1pPr>
          </a:lstStyle>
          <a:p>
            <a:pPr marL="0" lvl="0"/>
            <a:r>
              <a:rPr lang="en-US"/>
              <a:t>Click to insert title</a:t>
            </a:r>
          </a:p>
        </p:txBody>
      </p:sp>
      <p:sp>
        <p:nvSpPr>
          <p:cNvPr id="8" name="Subtitle 2"/>
          <p:cNvSpPr>
            <a:spLocks noGrp="1"/>
          </p:cNvSpPr>
          <p:nvPr>
            <p:ph type="subTitle" idx="1" hasCustomPrompt="1"/>
          </p:nvPr>
        </p:nvSpPr>
        <p:spPr>
          <a:xfrm>
            <a:off x="407988" y="3932559"/>
            <a:ext cx="4967932"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sp>
        <p:nvSpPr>
          <p:cNvPr id="16" name="Picture Placeholder 11">
            <a:extLst>
              <a:ext uri="{FF2B5EF4-FFF2-40B4-BE49-F238E27FC236}">
                <a16:creationId xmlns:a16="http://schemas.microsoft.com/office/drawing/2014/main" id="{D4E263B9-5E55-409E-9F7C-2F67A89E06AA}"/>
              </a:ext>
            </a:extLst>
          </p:cNvPr>
          <p:cNvSpPr>
            <a:spLocks noGrp="1"/>
          </p:cNvSpPr>
          <p:nvPr>
            <p:ph type="pic" sz="quarter" idx="10"/>
          </p:nvPr>
        </p:nvSpPr>
        <p:spPr>
          <a:xfrm>
            <a:off x="5537200" y="-1588"/>
            <a:ext cx="6654800" cy="6859588"/>
          </a:xfrm>
          <a:prstGeom prst="rect">
            <a:avLst/>
          </a:prstGeom>
        </p:spPr>
        <p:txBody>
          <a:bodyPr anchor="ctr"/>
          <a:lstStyle>
            <a:lvl1pPr marL="0" indent="0" algn="ctr">
              <a:buNone/>
              <a:defRPr/>
            </a:lvl1pPr>
          </a:lstStyle>
          <a:p>
            <a:r>
              <a:rPr lang="en-US" err="1"/>
              <a:t>Cliquez</a:t>
            </a:r>
            <a:r>
              <a:rPr lang="en-US"/>
              <a:t> sur </a:t>
            </a:r>
            <a:r>
              <a:rPr lang="en-US" err="1"/>
              <a:t>l'icône</a:t>
            </a:r>
            <a:r>
              <a:rPr lang="en-US"/>
              <a:t> pour </a:t>
            </a:r>
            <a:r>
              <a:rPr lang="en-US" err="1"/>
              <a:t>ajouter</a:t>
            </a:r>
            <a:r>
              <a:rPr lang="en-US"/>
              <a:t> </a:t>
            </a:r>
            <a:r>
              <a:rPr lang="en-US" err="1"/>
              <a:t>une</a:t>
            </a:r>
            <a:r>
              <a:rPr lang="en-US"/>
              <a:t> image</a:t>
            </a:r>
          </a:p>
        </p:txBody>
      </p:sp>
      <p:grpSp>
        <p:nvGrpSpPr>
          <p:cNvPr id="17" name="Group 14"/>
          <p:cNvGrpSpPr>
            <a:grpSpLocks noChangeAspect="1"/>
          </p:cNvGrpSpPr>
          <p:nvPr userDrawn="1"/>
        </p:nvGrpSpPr>
        <p:grpSpPr>
          <a:xfrm>
            <a:off x="407988" y="695702"/>
            <a:ext cx="5040000" cy="1123653"/>
            <a:chOff x="728663" y="4465638"/>
            <a:chExt cx="5354637" cy="1193800"/>
          </a:xfrm>
        </p:grpSpPr>
        <p:sp>
          <p:nvSpPr>
            <p:cNvPr id="18"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0"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1"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2"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2053489804"/>
      </p:ext>
    </p:extLst>
  </p:cSld>
  <p:clrMapOvr>
    <a:masterClrMapping/>
  </p:clrMapOvr>
  <p:extLst>
    <p:ext uri="{DCECCB84-F9BA-43D5-87BE-67443E8EF086}">
      <p15:sldGuideLst xmlns:p15="http://schemas.microsoft.com/office/powerpoint/2012/main">
        <p15:guide id="1" pos="257">
          <p15:clr>
            <a:srgbClr val="FBAE40"/>
          </p15:clr>
        </p15:guide>
        <p15:guide id="2" orient="horz" pos="935">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1_Big Table">
    <p:spTree>
      <p:nvGrpSpPr>
        <p:cNvPr id="1" name=""/>
        <p:cNvGrpSpPr/>
        <p:nvPr/>
      </p:nvGrpSpPr>
      <p:grpSpPr>
        <a:xfrm>
          <a:off x="0" y="0"/>
          <a:ext cx="0" cy="0"/>
          <a:chOff x="0" y="0"/>
          <a:chExt cx="0" cy="0"/>
        </a:xfrm>
      </p:grpSpPr>
      <p:sp>
        <p:nvSpPr>
          <p:cNvPr id="6" name="Retângulo 43">
            <a:extLst>
              <a:ext uri="{FF2B5EF4-FFF2-40B4-BE49-F238E27FC236}">
                <a16:creationId xmlns:a16="http://schemas.microsoft.com/office/drawing/2014/main" id="{25FC8637-25BD-4C09-AF25-56B4243DAB3D}"/>
              </a:ext>
            </a:extLst>
          </p:cNvPr>
          <p:cNvSpPr/>
          <p:nvPr userDrawn="1"/>
        </p:nvSpPr>
        <p:spPr>
          <a:xfrm>
            <a:off x="6924021" y="6592810"/>
            <a:ext cx="242375" cy="215444"/>
          </a:xfrm>
          <a:prstGeom prst="rect">
            <a:avLst/>
          </a:prstGeom>
        </p:spPr>
        <p:txBody>
          <a:bodyPr wrap="none">
            <a:spAutoFit/>
          </a:bodyPr>
          <a:lstStyle/>
          <a:p>
            <a:pPr algn="r"/>
            <a:fld id="{0502E5A9-B53C-401E-A0E0-4A359BB0A9E5}" type="slidenum">
              <a:rPr lang="en-US" sz="800" smtClean="0">
                <a:solidFill>
                  <a:prstClr val="black">
                    <a:lumMod val="50000"/>
                    <a:lumOff val="50000"/>
                  </a:prstClr>
                </a:solidFill>
                <a:cs typeface="Arial" panose="020B0604020202020204" pitchFamily="34" charset="0"/>
              </a:rPr>
              <a:pPr algn="r"/>
              <a:t>‹#›</a:t>
            </a:fld>
            <a:endParaRPr lang="en-US" sz="800">
              <a:solidFill>
                <a:prstClr val="black">
                  <a:lumMod val="50000"/>
                  <a:lumOff val="50000"/>
                </a:prstClr>
              </a:solidFill>
              <a:cs typeface="Arial" panose="020B0604020202020204" pitchFamily="34" charset="0"/>
            </a:endParaRPr>
          </a:p>
        </p:txBody>
      </p:sp>
      <p:cxnSp>
        <p:nvCxnSpPr>
          <p:cNvPr id="7"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8"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a:lnSpc>
                <a:spcPct val="85000"/>
              </a:lnSpc>
              <a:defRPr/>
            </a:pPr>
            <a:r>
              <a:rPr lang="en-US" sz="800" kern="0">
                <a:solidFill>
                  <a:srgbClr val="00458D"/>
                </a:solidFill>
                <a:cs typeface="Arial" panose="020B0604020202020204" pitchFamily="34" charset="0"/>
              </a:rPr>
              <a:t>Presentation Title | Author | Date</a:t>
            </a:r>
          </a:p>
        </p:txBody>
      </p:sp>
      <p:sp>
        <p:nvSpPr>
          <p:cNvPr id="9"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r>
              <a:rPr lang="en-US" sz="800">
                <a:solidFill>
                  <a:srgbClr val="E6E7E7">
                    <a:lumMod val="50000"/>
                  </a:srgbClr>
                </a:solidFill>
                <a:cs typeface="Arial" panose="020B0604020202020204" pitchFamily="34" charset="0"/>
              </a:rPr>
              <a:t>© 2017 Capgemini. All rights reserved.</a:t>
            </a:r>
          </a:p>
        </p:txBody>
      </p:sp>
      <p:sp>
        <p:nvSpPr>
          <p:cNvPr id="10" name="Title Placeholder 1">
            <a:extLst>
              <a:ext uri="{FF2B5EF4-FFF2-40B4-BE49-F238E27FC236}">
                <a16:creationId xmlns:a16="http://schemas.microsoft.com/office/drawing/2014/main" id="{552BBB0A-405D-419D-8BD5-EC8D9F84B795}"/>
              </a:ext>
            </a:extLst>
          </p:cNvPr>
          <p:cNvSpPr>
            <a:spLocks noGrp="1"/>
          </p:cNvSpPr>
          <p:nvPr>
            <p:ph type="title" hasCustomPrompt="1"/>
          </p:nvPr>
        </p:nvSpPr>
        <p:spPr>
          <a:xfrm>
            <a:off x="407988" y="404813"/>
            <a:ext cx="10944596" cy="863600"/>
          </a:xfrm>
          <a:prstGeom prst="rect">
            <a:avLst/>
          </a:prstGeom>
        </p:spPr>
        <p:txBody>
          <a:bodyPr vert="horz" lIns="0" tIns="0" rIns="0" bIns="0" rtlCol="0" anchor="t">
            <a:normAutofit/>
          </a:bodyPr>
          <a:lstStyle>
            <a:lvl1pPr>
              <a:defRPr lang="pt-PT" b="0" i="0" dirty="0">
                <a:latin typeface="+mn-lt"/>
              </a:defRPr>
            </a:lvl1pPr>
          </a:lstStyle>
          <a:p>
            <a:pPr lvl="0">
              <a:lnSpc>
                <a:spcPts val="3000"/>
              </a:lnSpc>
            </a:pPr>
            <a:r>
              <a:rPr lang="en-US"/>
              <a:t>Click to add title</a:t>
            </a:r>
            <a:endParaRPr lang="pt-PT"/>
          </a:p>
        </p:txBody>
      </p:sp>
      <p:pic>
        <p:nvPicPr>
          <p:cNvPr id="12" name="Graphic 4">
            <a:extLst>
              <a:ext uri="{FF2B5EF4-FFF2-40B4-BE49-F238E27FC236}">
                <a16:creationId xmlns:a16="http://schemas.microsoft.com/office/drawing/2014/main" id="{25EEA1D4-3AF7-42D7-AE97-AE404AECFAEB}"/>
              </a:ext>
            </a:extLst>
          </p:cNvPr>
          <p:cNvPicPr>
            <a:picLocks noChangeAspect="1"/>
          </p:cNvPicPr>
          <p:nvPr userDrawn="1"/>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t="-5676"/>
          <a:stretch/>
        </p:blipFill>
        <p:spPr>
          <a:xfrm>
            <a:off x="11635686" y="6398376"/>
            <a:ext cx="424356" cy="459624"/>
          </a:xfrm>
          <a:prstGeom prst="rect">
            <a:avLst/>
          </a:prstGeom>
        </p:spPr>
      </p:pic>
      <p:sp>
        <p:nvSpPr>
          <p:cNvPr id="14" name="Text Placeholder 2"/>
          <p:cNvSpPr>
            <a:spLocks noGrp="1"/>
          </p:cNvSpPr>
          <p:nvPr>
            <p:ph idx="1"/>
          </p:nvPr>
        </p:nvSpPr>
        <p:spPr>
          <a:xfrm>
            <a:off x="413067" y="1412875"/>
            <a:ext cx="11370945" cy="5040313"/>
          </a:xfrm>
          <a:prstGeom prst="rect">
            <a:avLst/>
          </a:prstGeom>
        </p:spPr>
        <p:txBody>
          <a:bodyPr vert="horz" lIns="0" tIns="0" rIns="0" bIns="0" rtlCol="0">
            <a:normAutofit/>
          </a:bodyPr>
          <a:lstStyle>
            <a:lvl1pPr>
              <a:defRPr lang="en-US" dirty="0">
                <a:latin typeface="+mn-lt"/>
                <a:ea typeface="+mn-ea"/>
                <a:cs typeface="+mn-cs"/>
              </a:defRPr>
            </a:lvl1pPr>
            <a:lvl2pPr>
              <a:defRPr lang="en-US" dirty="0">
                <a:latin typeface="+mn-lt"/>
                <a:ea typeface="+mn-ea"/>
                <a:cs typeface="+mn-cs"/>
              </a:defRPr>
            </a:lvl2pPr>
            <a:lvl3pPr>
              <a:defRPr lang="en-US" dirty="0">
                <a:latin typeface="+mn-lt"/>
                <a:ea typeface="+mn-ea"/>
                <a:cs typeface="+mn-cs"/>
              </a:defRPr>
            </a:lvl3pPr>
            <a:lvl4pPr>
              <a:defRPr lang="en-US" dirty="0">
                <a:latin typeface="+mn-lt"/>
                <a:ea typeface="+mn-ea"/>
                <a:cs typeface="+mn-cs"/>
              </a:defRPr>
            </a:lvl4pPr>
          </a:lstStyle>
          <a:p>
            <a:pPr lvl="0">
              <a:lnSpc>
                <a:spcPts val="2200"/>
              </a:lnSpc>
              <a:spcBef>
                <a:spcPts val="0"/>
              </a:spcBef>
              <a:spcAft>
                <a:spcPts val="600"/>
              </a:spcAft>
            </a:pPr>
            <a:r>
              <a:rPr lang="en-US"/>
              <a:t>Edit Master text styles</a:t>
            </a:r>
          </a:p>
          <a:p>
            <a:pPr marL="233363" lvl="1">
              <a:lnSpc>
                <a:spcPts val="2000"/>
              </a:lnSpc>
              <a:spcBef>
                <a:spcPts val="0"/>
              </a:spcBef>
              <a:spcAft>
                <a:spcPts val="600"/>
              </a:spcAft>
              <a:buClr>
                <a:schemeClr val="accent1"/>
              </a:buClr>
              <a:buFont typeface="Wingdings" panose="05000000000000000000" pitchFamily="2" charset="2"/>
              <a:buChar char="§"/>
            </a:pPr>
            <a:r>
              <a:rPr lang="en-US"/>
              <a:t>Second level</a:t>
            </a:r>
          </a:p>
          <a:p>
            <a:pPr marL="457200" lvl="2" indent="-223838">
              <a:lnSpc>
                <a:spcPts val="1600"/>
              </a:lnSpc>
              <a:spcBef>
                <a:spcPts val="0"/>
              </a:spcBef>
              <a:spcAft>
                <a:spcPts val="600"/>
              </a:spcAft>
              <a:buClr>
                <a:schemeClr val="accent1"/>
              </a:buClr>
            </a:pPr>
            <a:r>
              <a:rPr lang="en-US"/>
              <a:t>Third level</a:t>
            </a:r>
          </a:p>
          <a:p>
            <a:pPr marL="690563" lvl="3" indent="-233363">
              <a:spcBef>
                <a:spcPts val="0"/>
              </a:spcBef>
              <a:spcAft>
                <a:spcPts val="600"/>
              </a:spcAft>
              <a:buClr>
                <a:schemeClr val="accent1"/>
              </a:buClr>
              <a:buChar char="‒"/>
            </a:pPr>
            <a:r>
              <a:rPr lang="en-US"/>
              <a:t>Fourth level</a:t>
            </a:r>
          </a:p>
        </p:txBody>
      </p:sp>
    </p:spTree>
    <p:extLst>
      <p:ext uri="{BB962C8B-B14F-4D97-AF65-F5344CB8AC3E}">
        <p14:creationId xmlns:p14="http://schemas.microsoft.com/office/powerpoint/2010/main" val="99486125"/>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5" name="Object 4"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nvPr>
        </p:nvSpPr>
        <p:spPr/>
        <p:txBody>
          <a:bodyPr/>
          <a:lstStyle/>
          <a:p>
            <a:r>
              <a:rPr lang="en-US" err="1"/>
              <a:t>Modifiez</a:t>
            </a:r>
            <a:r>
              <a:rPr lang="en-US"/>
              <a:t> le style du </a:t>
            </a:r>
            <a:r>
              <a:rPr lang="en-US" err="1"/>
              <a:t>titre</a:t>
            </a:r>
            <a:endParaRPr lang="en-US"/>
          </a:p>
        </p:txBody>
      </p:sp>
    </p:spTree>
    <p:extLst>
      <p:ext uri="{BB962C8B-B14F-4D97-AF65-F5344CB8AC3E}">
        <p14:creationId xmlns:p14="http://schemas.microsoft.com/office/powerpoint/2010/main" val="302943712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hasCustomPrompt="1"/>
          </p:nvPr>
        </p:nvSpPr>
        <p:spPr>
          <a:xfrm>
            <a:off x="407987" y="2010606"/>
            <a:ext cx="5543551" cy="4442581"/>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1" name="Text Placeholder 7">
            <a:extLst>
              <a:ext uri="{FF2B5EF4-FFF2-40B4-BE49-F238E27FC236}">
                <a16:creationId xmlns:a16="http://schemas.microsoft.com/office/drawing/2014/main" id="{4F279807-494A-45DD-A5C6-24F625316B92}"/>
              </a:ext>
            </a:extLst>
          </p:cNvPr>
          <p:cNvSpPr>
            <a:spLocks noGrp="1"/>
          </p:cNvSpPr>
          <p:nvPr>
            <p:ph type="body" sz="quarter" idx="11" hasCustomPrompt="1"/>
          </p:nvPr>
        </p:nvSpPr>
        <p:spPr>
          <a:xfrm>
            <a:off x="6240465" y="2010606"/>
            <a:ext cx="5516444" cy="4441372"/>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407987" y="1420990"/>
            <a:ext cx="5543551"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240465" y="1420990"/>
            <a:ext cx="5516444"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9" name="Title Placeholder 1">
            <a:extLst>
              <a:ext uri="{FF2B5EF4-FFF2-40B4-BE49-F238E27FC236}">
                <a16:creationId xmlns:a16="http://schemas.microsoft.com/office/drawing/2014/main" id="{6733E381-C11A-4F10-88ED-DDEA4B9167E2}"/>
              </a:ext>
            </a:extLst>
          </p:cNvPr>
          <p:cNvSpPr>
            <a:spLocks noGrp="1"/>
          </p:cNvSpPr>
          <p:nvPr>
            <p:ph type="title" hasCustomPrompt="1"/>
          </p:nvPr>
        </p:nvSpPr>
        <p:spPr>
          <a:xfrm>
            <a:off x="407988" y="404813"/>
            <a:ext cx="10944596" cy="865054"/>
          </a:xfrm>
          <a:prstGeom prst="rect">
            <a:avLst/>
          </a:prstGeom>
        </p:spPr>
        <p:txBody>
          <a:bodyPr vert="horz" lIns="0" tIns="0" rIns="0" bIns="0" rtlCol="0" anchor="t">
            <a:normAutofit/>
          </a:bodyPr>
          <a:lstStyle>
            <a:lvl1pPr>
              <a:defRPr lang="pt-PT" dirty="0">
                <a:solidFill>
                  <a:schemeClr val="tx2"/>
                </a:solidFill>
              </a:defRPr>
            </a:lvl1pPr>
          </a:lstStyle>
          <a:p>
            <a:pPr lvl="0">
              <a:lnSpc>
                <a:spcPts val="3000"/>
              </a:lnSpc>
            </a:pPr>
            <a:r>
              <a:rPr lang="en-US"/>
              <a:t>Click to insert title</a:t>
            </a:r>
            <a:endParaRPr lang="pt-PT"/>
          </a:p>
        </p:txBody>
      </p:sp>
      <p:sp>
        <p:nvSpPr>
          <p:cNvPr id="16" name="Retângulo 43">
            <a:extLst>
              <a:ext uri="{FF2B5EF4-FFF2-40B4-BE49-F238E27FC236}">
                <a16:creationId xmlns:a16="http://schemas.microsoft.com/office/drawing/2014/main" id="{25FC8637-25BD-4C09-AF25-56B4243DAB3D}"/>
              </a:ext>
            </a:extLst>
          </p:cNvPr>
          <p:cNvSpPr/>
          <p:nvPr userDrawn="1"/>
        </p:nvSpPr>
        <p:spPr>
          <a:xfrm>
            <a:off x="11784013" y="6555758"/>
            <a:ext cx="242375" cy="215444"/>
          </a:xfrm>
          <a:prstGeom prst="rect">
            <a:avLst/>
          </a:prstGeom>
        </p:spPr>
        <p:txBody>
          <a:bodyPr wrap="none">
            <a:spAutoFit/>
          </a:bodyPr>
          <a:lstStyle/>
          <a:p>
            <a:pPr algn="r"/>
            <a:fld id="{0502E5A9-B53C-401E-A0E0-4A359BB0A9E5}" type="slidenum">
              <a:rPr lang="en-US" sz="800" smtClean="0">
                <a:solidFill>
                  <a:prstClr val="black">
                    <a:lumMod val="50000"/>
                    <a:lumOff val="50000"/>
                  </a:prstClr>
                </a:solidFill>
                <a:cs typeface="Arial" panose="020B0604020202020204" pitchFamily="34" charset="0"/>
              </a:rPr>
              <a:t>‹#›</a:t>
            </a:fld>
            <a:endParaRPr lang="en-US" sz="800">
              <a:solidFill>
                <a:prstClr val="black">
                  <a:lumMod val="50000"/>
                  <a:lumOff val="50000"/>
                </a:prstClr>
              </a:solidFill>
              <a:cs typeface="Arial" panose="020B0604020202020204" pitchFamily="34" charset="0"/>
            </a:endParaRPr>
          </a:p>
        </p:txBody>
      </p:sp>
      <p:cxnSp>
        <p:nvCxnSpPr>
          <p:cNvPr id="20"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21"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lvl="0" algn="l" defTabSz="914400">
              <a:lnSpc>
                <a:spcPct val="85000"/>
              </a:lnSpc>
              <a:defRPr/>
            </a:pPr>
            <a:r>
              <a:rPr lang="en-US" sz="800" kern="0">
                <a:solidFill>
                  <a:srgbClr val="00458D"/>
                </a:solidFill>
                <a:latin typeface="+mj-lt"/>
                <a:cs typeface="Arial" panose="020B0604020202020204" pitchFamily="34" charset="0"/>
              </a:rPr>
              <a:t>Presentation Title | Author | Date</a:t>
            </a:r>
          </a:p>
        </p:txBody>
      </p:sp>
      <p:sp>
        <p:nvSpPr>
          <p:cNvPr id="22"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pPr algn="l"/>
            <a:r>
              <a:rPr lang="en-US" sz="800">
                <a:solidFill>
                  <a:schemeClr val="bg2">
                    <a:lumMod val="50000"/>
                  </a:schemeClr>
                </a:solidFill>
                <a:cs typeface="Arial" panose="020B0604020202020204" pitchFamily="34" charset="0"/>
              </a:rPr>
              <a:t>© 2017 Capgemini. All rights reserved.</a:t>
            </a:r>
          </a:p>
        </p:txBody>
      </p:sp>
    </p:spTree>
    <p:extLst>
      <p:ext uri="{BB962C8B-B14F-4D97-AF65-F5344CB8AC3E}">
        <p14:creationId xmlns:p14="http://schemas.microsoft.com/office/powerpoint/2010/main" val="158698526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Closing1">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5"/>
          <p:cNvSpPr>
            <a:spLocks/>
          </p:cNvSpPr>
          <p:nvPr userDrawn="1"/>
        </p:nvSpPr>
        <p:spPr bwMode="auto">
          <a:xfrm>
            <a:off x="-1243012" y="-2656920"/>
            <a:ext cx="10768012" cy="11443496"/>
          </a:xfrm>
          <a:custGeom>
            <a:avLst/>
            <a:gdLst>
              <a:gd name="T0" fmla="*/ 854 w 3407"/>
              <a:gd name="T1" fmla="*/ 0 h 3621"/>
              <a:gd name="T2" fmla="*/ 0 w 3407"/>
              <a:gd name="T3" fmla="*/ 0 h 3621"/>
              <a:gd name="T4" fmla="*/ 0 w 3407"/>
              <a:gd name="T5" fmla="*/ 3621 h 3621"/>
              <a:gd name="T6" fmla="*/ 3407 w 3407"/>
              <a:gd name="T7" fmla="*/ 3621 h 3621"/>
              <a:gd name="T8" fmla="*/ 3407 w 3407"/>
              <a:gd name="T9" fmla="*/ 3617 h 3621"/>
              <a:gd name="T10" fmla="*/ 179 w 3407"/>
              <a:gd name="T11" fmla="*/ 3617 h 3621"/>
              <a:gd name="T12" fmla="*/ 2096 w 3407"/>
              <a:gd name="T13" fmla="*/ 1606 h 3621"/>
              <a:gd name="T14" fmla="*/ 854 w 3407"/>
              <a:gd name="T15" fmla="*/ 0 h 36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07" h="3621">
                <a:moveTo>
                  <a:pt x="854" y="0"/>
                </a:moveTo>
                <a:cubicBezTo>
                  <a:pt x="0" y="0"/>
                  <a:pt x="0" y="0"/>
                  <a:pt x="0" y="0"/>
                </a:cubicBezTo>
                <a:cubicBezTo>
                  <a:pt x="0" y="3621"/>
                  <a:pt x="0" y="3621"/>
                  <a:pt x="0" y="3621"/>
                </a:cubicBezTo>
                <a:cubicBezTo>
                  <a:pt x="3407" y="3621"/>
                  <a:pt x="3407" y="3621"/>
                  <a:pt x="3407" y="3621"/>
                </a:cubicBezTo>
                <a:cubicBezTo>
                  <a:pt x="3407" y="3617"/>
                  <a:pt x="3407" y="3617"/>
                  <a:pt x="3407" y="3617"/>
                </a:cubicBezTo>
                <a:cubicBezTo>
                  <a:pt x="179" y="3617"/>
                  <a:pt x="179" y="3617"/>
                  <a:pt x="179" y="3617"/>
                </a:cubicBezTo>
                <a:cubicBezTo>
                  <a:pt x="2551" y="2996"/>
                  <a:pt x="2421" y="1729"/>
                  <a:pt x="2096" y="1606"/>
                </a:cubicBezTo>
                <a:cubicBezTo>
                  <a:pt x="2281" y="2130"/>
                  <a:pt x="865" y="1627"/>
                  <a:pt x="854" y="0"/>
                </a:cubicBezTo>
              </a:path>
            </a:pathLst>
          </a:custGeom>
          <a:solidFill>
            <a:srgbClr val="300B4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nvGrpSpPr>
          <p:cNvPr id="9" name="Group 8"/>
          <p:cNvGrpSpPr/>
          <p:nvPr userDrawn="1"/>
        </p:nvGrpSpPr>
        <p:grpSpPr>
          <a:xfrm>
            <a:off x="4979035" y="2404110"/>
            <a:ext cx="735013" cy="682321"/>
            <a:chOff x="5662614" y="3032124"/>
            <a:chExt cx="863600" cy="801689"/>
          </a:xfrm>
        </p:grpSpPr>
        <p:sp>
          <p:nvSpPr>
            <p:cNvPr id="10" name="Freeform 9"/>
            <p:cNvSpPr>
              <a:spLocks/>
            </p:cNvSpPr>
            <p:nvPr/>
          </p:nvSpPr>
          <p:spPr bwMode="auto">
            <a:xfrm>
              <a:off x="5959476" y="3368675"/>
              <a:ext cx="566738" cy="465138"/>
            </a:xfrm>
            <a:custGeom>
              <a:avLst/>
              <a:gdLst>
                <a:gd name="T0" fmla="*/ 99 w 149"/>
                <a:gd name="T1" fmla="*/ 85 h 122"/>
                <a:gd name="T2" fmla="*/ 149 w 149"/>
                <a:gd name="T3" fmla="*/ 34 h 122"/>
                <a:gd name="T4" fmla="*/ 112 w 149"/>
                <a:gd name="T5" fmla="*/ 0 h 122"/>
                <a:gd name="T6" fmla="*/ 39 w 149"/>
                <a:gd name="T7" fmla="*/ 78 h 122"/>
                <a:gd name="T8" fmla="*/ 0 w 149"/>
                <a:gd name="T9" fmla="*/ 114 h 122"/>
                <a:gd name="T10" fmla="*/ 29 w 149"/>
                <a:gd name="T11" fmla="*/ 122 h 122"/>
                <a:gd name="T12" fmla="*/ 99 w 149"/>
                <a:gd name="T13" fmla="*/ 99 h 122"/>
                <a:gd name="T14" fmla="*/ 64 w 149"/>
                <a:gd name="T15" fmla="*/ 68 h 122"/>
                <a:gd name="T16" fmla="*/ 99 w 149"/>
                <a:gd name="T17" fmla="*/ 8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9" h="122">
                  <a:moveTo>
                    <a:pt x="99" y="85"/>
                  </a:moveTo>
                  <a:cubicBezTo>
                    <a:pt x="127" y="85"/>
                    <a:pt x="149" y="62"/>
                    <a:pt x="149" y="34"/>
                  </a:cubicBezTo>
                  <a:cubicBezTo>
                    <a:pt x="147" y="22"/>
                    <a:pt x="143" y="0"/>
                    <a:pt x="112" y="0"/>
                  </a:cubicBezTo>
                  <a:cubicBezTo>
                    <a:pt x="78" y="0"/>
                    <a:pt x="67" y="48"/>
                    <a:pt x="39" y="78"/>
                  </a:cubicBezTo>
                  <a:cubicBezTo>
                    <a:pt x="37" y="96"/>
                    <a:pt x="20" y="111"/>
                    <a:pt x="0" y="114"/>
                  </a:cubicBezTo>
                  <a:cubicBezTo>
                    <a:pt x="5" y="119"/>
                    <a:pt x="16" y="122"/>
                    <a:pt x="29" y="122"/>
                  </a:cubicBezTo>
                  <a:cubicBezTo>
                    <a:pt x="54" y="122"/>
                    <a:pt x="84" y="115"/>
                    <a:pt x="99" y="99"/>
                  </a:cubicBezTo>
                  <a:cubicBezTo>
                    <a:pt x="78" y="100"/>
                    <a:pt x="65" y="86"/>
                    <a:pt x="64" y="68"/>
                  </a:cubicBezTo>
                  <a:cubicBezTo>
                    <a:pt x="74" y="80"/>
                    <a:pt x="85" y="85"/>
                    <a:pt x="99" y="85"/>
                  </a:cubicBezTo>
                </a:path>
              </a:pathLst>
            </a:custGeom>
            <a:solidFill>
              <a:srgbClr val="00B0D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12"/>
            <p:cNvSpPr>
              <a:spLocks/>
            </p:cNvSpPr>
            <p:nvPr/>
          </p:nvSpPr>
          <p:spPr bwMode="auto">
            <a:xfrm>
              <a:off x="5662614" y="3032124"/>
              <a:ext cx="863600" cy="736599"/>
            </a:xfrm>
            <a:custGeom>
              <a:avLst/>
              <a:gdLst>
                <a:gd name="T0" fmla="*/ 227 w 227"/>
                <a:gd name="T1" fmla="*/ 120 h 193"/>
                <a:gd name="T2" fmla="*/ 188 w 227"/>
                <a:gd name="T3" fmla="*/ 40 h 193"/>
                <a:gd name="T4" fmla="*/ 127 w 227"/>
                <a:gd name="T5" fmla="*/ 3 h 193"/>
                <a:gd name="T6" fmla="*/ 122 w 227"/>
                <a:gd name="T7" fmla="*/ 0 h 193"/>
                <a:gd name="T8" fmla="*/ 122 w 227"/>
                <a:gd name="T9" fmla="*/ 0 h 193"/>
                <a:gd name="T10" fmla="*/ 0 w 227"/>
                <a:gd name="T11" fmla="*/ 125 h 193"/>
                <a:gd name="T12" fmla="*/ 42 w 227"/>
                <a:gd name="T13" fmla="*/ 187 h 193"/>
                <a:gd name="T14" fmla="*/ 85 w 227"/>
                <a:gd name="T15" fmla="*/ 188 h 193"/>
                <a:gd name="T16" fmla="*/ 117 w 227"/>
                <a:gd name="T17" fmla="*/ 166 h 193"/>
                <a:gd name="T18" fmla="*/ 190 w 227"/>
                <a:gd name="T19" fmla="*/ 88 h 193"/>
                <a:gd name="T20" fmla="*/ 227 w 227"/>
                <a:gd name="T21" fmla="*/ 122 h 193"/>
                <a:gd name="T22" fmla="*/ 227 w 227"/>
                <a:gd name="T23" fmla="*/ 12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7" h="193">
                  <a:moveTo>
                    <a:pt x="227" y="120"/>
                  </a:moveTo>
                  <a:cubicBezTo>
                    <a:pt x="226" y="89"/>
                    <a:pt x="211" y="62"/>
                    <a:pt x="188" y="40"/>
                  </a:cubicBezTo>
                  <a:cubicBezTo>
                    <a:pt x="170" y="24"/>
                    <a:pt x="149" y="12"/>
                    <a:pt x="127" y="3"/>
                  </a:cubicBezTo>
                  <a:cubicBezTo>
                    <a:pt x="125" y="2"/>
                    <a:pt x="123" y="1"/>
                    <a:pt x="122" y="0"/>
                  </a:cubicBezTo>
                  <a:cubicBezTo>
                    <a:pt x="122" y="0"/>
                    <a:pt x="122" y="0"/>
                    <a:pt x="122" y="0"/>
                  </a:cubicBezTo>
                  <a:cubicBezTo>
                    <a:pt x="94" y="33"/>
                    <a:pt x="0" y="57"/>
                    <a:pt x="0" y="125"/>
                  </a:cubicBezTo>
                  <a:cubicBezTo>
                    <a:pt x="0" y="152"/>
                    <a:pt x="17" y="177"/>
                    <a:pt x="42" y="187"/>
                  </a:cubicBezTo>
                  <a:cubicBezTo>
                    <a:pt x="56" y="193"/>
                    <a:pt x="71" y="193"/>
                    <a:pt x="85" y="188"/>
                  </a:cubicBezTo>
                  <a:cubicBezTo>
                    <a:pt x="98" y="184"/>
                    <a:pt x="108" y="176"/>
                    <a:pt x="117" y="166"/>
                  </a:cubicBezTo>
                  <a:cubicBezTo>
                    <a:pt x="145" y="136"/>
                    <a:pt x="156" y="88"/>
                    <a:pt x="190" y="88"/>
                  </a:cubicBezTo>
                  <a:cubicBezTo>
                    <a:pt x="221" y="88"/>
                    <a:pt x="225" y="110"/>
                    <a:pt x="227" y="122"/>
                  </a:cubicBezTo>
                  <a:cubicBezTo>
                    <a:pt x="227" y="122"/>
                    <a:pt x="227" y="121"/>
                    <a:pt x="227" y="120"/>
                  </a:cubicBezTo>
                </a:path>
              </a:pathLst>
            </a:custGeom>
            <a:solidFill>
              <a:srgbClr val="0075B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4" name="Rectangle 13"/>
          <p:cNvSpPr/>
          <p:nvPr userDrawn="1"/>
        </p:nvSpPr>
        <p:spPr>
          <a:xfrm>
            <a:off x="6536184" y="2886346"/>
            <a:ext cx="5125720" cy="7703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just">
              <a:lnSpc>
                <a:spcPts val="1200"/>
              </a:lnSpc>
            </a:pPr>
            <a:r>
              <a:rPr lang="en-US" sz="900">
                <a:solidFill>
                  <a:schemeClr val="tx1"/>
                </a:solidFill>
              </a:rPr>
              <a:t>With more than 190,000 people, Capgemini is present in over 40 countries and celebrates its 50th Anniversary year in 2017. A global leader in consulting, technology and outsourcing services, the Group reported 2016 global revenues of EUR 12.5 billion. Together with its clients, Capgemini creates and delivers business, technology and digital solutions that fit their needs, enabling them to achieve innovation and competitiveness. A deeply multicultural organization, Capgemini has developed its own way of working, </a:t>
            </a:r>
            <a:r>
              <a:rPr lang="en-US" sz="900">
                <a:solidFill>
                  <a:schemeClr val="accent1"/>
                </a:solidFill>
              </a:rPr>
              <a:t>the Collaborative Business Experience™</a:t>
            </a:r>
            <a:r>
              <a:rPr lang="en-US" sz="900">
                <a:solidFill>
                  <a:schemeClr val="tx1"/>
                </a:solidFill>
              </a:rPr>
              <a:t>, and draws on </a:t>
            </a:r>
            <a:r>
              <a:rPr lang="en-US" sz="900">
                <a:solidFill>
                  <a:schemeClr val="accent1"/>
                </a:solidFill>
              </a:rPr>
              <a:t>Rightshore</a:t>
            </a:r>
            <a:r>
              <a:rPr lang="en-US" sz="900" baseline="30000">
                <a:solidFill>
                  <a:schemeClr val="accent1"/>
                </a:solidFill>
              </a:rPr>
              <a:t>®</a:t>
            </a:r>
            <a:r>
              <a:rPr lang="en-US" sz="900">
                <a:solidFill>
                  <a:schemeClr val="tx1"/>
                </a:solidFill>
              </a:rPr>
              <a:t>, its worldwide delivery model.</a:t>
            </a:r>
          </a:p>
        </p:txBody>
      </p:sp>
      <p:sp>
        <p:nvSpPr>
          <p:cNvPr id="15" name="Rectangle 14"/>
          <p:cNvSpPr/>
          <p:nvPr userDrawn="1"/>
        </p:nvSpPr>
        <p:spPr>
          <a:xfrm>
            <a:off x="6536184" y="2507082"/>
            <a:ext cx="2219960" cy="2296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p>
            <a:pPr>
              <a:lnSpc>
                <a:spcPts val="2000"/>
              </a:lnSpc>
            </a:pPr>
            <a:r>
              <a:rPr lang="en-US" sz="1400">
                <a:solidFill>
                  <a:schemeClr val="accent1"/>
                </a:solidFill>
              </a:rPr>
              <a:t>About Capgemini</a:t>
            </a:r>
          </a:p>
        </p:txBody>
      </p:sp>
      <p:sp>
        <p:nvSpPr>
          <p:cNvPr id="16" name="Rectangle 15"/>
          <p:cNvSpPr/>
          <p:nvPr userDrawn="1"/>
        </p:nvSpPr>
        <p:spPr>
          <a:xfrm>
            <a:off x="6536184" y="4235826"/>
            <a:ext cx="2057400"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just">
              <a:lnSpc>
                <a:spcPts val="1200"/>
              </a:lnSpc>
              <a:spcAft>
                <a:spcPts val="600"/>
              </a:spcAft>
            </a:pPr>
            <a:r>
              <a:rPr lang="en-US" sz="900">
                <a:solidFill>
                  <a:schemeClr val="tx1"/>
                </a:solidFill>
              </a:rPr>
              <a:t>Learn more about us at</a:t>
            </a:r>
          </a:p>
          <a:p>
            <a:pPr algn="just">
              <a:lnSpc>
                <a:spcPts val="1200"/>
              </a:lnSpc>
            </a:pPr>
            <a:r>
              <a:rPr lang="en-US" sz="1400">
                <a:solidFill>
                  <a:schemeClr val="accent2"/>
                </a:solidFill>
              </a:rPr>
              <a:t>www.capgemini.com</a:t>
            </a:r>
          </a:p>
        </p:txBody>
      </p:sp>
      <p:pic>
        <p:nvPicPr>
          <p:cNvPr id="17" name="Picture 2" descr="D:\My Work\Template\Icons\Social Media\LinkedIN.png">
            <a:hlinkClick r:id="rId2"/>
          </p:cNvPr>
          <p:cNvPicPr>
            <a:picLocks noChangeAspect="1" noChangeArrowheads="1"/>
          </p:cNvPicPr>
          <p:nvPr userDrawn="1"/>
        </p:nvPicPr>
        <p:blipFill>
          <a:blip r:embed="rId3" cstate="print"/>
          <a:srcRect/>
          <a:stretch>
            <a:fillRect/>
          </a:stretch>
        </p:blipFill>
        <p:spPr bwMode="auto">
          <a:xfrm>
            <a:off x="798415" y="3979258"/>
            <a:ext cx="333195" cy="333195"/>
          </a:xfrm>
          <a:prstGeom prst="rect">
            <a:avLst/>
          </a:prstGeom>
          <a:noFill/>
        </p:spPr>
      </p:pic>
      <p:pic>
        <p:nvPicPr>
          <p:cNvPr id="18" name="Picture 4" descr="D:\My Work\Template\Icons\Social Media\SlideShare.png">
            <a:hlinkClick r:id="rId4"/>
          </p:cNvPr>
          <p:cNvPicPr>
            <a:picLocks noChangeAspect="1" noChangeArrowheads="1"/>
          </p:cNvPicPr>
          <p:nvPr userDrawn="1"/>
        </p:nvPicPr>
        <p:blipFill>
          <a:blip r:embed="rId5" cstate="print"/>
          <a:srcRect/>
          <a:stretch>
            <a:fillRect/>
          </a:stretch>
        </p:blipFill>
        <p:spPr bwMode="auto">
          <a:xfrm>
            <a:off x="1181792" y="3979258"/>
            <a:ext cx="333195" cy="333195"/>
          </a:xfrm>
          <a:prstGeom prst="rect">
            <a:avLst/>
          </a:prstGeom>
          <a:noFill/>
        </p:spPr>
      </p:pic>
      <p:pic>
        <p:nvPicPr>
          <p:cNvPr id="19" name="Picture 5" descr="D:\My Work\Template\Icons\Social Media\Twitter.png">
            <a:hlinkClick r:id="rId6"/>
          </p:cNvPr>
          <p:cNvPicPr>
            <a:picLocks noChangeAspect="1" noChangeArrowheads="1"/>
          </p:cNvPicPr>
          <p:nvPr userDrawn="1"/>
        </p:nvPicPr>
        <p:blipFill>
          <a:blip r:embed="rId7" cstate="print"/>
          <a:srcRect/>
          <a:stretch>
            <a:fillRect/>
          </a:stretch>
        </p:blipFill>
        <p:spPr bwMode="auto">
          <a:xfrm>
            <a:off x="1565169" y="3979258"/>
            <a:ext cx="333195" cy="333195"/>
          </a:xfrm>
          <a:prstGeom prst="rect">
            <a:avLst/>
          </a:prstGeom>
          <a:noFill/>
        </p:spPr>
      </p:pic>
      <p:pic>
        <p:nvPicPr>
          <p:cNvPr id="20" name="Picture 6" descr="D:\My Work\Template\Icons\Social Media\YouTube.png">
            <a:hlinkClick r:id="rId8"/>
          </p:cNvPr>
          <p:cNvPicPr>
            <a:picLocks noChangeAspect="1" noChangeArrowheads="1"/>
          </p:cNvPicPr>
          <p:nvPr userDrawn="1"/>
        </p:nvPicPr>
        <p:blipFill>
          <a:blip r:embed="rId9" cstate="print"/>
          <a:srcRect/>
          <a:stretch>
            <a:fillRect/>
          </a:stretch>
        </p:blipFill>
        <p:spPr bwMode="auto">
          <a:xfrm>
            <a:off x="1948545" y="3979258"/>
            <a:ext cx="333195" cy="333195"/>
          </a:xfrm>
          <a:prstGeom prst="rect">
            <a:avLst/>
          </a:prstGeom>
          <a:noFill/>
        </p:spPr>
      </p:pic>
      <p:pic>
        <p:nvPicPr>
          <p:cNvPr id="21" name="Picture 7" descr="D:\My Work\Template\Icons\Social Media\Facebook.png">
            <a:hlinkClick r:id="rId10"/>
          </p:cNvPr>
          <p:cNvPicPr>
            <a:picLocks noChangeAspect="1" noChangeArrowheads="1"/>
          </p:cNvPicPr>
          <p:nvPr userDrawn="1"/>
        </p:nvPicPr>
        <p:blipFill>
          <a:blip r:embed="rId11" cstate="print"/>
          <a:srcRect/>
          <a:stretch>
            <a:fillRect/>
          </a:stretch>
        </p:blipFill>
        <p:spPr bwMode="auto">
          <a:xfrm>
            <a:off x="415038" y="3979258"/>
            <a:ext cx="333195" cy="333195"/>
          </a:xfrm>
          <a:prstGeom prst="rect">
            <a:avLst/>
          </a:prstGeom>
          <a:noFill/>
        </p:spPr>
      </p:pic>
      <p:sp>
        <p:nvSpPr>
          <p:cNvPr id="23" name="Rectangle 22"/>
          <p:cNvSpPr/>
          <p:nvPr userDrawn="1"/>
        </p:nvSpPr>
        <p:spPr>
          <a:xfrm>
            <a:off x="415038" y="5640913"/>
            <a:ext cx="4198620" cy="569387"/>
          </a:xfrm>
          <a:prstGeom prst="rect">
            <a:avLst/>
          </a:prstGeom>
        </p:spPr>
        <p:txBody>
          <a:bodyPr wrap="square" lIns="0" tIns="0" rIns="0" bIns="0" anchor="b" anchorCtr="0">
            <a:spAutoFit/>
          </a:bodyPr>
          <a:lstStyle/>
          <a:p>
            <a:pPr>
              <a:spcAft>
                <a:spcPts val="600"/>
              </a:spcAft>
            </a:pPr>
            <a:r>
              <a:rPr lang="en-US" sz="800" noProof="0">
                <a:solidFill>
                  <a:schemeClr val="bg1"/>
                </a:solidFill>
                <a:latin typeface="+mn-lt"/>
                <a:cs typeface="Arial"/>
              </a:rPr>
              <a:t>This message contains information that may be privileged or confidential and is the property of the Capgemini Group.</a:t>
            </a:r>
            <a:br>
              <a:rPr lang="en-US" sz="800" noProof="0">
                <a:solidFill>
                  <a:schemeClr val="bg1"/>
                </a:solidFill>
                <a:latin typeface="+mn-lt"/>
                <a:cs typeface="Arial"/>
              </a:rPr>
            </a:br>
            <a:r>
              <a:rPr lang="en-US" sz="800" noProof="0">
                <a:solidFill>
                  <a:schemeClr val="bg1"/>
                </a:solidFill>
                <a:latin typeface="Arial"/>
                <a:cs typeface="Arial"/>
              </a:rPr>
              <a:t>Copyright © 2018 Capgemini. All rights reserved.</a:t>
            </a:r>
          </a:p>
          <a:p>
            <a:pPr marL="0" marR="0" indent="0" defTabSz="957756" rtl="0" eaLnBrk="1" fontAlgn="auto" latinLnBrk="0" hangingPunct="1">
              <a:lnSpc>
                <a:spcPct val="100000"/>
              </a:lnSpc>
              <a:spcBef>
                <a:spcPts val="0"/>
              </a:spcBef>
              <a:spcAft>
                <a:spcPts val="600"/>
              </a:spcAft>
              <a:buClrTx/>
              <a:buSzTx/>
              <a:buFontTx/>
              <a:buNone/>
              <a:tabLst/>
              <a:defRPr/>
            </a:pPr>
            <a:r>
              <a:rPr lang="en-US" sz="800" noProof="0">
                <a:solidFill>
                  <a:schemeClr val="bg1"/>
                </a:solidFill>
                <a:latin typeface="Arial"/>
                <a:cs typeface="Arial"/>
              </a:rPr>
              <a:t>Rightshore</a:t>
            </a:r>
            <a:r>
              <a:rPr lang="en-US" sz="800" baseline="30000" noProof="0">
                <a:solidFill>
                  <a:schemeClr val="bg1"/>
                </a:solidFill>
                <a:latin typeface="Arial"/>
                <a:cs typeface="Arial"/>
              </a:rPr>
              <a:t>®</a:t>
            </a:r>
            <a:r>
              <a:rPr lang="en-US" sz="800" noProof="0">
                <a:solidFill>
                  <a:schemeClr val="bg1"/>
                </a:solidFill>
                <a:latin typeface="Arial"/>
                <a:cs typeface="Arial"/>
              </a:rPr>
              <a:t> is a trademark belonging to Capgemini.</a:t>
            </a:r>
          </a:p>
        </p:txBody>
      </p:sp>
      <p:sp>
        <p:nvSpPr>
          <p:cNvPr id="24" name="Rectangle 23"/>
          <p:cNvSpPr/>
          <p:nvPr userDrawn="1"/>
        </p:nvSpPr>
        <p:spPr>
          <a:xfrm>
            <a:off x="6536184" y="5933302"/>
            <a:ext cx="5219699" cy="276999"/>
          </a:xfrm>
          <a:prstGeom prst="rect">
            <a:avLst/>
          </a:prstGeom>
        </p:spPr>
        <p:txBody>
          <a:bodyPr wrap="square" lIns="0" tIns="0" rIns="0" bIns="0" anchor="b" anchorCtr="0">
            <a:spAutoFit/>
          </a:bodyPr>
          <a:lstStyle/>
          <a:p>
            <a:pPr>
              <a:spcAft>
                <a:spcPts val="600"/>
              </a:spcAft>
            </a:pPr>
            <a:r>
              <a:rPr lang="en-US" sz="600">
                <a:cs typeface="Arial"/>
              </a:rPr>
              <a:t>This message is intended only for the person to whom it is addressed. If you are not the intended recipient, you are not authorized to read, print, retain, copy, disseminate, distribute, or use this message or any part thereof. If you receive this message in error, please notify the sender immediately and delete all copies of this message. </a:t>
            </a:r>
          </a:p>
        </p:txBody>
      </p:sp>
      <p:sp>
        <p:nvSpPr>
          <p:cNvPr id="25" name="Rectangle 24">
            <a:hlinkClick r:id="rId12"/>
          </p:cNvPr>
          <p:cNvSpPr/>
          <p:nvPr userDrawn="1"/>
        </p:nvSpPr>
        <p:spPr>
          <a:xfrm>
            <a:off x="7489902" y="3812094"/>
            <a:ext cx="2336088"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hlinkClick r:id="rId13"/>
          </p:cNvPr>
          <p:cNvSpPr/>
          <p:nvPr userDrawn="1"/>
        </p:nvSpPr>
        <p:spPr>
          <a:xfrm>
            <a:off x="10730865" y="3812094"/>
            <a:ext cx="704850"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tangle 26">
            <a:hlinkClick r:id="rId14"/>
          </p:cNvPr>
          <p:cNvSpPr/>
          <p:nvPr userDrawn="1"/>
        </p:nvSpPr>
        <p:spPr>
          <a:xfrm>
            <a:off x="6532245" y="4445639"/>
            <a:ext cx="1851660" cy="183449"/>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9" name="Picture 28"/>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407572" y="4434172"/>
            <a:ext cx="2560320" cy="201012"/>
          </a:xfrm>
          <a:prstGeom prst="rect">
            <a:avLst/>
          </a:prstGeom>
        </p:spPr>
      </p:pic>
    </p:spTree>
    <p:extLst>
      <p:ext uri="{BB962C8B-B14F-4D97-AF65-F5344CB8AC3E}">
        <p14:creationId xmlns:p14="http://schemas.microsoft.com/office/powerpoint/2010/main" val="402550283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2_Blank-White">
    <p:spTree>
      <p:nvGrpSpPr>
        <p:cNvPr id="1" name=""/>
        <p:cNvGrpSpPr/>
        <p:nvPr/>
      </p:nvGrpSpPr>
      <p:grpSpPr>
        <a:xfrm>
          <a:off x="0" y="0"/>
          <a:ext cx="0" cy="0"/>
          <a:chOff x="0" y="0"/>
          <a:chExt cx="0" cy="0"/>
        </a:xfrm>
      </p:grpSpPr>
      <p:sp>
        <p:nvSpPr>
          <p:cNvPr id="3" name="Retângulo 43">
            <a:extLst>
              <a:ext uri="{FF2B5EF4-FFF2-40B4-BE49-F238E27FC236}">
                <a16:creationId xmlns:a16="http://schemas.microsoft.com/office/drawing/2014/main" id="{25FC8637-25BD-4C09-AF25-56B4243DAB3D}"/>
              </a:ext>
            </a:extLst>
          </p:cNvPr>
          <p:cNvSpPr/>
          <p:nvPr userDrawn="1"/>
        </p:nvSpPr>
        <p:spPr>
          <a:xfrm>
            <a:off x="11784013" y="6555758"/>
            <a:ext cx="242375" cy="215444"/>
          </a:xfrm>
          <a:prstGeom prst="rect">
            <a:avLst/>
          </a:prstGeom>
        </p:spPr>
        <p:txBody>
          <a:bodyPr wrap="none">
            <a:spAutoFit/>
          </a:bodyPr>
          <a:lstStyle/>
          <a:p>
            <a:pPr algn="r" defTabSz="914400"/>
            <a:fld id="{0502E5A9-B53C-401E-A0E0-4A359BB0A9E5}" type="slidenum">
              <a:rPr lang="en-US" sz="800" smtClean="0">
                <a:solidFill>
                  <a:prstClr val="black">
                    <a:lumMod val="50000"/>
                    <a:lumOff val="50000"/>
                  </a:prstClr>
                </a:solidFill>
                <a:cs typeface="Arial" panose="020B0604020202020204" pitchFamily="34" charset="0"/>
              </a:rPr>
              <a:pPr algn="r" defTabSz="914400"/>
              <a:t>‹#›</a:t>
            </a:fld>
            <a:endParaRPr lang="en-US" sz="800">
              <a:solidFill>
                <a:prstClr val="black">
                  <a:lumMod val="50000"/>
                  <a:lumOff val="50000"/>
                </a:prstClr>
              </a:solidFill>
              <a:cs typeface="Arial" panose="020B0604020202020204" pitchFamily="34" charset="0"/>
            </a:endParaRPr>
          </a:p>
        </p:txBody>
      </p:sp>
    </p:spTree>
    <p:extLst>
      <p:ext uri="{BB962C8B-B14F-4D97-AF65-F5344CB8AC3E}">
        <p14:creationId xmlns:p14="http://schemas.microsoft.com/office/powerpoint/2010/main" val="98318594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Final Slide 1">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4">
            <a:extLst>
              <a:ext uri="{FF2B5EF4-FFF2-40B4-BE49-F238E27FC236}">
                <a16:creationId xmlns:a16="http://schemas.microsoft.com/office/drawing/2014/main" id="{AEFD73FD-4310-4FE6-83F6-4ADDF1642E27}"/>
              </a:ext>
            </a:extLst>
          </p:cNvPr>
          <p:cNvSpPr>
            <a:spLocks/>
          </p:cNvSpPr>
          <p:nvPr userDrawn="1"/>
        </p:nvSpPr>
        <p:spPr bwMode="auto">
          <a:xfrm>
            <a:off x="1" y="0"/>
            <a:ext cx="5942703" cy="6858000"/>
          </a:xfrm>
          <a:custGeom>
            <a:avLst/>
            <a:gdLst>
              <a:gd name="connsiteX0" fmla="*/ 0 w 5942703"/>
              <a:gd name="connsiteY0" fmla="*/ 0 h 6858000"/>
              <a:gd name="connsiteX1" fmla="*/ 1934854 w 5942703"/>
              <a:gd name="connsiteY1" fmla="*/ 0 h 6858000"/>
              <a:gd name="connsiteX2" fmla="*/ 2016936 w 5942703"/>
              <a:gd name="connsiteY2" fmla="*/ 210681 h 6858000"/>
              <a:gd name="connsiteX3" fmla="*/ 5381513 w 5942703"/>
              <a:gd name="connsiteY3" fmla="*/ 2418544 h 6858000"/>
              <a:gd name="connsiteX4" fmla="*/ 3933862 w 5942703"/>
              <a:gd name="connsiteY4" fmla="*/ 6759409 h 6858000"/>
              <a:gd name="connsiteX5" fmla="*/ 3795861 w 5942703"/>
              <a:gd name="connsiteY5" fmla="*/ 6858000 h 6858000"/>
              <a:gd name="connsiteX6" fmla="*/ 0 w 5942703"/>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42703" h="6858000">
                <a:moveTo>
                  <a:pt x="0" y="0"/>
                </a:moveTo>
                <a:lnTo>
                  <a:pt x="1934854" y="0"/>
                </a:lnTo>
                <a:lnTo>
                  <a:pt x="2016936" y="210681"/>
                </a:lnTo>
                <a:cubicBezTo>
                  <a:pt x="3206701" y="3025068"/>
                  <a:pt x="5838311" y="3712297"/>
                  <a:pt x="5381513" y="2418544"/>
                </a:cubicBezTo>
                <a:cubicBezTo>
                  <a:pt x="6119798" y="2697936"/>
                  <a:pt x="6539698" y="4845048"/>
                  <a:pt x="3933862" y="6759409"/>
                </a:cubicBezTo>
                <a:lnTo>
                  <a:pt x="3795861" y="6858000"/>
                </a:lnTo>
                <a:lnTo>
                  <a:pt x="0" y="6858000"/>
                </a:lnTo>
                <a:close/>
              </a:path>
            </a:pathLst>
          </a:custGeom>
          <a:solidFill>
            <a:schemeClr val="accent3"/>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grpSp>
        <p:nvGrpSpPr>
          <p:cNvPr id="2" name="Group 5">
            <a:extLst>
              <a:ext uri="{FF2B5EF4-FFF2-40B4-BE49-F238E27FC236}">
                <a16:creationId xmlns:a16="http://schemas.microsoft.com/office/drawing/2014/main" id="{D1D61DEE-13C9-4E34-97DE-432882EEB993}"/>
              </a:ext>
            </a:extLst>
          </p:cNvPr>
          <p:cNvGrpSpPr/>
          <p:nvPr userDrawn="1"/>
        </p:nvGrpSpPr>
        <p:grpSpPr>
          <a:xfrm>
            <a:off x="4979035" y="2404110"/>
            <a:ext cx="735013" cy="682321"/>
            <a:chOff x="5662614" y="3032124"/>
            <a:chExt cx="863600" cy="801689"/>
          </a:xfrm>
        </p:grpSpPr>
        <p:sp>
          <p:nvSpPr>
            <p:cNvPr id="30" name="Freeform 9">
              <a:extLst>
                <a:ext uri="{FF2B5EF4-FFF2-40B4-BE49-F238E27FC236}">
                  <a16:creationId xmlns:a16="http://schemas.microsoft.com/office/drawing/2014/main" id="{CA8EB9FD-9EF8-467D-92C6-8B7B687106BA}"/>
                </a:ext>
              </a:extLst>
            </p:cNvPr>
            <p:cNvSpPr>
              <a:spLocks/>
            </p:cNvSpPr>
            <p:nvPr/>
          </p:nvSpPr>
          <p:spPr bwMode="auto">
            <a:xfrm>
              <a:off x="5959476" y="3368675"/>
              <a:ext cx="566738" cy="465138"/>
            </a:xfrm>
            <a:custGeom>
              <a:avLst/>
              <a:gdLst>
                <a:gd name="T0" fmla="*/ 99 w 149"/>
                <a:gd name="T1" fmla="*/ 85 h 122"/>
                <a:gd name="T2" fmla="*/ 149 w 149"/>
                <a:gd name="T3" fmla="*/ 34 h 122"/>
                <a:gd name="T4" fmla="*/ 112 w 149"/>
                <a:gd name="T5" fmla="*/ 0 h 122"/>
                <a:gd name="T6" fmla="*/ 39 w 149"/>
                <a:gd name="T7" fmla="*/ 78 h 122"/>
                <a:gd name="T8" fmla="*/ 0 w 149"/>
                <a:gd name="T9" fmla="*/ 114 h 122"/>
                <a:gd name="T10" fmla="*/ 29 w 149"/>
                <a:gd name="T11" fmla="*/ 122 h 122"/>
                <a:gd name="T12" fmla="*/ 99 w 149"/>
                <a:gd name="T13" fmla="*/ 99 h 122"/>
                <a:gd name="T14" fmla="*/ 64 w 149"/>
                <a:gd name="T15" fmla="*/ 68 h 122"/>
                <a:gd name="T16" fmla="*/ 99 w 149"/>
                <a:gd name="T17" fmla="*/ 8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9" h="122">
                  <a:moveTo>
                    <a:pt x="99" y="85"/>
                  </a:moveTo>
                  <a:cubicBezTo>
                    <a:pt x="127" y="85"/>
                    <a:pt x="149" y="62"/>
                    <a:pt x="149" y="34"/>
                  </a:cubicBezTo>
                  <a:cubicBezTo>
                    <a:pt x="147" y="22"/>
                    <a:pt x="143" y="0"/>
                    <a:pt x="112" y="0"/>
                  </a:cubicBezTo>
                  <a:cubicBezTo>
                    <a:pt x="78" y="0"/>
                    <a:pt x="67" y="48"/>
                    <a:pt x="39" y="78"/>
                  </a:cubicBezTo>
                  <a:cubicBezTo>
                    <a:pt x="37" y="96"/>
                    <a:pt x="20" y="111"/>
                    <a:pt x="0" y="114"/>
                  </a:cubicBezTo>
                  <a:cubicBezTo>
                    <a:pt x="5" y="119"/>
                    <a:pt x="16" y="122"/>
                    <a:pt x="29" y="122"/>
                  </a:cubicBezTo>
                  <a:cubicBezTo>
                    <a:pt x="54" y="122"/>
                    <a:pt x="84" y="115"/>
                    <a:pt x="99" y="99"/>
                  </a:cubicBezTo>
                  <a:cubicBezTo>
                    <a:pt x="78" y="100"/>
                    <a:pt x="65" y="86"/>
                    <a:pt x="64" y="68"/>
                  </a:cubicBezTo>
                  <a:cubicBezTo>
                    <a:pt x="74" y="80"/>
                    <a:pt x="85" y="85"/>
                    <a:pt x="99" y="85"/>
                  </a:cubicBezTo>
                </a:path>
              </a:pathLst>
            </a:custGeom>
            <a:solidFill>
              <a:srgbClr val="00B0D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1" name="Freeform 12">
              <a:extLst>
                <a:ext uri="{FF2B5EF4-FFF2-40B4-BE49-F238E27FC236}">
                  <a16:creationId xmlns:a16="http://schemas.microsoft.com/office/drawing/2014/main" id="{ED2560F6-388B-43F0-89C8-492914F4382E}"/>
                </a:ext>
              </a:extLst>
            </p:cNvPr>
            <p:cNvSpPr>
              <a:spLocks/>
            </p:cNvSpPr>
            <p:nvPr/>
          </p:nvSpPr>
          <p:spPr bwMode="auto">
            <a:xfrm>
              <a:off x="5662614" y="3032124"/>
              <a:ext cx="863600" cy="736599"/>
            </a:xfrm>
            <a:custGeom>
              <a:avLst/>
              <a:gdLst>
                <a:gd name="T0" fmla="*/ 227 w 227"/>
                <a:gd name="T1" fmla="*/ 120 h 193"/>
                <a:gd name="T2" fmla="*/ 188 w 227"/>
                <a:gd name="T3" fmla="*/ 40 h 193"/>
                <a:gd name="T4" fmla="*/ 127 w 227"/>
                <a:gd name="T5" fmla="*/ 3 h 193"/>
                <a:gd name="T6" fmla="*/ 122 w 227"/>
                <a:gd name="T7" fmla="*/ 0 h 193"/>
                <a:gd name="T8" fmla="*/ 122 w 227"/>
                <a:gd name="T9" fmla="*/ 0 h 193"/>
                <a:gd name="T10" fmla="*/ 0 w 227"/>
                <a:gd name="T11" fmla="*/ 125 h 193"/>
                <a:gd name="T12" fmla="*/ 42 w 227"/>
                <a:gd name="T13" fmla="*/ 187 h 193"/>
                <a:gd name="T14" fmla="*/ 85 w 227"/>
                <a:gd name="T15" fmla="*/ 188 h 193"/>
                <a:gd name="T16" fmla="*/ 117 w 227"/>
                <a:gd name="T17" fmla="*/ 166 h 193"/>
                <a:gd name="T18" fmla="*/ 190 w 227"/>
                <a:gd name="T19" fmla="*/ 88 h 193"/>
                <a:gd name="T20" fmla="*/ 227 w 227"/>
                <a:gd name="T21" fmla="*/ 122 h 193"/>
                <a:gd name="T22" fmla="*/ 227 w 227"/>
                <a:gd name="T23" fmla="*/ 12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7" h="193">
                  <a:moveTo>
                    <a:pt x="227" y="120"/>
                  </a:moveTo>
                  <a:cubicBezTo>
                    <a:pt x="226" y="89"/>
                    <a:pt x="211" y="62"/>
                    <a:pt x="188" y="40"/>
                  </a:cubicBezTo>
                  <a:cubicBezTo>
                    <a:pt x="170" y="24"/>
                    <a:pt x="149" y="12"/>
                    <a:pt x="127" y="3"/>
                  </a:cubicBezTo>
                  <a:cubicBezTo>
                    <a:pt x="125" y="2"/>
                    <a:pt x="123" y="1"/>
                    <a:pt x="122" y="0"/>
                  </a:cubicBezTo>
                  <a:cubicBezTo>
                    <a:pt x="122" y="0"/>
                    <a:pt x="122" y="0"/>
                    <a:pt x="122" y="0"/>
                  </a:cubicBezTo>
                  <a:cubicBezTo>
                    <a:pt x="94" y="33"/>
                    <a:pt x="0" y="57"/>
                    <a:pt x="0" y="125"/>
                  </a:cubicBezTo>
                  <a:cubicBezTo>
                    <a:pt x="0" y="152"/>
                    <a:pt x="17" y="177"/>
                    <a:pt x="42" y="187"/>
                  </a:cubicBezTo>
                  <a:cubicBezTo>
                    <a:pt x="56" y="193"/>
                    <a:pt x="71" y="193"/>
                    <a:pt x="85" y="188"/>
                  </a:cubicBezTo>
                  <a:cubicBezTo>
                    <a:pt x="98" y="184"/>
                    <a:pt x="108" y="176"/>
                    <a:pt x="117" y="166"/>
                  </a:cubicBezTo>
                  <a:cubicBezTo>
                    <a:pt x="145" y="136"/>
                    <a:pt x="156" y="88"/>
                    <a:pt x="190" y="88"/>
                  </a:cubicBezTo>
                  <a:cubicBezTo>
                    <a:pt x="221" y="88"/>
                    <a:pt x="225" y="110"/>
                    <a:pt x="227" y="122"/>
                  </a:cubicBezTo>
                  <a:cubicBezTo>
                    <a:pt x="227" y="122"/>
                    <a:pt x="227" y="121"/>
                    <a:pt x="227" y="120"/>
                  </a:cubicBezTo>
                </a:path>
              </a:pathLst>
            </a:custGeom>
            <a:solidFill>
              <a:srgbClr val="0075B1"/>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4" name="Rectangle 13"/>
          <p:cNvSpPr/>
          <p:nvPr userDrawn="1"/>
        </p:nvSpPr>
        <p:spPr>
          <a:xfrm>
            <a:off x="6536185" y="2886346"/>
            <a:ext cx="4638213" cy="149363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lvl="0" algn="just"/>
            <a:r>
              <a:rPr lang="en-GB" sz="900">
                <a:solidFill>
                  <a:schemeClr val="tx1"/>
                </a:solidFill>
                <a:effectLst/>
              </a:rPr>
              <a:t>Capgemini is a global leader in partnering with companies to transform and manage their business by harnessing the power of technology. The Group is guided everyday by its purpose of unleashing human energy through technology for an inclusive and sustainable future. It is a responsible and diverse organization of 270,000 team members in nearly 50 countries. With its strong 50 year heritage and deep industry expertise, Capgemini is trusted by its clients to address the entire breadth of their business needs, from strategy and design to operations, fuelled by the fast evolving and innovative world of cloud, data, AI, connectivity, software, digital engineering and platforms. The Group reported in 2020 global revenues of €16 billion.</a:t>
            </a:r>
            <a:endParaRPr lang="en-US" sz="900">
              <a:solidFill>
                <a:schemeClr val="tx1"/>
              </a:solidFill>
              <a:effectLst/>
            </a:endParaRPr>
          </a:p>
        </p:txBody>
      </p:sp>
      <p:sp>
        <p:nvSpPr>
          <p:cNvPr id="15" name="Rectangle 14"/>
          <p:cNvSpPr/>
          <p:nvPr userDrawn="1"/>
        </p:nvSpPr>
        <p:spPr>
          <a:xfrm>
            <a:off x="6536184" y="2507082"/>
            <a:ext cx="2219960" cy="2296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p>
            <a:pPr>
              <a:lnSpc>
                <a:spcPts val="2000"/>
              </a:lnSpc>
            </a:pPr>
            <a:r>
              <a:rPr lang="en-US" sz="1400">
                <a:solidFill>
                  <a:schemeClr val="accent1"/>
                </a:solidFill>
              </a:rPr>
              <a:t>About Capgemini</a:t>
            </a:r>
          </a:p>
        </p:txBody>
      </p:sp>
      <p:sp>
        <p:nvSpPr>
          <p:cNvPr id="16" name="Rectangle 15"/>
          <p:cNvSpPr/>
          <p:nvPr userDrawn="1"/>
        </p:nvSpPr>
        <p:spPr>
          <a:xfrm>
            <a:off x="6536184" y="4461866"/>
            <a:ext cx="4345176"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lvl="0" indent="0" algn="l" defTabSz="914400" rtl="0" eaLnBrk="1" fontAlgn="auto" latinLnBrk="0" hangingPunct="1">
              <a:lnSpc>
                <a:spcPts val="1200"/>
              </a:lnSpc>
              <a:spcBef>
                <a:spcPts val="0"/>
              </a:spcBef>
              <a:spcAft>
                <a:spcPts val="0"/>
              </a:spcAft>
              <a:buClrTx/>
              <a:buSzTx/>
              <a:buFontTx/>
              <a:buNone/>
              <a:tabLst/>
              <a:defRPr/>
            </a:pPr>
            <a:r>
              <a:rPr lang="en-GB" sz="900">
                <a:solidFill>
                  <a:schemeClr val="tx1"/>
                </a:solidFill>
                <a:effectLst/>
              </a:rPr>
              <a:t>Get the Future You Want </a:t>
            </a:r>
            <a:r>
              <a:rPr lang="en-US" sz="900">
                <a:solidFill>
                  <a:schemeClr val="tx1"/>
                </a:solidFill>
                <a:effectLst/>
              </a:rPr>
              <a:t>|</a:t>
            </a:r>
            <a:r>
              <a:rPr lang="en-GB" sz="900">
                <a:solidFill>
                  <a:schemeClr val="tx1"/>
                </a:solidFill>
                <a:effectLst/>
              </a:rPr>
              <a:t> </a:t>
            </a:r>
            <a:r>
              <a:rPr lang="en-US" sz="1050">
                <a:solidFill>
                  <a:schemeClr val="accent2"/>
                </a:solidFill>
              </a:rPr>
              <a:t>www.capgemini.com</a:t>
            </a:r>
          </a:p>
        </p:txBody>
      </p:sp>
      <p:pic>
        <p:nvPicPr>
          <p:cNvPr id="17" name="Picture 2" descr="D:\My Work\Template\Icons\Social Media\LinkedIN.png">
            <a:hlinkClick r:id="rId2"/>
          </p:cNvPr>
          <p:cNvPicPr>
            <a:picLocks noChangeAspect="1" noChangeArrowheads="1"/>
          </p:cNvPicPr>
          <p:nvPr userDrawn="1"/>
        </p:nvPicPr>
        <p:blipFill>
          <a:blip r:embed="rId3" cstate="print"/>
          <a:srcRect/>
          <a:stretch>
            <a:fillRect/>
          </a:stretch>
        </p:blipFill>
        <p:spPr bwMode="auto">
          <a:xfrm>
            <a:off x="810097" y="4968013"/>
            <a:ext cx="333195" cy="333195"/>
          </a:xfrm>
          <a:prstGeom prst="rect">
            <a:avLst/>
          </a:prstGeom>
          <a:noFill/>
        </p:spPr>
      </p:pic>
      <p:pic>
        <p:nvPicPr>
          <p:cNvPr id="18" name="Picture 4" descr="D:\My Work\Template\Icons\Social Media\SlideShare.png">
            <a:hlinkClick r:id="rId4"/>
          </p:cNvPr>
          <p:cNvPicPr>
            <a:picLocks noChangeAspect="1" noChangeArrowheads="1"/>
          </p:cNvPicPr>
          <p:nvPr userDrawn="1"/>
        </p:nvPicPr>
        <p:blipFill>
          <a:blip r:embed="rId5" cstate="print"/>
          <a:srcRect/>
          <a:stretch>
            <a:fillRect/>
          </a:stretch>
        </p:blipFill>
        <p:spPr bwMode="auto">
          <a:xfrm>
            <a:off x="1193474" y="4968013"/>
            <a:ext cx="333195" cy="333195"/>
          </a:xfrm>
          <a:prstGeom prst="rect">
            <a:avLst/>
          </a:prstGeom>
          <a:noFill/>
        </p:spPr>
      </p:pic>
      <p:pic>
        <p:nvPicPr>
          <p:cNvPr id="19" name="Picture 5" descr="D:\My Work\Template\Icons\Social Media\Twitter.png">
            <a:hlinkClick r:id="rId6"/>
          </p:cNvPr>
          <p:cNvPicPr>
            <a:picLocks noChangeAspect="1" noChangeArrowheads="1"/>
          </p:cNvPicPr>
          <p:nvPr userDrawn="1"/>
        </p:nvPicPr>
        <p:blipFill>
          <a:blip r:embed="rId7" cstate="print"/>
          <a:srcRect/>
          <a:stretch>
            <a:fillRect/>
          </a:stretch>
        </p:blipFill>
        <p:spPr bwMode="auto">
          <a:xfrm>
            <a:off x="1576851" y="4968013"/>
            <a:ext cx="333195" cy="333195"/>
          </a:xfrm>
          <a:prstGeom prst="rect">
            <a:avLst/>
          </a:prstGeom>
          <a:noFill/>
        </p:spPr>
      </p:pic>
      <p:pic>
        <p:nvPicPr>
          <p:cNvPr id="20" name="Picture 6" descr="D:\My Work\Template\Icons\Social Media\YouTube.png">
            <a:hlinkClick r:id="rId8"/>
          </p:cNvPr>
          <p:cNvPicPr>
            <a:picLocks noChangeAspect="1" noChangeArrowheads="1"/>
          </p:cNvPicPr>
          <p:nvPr userDrawn="1"/>
        </p:nvPicPr>
        <p:blipFill>
          <a:blip r:embed="rId9" cstate="print"/>
          <a:srcRect/>
          <a:stretch>
            <a:fillRect/>
          </a:stretch>
        </p:blipFill>
        <p:spPr bwMode="auto">
          <a:xfrm>
            <a:off x="1960227" y="4968013"/>
            <a:ext cx="333195" cy="333195"/>
          </a:xfrm>
          <a:prstGeom prst="rect">
            <a:avLst/>
          </a:prstGeom>
          <a:noFill/>
        </p:spPr>
      </p:pic>
      <p:pic>
        <p:nvPicPr>
          <p:cNvPr id="21" name="Picture 7" descr="D:\My Work\Template\Icons\Social Media\Facebook.png">
            <a:hlinkClick r:id="rId10"/>
          </p:cNvPr>
          <p:cNvPicPr>
            <a:picLocks noChangeAspect="1" noChangeArrowheads="1"/>
          </p:cNvPicPr>
          <p:nvPr userDrawn="1"/>
        </p:nvPicPr>
        <p:blipFill>
          <a:blip r:embed="rId11" cstate="print"/>
          <a:srcRect/>
          <a:stretch>
            <a:fillRect/>
          </a:stretch>
        </p:blipFill>
        <p:spPr bwMode="auto">
          <a:xfrm>
            <a:off x="426720" y="4968013"/>
            <a:ext cx="333195" cy="333195"/>
          </a:xfrm>
          <a:prstGeom prst="rect">
            <a:avLst/>
          </a:prstGeom>
          <a:noFill/>
        </p:spPr>
      </p:pic>
      <p:sp>
        <p:nvSpPr>
          <p:cNvPr id="23" name="Rectangle 22"/>
          <p:cNvSpPr/>
          <p:nvPr userDrawn="1"/>
        </p:nvSpPr>
        <p:spPr>
          <a:xfrm>
            <a:off x="426720" y="5764024"/>
            <a:ext cx="4013280" cy="446276"/>
          </a:xfrm>
          <a:prstGeom prst="rect">
            <a:avLst/>
          </a:prstGeom>
        </p:spPr>
        <p:txBody>
          <a:bodyPr wrap="square" lIns="0" tIns="0" rIns="0" bIns="0" anchor="b" anchorCtr="0">
            <a:spAutoFit/>
          </a:bodyPr>
          <a:lstStyle/>
          <a:p>
            <a:pPr>
              <a:spcAft>
                <a:spcPts val="600"/>
              </a:spcAft>
            </a:pPr>
            <a:r>
              <a:rPr lang="en-US" sz="800" noProof="0">
                <a:solidFill>
                  <a:schemeClr val="bg1"/>
                </a:solidFill>
                <a:latin typeface="+mn-lt"/>
                <a:cs typeface="Arial"/>
              </a:rPr>
              <a:t>This presentation contains information that may be privileged or confidential and is the property of the Capgemini Group.</a:t>
            </a:r>
          </a:p>
          <a:p>
            <a:pPr>
              <a:spcAft>
                <a:spcPts val="600"/>
              </a:spcAft>
            </a:pPr>
            <a:r>
              <a:rPr lang="en-US" sz="800" noProof="0">
                <a:solidFill>
                  <a:schemeClr val="bg1"/>
                </a:solidFill>
                <a:latin typeface="Arial"/>
                <a:cs typeface="Arial"/>
              </a:rPr>
              <a:t>Copyright © 2021 Capgemini. All rights reserved.</a:t>
            </a:r>
          </a:p>
        </p:txBody>
      </p:sp>
      <p:sp>
        <p:nvSpPr>
          <p:cNvPr id="25" name="Rectangle 24">
            <a:hlinkClick r:id="rId12"/>
          </p:cNvPr>
          <p:cNvSpPr/>
          <p:nvPr userDrawn="1"/>
        </p:nvSpPr>
        <p:spPr>
          <a:xfrm>
            <a:off x="7489902" y="3812094"/>
            <a:ext cx="2336088"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hlinkClick r:id="rId13"/>
          </p:cNvPr>
          <p:cNvSpPr/>
          <p:nvPr userDrawn="1"/>
        </p:nvSpPr>
        <p:spPr>
          <a:xfrm>
            <a:off x="10730865" y="3812094"/>
            <a:ext cx="704850"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7768223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Content 3 column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Text Placeholder 7">
            <a:extLst>
              <a:ext uri="{FF2B5EF4-FFF2-40B4-BE49-F238E27FC236}">
                <a16:creationId xmlns:a16="http://schemas.microsoft.com/office/drawing/2014/main" id="{27CE2609-37DA-4C4C-BF45-E56CE85AA41D}"/>
              </a:ext>
            </a:extLst>
          </p:cNvPr>
          <p:cNvSpPr>
            <a:spLocks noGrp="1"/>
          </p:cNvSpPr>
          <p:nvPr>
            <p:ph type="body" sz="quarter" idx="10"/>
          </p:nvPr>
        </p:nvSpPr>
        <p:spPr>
          <a:xfrm>
            <a:off x="227350"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227350"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
        <p:nvSpPr>
          <p:cNvPr id="9" name="Text Placeholder 7">
            <a:extLst>
              <a:ext uri="{FF2B5EF4-FFF2-40B4-BE49-F238E27FC236}">
                <a16:creationId xmlns:a16="http://schemas.microsoft.com/office/drawing/2014/main" id="{27CE2609-37DA-4C4C-BF45-E56CE85AA41D}"/>
              </a:ext>
            </a:extLst>
          </p:cNvPr>
          <p:cNvSpPr>
            <a:spLocks noGrp="1"/>
          </p:cNvSpPr>
          <p:nvPr>
            <p:ph type="body" sz="quarter" idx="14"/>
          </p:nvPr>
        </p:nvSpPr>
        <p:spPr>
          <a:xfrm>
            <a:off x="4313358"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7">
            <a:extLst>
              <a:ext uri="{FF2B5EF4-FFF2-40B4-BE49-F238E27FC236}">
                <a16:creationId xmlns:a16="http://schemas.microsoft.com/office/drawing/2014/main" id="{D8D7F005-BA7C-423E-87B0-6782D88233F6}"/>
              </a:ext>
            </a:extLst>
          </p:cNvPr>
          <p:cNvSpPr>
            <a:spLocks noGrp="1"/>
          </p:cNvSpPr>
          <p:nvPr>
            <p:ph type="body" sz="quarter" idx="15" hasCustomPrompt="1"/>
          </p:nvPr>
        </p:nvSpPr>
        <p:spPr>
          <a:xfrm>
            <a:off x="4313358"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
        <p:nvSpPr>
          <p:cNvPr id="11" name="Text Placeholder 7">
            <a:extLst>
              <a:ext uri="{FF2B5EF4-FFF2-40B4-BE49-F238E27FC236}">
                <a16:creationId xmlns:a16="http://schemas.microsoft.com/office/drawing/2014/main" id="{27CE2609-37DA-4C4C-BF45-E56CE85AA41D}"/>
              </a:ext>
            </a:extLst>
          </p:cNvPr>
          <p:cNvSpPr>
            <a:spLocks noGrp="1"/>
          </p:cNvSpPr>
          <p:nvPr>
            <p:ph type="body" sz="quarter" idx="16"/>
          </p:nvPr>
        </p:nvSpPr>
        <p:spPr>
          <a:xfrm>
            <a:off x="8384125"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7">
            <a:extLst>
              <a:ext uri="{FF2B5EF4-FFF2-40B4-BE49-F238E27FC236}">
                <a16:creationId xmlns:a16="http://schemas.microsoft.com/office/drawing/2014/main" id="{D8D7F005-BA7C-423E-87B0-6782D88233F6}"/>
              </a:ext>
            </a:extLst>
          </p:cNvPr>
          <p:cNvSpPr>
            <a:spLocks noGrp="1"/>
          </p:cNvSpPr>
          <p:nvPr>
            <p:ph type="body" sz="quarter" idx="17" hasCustomPrompt="1"/>
          </p:nvPr>
        </p:nvSpPr>
        <p:spPr>
          <a:xfrm>
            <a:off x="8384125"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Tree>
    <p:extLst>
      <p:ext uri="{BB962C8B-B14F-4D97-AF65-F5344CB8AC3E}">
        <p14:creationId xmlns:p14="http://schemas.microsoft.com/office/powerpoint/2010/main" val="65774580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10" name="Groupe 1">
            <a:extLst>
              <a:ext uri="{FF2B5EF4-FFF2-40B4-BE49-F238E27FC236}">
                <a16:creationId xmlns:a16="http://schemas.microsoft.com/office/drawing/2014/main" id="{51FFF118-98EE-8DA3-DBD4-BAFD857D317B}"/>
              </a:ext>
            </a:extLst>
          </p:cNvPr>
          <p:cNvGrpSpPr>
            <a:grpSpLocks noChangeAspect="1"/>
          </p:cNvGrpSpPr>
          <p:nvPr userDrawn="1"/>
        </p:nvGrpSpPr>
        <p:grpSpPr>
          <a:xfrm>
            <a:off x="11562163" y="205059"/>
            <a:ext cx="419436" cy="388988"/>
            <a:chOff x="11501102" y="171573"/>
            <a:chExt cx="419436" cy="388988"/>
          </a:xfrm>
          <a:solidFill>
            <a:schemeClr val="tx1"/>
          </a:solidFill>
        </p:grpSpPr>
        <p:sp>
          <p:nvSpPr>
            <p:cNvPr id="11" name="Freeform 13">
              <a:extLst>
                <a:ext uri="{FF2B5EF4-FFF2-40B4-BE49-F238E27FC236}">
                  <a16:creationId xmlns:a16="http://schemas.microsoft.com/office/drawing/2014/main" id="{6B25F92B-C157-3ACB-55CE-8C228CF85F76}"/>
                </a:ext>
              </a:extLst>
            </p:cNvPr>
            <p:cNvSpPr>
              <a:spLocks/>
            </p:cNvSpPr>
            <p:nvPr userDrawn="1"/>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a:latin typeface="Ubuntu" panose="020B0504030602030204" pitchFamily="34" charset="0"/>
              </a:endParaRPr>
            </a:p>
          </p:txBody>
        </p:sp>
        <p:sp>
          <p:nvSpPr>
            <p:cNvPr id="12" name="Freeform 14">
              <a:extLst>
                <a:ext uri="{FF2B5EF4-FFF2-40B4-BE49-F238E27FC236}">
                  <a16:creationId xmlns:a16="http://schemas.microsoft.com/office/drawing/2014/main" id="{CF1B011F-6FE9-3EE4-8000-222C8F9DE235}"/>
                </a:ext>
              </a:extLst>
            </p:cNvPr>
            <p:cNvSpPr>
              <a:spLocks/>
            </p:cNvSpPr>
            <p:nvPr userDrawn="1"/>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a:latin typeface="Ubuntu" panose="020B0504030602030204" pitchFamily="34" charset="0"/>
              </a:endParaRPr>
            </a:p>
          </p:txBody>
        </p:sp>
      </p:grpSp>
      <p:sp>
        <p:nvSpPr>
          <p:cNvPr id="2" name="Title Placeholder 1">
            <a:extLst>
              <a:ext uri="{FF2B5EF4-FFF2-40B4-BE49-F238E27FC236}">
                <a16:creationId xmlns:a16="http://schemas.microsoft.com/office/drawing/2014/main" id="{3371DBC7-A563-4787-896F-A8C55AC39541}"/>
              </a:ext>
            </a:extLst>
          </p:cNvPr>
          <p:cNvSpPr>
            <a:spLocks noGrp="1"/>
          </p:cNvSpPr>
          <p:nvPr>
            <p:ph type="title"/>
          </p:nvPr>
        </p:nvSpPr>
        <p:spPr>
          <a:xfrm>
            <a:off x="304800" y="304800"/>
            <a:ext cx="11582400" cy="638175"/>
          </a:xfrm>
          <a:prstGeom prst="rect">
            <a:avLst/>
          </a:prstGeom>
        </p:spPr>
        <p:txBody>
          <a:bodyPr vert="horz" lIns="0" tIns="45720" rIns="0" bIns="4572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8BD4A25B-ECC2-4D0E-BA51-828900AA1150}"/>
              </a:ext>
            </a:extLst>
          </p:cNvPr>
          <p:cNvSpPr>
            <a:spLocks noGrp="1"/>
          </p:cNvSpPr>
          <p:nvPr>
            <p:ph type="body" idx="1"/>
          </p:nvPr>
        </p:nvSpPr>
        <p:spPr>
          <a:xfrm>
            <a:off x="304801" y="1485900"/>
            <a:ext cx="11582400" cy="1855893"/>
          </a:xfrm>
          <a:prstGeom prst="rect">
            <a:avLst/>
          </a:prstGeom>
        </p:spPr>
        <p:txBody>
          <a:bodyPr vert="horz" lIns="0" tIns="45720" rIns="0" bIns="4572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Box 3">
            <a:extLst>
              <a:ext uri="{FF2B5EF4-FFF2-40B4-BE49-F238E27FC236}">
                <a16:creationId xmlns:a16="http://schemas.microsoft.com/office/drawing/2014/main" id="{4CAD4279-FBF3-4755-ADA6-63C789BE8BA1}"/>
              </a:ext>
            </a:extLst>
          </p:cNvPr>
          <p:cNvSpPr txBox="1">
            <a:spLocks noChangeArrowheads="1"/>
          </p:cNvSpPr>
          <p:nvPr userDrawn="1"/>
        </p:nvSpPr>
        <p:spPr bwMode="white">
          <a:xfrm>
            <a:off x="7924801" y="6544949"/>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algn="r" defTabSz="1097212" eaLnBrk="1" fontAlgn="auto" hangingPunct="1">
              <a:spcBef>
                <a:spcPts val="0"/>
              </a:spcBef>
              <a:spcAft>
                <a:spcPts val="0"/>
              </a:spcAft>
              <a:defRPr/>
            </a:pPr>
            <a:r>
              <a:rPr lang="en-US" altLang="x-none" sz="700" b="0" i="0">
                <a:solidFill>
                  <a:schemeClr val="tx1"/>
                </a:solidFill>
                <a:latin typeface="Ubuntu" panose="020B0504030602030204" pitchFamily="34" charset="0"/>
                <a:ea typeface="Amazon Ember Display" panose="020F0603020204020204" pitchFamily="34" charset="0"/>
                <a:cs typeface="Amazon Ember Display" panose="020F0603020204020204" pitchFamily="34" charset="0"/>
              </a:rPr>
              <a:t>© 2024, Capgemini S.p.A. or its affiliates. All rights reserved.</a:t>
            </a:r>
          </a:p>
        </p:txBody>
      </p:sp>
    </p:spTree>
    <p:extLst>
      <p:ext uri="{BB962C8B-B14F-4D97-AF65-F5344CB8AC3E}">
        <p14:creationId xmlns:p14="http://schemas.microsoft.com/office/powerpoint/2010/main" val="385484851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Lst>
  <p:txStyles>
    <p:titleStyle>
      <a:lvl1pPr algn="l" defTabSz="914400" rtl="0" eaLnBrk="1" latinLnBrk="0" hangingPunct="1">
        <a:lnSpc>
          <a:spcPct val="90000"/>
        </a:lnSpc>
        <a:spcBef>
          <a:spcPct val="0"/>
        </a:spcBef>
        <a:buNone/>
        <a:defRPr sz="3600" kern="1200" spc="-100" baseline="0">
          <a:solidFill>
            <a:schemeClr val="tx1"/>
          </a:solidFill>
          <a:latin typeface="Ubuntu" panose="020B0504030602030204" pitchFamily="34" charset="0"/>
          <a:ea typeface="+mj-ea"/>
          <a:cs typeface="+mj-cs"/>
        </a:defRPr>
      </a:lvl1pPr>
    </p:titleStyle>
    <p:bodyStyle>
      <a:lvl1pPr marL="228600" indent="-228600" algn="l" defTabSz="914400" rtl="0" eaLnBrk="1" latinLnBrk="0" hangingPunct="1">
        <a:lnSpc>
          <a:spcPct val="90000"/>
        </a:lnSpc>
        <a:spcBef>
          <a:spcPts val="0"/>
        </a:spcBef>
        <a:spcAft>
          <a:spcPts val="1200"/>
        </a:spcAft>
        <a:buSzPct val="90000"/>
        <a:buFont typeface="Amazon Ember Display" panose="020F0603020204020204" pitchFamily="34" charset="0"/>
        <a:buChar char="•"/>
        <a:defRPr sz="2400" kern="1200">
          <a:solidFill>
            <a:schemeClr val="tx1"/>
          </a:solidFill>
          <a:latin typeface="Ubuntu" panose="020B0504030602030204" pitchFamily="34" charset="0"/>
          <a:ea typeface="+mn-ea"/>
          <a:cs typeface="+mn-cs"/>
        </a:defRPr>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000" kern="1200">
          <a:solidFill>
            <a:schemeClr val="tx1"/>
          </a:solidFill>
          <a:latin typeface="Ubuntu" panose="020B0504030602030204" pitchFamily="34" charset="0"/>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Ubuntu" panose="020B0504030602030204" pitchFamily="34" charset="0"/>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600" kern="1200">
          <a:solidFill>
            <a:schemeClr val="tx1"/>
          </a:solidFill>
          <a:latin typeface="Ubuntu" panose="020B0504030602030204" pitchFamily="34" charset="0"/>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600" kern="1200">
          <a:solidFill>
            <a:schemeClr val="tx1"/>
          </a:solidFill>
          <a:latin typeface="Ubuntu" panose="020B0504030602030204" pitchFamily="34" charset="0"/>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92">
          <p15:clr>
            <a:srgbClr val="F26B43"/>
          </p15:clr>
        </p15:guide>
        <p15:guide id="4" orient="horz" pos="3912">
          <p15:clr>
            <a:srgbClr val="F26B43"/>
          </p15:clr>
        </p15:guide>
        <p15:guide id="5" pos="192">
          <p15:clr>
            <a:srgbClr val="F26B43"/>
          </p15:clr>
        </p15:guide>
        <p15:guide id="6" pos="7488">
          <p15:clr>
            <a:srgbClr val="F26B43"/>
          </p15:clr>
        </p15:guide>
        <p15:guide id="7" orient="horz" pos="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Rectangle 1"/>
          <p:cNvSpPr/>
          <p:nvPr/>
        </p:nvSpPr>
        <p:spPr>
          <a:xfrm>
            <a:off x="731520" y="27432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188720"/>
            <a:ext cx="10058400" cy="1097280"/>
          </a:xfrm>
          <a:prstGeom prst="rect">
            <a:avLst/>
          </a:prstGeom>
          <a:noFill/>
        </p:spPr>
        <p:txBody>
          <a:bodyPr wrap="square">
            <a:spAutoFit/>
          </a:bodyPr>
          <a:lstStyle/>
          <a:p>
            <a:pPr algn="ctr">
              <a:defRPr sz="4600" b="1">
                <a:solidFill>
                  <a:srgbClr val="F0C040"/>
                </a:solidFill>
                <a:latin typeface="Calibri"/>
              </a:defRPr>
            </a:pPr>
            <a:r>
              <a:t>Neo4j Fondamentali</a:t>
            </a:r>
          </a:p>
        </p:txBody>
      </p:sp>
      <p:sp>
        <p:nvSpPr>
          <p:cNvPr id="4" name="TextBox 3"/>
          <p:cNvSpPr txBox="1"/>
          <p:nvPr/>
        </p:nvSpPr>
        <p:spPr>
          <a:xfrm>
            <a:off x="914400" y="3017520"/>
            <a:ext cx="10058400" cy="731520"/>
          </a:xfrm>
          <a:prstGeom prst="rect">
            <a:avLst/>
          </a:prstGeom>
          <a:noFill/>
        </p:spPr>
        <p:txBody>
          <a:bodyPr wrap="square">
            <a:spAutoFit/>
          </a:bodyPr>
          <a:lstStyle/>
          <a:p>
            <a:pPr algn="ctr">
              <a:defRPr sz="2600" b="0">
                <a:solidFill>
                  <a:srgbClr val="FFFFFF"/>
                </a:solidFill>
                <a:latin typeface="Calibri"/>
              </a:defRPr>
            </a:pPr>
            <a:r>
              <a:t>Sessione 1: Primi Passi con i Grafi</a:t>
            </a:r>
          </a:p>
        </p:txBody>
      </p:sp>
      <p:sp>
        <p:nvSpPr>
          <p:cNvPr id="5" name="TextBox 4"/>
          <p:cNvSpPr txBox="1"/>
          <p:nvPr/>
        </p:nvSpPr>
        <p:spPr>
          <a:xfrm>
            <a:off x="914400" y="4389120"/>
            <a:ext cx="10058400" cy="457200"/>
          </a:xfrm>
          <a:prstGeom prst="rect">
            <a:avLst/>
          </a:prstGeom>
          <a:noFill/>
        </p:spPr>
        <p:txBody>
          <a:bodyPr wrap="square">
            <a:spAutoFit/>
          </a:bodyPr>
          <a:lstStyle/>
          <a:p>
            <a:pPr algn="ctr">
              <a:defRPr sz="1700" b="0">
                <a:solidFill>
                  <a:srgbClr val="CCCCCC"/>
                </a:solidFill>
                <a:latin typeface="Calibri"/>
              </a:defRPr>
            </a:pPr>
            <a:r>
              <a:t>Database a grafo, Cypher e l’ecosistema Neo4j</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Agenda</a:t>
            </a:r>
          </a:p>
        </p:txBody>
      </p:sp>
      <p:sp>
        <p:nvSpPr>
          <p:cNvPr id="3" name="TextBox 2"/>
          <p:cNvSpPr txBox="1"/>
          <p:nvPr/>
        </p:nvSpPr>
        <p:spPr>
          <a:xfrm>
            <a:off x="731520" y="1188720"/>
            <a:ext cx="10515600" cy="365760"/>
          </a:xfrm>
          <a:prstGeom prst="rect">
            <a:avLst/>
          </a:prstGeom>
          <a:noFill/>
        </p:spPr>
        <p:txBody>
          <a:bodyPr wrap="square">
            <a:spAutoFit/>
          </a:bodyPr>
          <a:lstStyle/>
          <a:p>
            <a:pPr algn="l">
              <a:defRPr sz="1800" b="1">
                <a:solidFill>
                  <a:srgbClr val="F08040"/>
                </a:solidFill>
                <a:latin typeface="Calibri"/>
              </a:defRPr>
            </a:pPr>
            <a:r>
              <a:t>Teoria</a:t>
            </a:r>
          </a:p>
        </p:txBody>
      </p:sp>
      <p:sp>
        <p:nvSpPr>
          <p:cNvPr id="4" name="TextBox 3"/>
          <p:cNvSpPr txBox="1"/>
          <p:nvPr/>
        </p:nvSpPr>
        <p:spPr>
          <a:xfrm>
            <a:off x="731520" y="1645920"/>
            <a:ext cx="3840480" cy="3200400"/>
          </a:xfrm>
          <a:prstGeom prst="rect">
            <a:avLst/>
          </a:prstGeom>
          <a:noFill/>
        </p:spPr>
        <p:txBody>
          <a:bodyPr wrap="square">
            <a:spAutoFit/>
          </a:bodyPr>
          <a:lstStyle/>
          <a:p>
            <a:pPr algn="l">
              <a:spcAft>
                <a:spcPts val="1300"/>
              </a:spcAft>
              <a:defRPr sz="1500">
                <a:solidFill>
                  <a:srgbClr val="FFFFFF"/>
                </a:solidFill>
                <a:latin typeface="Calibri"/>
              </a:defRPr>
            </a:pPr>
            <a:r>
              <a:t>•  Cosa sono i database a grafo</a:t>
            </a:r>
          </a:p>
          <a:p>
            <a:pPr algn="l">
              <a:spcAft>
                <a:spcPts val="1300"/>
              </a:spcAft>
              <a:defRPr sz="1500">
                <a:solidFill>
                  <a:srgbClr val="FFFFFF"/>
                </a:solidFill>
                <a:latin typeface="Calibri"/>
              </a:defRPr>
            </a:pPr>
            <a:r>
              <a:t>•  Property Graph Model: nodi, relazioni, labels</a:t>
            </a:r>
          </a:p>
          <a:p>
            <a:pPr algn="l">
              <a:spcAft>
                <a:spcPts val="1300"/>
              </a:spcAft>
              <a:defRPr sz="1500">
                <a:solidFill>
                  <a:srgbClr val="FFFFFF"/>
                </a:solidFill>
                <a:latin typeface="Calibri"/>
              </a:defRPr>
            </a:pPr>
            <a:r>
              <a:t>•  Perché Neo4j vs DB relazionali</a:t>
            </a:r>
          </a:p>
          <a:p>
            <a:pPr algn="l">
              <a:spcAft>
                <a:spcPts val="1300"/>
              </a:spcAft>
              <a:defRPr sz="1500">
                <a:solidFill>
                  <a:srgbClr val="FFFFFF"/>
                </a:solidFill>
                <a:latin typeface="Calibri"/>
              </a:defRPr>
            </a:pPr>
            <a:r>
              <a:t>•  Ecosistema Neo4j (Browser, AuraDB, Bloom)</a:t>
            </a:r>
          </a:p>
          <a:p>
            <a:pPr algn="l">
              <a:spcAft>
                <a:spcPts val="1300"/>
              </a:spcAft>
              <a:defRPr sz="1500">
                <a:solidFill>
                  <a:srgbClr val="FFFFFF"/>
                </a:solidFill>
                <a:latin typeface="Calibri"/>
              </a:defRPr>
            </a:pPr>
            <a:r>
              <a:t>•  Cypher: pattern matching per leggere/scrivere</a:t>
            </a:r>
          </a:p>
          <a:p>
            <a:pPr algn="l">
              <a:spcAft>
                <a:spcPts val="1300"/>
              </a:spcAft>
              <a:defRPr sz="1500">
                <a:solidFill>
                  <a:srgbClr val="FFFFFF"/>
                </a:solidFill>
                <a:latin typeface="Calibri"/>
              </a:defRPr>
            </a:pPr>
            <a:r>
              <a:t>•  Constraints e indici</a:t>
            </a:r>
          </a:p>
        </p:txBody>
      </p:sp>
      <p:sp>
        <p:nvSpPr>
          <p:cNvPr id="5" name="TextBox 4"/>
          <p:cNvSpPr txBox="1"/>
          <p:nvPr/>
        </p:nvSpPr>
        <p:spPr>
          <a:xfrm>
            <a:off x="4754880" y="1188720"/>
            <a:ext cx="3840480" cy="365760"/>
          </a:xfrm>
          <a:prstGeom prst="rect">
            <a:avLst/>
          </a:prstGeom>
          <a:noFill/>
        </p:spPr>
        <p:txBody>
          <a:bodyPr wrap="square">
            <a:spAutoFit/>
          </a:bodyPr>
          <a:lstStyle/>
          <a:p>
            <a:pPr algn="l">
              <a:defRPr sz="1800" b="1">
                <a:solidFill>
                  <a:srgbClr val="F08040"/>
                </a:solidFill>
                <a:latin typeface="Calibri"/>
              </a:defRPr>
            </a:pPr>
            <a:r>
              <a:t>Pratica</a:t>
            </a:r>
          </a:p>
        </p:txBody>
      </p:sp>
      <p:sp>
        <p:nvSpPr>
          <p:cNvPr id="6" name="TextBox 5"/>
          <p:cNvSpPr txBox="1"/>
          <p:nvPr/>
        </p:nvSpPr>
        <p:spPr>
          <a:xfrm>
            <a:off x="4754880" y="1645920"/>
            <a:ext cx="3840480" cy="3200400"/>
          </a:xfrm>
          <a:prstGeom prst="rect">
            <a:avLst/>
          </a:prstGeom>
          <a:noFill/>
        </p:spPr>
        <p:txBody>
          <a:bodyPr wrap="square">
            <a:spAutoFit/>
          </a:bodyPr>
          <a:lstStyle/>
          <a:p>
            <a:pPr algn="l">
              <a:spcAft>
                <a:spcPts val="1300"/>
              </a:spcAft>
              <a:defRPr sz="1500">
                <a:solidFill>
                  <a:srgbClr val="FFFFFF"/>
                </a:solidFill>
                <a:latin typeface="Calibri"/>
              </a:defRPr>
            </a:pPr>
            <a:r>
              <a:t>•  Connettersi a Neo4j con Python</a:t>
            </a:r>
          </a:p>
          <a:p>
            <a:pPr algn="l">
              <a:spcAft>
                <a:spcPts val="1300"/>
              </a:spcAft>
              <a:defRPr sz="1500">
                <a:solidFill>
                  <a:srgbClr val="FFFFFF"/>
                </a:solidFill>
                <a:latin typeface="Calibri"/>
              </a:defRPr>
            </a:pPr>
            <a:r>
              <a:t>•  MATCH, WHERE, RETURN: prime query</a:t>
            </a:r>
          </a:p>
          <a:p>
            <a:pPr algn="l">
              <a:spcAft>
                <a:spcPts val="1300"/>
              </a:spcAft>
              <a:defRPr sz="1500">
                <a:solidFill>
                  <a:srgbClr val="FFFFFF"/>
                </a:solidFill>
                <a:latin typeface="Calibri"/>
              </a:defRPr>
            </a:pPr>
            <a:r>
              <a:t>•  MERGE, CREATE: scrivere dati</a:t>
            </a:r>
          </a:p>
          <a:p>
            <a:pPr algn="l">
              <a:spcAft>
                <a:spcPts val="1300"/>
              </a:spcAft>
              <a:defRPr sz="1500">
                <a:solidFill>
                  <a:srgbClr val="FFFFFF"/>
                </a:solidFill>
                <a:latin typeface="Calibri"/>
              </a:defRPr>
            </a:pPr>
            <a:r>
              <a:t>•  UNWIND batching per caricamenti bulk</a:t>
            </a:r>
          </a:p>
          <a:p>
            <a:pPr algn="l">
              <a:spcAft>
                <a:spcPts val="1300"/>
              </a:spcAft>
              <a:defRPr sz="1500">
                <a:solidFill>
                  <a:srgbClr val="FFFFFF"/>
                </a:solidFill>
                <a:latin typeface="Calibri"/>
              </a:defRPr>
            </a:pPr>
            <a:r>
              <a:t>•  Neo4j Browser: esplorare il grafo</a:t>
            </a:r>
          </a:p>
          <a:p>
            <a:pPr algn="l">
              <a:spcAft>
                <a:spcPts val="1300"/>
              </a:spcAft>
              <a:defRPr sz="1500">
                <a:solidFill>
                  <a:srgbClr val="FFFFFF"/>
                </a:solidFill>
                <a:latin typeface="Calibri"/>
              </a:defRPr>
            </a:pPr>
            <a:r>
              <a:t>•  Dataset: Org Graph e Movie Graph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Cosa sono i database a grafo?</a:t>
            </a:r>
          </a:p>
        </p:txBody>
      </p:sp>
      <p:sp>
        <p:nvSpPr>
          <p:cNvPr id="3" name="TextBox 2"/>
          <p:cNvSpPr txBox="1"/>
          <p:nvPr/>
        </p:nvSpPr>
        <p:spPr>
          <a:xfrm>
            <a:off x="731520" y="1051560"/>
            <a:ext cx="10515600" cy="365760"/>
          </a:xfrm>
          <a:prstGeom prst="rect">
            <a:avLst/>
          </a:prstGeom>
          <a:noFill/>
        </p:spPr>
        <p:txBody>
          <a:bodyPr wrap="square">
            <a:spAutoFit/>
          </a:bodyPr>
          <a:lstStyle/>
          <a:p>
            <a:pPr algn="l">
              <a:defRPr sz="1500" b="0">
                <a:solidFill>
                  <a:srgbClr val="CCCCCC"/>
                </a:solidFill>
                <a:latin typeface="Calibri"/>
              </a:defRPr>
            </a:pPr>
            <a:r>
              <a:t>Un grafo è composto da due elementi fondamentali:</a:t>
            </a:r>
          </a:p>
        </p:txBody>
      </p:sp>
      <p:sp>
        <p:nvSpPr>
          <p:cNvPr id="4" name="TextBox 3"/>
          <p:cNvSpPr txBox="1"/>
          <p:nvPr/>
        </p:nvSpPr>
        <p:spPr>
          <a:xfrm>
            <a:off x="731520" y="1554480"/>
            <a:ext cx="5029200" cy="1828800"/>
          </a:xfrm>
          <a:prstGeom prst="rect">
            <a:avLst/>
          </a:prstGeom>
          <a:noFill/>
        </p:spPr>
        <p:txBody>
          <a:bodyPr wrap="square">
            <a:spAutoFit/>
          </a:bodyPr>
          <a:lstStyle/>
          <a:p>
            <a:pPr algn="l">
              <a:spcAft>
                <a:spcPts val="800"/>
              </a:spcAft>
              <a:defRPr sz="1400">
                <a:solidFill>
                  <a:srgbClr val="FFFFFF"/>
                </a:solidFill>
                <a:latin typeface="Calibri"/>
              </a:defRPr>
            </a:pPr>
            <a:r>
              <a:t>•  Nodi (vertices) — rappresentano entità (persone, progetti, skill)</a:t>
            </a:r>
          </a:p>
          <a:p>
            <a:pPr algn="l">
              <a:spcAft>
                <a:spcPts val="800"/>
              </a:spcAft>
              <a:defRPr sz="1400">
                <a:solidFill>
                  <a:srgbClr val="FFFFFF"/>
                </a:solidFill>
                <a:latin typeface="Calibri"/>
              </a:defRPr>
            </a:pPr>
            <a:r>
              <a:t>•  Relazioni (edges) — rappresentano connessioni tra entità</a:t>
            </a:r>
          </a:p>
          <a:p>
            <a:pPr algn="l">
              <a:spcAft>
                <a:spcPts val="800"/>
              </a:spcAft>
              <a:defRPr sz="1400">
                <a:solidFill>
                  <a:srgbClr val="FFFFFF"/>
                </a:solidFill>
                <a:latin typeface="Calibri"/>
              </a:defRPr>
            </a:pPr>
            <a:r>
              <a:t>•  Entrambi possono avere proprietà (coppie chiave-valore)</a:t>
            </a:r>
          </a:p>
          <a:p>
            <a:pPr algn="l">
              <a:spcAft>
                <a:spcPts val="800"/>
              </a:spcAft>
              <a:defRPr sz="1400">
                <a:solidFill>
                  <a:srgbClr val="FFFFFF"/>
                </a:solidFill>
                <a:latin typeface="Calibri"/>
              </a:defRPr>
            </a:pPr>
            <a:r>
              <a:t>•  Le relazioni sono cittadini di prima classe — hanno sempre un tipo e una direzione</a:t>
            </a:r>
          </a:p>
        </p:txBody>
      </p:sp>
      <p:sp>
        <p:nvSpPr>
          <p:cNvPr id="5" name="TextBox 4"/>
          <p:cNvSpPr txBox="1"/>
          <p:nvPr/>
        </p:nvSpPr>
        <p:spPr>
          <a:xfrm>
            <a:off x="5669280" y="1554480"/>
            <a:ext cx="4846320" cy="1828800"/>
          </a:xfrm>
          <a:prstGeom prst="rect">
            <a:avLst/>
          </a:prstGeom>
          <a:noFill/>
        </p:spPr>
        <p:txBody>
          <a:bodyPr wrap="square">
            <a:spAutoFit/>
          </a:bodyPr>
          <a:lstStyle/>
          <a:p>
            <a:pPr algn="l">
              <a:defRPr sz="1100" b="0">
                <a:solidFill>
                  <a:srgbClr val="CCCCCC"/>
                </a:solidFill>
                <a:latin typeface="Consolas"/>
              </a:defRPr>
            </a:pPr>
            <a:r>
              <a:t>Esempio: grafo e-commerce</a:t>
            </a:r>
            <a:br/>
            <a:br/>
            <a:r>
              <a:t>  (Cliente) —[:ACQUISTA]→ (Ordine) —[:ORDINA]→ (Prodotto)</a:t>
            </a:r>
            <a:br/>
            <a:r>
              <a:t>                                     ↑</a:t>
            </a:r>
            <a:br/>
            <a:r>
              <a:t>                              [:FORNISCE]</a:t>
            </a:r>
            <a:br/>
            <a:r>
              <a:t>                                     ↑</a:t>
            </a:r>
            <a:br/>
            <a:r>
              <a:t>                                  (Fornitore)</a:t>
            </a:r>
            <a:br/>
            <a:br/>
            <a:r>
              <a:t>Ogni entità è un nodo, ogni verbo è una relazione direzionale.</a:t>
            </a:r>
          </a:p>
        </p:txBody>
      </p:sp>
      <p:sp>
        <p:nvSpPr>
          <p:cNvPr id="6" name="Rectangle 5"/>
          <p:cNvSpPr/>
          <p:nvPr/>
        </p:nvSpPr>
        <p:spPr>
          <a:xfrm>
            <a:off x="731520" y="384048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114800"/>
            <a:ext cx="10515600" cy="411480"/>
          </a:xfrm>
          <a:prstGeom prst="rect">
            <a:avLst/>
          </a:prstGeom>
          <a:noFill/>
        </p:spPr>
        <p:txBody>
          <a:bodyPr wrap="square">
            <a:spAutoFit/>
          </a:bodyPr>
          <a:lstStyle/>
          <a:p>
            <a:pPr algn="l">
              <a:defRPr sz="2000" b="1">
                <a:solidFill>
                  <a:srgbClr val="F08040"/>
                </a:solidFill>
                <a:latin typeface="Calibri"/>
              </a:defRPr>
            </a:pPr>
            <a:r>
              <a:t>Esempi reali di dati connessi</a:t>
            </a:r>
          </a:p>
        </p:txBody>
      </p:sp>
      <p:sp>
        <p:nvSpPr>
          <p:cNvPr id="8" name="TextBox 7"/>
          <p:cNvSpPr txBox="1"/>
          <p:nvPr/>
        </p:nvSpPr>
        <p:spPr>
          <a:xfrm>
            <a:off x="731520" y="4663440"/>
            <a:ext cx="10515600" cy="1371600"/>
          </a:xfrm>
          <a:prstGeom prst="rect">
            <a:avLst/>
          </a:prstGeom>
          <a:noFill/>
        </p:spPr>
        <p:txBody>
          <a:bodyPr wrap="square">
            <a:spAutoFit/>
          </a:bodyPr>
          <a:lstStyle/>
          <a:p>
            <a:pPr algn="l">
              <a:spcAft>
                <a:spcPts val="300"/>
              </a:spcAft>
              <a:defRPr sz="1300">
                <a:solidFill>
                  <a:srgbClr val="FFFFFF"/>
                </a:solidFill>
                <a:latin typeface="Calibri"/>
              </a:defRPr>
            </a:pPr>
            <a:r>
              <a:t>•  Social network: persone, amicizie, like, condivisioni</a:t>
            </a:r>
          </a:p>
          <a:p>
            <a:pPr algn="l">
              <a:spcAft>
                <a:spcPts val="300"/>
              </a:spcAft>
              <a:defRPr sz="1300">
                <a:solidFill>
                  <a:srgbClr val="FFFFFF"/>
                </a:solidFill>
                <a:latin typeface="Calibri"/>
              </a:defRPr>
            </a:pPr>
            <a:r>
              <a:t>•  Organigramma aziendale: impiegati, team, manager, riporti</a:t>
            </a:r>
          </a:p>
          <a:p>
            <a:pPr algn="l">
              <a:spcAft>
                <a:spcPts val="300"/>
              </a:spcAft>
              <a:defRPr sz="1300">
                <a:solidFill>
                  <a:srgbClr val="FFFFFF"/>
                </a:solidFill>
                <a:latin typeface="Calibri"/>
              </a:defRPr>
            </a:pPr>
            <a:r>
              <a:t>•  Raccomandazioni: prodotti, acquisti, preferenze simili</a:t>
            </a:r>
          </a:p>
          <a:p>
            <a:pPr algn="l">
              <a:spcAft>
                <a:spcPts val="300"/>
              </a:spcAft>
              <a:defRPr sz="1300">
                <a:solidFill>
                  <a:srgbClr val="FFFFFF"/>
                </a:solidFill>
                <a:latin typeface="Calibri"/>
              </a:defRPr>
            </a:pPr>
            <a:r>
              <a:t>•  Frode finanziaria: transazioni, conti, dispositivi, 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Il problema: JOIN nei DB relazionali</a:t>
            </a:r>
          </a:p>
        </p:txBody>
      </p:sp>
      <p:sp>
        <p:nvSpPr>
          <p:cNvPr id="3" name="TextBox 2"/>
          <p:cNvSpPr txBox="1"/>
          <p:nvPr/>
        </p:nvSpPr>
        <p:spPr>
          <a:xfrm>
            <a:off x="731520" y="1051560"/>
            <a:ext cx="10515600" cy="548640"/>
          </a:xfrm>
          <a:prstGeom prst="rect">
            <a:avLst/>
          </a:prstGeom>
          <a:noFill/>
        </p:spPr>
        <p:txBody>
          <a:bodyPr wrap="square">
            <a:spAutoFit/>
          </a:bodyPr>
          <a:lstStyle/>
          <a:p>
            <a:pPr algn="l">
              <a:defRPr sz="1400" b="0">
                <a:solidFill>
                  <a:srgbClr val="CCCCCC"/>
                </a:solidFill>
                <a:latin typeface="Calibri"/>
              </a:defRPr>
            </a:pPr>
            <a:r>
              <a:t>Nei database relazionali, le relazioni tra entità sono calcolate al momento della query via JOIN.</a:t>
            </a:r>
          </a:p>
        </p:txBody>
      </p:sp>
      <p:sp>
        <p:nvSpPr>
          <p:cNvPr id="4" name="TextBox 3"/>
          <p:cNvSpPr txBox="1"/>
          <p:nvPr/>
        </p:nvSpPr>
        <p:spPr>
          <a:xfrm>
            <a:off x="731520" y="1737360"/>
            <a:ext cx="5029200" cy="1828800"/>
          </a:xfrm>
          <a:prstGeom prst="rect">
            <a:avLst/>
          </a:prstGeom>
          <a:noFill/>
        </p:spPr>
        <p:txBody>
          <a:bodyPr wrap="square">
            <a:spAutoFit/>
          </a:bodyPr>
          <a:lstStyle/>
          <a:p>
            <a:pPr algn="l">
              <a:spcAft>
                <a:spcPts val="700"/>
              </a:spcAft>
              <a:defRPr sz="1300">
                <a:solidFill>
                  <a:srgbClr val="FFFFFF"/>
                </a:solidFill>
                <a:latin typeface="Calibri"/>
              </a:defRPr>
            </a:pPr>
            <a:r>
              <a:t>•  Ogni JOIN confronta una tabella con un’altra usando un indice</a:t>
            </a:r>
          </a:p>
          <a:p>
            <a:pPr algn="l">
              <a:spcAft>
                <a:spcPts val="700"/>
              </a:spcAft>
              <a:defRPr sz="1300">
                <a:solidFill>
                  <a:srgbClr val="FFFFFF"/>
                </a:solidFill>
                <a:latin typeface="Calibri"/>
              </a:defRPr>
            </a:pPr>
            <a:r>
              <a:t>•  Per navigare profondità 3 (amico dell’amico dell’amico) servono 3 JOIN</a:t>
            </a:r>
          </a:p>
          <a:p>
            <a:pPr algn="l">
              <a:spcAft>
                <a:spcPts val="700"/>
              </a:spcAft>
              <a:defRPr sz="1300">
                <a:solidFill>
                  <a:srgbClr val="FFFFFF"/>
                </a:solidFill>
                <a:latin typeface="Calibri"/>
              </a:defRPr>
            </a:pPr>
            <a:r>
              <a:t>•  Il costo cresce esponenzialmente con la profondità</a:t>
            </a:r>
          </a:p>
          <a:p>
            <a:pPr algn="l">
              <a:spcAft>
                <a:spcPts val="700"/>
              </a:spcAft>
              <a:defRPr sz="1300">
                <a:solidFill>
                  <a:srgbClr val="FFFFFF"/>
                </a:solidFill>
                <a:latin typeface="Calibri"/>
              </a:defRPr>
            </a:pPr>
            <a:r>
              <a:t>•  Esempio: "trova fornitori di prodotti acquistati da clienti in Roma"</a:t>
            </a:r>
          </a:p>
        </p:txBody>
      </p:sp>
      <p:sp>
        <p:nvSpPr>
          <p:cNvPr id="5" name="TextBox 4"/>
          <p:cNvSpPr txBox="1"/>
          <p:nvPr/>
        </p:nvSpPr>
        <p:spPr>
          <a:xfrm>
            <a:off x="5669280" y="1737360"/>
            <a:ext cx="4846320" cy="1828800"/>
          </a:xfrm>
          <a:prstGeom prst="rect">
            <a:avLst/>
          </a:prstGeom>
          <a:noFill/>
        </p:spPr>
        <p:txBody>
          <a:bodyPr wrap="square">
            <a:spAutoFit/>
          </a:bodyPr>
          <a:lstStyle/>
          <a:p>
            <a:pPr algn="l">
              <a:defRPr sz="1000" b="0">
                <a:solidFill>
                  <a:srgbClr val="7EC68E"/>
                </a:solidFill>
                <a:latin typeface="Consolas"/>
              </a:defRPr>
            </a:pPr>
            <a:r>
              <a:t>SQL: 4 JOIN per una query semplice</a:t>
            </a:r>
            <a:br/>
            <a:br/>
            <a:r>
              <a:t>SELECT c.nome, p.nome, f.nome</a:t>
            </a:r>
            <a:br/>
            <a:r>
              <a:t>FROM clienti c</a:t>
            </a:r>
            <a:br/>
            <a:r>
              <a:t>JOIN ordini o ON c.id=o.cliente_id</a:t>
            </a:r>
            <a:br/>
            <a:r>
              <a:t>JOIN ordine_dettagli d ON o.id=d.ordine_id</a:t>
            </a:r>
            <a:br/>
            <a:r>
              <a:t>JOIN prodotti p ON d.prodotto_id=p.id</a:t>
            </a:r>
            <a:br/>
            <a:r>
              <a:t>JOIN fornitori f ON p.fornitore_id=f.id</a:t>
            </a:r>
            <a:br/>
            <a:r>
              <a:t>WHERE c.citta = 'Roma';</a:t>
            </a:r>
          </a:p>
        </p:txBody>
      </p:sp>
      <p:sp>
        <p:nvSpPr>
          <p:cNvPr id="6" name="Rectangle 5"/>
          <p:cNvSpPr/>
          <p:nvPr/>
        </p:nvSpPr>
        <p:spPr>
          <a:xfrm>
            <a:off x="731520" y="39319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206240"/>
            <a:ext cx="10515600" cy="365760"/>
          </a:xfrm>
          <a:prstGeom prst="rect">
            <a:avLst/>
          </a:prstGeom>
          <a:noFill/>
        </p:spPr>
        <p:txBody>
          <a:bodyPr wrap="square">
            <a:spAutoFit/>
          </a:bodyPr>
          <a:lstStyle/>
          <a:p>
            <a:pPr algn="l">
              <a:defRPr sz="1500" b="1">
                <a:solidFill>
                  <a:srgbClr val="F08040"/>
                </a:solidFill>
                <a:latin typeface="Calibri"/>
              </a:defRPr>
            </a:pPr>
            <a:r>
              <a:t>Confronto performance (1M nodi, 10M relazioni):</a:t>
            </a:r>
          </a:p>
        </p:txBody>
      </p:sp>
      <p:sp>
        <p:nvSpPr>
          <p:cNvPr id="8" name="TextBox 7"/>
          <p:cNvSpPr txBox="1"/>
          <p:nvPr/>
        </p:nvSpPr>
        <p:spPr>
          <a:xfrm>
            <a:off x="731520" y="4663440"/>
            <a:ext cx="5029200" cy="914400"/>
          </a:xfrm>
          <a:prstGeom prst="rect">
            <a:avLst/>
          </a:prstGeom>
          <a:noFill/>
        </p:spPr>
        <p:txBody>
          <a:bodyPr wrap="square">
            <a:spAutoFit/>
          </a:bodyPr>
          <a:lstStyle/>
          <a:p>
            <a:pPr algn="l">
              <a:defRPr sz="1300" b="0">
                <a:solidFill>
                  <a:srgbClr val="FFFFFF"/>
                </a:solidFill>
                <a:latin typeface="Consolas"/>
              </a:defRPr>
            </a:pPr>
            <a:r>
              <a:t>Relazionale (PostgreSQL) per 4° grado:</a:t>
            </a:r>
            <a:br/>
            <a:r>
              <a:t>  ~28 secondi</a:t>
            </a:r>
            <a:br/>
            <a:br/>
            <a:r>
              <a:t>Grafo (Neo4j) per 4° grado:</a:t>
            </a:r>
            <a:br/>
            <a:r>
              <a:t>  ~2 millisecondi  (14.000× più veloce)</a:t>
            </a:r>
          </a:p>
        </p:txBody>
      </p:sp>
      <p:sp>
        <p:nvSpPr>
          <p:cNvPr id="9" name="TextBox 8"/>
          <p:cNvSpPr txBox="1"/>
          <p:nvPr/>
        </p:nvSpPr>
        <p:spPr>
          <a:xfrm>
            <a:off x="5669280" y="4663440"/>
            <a:ext cx="4846320" cy="914400"/>
          </a:xfrm>
          <a:prstGeom prst="rect">
            <a:avLst/>
          </a:prstGeom>
          <a:noFill/>
        </p:spPr>
        <p:txBody>
          <a:bodyPr wrap="square">
            <a:spAutoFit/>
          </a:bodyPr>
          <a:lstStyle/>
          <a:p>
            <a:pPr algn="l">
              <a:defRPr sz="1200" b="0">
                <a:solidFill>
                  <a:srgbClr val="CCCCCC"/>
                </a:solidFill>
                <a:latin typeface="Calibri"/>
              </a:defRPr>
            </a:pPr>
            <a:r>
              <a:t>Motivo: nel grafo le relazioni sono puntatori diretti,</a:t>
            </a:r>
            <a:br/>
            <a:r>
              <a:t>non serve calcolarle. Si traversa il grafo in O(1) per hop.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Index-Free Adjacency</a:t>
            </a:r>
          </a:p>
        </p:txBody>
      </p:sp>
      <p:sp>
        <p:nvSpPr>
          <p:cNvPr id="3" name="TextBox 2"/>
          <p:cNvSpPr txBox="1"/>
          <p:nvPr/>
        </p:nvSpPr>
        <p:spPr>
          <a:xfrm>
            <a:off x="731520" y="1051560"/>
            <a:ext cx="10515600" cy="548640"/>
          </a:xfrm>
          <a:prstGeom prst="rect">
            <a:avLst/>
          </a:prstGeom>
          <a:noFill/>
        </p:spPr>
        <p:txBody>
          <a:bodyPr wrap="square">
            <a:spAutoFit/>
          </a:bodyPr>
          <a:lstStyle/>
          <a:p>
            <a:pPr algn="l">
              <a:defRPr sz="1400" b="0">
                <a:solidFill>
                  <a:srgbClr val="CCCCCC"/>
                </a:solidFill>
                <a:latin typeface="Calibri"/>
              </a:defRPr>
            </a:pPr>
            <a:r>
              <a:t>Neo4j memorizza ogni nodo con i puntatori diretti ai nodi vicini. Non serve un indice globale per trovare le connessioni.</a:t>
            </a:r>
          </a:p>
        </p:txBody>
      </p:sp>
      <p:sp>
        <p:nvSpPr>
          <p:cNvPr id="4" name="TextBox 3"/>
          <p:cNvSpPr txBox="1"/>
          <p:nvPr/>
        </p:nvSpPr>
        <p:spPr>
          <a:xfrm>
            <a:off x="731520" y="1737360"/>
            <a:ext cx="5029200" cy="1828800"/>
          </a:xfrm>
          <a:prstGeom prst="rect">
            <a:avLst/>
          </a:prstGeom>
          <a:noFill/>
        </p:spPr>
        <p:txBody>
          <a:bodyPr wrap="square">
            <a:spAutoFit/>
          </a:bodyPr>
          <a:lstStyle/>
          <a:p>
            <a:pPr algn="l">
              <a:spcAft>
                <a:spcPts val="700"/>
              </a:spcAft>
              <a:defRPr sz="1300">
                <a:solidFill>
                  <a:srgbClr val="FFFFFF"/>
                </a:solidFill>
                <a:latin typeface="Calibri"/>
              </a:defRPr>
            </a:pPr>
            <a:r>
              <a:t>•  DB relazionale: usa un indice per trovare le FK, poi JOIN, poi ripete</a:t>
            </a:r>
          </a:p>
          <a:p>
            <a:pPr algn="l">
              <a:spcAft>
                <a:spcPts val="700"/>
              </a:spcAft>
              <a:defRPr sz="1300">
                <a:solidFill>
                  <a:srgbClr val="FFFFFF"/>
                </a:solidFill>
                <a:latin typeface="Calibri"/>
              </a:defRPr>
            </a:pPr>
            <a:r>
              <a:t>•  Neo4j: il nodo Alice ha già il puntatore fisico al nodo Bob</a:t>
            </a:r>
          </a:p>
          <a:p>
            <a:pPr algn="l">
              <a:spcAft>
                <a:spcPts val="700"/>
              </a:spcAft>
              <a:defRPr sz="1300">
                <a:solidFill>
                  <a:srgbClr val="FFFFFF"/>
                </a:solidFill>
                <a:latin typeface="Calibri"/>
              </a:defRPr>
            </a:pPr>
            <a:r>
              <a:t>•  Risultato: il tempo di traversal NON dipende dalla dimensione del grafo</a:t>
            </a:r>
          </a:p>
          <a:p>
            <a:pPr algn="l">
              <a:spcAft>
                <a:spcPts val="700"/>
              </a:spcAft>
              <a:defRPr sz="1300">
                <a:solidFill>
                  <a:srgbClr val="FFFFFF"/>
                </a:solidFill>
                <a:latin typeface="Calibri"/>
              </a:defRPr>
            </a:pPr>
            <a:r>
              <a:t>•  Scala a miliardi di nodi mantenendo performance costanti</a:t>
            </a:r>
          </a:p>
        </p:txBody>
      </p:sp>
      <p:sp>
        <p:nvSpPr>
          <p:cNvPr id="5" name="TextBox 4"/>
          <p:cNvSpPr txBox="1"/>
          <p:nvPr/>
        </p:nvSpPr>
        <p:spPr>
          <a:xfrm>
            <a:off x="5669280" y="1737360"/>
            <a:ext cx="4846320" cy="1828800"/>
          </a:xfrm>
          <a:prstGeom prst="rect">
            <a:avLst/>
          </a:prstGeom>
          <a:noFill/>
        </p:spPr>
        <p:txBody>
          <a:bodyPr wrap="square">
            <a:spAutoFit/>
          </a:bodyPr>
          <a:lstStyle/>
          <a:p>
            <a:pPr algn="l">
              <a:defRPr sz="1000" b="0">
                <a:solidFill>
                  <a:srgbClr val="7EC68E"/>
                </a:solidFill>
                <a:latin typeface="Consolas"/>
              </a:defRPr>
            </a:pPr>
            <a:r>
              <a:t>DB Relazionale:</a:t>
            </a:r>
            <a:br/>
            <a:r>
              <a:t>  Clienti └── FK──➤ Indice ──➤ Ordini └── FK──➤ Indice ──➤ Prodotti</a:t>
            </a:r>
            <a:br/>
            <a:r>
              <a:t>  Ogni passo cerca in un indice separato</a:t>
            </a:r>
            <a:br/>
            <a:br/>
            <a:r>
              <a:t>Neo4j:</a:t>
            </a:r>
            <a:br/>
            <a:r>
              <a:t>  (:Person {name:'Alice'})</a:t>
            </a:r>
            <a:br/>
            <a:r>
              <a:t>     │</a:t>
            </a:r>
            <a:br/>
            <a:r>
              <a:t>     │ HAS_SKILL (puntatore diretto)</a:t>
            </a:r>
            <a:br/>
            <a:r>
              <a:t>     └──➤ (:Skill {name:'Python'})</a:t>
            </a:r>
            <a:br/>
            <a:r>
              <a:t>  Alice conosce già Python — nessuna lookup</a:t>
            </a:r>
          </a:p>
        </p:txBody>
      </p:sp>
      <p:sp>
        <p:nvSpPr>
          <p:cNvPr id="6" name="Rectangle 5"/>
          <p:cNvSpPr/>
          <p:nvPr/>
        </p:nvSpPr>
        <p:spPr>
          <a:xfrm>
            <a:off x="731520" y="39319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206240"/>
            <a:ext cx="10515600" cy="365760"/>
          </a:xfrm>
          <a:prstGeom prst="rect">
            <a:avLst/>
          </a:prstGeom>
          <a:noFill/>
        </p:spPr>
        <p:txBody>
          <a:bodyPr wrap="square">
            <a:spAutoFit/>
          </a:bodyPr>
          <a:lstStyle/>
          <a:p>
            <a:pPr algn="l">
              <a:defRPr sz="1500" b="1">
                <a:solidFill>
                  <a:srgbClr val="F0C040"/>
                </a:solidFill>
                <a:latin typeface="Calibri"/>
              </a:defRPr>
            </a:pPr>
            <a:r>
              <a:t>Analogia:</a:t>
            </a:r>
          </a:p>
        </p:txBody>
      </p:sp>
      <p:sp>
        <p:nvSpPr>
          <p:cNvPr id="8" name="TextBox 7"/>
          <p:cNvSpPr txBox="1"/>
          <p:nvPr/>
        </p:nvSpPr>
        <p:spPr>
          <a:xfrm>
            <a:off x="731520" y="4663440"/>
            <a:ext cx="10515600" cy="1097280"/>
          </a:xfrm>
          <a:prstGeom prst="rect">
            <a:avLst/>
          </a:prstGeom>
          <a:noFill/>
        </p:spPr>
        <p:txBody>
          <a:bodyPr wrap="square">
            <a:spAutoFit/>
          </a:bodyPr>
          <a:lstStyle/>
          <a:p>
            <a:pPr algn="l">
              <a:defRPr sz="1200" b="0">
                <a:solidFill>
                  <a:srgbClr val="CCCCCC"/>
                </a:solidFill>
                <a:latin typeface="Calibri"/>
              </a:defRPr>
            </a:pPr>
            <a:r>
              <a:t>DB relazionale = rubrica telefonica: cerchi un nome, trovi il numero.</a:t>
            </a:r>
            <a:br/>
            <a:r>
              <a:t>Per trovare gli amici degli amici devi cercare nella rubrica di ogni persona.</a:t>
            </a:r>
            <a:br/>
            <a:br/>
            <a:r>
              <a:t>Grafo = ogni persona ha la propria rubrica in tasca: chiedi direttamente ad Alice chi conosce.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Property Graph Model: Nodi e Labels</a:t>
            </a:r>
          </a:p>
        </p:txBody>
      </p:sp>
      <p:sp>
        <p:nvSpPr>
          <p:cNvPr id="3" name="TextBox 2"/>
          <p:cNvSpPr txBox="1"/>
          <p:nvPr/>
        </p:nvSpPr>
        <p:spPr>
          <a:xfrm>
            <a:off x="731520" y="1051560"/>
            <a:ext cx="3840480" cy="411480"/>
          </a:xfrm>
          <a:prstGeom prst="rect">
            <a:avLst/>
          </a:prstGeom>
          <a:noFill/>
        </p:spPr>
        <p:txBody>
          <a:bodyPr wrap="square">
            <a:spAutoFit/>
          </a:bodyPr>
          <a:lstStyle/>
          <a:p>
            <a:pPr algn="l">
              <a:defRPr sz="1800" b="1">
                <a:solidFill>
                  <a:srgbClr val="F08040"/>
                </a:solidFill>
                <a:latin typeface="Calibri"/>
              </a:defRPr>
            </a:pPr>
            <a:r>
              <a:t>Nodi (Vertici)</a:t>
            </a:r>
          </a:p>
        </p:txBody>
      </p:sp>
      <p:sp>
        <p:nvSpPr>
          <p:cNvPr id="4" name="TextBox 3"/>
          <p:cNvSpPr txBox="1"/>
          <p:nvPr/>
        </p:nvSpPr>
        <p:spPr>
          <a:xfrm>
            <a:off x="731520" y="1508760"/>
            <a:ext cx="3840480" cy="1828800"/>
          </a:xfrm>
          <a:prstGeom prst="rect">
            <a:avLst/>
          </a:prstGeom>
          <a:noFill/>
        </p:spPr>
        <p:txBody>
          <a:bodyPr wrap="square">
            <a:spAutoFit/>
          </a:bodyPr>
          <a:lstStyle/>
          <a:p>
            <a:pPr algn="l">
              <a:spcAft>
                <a:spcPts val="300"/>
              </a:spcAft>
              <a:defRPr sz="1300">
                <a:solidFill>
                  <a:srgbClr val="FFFFFF"/>
                </a:solidFill>
                <a:latin typeface="Calibri"/>
              </a:defRPr>
            </a:pPr>
            <a:r>
              <a:t>•  Rappresentano entità del mondo reale</a:t>
            </a:r>
          </a:p>
          <a:p>
            <a:pPr algn="l">
              <a:spcAft>
                <a:spcPts val="300"/>
              </a:spcAft>
              <a:defRPr sz="1300">
                <a:solidFill>
                  <a:srgbClr val="FFFFFF"/>
                </a:solidFill>
                <a:latin typeface="Calibri"/>
              </a:defRPr>
            </a:pPr>
            <a:r>
              <a:t>•  Possono avere 0, 1 o più LABELS</a:t>
            </a:r>
          </a:p>
          <a:p>
            <a:pPr algn="l">
              <a:spcAft>
                <a:spcPts val="300"/>
              </a:spcAft>
              <a:defRPr sz="1300">
                <a:solidFill>
                  <a:srgbClr val="FFFFFF"/>
                </a:solidFill>
                <a:latin typeface="Calibri"/>
              </a:defRPr>
            </a:pPr>
            <a:r>
              <a:t>•  Labels: categoria/tipo del nodo (:Person, :Project, :Skill)</a:t>
            </a:r>
          </a:p>
          <a:p>
            <a:pPr algn="l">
              <a:spcAft>
                <a:spcPts val="300"/>
              </a:spcAft>
              <a:defRPr sz="1300">
                <a:solidFill>
                  <a:srgbClr val="FFFFFF"/>
                </a:solidFill>
                <a:latin typeface="Calibri"/>
              </a:defRPr>
            </a:pPr>
            <a:r>
              <a:t>•  Un nodo con più labels: (:Person:Employee:Manager)</a:t>
            </a:r>
          </a:p>
          <a:p>
            <a:pPr algn="l">
              <a:spcAft>
                <a:spcPts val="300"/>
              </a:spcAft>
              <a:defRPr sz="1300">
                <a:solidFill>
                  <a:srgbClr val="FFFFFF"/>
                </a:solidFill>
                <a:latin typeface="Calibri"/>
              </a:defRPr>
            </a:pPr>
            <a:r>
              <a:t>•  Proprietà: coppie chiave-valore su ogni nodo</a:t>
            </a:r>
          </a:p>
        </p:txBody>
      </p:sp>
      <p:sp>
        <p:nvSpPr>
          <p:cNvPr id="5" name="TextBox 4"/>
          <p:cNvSpPr txBox="1"/>
          <p:nvPr/>
        </p:nvSpPr>
        <p:spPr>
          <a:xfrm>
            <a:off x="4754880" y="1051560"/>
            <a:ext cx="3840480" cy="411480"/>
          </a:xfrm>
          <a:prstGeom prst="rect">
            <a:avLst/>
          </a:prstGeom>
          <a:noFill/>
        </p:spPr>
        <p:txBody>
          <a:bodyPr wrap="square">
            <a:spAutoFit/>
          </a:bodyPr>
          <a:lstStyle/>
          <a:p>
            <a:pPr algn="l">
              <a:defRPr sz="1800" b="1">
                <a:solidFill>
                  <a:srgbClr val="F08040"/>
                </a:solidFill>
                <a:latin typeface="Calibri"/>
              </a:defRPr>
            </a:pPr>
            <a:r>
              <a:t>Labels come tabelle flessibili</a:t>
            </a:r>
          </a:p>
        </p:txBody>
      </p:sp>
      <p:sp>
        <p:nvSpPr>
          <p:cNvPr id="6" name="TextBox 5"/>
          <p:cNvSpPr txBox="1"/>
          <p:nvPr/>
        </p:nvSpPr>
        <p:spPr>
          <a:xfrm>
            <a:off x="4754880" y="1508760"/>
            <a:ext cx="3840480" cy="1828800"/>
          </a:xfrm>
          <a:prstGeom prst="rect">
            <a:avLst/>
          </a:prstGeom>
          <a:noFill/>
        </p:spPr>
        <p:txBody>
          <a:bodyPr wrap="square">
            <a:spAutoFit/>
          </a:bodyPr>
          <a:lstStyle/>
          <a:p>
            <a:pPr algn="l">
              <a:spcAft>
                <a:spcPts val="300"/>
              </a:spcAft>
              <a:defRPr sz="1300">
                <a:solidFill>
                  <a:srgbClr val="FFFFFF"/>
                </a:solidFill>
                <a:latin typeface="Calibri"/>
              </a:defRPr>
            </a:pPr>
            <a:r>
              <a:t>•  Nel DB relazionale: tabella Person con colonne fisse</a:t>
            </a:r>
          </a:p>
          <a:p>
            <a:pPr algn="l">
              <a:spcAft>
                <a:spcPts val="300"/>
              </a:spcAft>
              <a:defRPr sz="1300">
                <a:solidFill>
                  <a:srgbClr val="FFFFFF"/>
                </a:solidFill>
                <a:latin typeface="Calibri"/>
              </a:defRPr>
            </a:pPr>
            <a:r>
              <a:t>•  In Neo4j: ogni nodo (:Person) ha le PROPRIE proprietà</a:t>
            </a:r>
          </a:p>
          <a:p>
            <a:pPr algn="l">
              <a:spcAft>
                <a:spcPts val="300"/>
              </a:spcAft>
              <a:defRPr sz="1300">
                <a:solidFill>
                  <a:srgbClr val="FFFFFF"/>
                </a:solidFill>
                <a:latin typeface="Calibri"/>
              </a:defRPr>
            </a:pPr>
            <a:r>
              <a:t>•  Labels sostituiscono i nomi di tabella nel MATCH</a:t>
            </a:r>
          </a:p>
          <a:p>
            <a:pPr algn="l">
              <a:spcAft>
                <a:spcPts val="300"/>
              </a:spcAft>
              <a:defRPr sz="1300">
                <a:solidFill>
                  <a:srgbClr val="FFFFFF"/>
                </a:solidFill>
                <a:latin typeface="Calibri"/>
              </a:defRPr>
            </a:pPr>
            <a:r>
              <a:t>•  MATCH (p:Person) = “tutti i nodi con label Person”</a:t>
            </a:r>
          </a:p>
          <a:p>
            <a:pPr algn="l">
              <a:spcAft>
                <a:spcPts val="300"/>
              </a:spcAft>
              <a:defRPr sz="1300">
                <a:solidFill>
                  <a:srgbClr val="FFFFFF"/>
                </a:solidFill>
                <a:latin typeface="Calibri"/>
              </a:defRPr>
            </a:pPr>
            <a:r>
              <a:t>•  Vincoli e indici si applicano PER LABEL</a:t>
            </a:r>
          </a:p>
        </p:txBody>
      </p:sp>
      <p:sp>
        <p:nvSpPr>
          <p:cNvPr id="7" name="Rectangle 6"/>
          <p:cNvSpPr/>
          <p:nvPr/>
        </p:nvSpPr>
        <p:spPr>
          <a:xfrm>
            <a:off x="731520" y="36576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840480"/>
            <a:ext cx="10515600" cy="365760"/>
          </a:xfrm>
          <a:prstGeom prst="rect">
            <a:avLst/>
          </a:prstGeom>
          <a:noFill/>
        </p:spPr>
        <p:txBody>
          <a:bodyPr wrap="square">
            <a:spAutoFit/>
          </a:bodyPr>
          <a:lstStyle/>
          <a:p>
            <a:pPr algn="l">
              <a:defRPr sz="1500" b="1">
                <a:solidFill>
                  <a:srgbClr val="F0C040"/>
                </a:solidFill>
                <a:latin typeface="Calibri"/>
              </a:defRPr>
            </a:pPr>
            <a:r>
              <a:t>Esempio: nodi del nostro dataset Org Graph</a:t>
            </a:r>
          </a:p>
        </p:txBody>
      </p:sp>
      <p:sp>
        <p:nvSpPr>
          <p:cNvPr id="9" name="Rectangle 8"/>
          <p:cNvSpPr/>
          <p:nvPr/>
        </p:nvSpPr>
        <p:spPr>
          <a:xfrm>
            <a:off x="731520" y="4297680"/>
            <a:ext cx="502920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4370832"/>
            <a:ext cx="4809744" cy="1499616"/>
          </a:xfrm>
          <a:prstGeom prst="rect">
            <a:avLst/>
          </a:prstGeom>
          <a:noFill/>
        </p:spPr>
        <p:txBody>
          <a:bodyPr wrap="square">
            <a:spAutoFit/>
          </a:bodyPr>
          <a:lstStyle/>
          <a:p>
            <a:pPr>
              <a:spcAft>
                <a:spcPts val="100"/>
              </a:spcAft>
              <a:defRPr sz="1100">
                <a:solidFill>
                  <a:srgbClr val="7EC68E"/>
                </a:solidFill>
                <a:latin typeface="Consolas"/>
              </a:defRPr>
            </a:pPr>
            <a:r>
              <a:t>(:Person {employee_id: 1,</a:t>
            </a:r>
          </a:p>
          <a:p>
            <a:pPr>
              <a:spcAft>
                <a:spcPts val="100"/>
              </a:spcAft>
              <a:defRPr sz="1100">
                <a:solidFill>
                  <a:srgbClr val="7EC68E"/>
                </a:solidFill>
                <a:latin typeface="Consolas"/>
              </a:defRPr>
            </a:pPr>
            <a:r>
              <a:t>         name: "Mario Rossi",</a:t>
            </a:r>
          </a:p>
          <a:p>
            <a:pPr>
              <a:spcAft>
                <a:spcPts val="100"/>
              </a:spcAft>
              <a:defRPr sz="1100">
                <a:solidFill>
                  <a:srgbClr val="7EC68E"/>
                </a:solidFill>
                <a:latin typeface="Consolas"/>
              </a:defRPr>
            </a:pPr>
            <a:r>
              <a:t>         location: "Roma",</a:t>
            </a:r>
          </a:p>
          <a:p>
            <a:pPr>
              <a:spcAft>
                <a:spcPts val="100"/>
              </a:spcAft>
              <a:defRPr sz="1100">
                <a:solidFill>
                  <a:srgbClr val="7EC68E"/>
                </a:solidFill>
                <a:latin typeface="Consolas"/>
              </a:defRPr>
            </a:pPr>
            <a:r>
              <a:t>         title: "Senior Consultant",</a:t>
            </a:r>
          </a:p>
          <a:p>
            <a:pPr>
              <a:spcAft>
                <a:spcPts val="100"/>
              </a:spcAft>
              <a:defRPr sz="1100">
                <a:solidFill>
                  <a:srgbClr val="7EC68E"/>
                </a:solidFill>
                <a:latin typeface="Consolas"/>
              </a:defRPr>
            </a:pPr>
            <a:r>
              <a:t>         department: "Digital"})</a:t>
            </a:r>
          </a:p>
        </p:txBody>
      </p:sp>
      <p:sp>
        <p:nvSpPr>
          <p:cNvPr id="11" name="Rectangle 10"/>
          <p:cNvSpPr/>
          <p:nvPr/>
        </p:nvSpPr>
        <p:spPr>
          <a:xfrm>
            <a:off x="5669280" y="4297680"/>
            <a:ext cx="484632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79008" y="4370832"/>
            <a:ext cx="4626864" cy="1499616"/>
          </a:xfrm>
          <a:prstGeom prst="rect">
            <a:avLst/>
          </a:prstGeom>
          <a:noFill/>
        </p:spPr>
        <p:txBody>
          <a:bodyPr wrap="square">
            <a:spAutoFit/>
          </a:bodyPr>
          <a:lstStyle/>
          <a:p>
            <a:pPr>
              <a:spcAft>
                <a:spcPts val="100"/>
              </a:spcAft>
              <a:defRPr sz="1100">
                <a:solidFill>
                  <a:srgbClr val="7EC68E"/>
                </a:solidFill>
                <a:latin typeface="Consolas"/>
              </a:defRPr>
            </a:pPr>
            <a:r>
              <a:t>(:Skill {name: "Python"})</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(:Project {project_id: 10,</a:t>
            </a:r>
          </a:p>
          <a:p>
            <a:pPr>
              <a:spcAft>
                <a:spcPts val="100"/>
              </a:spcAft>
              <a:defRPr sz="1100">
                <a:solidFill>
                  <a:srgbClr val="7EC68E"/>
                </a:solidFill>
                <a:latin typeface="Consolas"/>
              </a:defRPr>
            </a:pPr>
            <a:r>
              <a:t>          name: "AI Platform"})</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(:Supervisor {supervisor_id: 200,</a:t>
            </a:r>
          </a:p>
          <a:p>
            <a:pPr>
              <a:spcAft>
                <a:spcPts val="100"/>
              </a:spcAft>
              <a:defRPr sz="1100">
                <a:solidFill>
                  <a:srgbClr val="7EC68E"/>
                </a:solidFill>
                <a:latin typeface="Consolas"/>
              </a:defRPr>
            </a:pPr>
            <a:r>
              <a:t>             name: "Anna Bianchi"})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Property Graph Model: Relazioni</a:t>
            </a:r>
          </a:p>
        </p:txBody>
      </p:sp>
      <p:sp>
        <p:nvSpPr>
          <p:cNvPr id="3" name="TextBox 2"/>
          <p:cNvSpPr txBox="1"/>
          <p:nvPr/>
        </p:nvSpPr>
        <p:spPr>
          <a:xfrm>
            <a:off x="731520" y="1051560"/>
            <a:ext cx="5029200" cy="411480"/>
          </a:xfrm>
          <a:prstGeom prst="rect">
            <a:avLst/>
          </a:prstGeom>
          <a:noFill/>
        </p:spPr>
        <p:txBody>
          <a:bodyPr wrap="square">
            <a:spAutoFit/>
          </a:bodyPr>
          <a:lstStyle/>
          <a:p>
            <a:pPr algn="l">
              <a:defRPr sz="1800" b="1">
                <a:solidFill>
                  <a:srgbClr val="F08040"/>
                </a:solidFill>
                <a:latin typeface="Calibri"/>
              </a:defRPr>
            </a:pPr>
            <a:r>
              <a:t>Relazioni (Edge)</a:t>
            </a:r>
          </a:p>
        </p:txBody>
      </p:sp>
      <p:sp>
        <p:nvSpPr>
          <p:cNvPr id="4" name="TextBox 3"/>
          <p:cNvSpPr txBox="1"/>
          <p:nvPr/>
        </p:nvSpPr>
        <p:spPr>
          <a:xfrm>
            <a:off x="731520" y="1508760"/>
            <a:ext cx="5029200" cy="1463040"/>
          </a:xfrm>
          <a:prstGeom prst="rect">
            <a:avLst/>
          </a:prstGeom>
          <a:noFill/>
        </p:spPr>
        <p:txBody>
          <a:bodyPr wrap="square">
            <a:spAutoFit/>
          </a:bodyPr>
          <a:lstStyle/>
          <a:p>
            <a:pPr algn="l">
              <a:spcAft>
                <a:spcPts val="300"/>
              </a:spcAft>
              <a:defRPr sz="1300">
                <a:solidFill>
                  <a:srgbClr val="FFFFFF"/>
                </a:solidFill>
                <a:latin typeface="Calibri"/>
              </a:defRPr>
            </a:pPr>
            <a:r>
              <a:t>•  Collegano sempre DUE nodi: start node → end node</a:t>
            </a:r>
          </a:p>
          <a:p>
            <a:pPr algn="l">
              <a:spcAft>
                <a:spcPts val="300"/>
              </a:spcAft>
              <a:defRPr sz="1300">
                <a:solidFill>
                  <a:srgbClr val="FFFFFF"/>
                </a:solidFill>
                <a:latin typeface="Calibri"/>
              </a:defRPr>
            </a:pPr>
            <a:r>
              <a:t>•  Hanno un TIPO (es: HAS_SKILL, WORKED_ON, REPORTS_TO)</a:t>
            </a:r>
          </a:p>
          <a:p>
            <a:pPr algn="l">
              <a:spcAft>
                <a:spcPts val="300"/>
              </a:spcAft>
              <a:defRPr sz="1300">
                <a:solidFill>
                  <a:srgbClr val="FFFFFF"/>
                </a:solidFill>
                <a:latin typeface="Calibri"/>
              </a:defRPr>
            </a:pPr>
            <a:r>
              <a:t>•  Sono direzionali ma si possono traversare in entrambi i sensi</a:t>
            </a:r>
          </a:p>
          <a:p>
            <a:pPr algn="l">
              <a:spcAft>
                <a:spcPts val="300"/>
              </a:spcAft>
              <a:defRPr sz="1300">
                <a:solidFill>
                  <a:srgbClr val="FFFFFF"/>
                </a:solidFill>
                <a:latin typeface="Calibri"/>
              </a:defRPr>
            </a:pPr>
            <a:r>
              <a:t>•  Possono avere proprietà (es: proficiency su HAS_SKILL)</a:t>
            </a:r>
          </a:p>
          <a:p>
            <a:pPr algn="l">
              <a:spcAft>
                <a:spcPts val="300"/>
              </a:spcAft>
              <a:defRPr sz="1300">
                <a:solidFill>
                  <a:srgbClr val="FFFFFF"/>
                </a:solidFill>
                <a:latin typeface="Calibri"/>
              </a:defRPr>
            </a:pPr>
            <a:r>
              <a:t>•  A differenza delle FK, sono memorizzate fisicamente</a:t>
            </a:r>
          </a:p>
        </p:txBody>
      </p:sp>
      <p:sp>
        <p:nvSpPr>
          <p:cNvPr id="5" name="TextBox 4"/>
          <p:cNvSpPr txBox="1"/>
          <p:nvPr/>
        </p:nvSpPr>
        <p:spPr>
          <a:xfrm>
            <a:off x="5669280" y="1051560"/>
            <a:ext cx="4846320" cy="411480"/>
          </a:xfrm>
          <a:prstGeom prst="rect">
            <a:avLst/>
          </a:prstGeom>
          <a:noFill/>
        </p:spPr>
        <p:txBody>
          <a:bodyPr wrap="square">
            <a:spAutoFit/>
          </a:bodyPr>
          <a:lstStyle/>
          <a:p>
            <a:pPr algn="l">
              <a:defRPr sz="1800" b="1">
                <a:solidFill>
                  <a:srgbClr val="F08040"/>
                </a:solidFill>
                <a:latin typeface="Calibri"/>
              </a:defRPr>
            </a:pPr>
            <a:r>
              <a:t>Notazione Cypher</a:t>
            </a:r>
          </a:p>
        </p:txBody>
      </p:sp>
      <p:sp>
        <p:nvSpPr>
          <p:cNvPr id="6" name="TextBox 5"/>
          <p:cNvSpPr txBox="1"/>
          <p:nvPr/>
        </p:nvSpPr>
        <p:spPr>
          <a:xfrm>
            <a:off x="5669280" y="1508760"/>
            <a:ext cx="4846320" cy="1463040"/>
          </a:xfrm>
          <a:prstGeom prst="rect">
            <a:avLst/>
          </a:prstGeom>
          <a:noFill/>
        </p:spPr>
        <p:txBody>
          <a:bodyPr wrap="square">
            <a:spAutoFit/>
          </a:bodyPr>
          <a:lstStyle/>
          <a:p>
            <a:pPr algn="l">
              <a:defRPr sz="1100" b="0">
                <a:solidFill>
                  <a:srgbClr val="7EC68E"/>
                </a:solidFill>
                <a:latin typeface="Consolas"/>
              </a:defRPr>
            </a:pPr>
            <a:r>
              <a:t>(:Person)                    // nodo</a:t>
            </a:r>
            <a:br/>
            <a:r>
              <a:t>  |</a:t>
            </a:r>
            <a:br/>
            <a:r>
              <a:t>  [:HAS_SKILL {proficiency: 5}] // relazione</a:t>
            </a:r>
            <a:br/>
            <a:r>
              <a:t>  └─▶ (:Skill {name: "Python"}) // nodo destinazione</a:t>
            </a:r>
            <a:br/>
            <a:br/>
            <a:r>
              <a:t>Ogni freccia è un record fisico</a:t>
            </a:r>
            <a:br/>
            <a:r>
              <a:t>nel database: O(1) per traversarla.</a:t>
            </a:r>
          </a:p>
        </p:txBody>
      </p:sp>
      <p:sp>
        <p:nvSpPr>
          <p:cNvPr id="7" name="Rectangle 6"/>
          <p:cNvSpPr/>
          <p:nvPr/>
        </p:nvSpPr>
        <p:spPr>
          <a:xfrm>
            <a:off x="731520" y="32004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474720"/>
            <a:ext cx="10515600" cy="365760"/>
          </a:xfrm>
          <a:prstGeom prst="rect">
            <a:avLst/>
          </a:prstGeom>
          <a:noFill/>
        </p:spPr>
        <p:txBody>
          <a:bodyPr wrap="square">
            <a:spAutoFit/>
          </a:bodyPr>
          <a:lstStyle/>
          <a:p>
            <a:pPr algn="l">
              <a:defRPr sz="1500" b="1">
                <a:solidFill>
                  <a:srgbClr val="F0C040"/>
                </a:solidFill>
                <a:latin typeface="Calibri"/>
              </a:defRPr>
            </a:pPr>
            <a:r>
              <a:t>Relazioni del progetto Org Graph:</a:t>
            </a:r>
          </a:p>
        </p:txBody>
      </p:sp>
      <p:sp>
        <p:nvSpPr>
          <p:cNvPr id="9" name="TextBox 8"/>
          <p:cNvSpPr txBox="1"/>
          <p:nvPr/>
        </p:nvSpPr>
        <p:spPr>
          <a:xfrm>
            <a:off x="731520" y="3931920"/>
            <a:ext cx="3474720" cy="1828800"/>
          </a:xfrm>
          <a:prstGeom prst="rect">
            <a:avLst/>
          </a:prstGeom>
          <a:noFill/>
        </p:spPr>
        <p:txBody>
          <a:bodyPr wrap="square">
            <a:spAutoFit/>
          </a:bodyPr>
          <a:lstStyle/>
          <a:p>
            <a:pPr algn="l">
              <a:spcAft>
                <a:spcPts val="300"/>
              </a:spcAft>
              <a:defRPr sz="1200">
                <a:solidFill>
                  <a:srgbClr val="FFFFFF"/>
                </a:solidFill>
                <a:latin typeface="Calibri"/>
              </a:defRPr>
            </a:pPr>
            <a:r>
              <a:t>•  (p:Person)-[:HAS_SKILL {proficiency: 5}]-&gt;(s:Skill)</a:t>
            </a:r>
          </a:p>
          <a:p>
            <a:pPr algn="l">
              <a:spcAft>
                <a:spcPts val="300"/>
              </a:spcAft>
              <a:defRPr sz="1200">
                <a:solidFill>
                  <a:srgbClr val="FFFFFF"/>
                </a:solidFill>
                <a:latin typeface="Calibri"/>
              </a:defRPr>
            </a:pPr>
            <a:r>
              <a:t>  — Mario ha Python con livello 5</a:t>
            </a:r>
          </a:p>
          <a:p>
            <a:pPr algn="l">
              <a:spcAft>
                <a:spcPts val="300"/>
              </a:spcAft>
              <a:defRPr sz="1200">
                <a:solidFill>
                  <a:srgbClr val="FFFFFF"/>
                </a:solidFill>
                <a:latin typeface="Calibri"/>
              </a:defRPr>
            </a:pPr>
            <a:r>
              <a:t>•  (p:Person)-[:WORKED_ON {role: 'Developer'}]-&gt;(proj:Project)</a:t>
            </a:r>
          </a:p>
          <a:p>
            <a:pPr algn="l">
              <a:spcAft>
                <a:spcPts val="300"/>
              </a:spcAft>
              <a:defRPr sz="1200">
                <a:solidFill>
                  <a:srgbClr val="FFFFFF"/>
                </a:solidFill>
                <a:latin typeface="Calibri"/>
              </a:defRPr>
            </a:pPr>
            <a:r>
              <a:t>  — Mario ha lavorato al progetto AI Platform</a:t>
            </a:r>
          </a:p>
          <a:p>
            <a:pPr algn="l">
              <a:spcAft>
                <a:spcPts val="300"/>
              </a:spcAft>
              <a:defRPr sz="1200">
                <a:solidFill>
                  <a:srgbClr val="FFFFFF"/>
                </a:solidFill>
                <a:latin typeface="Calibri"/>
              </a:defRPr>
            </a:pPr>
            <a:r>
              <a:t>•  (p:Person)-[:REPORTS_TO]-&gt;(sup:Supervisor)</a:t>
            </a:r>
          </a:p>
          <a:p>
            <a:pPr algn="l">
              <a:spcAft>
                <a:spcPts val="300"/>
              </a:spcAft>
              <a:defRPr sz="1200">
                <a:solidFill>
                  <a:srgbClr val="FFFFFF"/>
                </a:solidFill>
                <a:latin typeface="Calibri"/>
              </a:defRPr>
            </a:pPr>
            <a:r>
              <a:t>  — Mario riporta ad Anna Bianchi</a:t>
            </a:r>
          </a:p>
        </p:txBody>
      </p:sp>
      <p:sp>
        <p:nvSpPr>
          <p:cNvPr id="10" name="TextBox 9"/>
          <p:cNvSpPr txBox="1"/>
          <p:nvPr/>
        </p:nvSpPr>
        <p:spPr>
          <a:xfrm>
            <a:off x="4114800" y="3931920"/>
            <a:ext cx="6400800" cy="1828800"/>
          </a:xfrm>
          <a:prstGeom prst="rect">
            <a:avLst/>
          </a:prstGeom>
          <a:noFill/>
        </p:spPr>
        <p:txBody>
          <a:bodyPr wrap="square">
            <a:spAutoFit/>
          </a:bodyPr>
          <a:lstStyle/>
          <a:p>
            <a:pPr algn="l">
              <a:defRPr sz="1400" b="0">
                <a:solidFill>
                  <a:srgbClr val="CCCCCC"/>
                </a:solidFill>
                <a:latin typeface="Calibri"/>
              </a:defRPr>
            </a:pPr>
            <a:r>
              <a:t>Ogni relazione è univoca nel suo significato:</a:t>
            </a:r>
            <a:br/>
            <a:r>
              <a:t>HAS_SKILL = competenza, WORKED_ON = esperienza, REPORTS_TO = gerarchia.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Perché Neo4j?</a:t>
            </a:r>
          </a:p>
        </p:txBody>
      </p:sp>
      <p:sp>
        <p:nvSpPr>
          <p:cNvPr id="3" name="TextBox 2"/>
          <p:cNvSpPr txBox="1"/>
          <p:nvPr/>
        </p:nvSpPr>
        <p:spPr>
          <a:xfrm>
            <a:off x="731520" y="1051560"/>
            <a:ext cx="5029200" cy="3474720"/>
          </a:xfrm>
          <a:prstGeom prst="rect">
            <a:avLst/>
          </a:prstGeom>
          <a:noFill/>
        </p:spPr>
        <p:txBody>
          <a:bodyPr wrap="square">
            <a:spAutoFit/>
          </a:bodyPr>
          <a:lstStyle/>
          <a:p>
            <a:pPr algn="l">
              <a:spcAft>
                <a:spcPts val="800"/>
              </a:spcAft>
              <a:defRPr sz="1400">
                <a:solidFill>
                  <a:srgbClr val="FFFFFF"/>
                </a:solidFill>
                <a:latin typeface="Calibri"/>
              </a:defRPr>
            </a:pPr>
            <a:r>
              <a:t>•  Native graph storage — architettura ottimizzata per grafi dal kernel</a:t>
            </a:r>
          </a:p>
          <a:p>
            <a:pPr algn="l">
              <a:spcAft>
                <a:spcPts val="800"/>
              </a:spcAft>
              <a:defRPr sz="1400">
                <a:solidFill>
                  <a:srgbClr val="FFFFFF"/>
                </a:solidFill>
                <a:latin typeface="Calibri"/>
              </a:defRPr>
            </a:pPr>
            <a:r>
              <a:t>•  Index-free adjacency — traversal senza lookup, O(1) per hop</a:t>
            </a:r>
          </a:p>
          <a:p>
            <a:pPr algn="l">
              <a:spcAft>
                <a:spcPts val="800"/>
              </a:spcAft>
              <a:defRPr sz="1400">
                <a:solidFill>
                  <a:srgbClr val="FFFFFF"/>
                </a:solidFill>
                <a:latin typeface="Calibri"/>
              </a:defRPr>
            </a:pPr>
            <a:r>
              <a:t>•  ACID compliant — transazioni complete (commit/rollback)</a:t>
            </a:r>
          </a:p>
          <a:p>
            <a:pPr algn="l">
              <a:spcAft>
                <a:spcPts val="800"/>
              </a:spcAft>
              <a:defRPr sz="1400">
                <a:solidFill>
                  <a:srgbClr val="FFFFFF"/>
                </a:solidFill>
                <a:latin typeface="Calibri"/>
              </a:defRPr>
            </a:pPr>
            <a:r>
              <a:t>•  Cypher: linguaggio dichiarativo pattern-based, standard ISO (GQL)</a:t>
            </a:r>
          </a:p>
          <a:p>
            <a:pPr algn="l">
              <a:spcAft>
                <a:spcPts val="800"/>
              </a:spcAft>
              <a:defRPr sz="1400">
                <a:solidFill>
                  <a:srgbClr val="FFFFFF"/>
                </a:solidFill>
                <a:latin typeface="Calibri"/>
              </a:defRPr>
            </a:pPr>
            <a:r>
              <a:t>•  Cypher è leggibile: MATCH (a)-[:LOVES]-&gt;(b) → “a ama b”</a:t>
            </a:r>
          </a:p>
          <a:p>
            <a:pPr algn="l">
              <a:spcAft>
                <a:spcPts val="800"/>
              </a:spcAft>
              <a:defRPr sz="1400">
                <a:solidFill>
                  <a:srgbClr val="FFFFFF"/>
                </a:solidFill>
                <a:latin typeface="Calibri"/>
              </a:defRPr>
            </a:pPr>
            <a:r>
              <a:t>•  Open source (Community) + Enterprise (clustering, backup, SSO)</a:t>
            </a:r>
          </a:p>
        </p:txBody>
      </p:sp>
      <p:sp>
        <p:nvSpPr>
          <p:cNvPr id="4" name="TextBox 3"/>
          <p:cNvSpPr txBox="1"/>
          <p:nvPr/>
        </p:nvSpPr>
        <p:spPr>
          <a:xfrm>
            <a:off x="5669280" y="1051560"/>
            <a:ext cx="4846320" cy="3474720"/>
          </a:xfrm>
          <a:prstGeom prst="rect">
            <a:avLst/>
          </a:prstGeom>
          <a:noFill/>
        </p:spPr>
        <p:txBody>
          <a:bodyPr wrap="square">
            <a:spAutoFit/>
          </a:bodyPr>
          <a:lstStyle/>
          <a:p>
            <a:pPr algn="l">
              <a:defRPr sz="1100" b="0">
                <a:solidFill>
                  <a:srgbClr val="7EC68E"/>
                </a:solidFill>
                <a:latin typeface="Consolas"/>
              </a:defRPr>
            </a:pPr>
            <a:r>
              <a:t>DB relazionale:</a:t>
            </a:r>
            <a:br/>
            <a:r>
              <a:t>  SELECT * FROM persone p</a:t>
            </a:r>
            <a:br/>
            <a:r>
              <a:t>  JOIN skill s ON p.id = s.persona_id</a:t>
            </a:r>
            <a:br/>
            <a:r>
              <a:t>  WHERE p.nome = 'Mario'</a:t>
            </a:r>
            <a:br/>
            <a:r>
              <a:t>  -- JOIN = calcolato al volo</a:t>
            </a:r>
            <a:br/>
            <a:br/>
            <a:r>
              <a:t>Neo4j:</a:t>
            </a:r>
            <a:br/>
            <a:r>
              <a:t>  MATCH (p:Person {name: 'Mario'})</a:t>
            </a:r>
            <a:br/>
            <a:r>
              <a:t>        -[:HAS_SKILL]-&gt;(s:Skill)</a:t>
            </a:r>
            <a:br/>
            <a:r>
              <a:t>  RETURN p.name, s.name</a:t>
            </a:r>
            <a:br/>
            <a:r>
              <a:t>  -- relazione = puntatore diretto</a:t>
            </a:r>
            <a:br/>
            <a:br/>
            <a:r>
              <a:t>Vantaggio: il codice riflette</a:t>
            </a:r>
            <a:br/>
            <a:r>
              <a:t>il modello mentale dei dati.</a:t>
            </a:r>
          </a:p>
        </p:txBody>
      </p:sp>
      <p:sp>
        <p:nvSpPr>
          <p:cNvPr id="5" name="Rectangle 4"/>
          <p:cNvSpPr/>
          <p:nvPr/>
        </p:nvSpPr>
        <p:spPr>
          <a:xfrm>
            <a:off x="731520" y="48463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029200"/>
            <a:ext cx="10515600" cy="365760"/>
          </a:xfrm>
          <a:prstGeom prst="rect">
            <a:avLst/>
          </a:prstGeom>
          <a:noFill/>
        </p:spPr>
        <p:txBody>
          <a:bodyPr wrap="square">
            <a:spAutoFit/>
          </a:bodyPr>
          <a:lstStyle/>
          <a:p>
            <a:pPr algn="l">
              <a:defRPr sz="1300" b="0">
                <a:solidFill>
                  <a:srgbClr val="F0C040"/>
                </a:solidFill>
                <a:latin typeface="Calibri"/>
              </a:defRPr>
            </a:pPr>
            <a:r>
              <a:t>Casi d’uso ideali: grafi della conoscenza, raccomandazioni, frodi, gerarchie, reti sociali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L’Ecosistema Neo4j</a:t>
            </a:r>
          </a:p>
        </p:txBody>
      </p:sp>
      <p:sp>
        <p:nvSpPr>
          <p:cNvPr id="3" name="TextBox 2"/>
          <p:cNvSpPr txBox="1"/>
          <p:nvPr/>
        </p:nvSpPr>
        <p:spPr>
          <a:xfrm>
            <a:off x="731520" y="1051560"/>
            <a:ext cx="5029200" cy="2286000"/>
          </a:xfrm>
          <a:prstGeom prst="rect">
            <a:avLst/>
          </a:prstGeom>
          <a:noFill/>
        </p:spPr>
        <p:txBody>
          <a:bodyPr wrap="square">
            <a:spAutoFit/>
          </a:bodyPr>
          <a:lstStyle/>
          <a:p>
            <a:pPr algn="l">
              <a:spcAft>
                <a:spcPts val="0"/>
              </a:spcAft>
              <a:defRPr sz="1200">
                <a:solidFill>
                  <a:srgbClr val="FFFFFF"/>
                </a:solidFill>
                <a:latin typeface="Calibri"/>
              </a:defRPr>
            </a:pPr>
            <a:r>
              <a:t>•  Neo4j Browser — interfaccia web per eseguire Cypher</a:t>
            </a:r>
          </a:p>
          <a:p>
            <a:pPr algn="l">
              <a:spcAft>
                <a:spcPts val="0"/>
              </a:spcAft>
              <a:defRPr sz="1200">
                <a:solidFill>
                  <a:srgbClr val="FFFFFF"/>
                </a:solidFill>
                <a:latin typeface="Calibri"/>
              </a:defRPr>
            </a:pPr>
            <a:r>
              <a:t>  http://localhost:7474 o workspace.neo4j.io</a:t>
            </a:r>
          </a:p>
          <a:p>
            <a:pPr algn="l">
              <a:spcAft>
                <a:spcPts val="0"/>
              </a:spcAft>
              <a:defRPr sz="1200">
                <a:solidFill>
                  <a:srgbClr val="FFFFFF"/>
                </a:solidFill>
                <a:latin typeface="Calibri"/>
              </a:defRPr>
            </a:pPr>
            <a:r>
              <a:t>  Editor con syntax highlighting, visualizzazione grafica</a:t>
            </a:r>
          </a:p>
          <a:p>
            <a:pPr algn="l">
              <a:spcAft>
                <a:spcPts val="0"/>
              </a:spcAft>
              <a:defRPr sz="1200">
                <a:solidFill>
                  <a:srgbClr val="FFFFFF"/>
                </a:solidFill>
                <a:latin typeface="Calibri"/>
              </a:defRPr>
            </a:pPr>
            <a:r>
              <a:t>  :play movie-graph per tutorial interattivo</a:t>
            </a:r>
          </a:p>
          <a:p>
            <a:pPr algn="l">
              <a:spcAft>
                <a:spcPts val="0"/>
              </a:spcAft>
              <a:defRPr sz="1200">
                <a:solidFill>
                  <a:srgbClr val="FFFFFF"/>
                </a:solidFill>
                <a:latin typeface="Calibri"/>
              </a:defRPr>
            </a:pPr>
            <a:r>
              <a:t>•  Neo4j AuraDB — database cloud managed</a:t>
            </a:r>
          </a:p>
          <a:p>
            <a:pPr algn="l">
              <a:spcAft>
                <a:spcPts val="0"/>
              </a:spcAft>
              <a:defRPr sz="1200">
                <a:solidFill>
                  <a:srgbClr val="FFFFFF"/>
                </a:solidFill>
                <a:latin typeface="Calibri"/>
              </a:defRPr>
            </a:pPr>
            <a:r>
              <a:t>  Free Tier: 200k nodi, 500k relazioni</a:t>
            </a:r>
          </a:p>
          <a:p>
            <a:pPr algn="l">
              <a:spcAft>
                <a:spcPts val="0"/>
              </a:spcAft>
              <a:defRPr sz="1200">
                <a:solidFill>
                  <a:srgbClr val="FFFFFF"/>
                </a:solidFill>
                <a:latin typeface="Calibri"/>
              </a:defRPr>
            </a:pPr>
            <a:r>
              <a:t>  Zero configurazione, backup automatici, scaling</a:t>
            </a:r>
          </a:p>
          <a:p>
            <a:pPr algn="l">
              <a:spcAft>
                <a:spcPts val="0"/>
              </a:spcAft>
              <a:defRPr sz="1200">
                <a:solidFill>
                  <a:srgbClr val="FFFFFF"/>
                </a:solidFill>
                <a:latin typeface="Calibri"/>
              </a:defRPr>
            </a:pPr>
            <a:r>
              <a:t>  Usiamo AuraDB per questo corso</a:t>
            </a:r>
          </a:p>
          <a:p>
            <a:pPr algn="l">
              <a:spcAft>
                <a:spcPts val="0"/>
              </a:spcAft>
              <a:defRPr sz="1200">
                <a:solidFill>
                  <a:srgbClr val="FFFFFF"/>
                </a:solidFill>
                <a:latin typeface="Calibri"/>
              </a:defRPr>
            </a:pPr>
            <a:r>
              <a:t>•  Neo4j Bloom — visualizzazione senza scrivere Cypher</a:t>
            </a:r>
          </a:p>
          <a:p>
            <a:pPr algn="l">
              <a:spcAft>
                <a:spcPts val="0"/>
              </a:spcAft>
              <a:defRPr sz="1200">
                <a:solidFill>
                  <a:srgbClr val="FFFFFF"/>
                </a:solidFill>
                <a:latin typeface="Calibri"/>
              </a:defRPr>
            </a:pPr>
            <a:r>
              <a:t>•  Neo4j Desktop — ambiente di sviluppo locale</a:t>
            </a:r>
          </a:p>
          <a:p>
            <a:pPr algn="l">
              <a:spcAft>
                <a:spcPts val="0"/>
              </a:spcAft>
              <a:defRPr sz="1200">
                <a:solidFill>
                  <a:srgbClr val="FFFFFF"/>
                </a:solidFill>
                <a:latin typeface="Calibri"/>
              </a:defRPr>
            </a:pPr>
            <a:r>
              <a:t>•  Drivers ufficiali: Python, Java, JS, Go, .NET</a:t>
            </a:r>
          </a:p>
        </p:txBody>
      </p:sp>
      <p:sp>
        <p:nvSpPr>
          <p:cNvPr id="4" name="TextBox 3"/>
          <p:cNvSpPr txBox="1"/>
          <p:nvPr/>
        </p:nvSpPr>
        <p:spPr>
          <a:xfrm>
            <a:off x="5669280" y="1051560"/>
            <a:ext cx="4846320" cy="5029200"/>
          </a:xfrm>
          <a:prstGeom prst="rect">
            <a:avLst/>
          </a:prstGeom>
          <a:noFill/>
        </p:spPr>
        <p:txBody>
          <a:bodyPr wrap="square">
            <a:spAutoFit/>
          </a:bodyPr>
          <a:lstStyle/>
          <a:p>
            <a:pPr algn="l">
              <a:defRPr sz="1200" b="0">
                <a:solidFill>
                  <a:srgbClr val="CCCCCC"/>
                </a:solidFill>
                <a:latin typeface="Calibri"/>
              </a:defRPr>
            </a:pPr>
            <a:r>
              <a:t>Architettura:</a:t>
            </a:r>
            <a:br/>
            <a:br/>
            <a:r>
              <a:t>  [Applicazione]</a:t>
            </a:r>
            <a:br/>
            <a:r>
              <a:t>       │</a:t>
            </a:r>
            <a:br/>
            <a:r>
              <a:t>  [Driver (Python/JS/Java...)]</a:t>
            </a:r>
            <a:br/>
            <a:r>
              <a:t>       │ Bolt Protocol</a:t>
            </a:r>
            <a:br/>
            <a:r>
              <a:t>  [Neo4j Database Engine]</a:t>
            </a:r>
            <a:br/>
            <a:r>
              <a:t>       │</a:t>
            </a:r>
            <a:br/>
            <a:r>
              <a:t>  [Cypher Query Engine]</a:t>
            </a:r>
            <a:br/>
            <a:r>
              <a:t>       │</a:t>
            </a:r>
            <a:br/>
            <a:r>
              <a:t>  [Native Graph Storage]</a:t>
            </a:r>
            <a:br/>
            <a:r>
              <a:t>       │</a:t>
            </a:r>
            <a:br/>
            <a:r>
              <a:t>  [File System / Cloud]</a:t>
            </a:r>
            <a:br/>
            <a:br/>
            <a:r>
              <a:t>Browser, Bloom e Workspace sono</a:t>
            </a:r>
            <a:br/>
            <a:r>
              <a:t>UI che parlano al database via Bolt.</a:t>
            </a:r>
            <a:br/>
            <a:br/>
            <a:r>
              <a:t>Noi useremo:</a:t>
            </a:r>
            <a:br/>
            <a:r>
              <a:t>  • Python Driver (codice)</a:t>
            </a:r>
            <a:br/>
            <a:r>
              <a:t>  • Neo4j Browser (esplorazione)</a:t>
            </a:r>
            <a:br/>
            <a:r>
              <a:t>  • AuraDB (cloud)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Connettersi a Neo4j con Python</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Il driver ufficiale neo4j (v6+) gestisce pool di connessioni thread-safe.</a:t>
            </a:r>
          </a:p>
        </p:txBody>
      </p:sp>
      <p:sp>
        <p:nvSpPr>
          <p:cNvPr id="4" name="TextBox 3"/>
          <p:cNvSpPr txBox="1"/>
          <p:nvPr/>
        </p:nvSpPr>
        <p:spPr>
          <a:xfrm>
            <a:off x="731520" y="1463040"/>
            <a:ext cx="5029200" cy="1371600"/>
          </a:xfrm>
          <a:prstGeom prst="rect">
            <a:avLst/>
          </a:prstGeom>
          <a:noFill/>
        </p:spPr>
        <p:txBody>
          <a:bodyPr wrap="square">
            <a:spAutoFit/>
          </a:bodyPr>
          <a:lstStyle/>
          <a:p>
            <a:pPr algn="l">
              <a:spcAft>
                <a:spcPts val="300"/>
              </a:spcAft>
              <a:defRPr sz="1300">
                <a:solidFill>
                  <a:srgbClr val="FFFFFF"/>
                </a:solidFill>
                <a:latin typeface="Calibri"/>
              </a:defRPr>
            </a:pPr>
            <a:r>
              <a:t>•  pip install neo4j</a:t>
            </a:r>
          </a:p>
          <a:p>
            <a:pPr algn="l">
              <a:spcAft>
                <a:spcPts val="300"/>
              </a:spcAft>
              <a:defRPr sz="1300">
                <a:solidFill>
                  <a:srgbClr val="FFFFFF"/>
                </a:solidFill>
                <a:latin typeface="Calibri"/>
              </a:defRPr>
            </a:pPr>
            <a:r>
              <a:t>•  GraphDatabase.driver(URI, auth=(user, password))</a:t>
            </a:r>
          </a:p>
          <a:p>
            <a:pPr algn="l">
              <a:spcAft>
                <a:spcPts val="300"/>
              </a:spcAft>
              <a:defRPr sz="1300">
                <a:solidFill>
                  <a:srgbClr val="FFFFFF"/>
                </a:solidFill>
                <a:latin typeface="Calibri"/>
              </a:defRPr>
            </a:pPr>
            <a:r>
              <a:t>•  verify_connectivity() testa la connessione</a:t>
            </a:r>
          </a:p>
          <a:p>
            <a:pPr algn="l">
              <a:spcAft>
                <a:spcPts val="300"/>
              </a:spcAft>
              <a:defRPr sz="1300">
                <a:solidFill>
                  <a:srgbClr val="FFFFFF"/>
                </a:solidFill>
                <a:latin typeface="Calibri"/>
              </a:defRPr>
            </a:pPr>
            <a:r>
              <a:t>•  execute_query() metodo rapido (v6+)</a:t>
            </a:r>
          </a:p>
          <a:p>
            <a:pPr algn="l">
              <a:spcAft>
                <a:spcPts val="300"/>
              </a:spcAft>
              <a:defRPr sz="1300">
                <a:solidFill>
                  <a:srgbClr val="FFFFFF"/>
                </a:solidFill>
                <a:latin typeface="Calibri"/>
              </a:defRPr>
            </a:pPr>
            <a:r>
              <a:t>•  Chiudere con driver.close() o context manager</a:t>
            </a:r>
          </a:p>
        </p:txBody>
      </p:sp>
      <p:sp>
        <p:nvSpPr>
          <p:cNvPr id="5" name="Rectangle 4"/>
          <p:cNvSpPr/>
          <p:nvPr/>
        </p:nvSpPr>
        <p:spPr>
          <a:xfrm>
            <a:off x="5669280" y="1463040"/>
            <a:ext cx="484632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79008" y="1536192"/>
            <a:ext cx="4626864" cy="1499616"/>
          </a:xfrm>
          <a:prstGeom prst="rect">
            <a:avLst/>
          </a:prstGeom>
          <a:noFill/>
        </p:spPr>
        <p:txBody>
          <a:bodyPr wrap="square">
            <a:spAutoFit/>
          </a:bodyPr>
          <a:lstStyle/>
          <a:p>
            <a:pPr>
              <a:spcAft>
                <a:spcPts val="100"/>
              </a:spcAft>
              <a:defRPr sz="1000">
                <a:solidFill>
                  <a:srgbClr val="7EC68E"/>
                </a:solidFill>
                <a:latin typeface="Consolas"/>
              </a:defRPr>
            </a:pPr>
            <a:r>
              <a:t>from neo4j import GraphDatabase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URI  = "neo4j+s://&lt;id&gt;.databases.neo4j.io:7687"</a:t>
            </a:r>
          </a:p>
          <a:p>
            <a:pPr>
              <a:spcAft>
                <a:spcPts val="100"/>
              </a:spcAft>
              <a:defRPr sz="1000">
                <a:solidFill>
                  <a:srgbClr val="7EC68E"/>
                </a:solidFill>
                <a:latin typeface="Consolas"/>
              </a:defRPr>
            </a:pPr>
            <a:r>
              <a:t>USER = "neo4j"</a:t>
            </a:r>
          </a:p>
          <a:p>
            <a:pPr>
              <a:spcAft>
                <a:spcPts val="100"/>
              </a:spcAft>
              <a:defRPr sz="1000">
                <a:solidFill>
                  <a:srgbClr val="7EC68E"/>
                </a:solidFill>
                <a:latin typeface="Consolas"/>
              </a:defRPr>
            </a:pPr>
            <a:r>
              <a:t>PASS = "&lt;password&gt;"</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driver = GraphDatabase.driver(</a:t>
            </a:r>
          </a:p>
          <a:p>
            <a:pPr>
              <a:spcAft>
                <a:spcPts val="100"/>
              </a:spcAft>
              <a:defRPr sz="1000">
                <a:solidFill>
                  <a:srgbClr val="7EC68E"/>
                </a:solidFill>
                <a:latin typeface="Consolas"/>
              </a:defRPr>
            </a:pPr>
            <a:r>
              <a:t>    URI, auth=(USER, PASS))</a:t>
            </a:r>
          </a:p>
          <a:p>
            <a:pPr>
              <a:spcAft>
                <a:spcPts val="100"/>
              </a:spcAft>
              <a:defRPr sz="1000">
                <a:solidFill>
                  <a:srgbClr val="7EC68E"/>
                </a:solidFill>
                <a:latin typeface="Consolas"/>
              </a:defRPr>
            </a:pPr>
            <a:r>
              <a:t>driver.verify_connectivity()</a:t>
            </a:r>
          </a:p>
        </p:txBody>
      </p:sp>
      <p:sp>
        <p:nvSpPr>
          <p:cNvPr id="7" name="Rectangle 6"/>
          <p:cNvSpPr/>
          <p:nvPr/>
        </p:nvSpPr>
        <p:spPr>
          <a:xfrm>
            <a:off x="731520" y="32004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383280"/>
            <a:ext cx="10515600" cy="365760"/>
          </a:xfrm>
          <a:prstGeom prst="rect">
            <a:avLst/>
          </a:prstGeom>
          <a:noFill/>
        </p:spPr>
        <p:txBody>
          <a:bodyPr wrap="square">
            <a:spAutoFit/>
          </a:bodyPr>
          <a:lstStyle/>
          <a:p>
            <a:pPr algn="l">
              <a:defRPr sz="1500" b="1">
                <a:solidFill>
                  <a:srgbClr val="F08040"/>
                </a:solidFill>
                <a:latin typeface="Calibri"/>
              </a:defRPr>
            </a:pPr>
            <a:r>
              <a:t>Metodi principali del driver</a:t>
            </a:r>
          </a:p>
        </p:txBody>
      </p:sp>
      <p:sp>
        <p:nvSpPr>
          <p:cNvPr id="9" name="TextBox 8"/>
          <p:cNvSpPr txBox="1"/>
          <p:nvPr/>
        </p:nvSpPr>
        <p:spPr>
          <a:xfrm>
            <a:off x="731520" y="3794760"/>
            <a:ext cx="3657600" cy="2286000"/>
          </a:xfrm>
          <a:prstGeom prst="rect">
            <a:avLst/>
          </a:prstGeom>
          <a:noFill/>
        </p:spPr>
        <p:txBody>
          <a:bodyPr wrap="square">
            <a:spAutoFit/>
          </a:bodyPr>
          <a:lstStyle/>
          <a:p>
            <a:pPr algn="l">
              <a:defRPr sz="1100" b="0">
                <a:solidFill>
                  <a:srgbClr val="7EC68E"/>
                </a:solidFill>
                <a:latin typeface="Consolas"/>
              </a:defRPr>
            </a:pPr>
            <a:r>
              <a:t># Eseguire query e leggere risultati</a:t>
            </a:r>
            <a:br/>
            <a:r>
              <a:t>records, summary, keys = driver.execute_query(</a:t>
            </a:r>
            <a:br/>
            <a:r>
              <a:t>    "MATCH (p:Person) "</a:t>
            </a:r>
            <a:br/>
            <a:r>
              <a:t>    "RETURN p.name, p.location "</a:t>
            </a:r>
            <a:br/>
            <a:r>
              <a:t>    "LIMIT 5")</a:t>
            </a:r>
            <a:br/>
            <a:r>
              <a:t>for r in records:</a:t>
            </a:r>
            <a:br/>
            <a:r>
              <a:t>    print(r["p.name"], r["p.location"])</a:t>
            </a:r>
            <a:br/>
            <a:br/>
            <a:r>
              <a:t># Con parametri (sicuro, performante)</a:t>
            </a:r>
            <a:br/>
            <a:r>
              <a:t>driver.execute_query(</a:t>
            </a:r>
            <a:br/>
            <a:r>
              <a:t>    "MATCH (p:Person {location: $loc}) "</a:t>
            </a:r>
            <a:br/>
            <a:r>
              <a:t>    "RETURN p.name",</a:t>
            </a:r>
            <a:br/>
            <a:r>
              <a:t>    loc="Roma")</a:t>
            </a:r>
          </a:p>
        </p:txBody>
      </p:sp>
      <p:sp>
        <p:nvSpPr>
          <p:cNvPr id="10" name="TextBox 9"/>
          <p:cNvSpPr txBox="1"/>
          <p:nvPr/>
        </p:nvSpPr>
        <p:spPr>
          <a:xfrm>
            <a:off x="4114800" y="3794760"/>
            <a:ext cx="6400800" cy="2286000"/>
          </a:xfrm>
          <a:prstGeom prst="rect">
            <a:avLst/>
          </a:prstGeom>
          <a:noFill/>
        </p:spPr>
        <p:txBody>
          <a:bodyPr wrap="square">
            <a:spAutoFit/>
          </a:bodyPr>
          <a:lstStyle/>
          <a:p>
            <a:pPr algn="l">
              <a:defRPr sz="1200" b="0">
                <a:solidFill>
                  <a:srgbClr val="CCCCCC"/>
                </a:solidFill>
                <a:latin typeface="Calibri"/>
              </a:defRPr>
            </a:pPr>
            <a:r>
              <a:t>Perché i parametri ($loc) invece</a:t>
            </a:r>
            <a:br/>
            <a:r>
              <a:t>di stringhe concatenate?</a:t>
            </a:r>
            <a:br/>
            <a:br/>
            <a:r>
              <a:t>1. Sicurezza: previene Cypher Injection</a:t>
            </a:r>
            <a:br/>
            <a:r>
              <a:t>2. Performance: il piano viene cacheato</a:t>
            </a:r>
            <a:br/>
            <a:r>
              <a:t>3. Type safety: il driver gestisce</a:t>
            </a:r>
            <a:br/>
            <a:r>
              <a:t>   la conversione dei tipi automaticamente</a:t>
            </a:r>
            <a:br/>
            <a:br/>
            <a:r>
              <a:t>Injection esempio EVITARE:</a:t>
            </a:r>
            <a:br/>
            <a:r>
              <a:t>  f"... location = '{valore}'"  ✖</a:t>
            </a:r>
            <a:br/>
            <a:r>
              <a:t>Usare parametri: location = $valore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Cypher: Pattern Matching</a:t>
            </a:r>
          </a:p>
        </p:txBody>
      </p:sp>
      <p:sp>
        <p:nvSpPr>
          <p:cNvPr id="3" name="TextBox 2"/>
          <p:cNvSpPr txBox="1"/>
          <p:nvPr/>
        </p:nvSpPr>
        <p:spPr>
          <a:xfrm>
            <a:off x="731520" y="914400"/>
            <a:ext cx="10515600" cy="457200"/>
          </a:xfrm>
          <a:prstGeom prst="rect">
            <a:avLst/>
          </a:prstGeom>
          <a:noFill/>
        </p:spPr>
        <p:txBody>
          <a:bodyPr wrap="square">
            <a:spAutoFit/>
          </a:bodyPr>
          <a:lstStyle/>
          <a:p>
            <a:pPr algn="l">
              <a:defRPr sz="1400" b="0">
                <a:solidFill>
                  <a:srgbClr val="CCCCCC"/>
                </a:solidFill>
                <a:latin typeface="Calibri"/>
              </a:defRPr>
            </a:pPr>
            <a:r>
              <a:t>Cypher usa una sintassi ASCII-art per descrivere pattern: guardando il codice si capisce il grafo.</a:t>
            </a:r>
          </a:p>
        </p:txBody>
      </p:sp>
      <p:sp>
        <p:nvSpPr>
          <p:cNvPr id="4" name="TextBox 3"/>
          <p:cNvSpPr txBox="1"/>
          <p:nvPr/>
        </p:nvSpPr>
        <p:spPr>
          <a:xfrm>
            <a:off x="731520" y="1417320"/>
            <a:ext cx="3657600" cy="411480"/>
          </a:xfrm>
          <a:prstGeom prst="rect">
            <a:avLst/>
          </a:prstGeom>
          <a:noFill/>
        </p:spPr>
        <p:txBody>
          <a:bodyPr wrap="square">
            <a:spAutoFit/>
          </a:bodyPr>
          <a:lstStyle/>
          <a:p>
            <a:pPr algn="l">
              <a:defRPr sz="1600" b="1">
                <a:solidFill>
                  <a:srgbClr val="F08040"/>
                </a:solidFill>
                <a:latin typeface="Calibri"/>
              </a:defRPr>
            </a:pPr>
            <a:r>
              <a:t>Pattern per NODI</a:t>
            </a:r>
          </a:p>
        </p:txBody>
      </p:sp>
      <p:sp>
        <p:nvSpPr>
          <p:cNvPr id="5" name="Rectangle 4"/>
          <p:cNvSpPr/>
          <p:nvPr/>
        </p:nvSpPr>
        <p:spPr>
          <a:xfrm>
            <a:off x="731520" y="1874519"/>
            <a:ext cx="3657600" cy="1188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947671"/>
            <a:ext cx="3438144" cy="1042416"/>
          </a:xfrm>
          <a:prstGeom prst="rect">
            <a:avLst/>
          </a:prstGeom>
          <a:noFill/>
        </p:spPr>
        <p:txBody>
          <a:bodyPr wrap="square">
            <a:spAutoFit/>
          </a:bodyPr>
          <a:lstStyle/>
          <a:p>
            <a:pPr>
              <a:spcAft>
                <a:spcPts val="100"/>
              </a:spcAft>
              <a:defRPr sz="1000">
                <a:solidFill>
                  <a:srgbClr val="7EC68E"/>
                </a:solidFill>
                <a:latin typeface="Consolas"/>
              </a:defRPr>
            </a:pPr>
            <a:r>
              <a:t>()                      // nodo generico</a:t>
            </a:r>
          </a:p>
          <a:p>
            <a:pPr>
              <a:spcAft>
                <a:spcPts val="100"/>
              </a:spcAft>
              <a:defRPr sz="1000">
                <a:solidFill>
                  <a:srgbClr val="7EC68E"/>
                </a:solidFill>
                <a:latin typeface="Consolas"/>
              </a:defRPr>
            </a:pPr>
            <a:r>
              <a:t>(:Person)               // nodo con label</a:t>
            </a:r>
          </a:p>
          <a:p>
            <a:pPr>
              <a:spcAft>
                <a:spcPts val="100"/>
              </a:spcAft>
              <a:defRPr sz="1000">
                <a:solidFill>
                  <a:srgbClr val="7EC68E"/>
                </a:solidFill>
                <a:latin typeface="Consolas"/>
              </a:defRPr>
            </a:pPr>
            <a:r>
              <a:t>(p:Person)              // con variabile</a:t>
            </a:r>
          </a:p>
          <a:p>
            <a:pPr>
              <a:spcAft>
                <a:spcPts val="100"/>
              </a:spcAft>
              <a:defRPr sz="1000">
                <a:solidFill>
                  <a:srgbClr val="7EC68E"/>
                </a:solidFill>
                <a:latin typeface="Consolas"/>
              </a:defRPr>
            </a:pPr>
            <a:r>
              <a:t>(p:Person {name:"Alice"}) // con proprietà</a:t>
            </a:r>
          </a:p>
          <a:p>
            <a:pPr>
              <a:spcAft>
                <a:spcPts val="100"/>
              </a:spcAft>
              <a:defRPr sz="1000">
                <a:solidFill>
                  <a:srgbClr val="7EC68E"/>
                </a:solidFill>
                <a:latin typeface="Consolas"/>
              </a:defRPr>
            </a:pPr>
            <a:r>
              <a:t>(a:Person:Employee)     // due labels</a:t>
            </a:r>
          </a:p>
        </p:txBody>
      </p:sp>
      <p:sp>
        <p:nvSpPr>
          <p:cNvPr id="7" name="TextBox 6"/>
          <p:cNvSpPr txBox="1"/>
          <p:nvPr/>
        </p:nvSpPr>
        <p:spPr>
          <a:xfrm>
            <a:off x="4114800" y="1417320"/>
            <a:ext cx="3657600" cy="411480"/>
          </a:xfrm>
          <a:prstGeom prst="rect">
            <a:avLst/>
          </a:prstGeom>
          <a:noFill/>
        </p:spPr>
        <p:txBody>
          <a:bodyPr wrap="square">
            <a:spAutoFit/>
          </a:bodyPr>
          <a:lstStyle/>
          <a:p>
            <a:pPr algn="l">
              <a:defRPr sz="1600" b="1">
                <a:solidFill>
                  <a:srgbClr val="F08040"/>
                </a:solidFill>
                <a:latin typeface="Calibri"/>
              </a:defRPr>
            </a:pPr>
            <a:r>
              <a:t>Pattern per RELAZIONI</a:t>
            </a:r>
          </a:p>
        </p:txBody>
      </p:sp>
      <p:sp>
        <p:nvSpPr>
          <p:cNvPr id="8" name="Rectangle 7"/>
          <p:cNvSpPr/>
          <p:nvPr/>
        </p:nvSpPr>
        <p:spPr>
          <a:xfrm>
            <a:off x="4114800" y="1874519"/>
            <a:ext cx="3657600" cy="1188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24528" y="1947671"/>
            <a:ext cx="3438144" cy="1042416"/>
          </a:xfrm>
          <a:prstGeom prst="rect">
            <a:avLst/>
          </a:prstGeom>
          <a:noFill/>
        </p:spPr>
        <p:txBody>
          <a:bodyPr wrap="square">
            <a:spAutoFit/>
          </a:bodyPr>
          <a:lstStyle/>
          <a:p>
            <a:pPr>
              <a:spcAft>
                <a:spcPts val="100"/>
              </a:spcAft>
              <a:defRPr sz="1000">
                <a:solidFill>
                  <a:srgbClr val="7EC68E"/>
                </a:solidFill>
                <a:latin typeface="Consolas"/>
              </a:defRPr>
            </a:pPr>
            <a:r>
              <a:t>(p)-[:HAS_SKILL]-&gt;(s)    // uscita</a:t>
            </a:r>
          </a:p>
          <a:p>
            <a:pPr>
              <a:spcAft>
                <a:spcPts val="100"/>
              </a:spcAft>
              <a:defRPr sz="1000">
                <a:solidFill>
                  <a:srgbClr val="7EC68E"/>
                </a:solidFill>
                <a:latin typeface="Consolas"/>
              </a:defRPr>
            </a:pPr>
            <a:r>
              <a:t>(p)&lt;-[:REPORTS_TO]-(s)   // entrata</a:t>
            </a:r>
          </a:p>
          <a:p>
            <a:pPr>
              <a:spcAft>
                <a:spcPts val="100"/>
              </a:spcAft>
              <a:defRPr sz="1000">
                <a:solidFill>
                  <a:srgbClr val="7EC68E"/>
                </a:solidFill>
                <a:latin typeface="Consolas"/>
              </a:defRPr>
            </a:pPr>
            <a:r>
              <a:t>(p)-[r:HAS_SKILL]-&gt;(s)   // con variabile</a:t>
            </a:r>
          </a:p>
          <a:p>
            <a:pPr>
              <a:spcAft>
                <a:spcPts val="100"/>
              </a:spcAft>
              <a:defRPr sz="1000">
                <a:solidFill>
                  <a:srgbClr val="7EC68E"/>
                </a:solidFill>
                <a:latin typeface="Consolas"/>
              </a:defRPr>
            </a:pPr>
            <a:r>
              <a:t>(p)-[h {proficiency:5}]-&gt;(s) // con props</a:t>
            </a:r>
          </a:p>
          <a:p>
            <a:pPr>
              <a:spcAft>
                <a:spcPts val="100"/>
              </a:spcAft>
              <a:defRPr sz="1000">
                <a:solidFill>
                  <a:srgbClr val="7EC68E"/>
                </a:solidFill>
                <a:latin typeface="Consolas"/>
              </a:defRPr>
            </a:pPr>
            <a:r>
              <a:t>(p)-[:KNOWS*1..3]-(q)    // profondità variabile</a:t>
            </a:r>
          </a:p>
        </p:txBody>
      </p:sp>
      <p:sp>
        <p:nvSpPr>
          <p:cNvPr id="10" name="TextBox 9"/>
          <p:cNvSpPr txBox="1"/>
          <p:nvPr/>
        </p:nvSpPr>
        <p:spPr>
          <a:xfrm>
            <a:off x="7772400" y="1417320"/>
            <a:ext cx="3657600" cy="411480"/>
          </a:xfrm>
          <a:prstGeom prst="rect">
            <a:avLst/>
          </a:prstGeom>
          <a:noFill/>
        </p:spPr>
        <p:txBody>
          <a:bodyPr wrap="square">
            <a:spAutoFit/>
          </a:bodyPr>
          <a:lstStyle/>
          <a:p>
            <a:pPr algn="l">
              <a:defRPr sz="1600" b="1">
                <a:solidFill>
                  <a:srgbClr val="F08040"/>
                </a:solidFill>
                <a:latin typeface="Calibri"/>
              </a:defRPr>
            </a:pPr>
            <a:r>
              <a:t>Struttura query</a:t>
            </a:r>
          </a:p>
        </p:txBody>
      </p:sp>
      <p:sp>
        <p:nvSpPr>
          <p:cNvPr id="11" name="Rectangle 10"/>
          <p:cNvSpPr/>
          <p:nvPr/>
        </p:nvSpPr>
        <p:spPr>
          <a:xfrm>
            <a:off x="7772400" y="1874519"/>
            <a:ext cx="2743200" cy="1188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82128" y="1947671"/>
            <a:ext cx="2523744" cy="1042416"/>
          </a:xfrm>
          <a:prstGeom prst="rect">
            <a:avLst/>
          </a:prstGeom>
          <a:noFill/>
        </p:spPr>
        <p:txBody>
          <a:bodyPr wrap="square">
            <a:spAutoFit/>
          </a:bodyPr>
          <a:lstStyle/>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p.location = "Roma"</a:t>
            </a:r>
          </a:p>
          <a:p>
            <a:pPr>
              <a:spcAft>
                <a:spcPts val="100"/>
              </a:spcAft>
              <a:defRPr sz="1000">
                <a:solidFill>
                  <a:srgbClr val="7EC68E"/>
                </a:solidFill>
                <a:latin typeface="Consolas"/>
              </a:defRPr>
            </a:pPr>
            <a:r>
              <a:t>RETURN p.name, p.title</a:t>
            </a:r>
          </a:p>
          <a:p>
            <a:pPr>
              <a:spcAft>
                <a:spcPts val="100"/>
              </a:spcAft>
              <a:defRPr sz="1000">
                <a:solidFill>
                  <a:srgbClr val="7EC68E"/>
                </a:solidFill>
                <a:latin typeface="Consolas"/>
              </a:defRPr>
            </a:pPr>
            <a:r>
              <a:t>ORDER BY p.name</a:t>
            </a:r>
          </a:p>
          <a:p>
            <a:pPr>
              <a:spcAft>
                <a:spcPts val="100"/>
              </a:spcAft>
              <a:defRPr sz="1000">
                <a:solidFill>
                  <a:srgbClr val="7EC68E"/>
                </a:solidFill>
                <a:latin typeface="Consolas"/>
              </a:defRPr>
            </a:pPr>
            <a:r>
              <a:t>LIMIT  10;</a:t>
            </a:r>
          </a:p>
        </p:txBody>
      </p:sp>
      <p:sp>
        <p:nvSpPr>
          <p:cNvPr id="13" name="Rectangle 12"/>
          <p:cNvSpPr/>
          <p:nvPr/>
        </p:nvSpPr>
        <p:spPr>
          <a:xfrm>
            <a:off x="731520" y="32918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520440"/>
            <a:ext cx="10515600" cy="365760"/>
          </a:xfrm>
          <a:prstGeom prst="rect">
            <a:avLst/>
          </a:prstGeom>
          <a:noFill/>
        </p:spPr>
        <p:txBody>
          <a:bodyPr wrap="square">
            <a:spAutoFit/>
          </a:bodyPr>
          <a:lstStyle/>
          <a:p>
            <a:pPr algn="l">
              <a:defRPr sz="1500" b="1">
                <a:solidFill>
                  <a:srgbClr val="F0C040"/>
                </a:solidFill>
                <a:latin typeface="Calibri"/>
              </a:defRPr>
            </a:pPr>
            <a:r>
              <a:t>Regole fondamentali:</a:t>
            </a:r>
          </a:p>
        </p:txBody>
      </p:sp>
      <p:sp>
        <p:nvSpPr>
          <p:cNvPr id="15" name="TextBox 14"/>
          <p:cNvSpPr txBox="1"/>
          <p:nvPr/>
        </p:nvSpPr>
        <p:spPr>
          <a:xfrm>
            <a:off x="731520" y="3931920"/>
            <a:ext cx="10515600" cy="1828800"/>
          </a:xfrm>
          <a:prstGeom prst="rect">
            <a:avLst/>
          </a:prstGeom>
          <a:noFill/>
        </p:spPr>
        <p:txBody>
          <a:bodyPr wrap="square">
            <a:spAutoFit/>
          </a:bodyPr>
          <a:lstStyle/>
          <a:p>
            <a:pPr algn="l">
              <a:spcAft>
                <a:spcPts val="300"/>
              </a:spcAft>
              <a:defRPr sz="1200">
                <a:solidFill>
                  <a:srgbClr val="FFFFFF"/>
                </a:solidFill>
                <a:latin typeface="Calibri"/>
              </a:defRPr>
            </a:pPr>
            <a:r>
              <a:t>•  MATCH cerca il pattern nel grafo — se non trova corrispondenza, righe vuote</a:t>
            </a:r>
          </a:p>
          <a:p>
            <a:pPr algn="l">
              <a:spcAft>
                <a:spcPts val="300"/>
              </a:spcAft>
              <a:defRPr sz="1200">
                <a:solidFill>
                  <a:srgbClr val="FFFFFF"/>
                </a:solidFill>
                <a:latin typeface="Calibri"/>
              </a:defRPr>
            </a:pPr>
            <a:r>
              <a:t>•  La variabile (es: p) serve per riferirsi al nodo in RETURN, WHERE e altre clausole</a:t>
            </a:r>
          </a:p>
          <a:p>
            <a:pPr algn="l">
              <a:spcAft>
                <a:spcPts val="300"/>
              </a:spcAft>
              <a:defRPr sz="1200">
                <a:solidFill>
                  <a:srgbClr val="FFFFFF"/>
                </a:solidFill>
                <a:latin typeface="Calibri"/>
              </a:defRPr>
            </a:pPr>
            <a:r>
              <a:t>•  Le proprietà in MATCH filtrano: MATCH (p:Person {name: 'Alice'}) cerca quel nodo specifico</a:t>
            </a:r>
          </a:p>
          <a:p>
            <a:pPr algn="l">
              <a:spcAft>
                <a:spcPts val="300"/>
              </a:spcAft>
              <a:defRPr sz="1200">
                <a:solidFill>
                  <a:srgbClr val="FFFFFF"/>
                </a:solidFill>
                <a:latin typeface="Calibri"/>
              </a:defRPr>
            </a:pPr>
            <a:r>
              <a:t>•  La freccia indica la direzione della relazione: → uscita, ← entrata, — bidirezionale</a:t>
            </a:r>
          </a:p>
          <a:p>
            <a:pPr algn="l">
              <a:spcAft>
                <a:spcPts val="300"/>
              </a:spcAft>
              <a:defRPr sz="1200">
                <a:solidFill>
                  <a:srgbClr val="FFFFFF"/>
                </a:solidFill>
                <a:latin typeface="Calibri"/>
              </a:defRPr>
            </a:pPr>
            <a:r>
              <a:t>•  I commenti in Cypher usano // (non -- che è SQL)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Pattern MATCH: Percorsi Multipli</a:t>
            </a:r>
          </a:p>
        </p:txBody>
      </p:sp>
      <p:sp>
        <p:nvSpPr>
          <p:cNvPr id="3" name="TextBox 2"/>
          <p:cNvSpPr txBox="1"/>
          <p:nvPr/>
        </p:nvSpPr>
        <p:spPr>
          <a:xfrm>
            <a:off x="731520" y="960120"/>
            <a:ext cx="10515600" cy="365760"/>
          </a:xfrm>
          <a:prstGeom prst="rect">
            <a:avLst/>
          </a:prstGeom>
          <a:noFill/>
        </p:spPr>
        <p:txBody>
          <a:bodyPr wrap="square">
            <a:spAutoFit/>
          </a:bodyPr>
          <a:lstStyle/>
          <a:p>
            <a:pPr algn="l">
              <a:defRPr sz="1400" b="0">
                <a:solidFill>
                  <a:srgbClr val="CCCCCC"/>
                </a:solidFill>
                <a:latin typeface="Calibri"/>
              </a:defRPr>
            </a:pPr>
            <a:r>
              <a:t>Si possono concatenare più relazioni e nodi in un unico MATCH.</a:t>
            </a:r>
          </a:p>
        </p:txBody>
      </p:sp>
      <p:sp>
        <p:nvSpPr>
          <p:cNvPr id="4" name="Rectangle 3"/>
          <p:cNvSpPr/>
          <p:nvPr/>
        </p:nvSpPr>
        <p:spPr>
          <a:xfrm>
            <a:off x="731520" y="1463040"/>
            <a:ext cx="5029200" cy="219456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536192"/>
            <a:ext cx="4809744" cy="2048256"/>
          </a:xfrm>
          <a:prstGeom prst="rect">
            <a:avLst/>
          </a:prstGeom>
          <a:noFill/>
        </p:spPr>
        <p:txBody>
          <a:bodyPr wrap="square">
            <a:spAutoFit/>
          </a:bodyPr>
          <a:lstStyle/>
          <a:p>
            <a:pPr>
              <a:spcAft>
                <a:spcPts val="100"/>
              </a:spcAft>
              <a:defRPr sz="1000">
                <a:solidFill>
                  <a:srgbClr val="7EC68E"/>
                </a:solidFill>
                <a:latin typeface="Consolas"/>
              </a:defRPr>
            </a:pPr>
            <a:r>
              <a:t>// Persone che lavorano INSIEME su un progetto:</a:t>
            </a:r>
          </a:p>
          <a:p>
            <a:pPr>
              <a:spcAft>
                <a:spcPts val="100"/>
              </a:spcAft>
              <a:defRPr sz="1000">
                <a:solidFill>
                  <a:srgbClr val="7EC68E"/>
                </a:solidFill>
                <a:latin typeface="Consolas"/>
              </a:defRPr>
            </a:pPr>
            <a:r>
              <a:t>MATCH (p1:Person)-[:WORKED_ON]-&gt;(proj:Project)</a:t>
            </a:r>
          </a:p>
          <a:p>
            <a:pPr>
              <a:spcAft>
                <a:spcPts val="100"/>
              </a:spcAft>
              <a:defRPr sz="1000">
                <a:solidFill>
                  <a:srgbClr val="7EC68E"/>
                </a:solidFill>
                <a:latin typeface="Consolas"/>
              </a:defRPr>
            </a:pPr>
            <a:r>
              <a:t>      &lt;-[:WORKED_ON]-(p2:Person)</a:t>
            </a:r>
          </a:p>
          <a:p>
            <a:pPr>
              <a:spcAft>
                <a:spcPts val="100"/>
              </a:spcAft>
              <a:defRPr sz="1000">
                <a:solidFill>
                  <a:srgbClr val="7EC68E"/>
                </a:solidFill>
                <a:latin typeface="Consolas"/>
              </a:defRPr>
            </a:pPr>
            <a:r>
              <a:t>RETURN p1.name, p2.name, proj.name</a:t>
            </a:r>
          </a:p>
          <a:p>
            <a:pPr>
              <a:spcAft>
                <a:spcPts val="100"/>
              </a:spcAft>
              <a:defRPr sz="1000">
                <a:solidFill>
                  <a:srgbClr val="7EC68E"/>
                </a:solidFill>
                <a:latin typeface="Consolas"/>
              </a:defRPr>
            </a:pPr>
            <a:r>
              <a:t>LIMIT 10;</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Output:</a:t>
            </a:r>
          </a:p>
          <a:p>
            <a:pPr>
              <a:spcAft>
                <a:spcPts val="100"/>
              </a:spcAft>
              <a:defRPr sz="1000">
                <a:solidFill>
                  <a:srgbClr val="7EC68E"/>
                </a:solidFill>
                <a:latin typeface="Consolas"/>
              </a:defRPr>
            </a:pPr>
            <a:r>
              <a:t>// Alice | Bob | AI Platform</a:t>
            </a:r>
          </a:p>
          <a:p>
            <a:pPr>
              <a:spcAft>
                <a:spcPts val="100"/>
              </a:spcAft>
              <a:defRPr sz="1000">
                <a:solidFill>
                  <a:srgbClr val="7EC68E"/>
                </a:solidFill>
                <a:latin typeface="Consolas"/>
              </a:defRPr>
            </a:pPr>
            <a:r>
              <a:t>// Carlo | Diana | Data Lake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Pattern: P1 ha lavorato a un progetto</a:t>
            </a:r>
          </a:p>
          <a:p>
            <a:pPr>
              <a:spcAft>
                <a:spcPts val="100"/>
              </a:spcAft>
              <a:defRPr sz="1000">
                <a:solidFill>
                  <a:srgbClr val="7EC68E"/>
                </a:solidFill>
                <a:latin typeface="Consolas"/>
              </a:defRPr>
            </a:pPr>
            <a:r>
              <a:t>// a cui ha lavorato anche P2.</a:t>
            </a:r>
          </a:p>
          <a:p>
            <a:pPr>
              <a:spcAft>
                <a:spcPts val="100"/>
              </a:spcAft>
              <a:defRPr sz="1000">
                <a:solidFill>
                  <a:srgbClr val="7EC68E"/>
                </a:solidFill>
                <a:latin typeface="Consolas"/>
              </a:defRPr>
            </a:pPr>
            <a:r>
              <a:t>// proj è il nodo PROJECT condiviso.</a:t>
            </a:r>
          </a:p>
        </p:txBody>
      </p:sp>
      <p:sp>
        <p:nvSpPr>
          <p:cNvPr id="6" name="Rectangle 5"/>
          <p:cNvSpPr/>
          <p:nvPr/>
        </p:nvSpPr>
        <p:spPr>
          <a:xfrm>
            <a:off x="5669280" y="1463040"/>
            <a:ext cx="4846320" cy="219456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79008" y="1536192"/>
            <a:ext cx="4626864" cy="2048256"/>
          </a:xfrm>
          <a:prstGeom prst="rect">
            <a:avLst/>
          </a:prstGeom>
          <a:noFill/>
        </p:spPr>
        <p:txBody>
          <a:bodyPr wrap="square">
            <a:spAutoFit/>
          </a:bodyPr>
          <a:lstStyle/>
          <a:p>
            <a:pPr>
              <a:spcAft>
                <a:spcPts val="100"/>
              </a:spcAft>
              <a:defRPr sz="1000">
                <a:solidFill>
                  <a:srgbClr val="7EC68E"/>
                </a:solidFill>
                <a:latin typeface="Consolas"/>
              </a:defRPr>
            </a:pPr>
            <a:r>
              <a:t>// Path a profondità variabile:</a:t>
            </a:r>
          </a:p>
          <a:p>
            <a:pPr>
              <a:spcAft>
                <a:spcPts val="100"/>
              </a:spcAft>
              <a:defRPr sz="1000">
                <a:solidFill>
                  <a:srgbClr val="7EC68E"/>
                </a:solidFill>
                <a:latin typeface="Consolas"/>
              </a:defRPr>
            </a:pPr>
            <a:r>
              <a:t>// Cerchiamo persone raggiungibili via</a:t>
            </a:r>
          </a:p>
          <a:p>
            <a:pPr>
              <a:spcAft>
                <a:spcPts val="100"/>
              </a:spcAft>
              <a:defRPr sz="1000">
                <a:solidFill>
                  <a:srgbClr val="7EC68E"/>
                </a:solidFill>
                <a:latin typeface="Consolas"/>
              </a:defRPr>
            </a:pPr>
            <a:r>
              <a:t>// WORKED_ON in al massimo 3 salti:</a:t>
            </a:r>
          </a:p>
          <a:p>
            <a:pPr>
              <a:spcAft>
                <a:spcPts val="100"/>
              </a:spcAft>
              <a:defRPr sz="1000">
                <a:solidFill>
                  <a:srgbClr val="7EC68E"/>
                </a:solidFill>
                <a:latin typeface="Consolas"/>
              </a:defRPr>
            </a:pPr>
            <a:r>
              <a:t>MATCH path = (a:Person {employee_id: 1})</a:t>
            </a:r>
          </a:p>
          <a:p>
            <a:pPr>
              <a:spcAft>
                <a:spcPts val="100"/>
              </a:spcAft>
              <a:defRPr sz="1000">
                <a:solidFill>
                  <a:srgbClr val="7EC68E"/>
                </a:solidFill>
                <a:latin typeface="Consolas"/>
              </a:defRPr>
            </a:pPr>
            <a:r>
              <a:t>      -[:WORKED_ON*1..3]-(b:Person)</a:t>
            </a:r>
          </a:p>
          <a:p>
            <a:pPr>
              <a:spcAft>
                <a:spcPts val="100"/>
              </a:spcAft>
              <a:defRPr sz="1000">
                <a:solidFill>
                  <a:srgbClr val="7EC68E"/>
                </a:solidFill>
                <a:latin typeface="Consolas"/>
              </a:defRPr>
            </a:pPr>
            <a:r>
              <a:t>RETURN [n IN nodes(path) | n.name] AS percorso,</a:t>
            </a:r>
          </a:p>
          <a:p>
            <a:pPr>
              <a:spcAft>
                <a:spcPts val="100"/>
              </a:spcAft>
              <a:defRPr sz="1000">
                <a:solidFill>
                  <a:srgbClr val="7EC68E"/>
                </a:solidFill>
                <a:latin typeface="Consolas"/>
              </a:defRPr>
            </a:pPr>
            <a:r>
              <a:t>       length(path) AS salti</a:t>
            </a:r>
          </a:p>
          <a:p>
            <a:pPr>
              <a:spcAft>
                <a:spcPts val="100"/>
              </a:spcAft>
              <a:defRPr sz="1000">
                <a:solidFill>
                  <a:srgbClr val="7EC68E"/>
                </a:solidFill>
                <a:latin typeface="Consolas"/>
              </a:defRPr>
            </a:pPr>
            <a:r>
              <a:t>LIMIT 5;</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[*1..3] = da 1 a 3 relazioni WORKED_ON</a:t>
            </a:r>
          </a:p>
          <a:p>
            <a:pPr>
              <a:spcAft>
                <a:spcPts val="100"/>
              </a:spcAft>
              <a:defRPr sz="1000">
                <a:solidFill>
                  <a:srgbClr val="7EC68E"/>
                </a:solidFill>
                <a:latin typeface="Consolas"/>
              </a:defRPr>
            </a:pPr>
            <a:r>
              <a:t>// path = variabile per l'intero percorso</a:t>
            </a:r>
          </a:p>
          <a:p>
            <a:pPr>
              <a:spcAft>
                <a:spcPts val="100"/>
              </a:spcAft>
              <a:defRPr sz="1000">
                <a:solidFill>
                  <a:srgbClr val="7EC68E"/>
                </a:solidFill>
                <a:latin typeface="Consolas"/>
              </a:defRPr>
            </a:pPr>
            <a:r>
              <a:t>// nodes(path) = lista nodi del percorso</a:t>
            </a:r>
          </a:p>
        </p:txBody>
      </p:sp>
      <p:sp>
        <p:nvSpPr>
          <p:cNvPr id="8" name="Rectangle 7"/>
          <p:cNvSpPr/>
          <p:nvPr/>
        </p:nvSpPr>
        <p:spPr>
          <a:xfrm>
            <a:off x="731520" y="384048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023360"/>
            <a:ext cx="10515600" cy="365760"/>
          </a:xfrm>
          <a:prstGeom prst="rect">
            <a:avLst/>
          </a:prstGeom>
          <a:noFill/>
        </p:spPr>
        <p:txBody>
          <a:bodyPr wrap="square">
            <a:spAutoFit/>
          </a:bodyPr>
          <a:lstStyle/>
          <a:p>
            <a:pPr algn="l">
              <a:defRPr sz="1500" b="1">
                <a:solidFill>
                  <a:srgbClr val="F08040"/>
                </a:solidFill>
                <a:latin typeface="Calibri"/>
              </a:defRPr>
            </a:pPr>
            <a:r>
              <a:t>Optional Match: come LEFT JOIN</a:t>
            </a:r>
          </a:p>
        </p:txBody>
      </p:sp>
      <p:sp>
        <p:nvSpPr>
          <p:cNvPr id="10" name="TextBox 9"/>
          <p:cNvSpPr txBox="1"/>
          <p:nvPr/>
        </p:nvSpPr>
        <p:spPr>
          <a:xfrm>
            <a:off x="731520" y="4480560"/>
            <a:ext cx="10515600" cy="1097280"/>
          </a:xfrm>
          <a:prstGeom prst="rect">
            <a:avLst/>
          </a:prstGeom>
          <a:noFill/>
        </p:spPr>
        <p:txBody>
          <a:bodyPr wrap="square">
            <a:spAutoFit/>
          </a:bodyPr>
          <a:lstStyle/>
          <a:p>
            <a:pPr algn="l">
              <a:spcAft>
                <a:spcPts val="300"/>
              </a:spcAft>
              <a:defRPr sz="1200">
                <a:solidFill>
                  <a:srgbClr val="FFFFFF"/>
                </a:solidFill>
                <a:latin typeface="Calibri"/>
              </a:defRPr>
            </a:pPr>
            <a:r>
              <a:t>•  OPTIONAL MATCH — cerca il pattern, se non trovato restituisce NULL (non scarta la riga)</a:t>
            </a:r>
          </a:p>
          <a:p>
            <a:pPr algn="l">
              <a:spcAft>
                <a:spcPts val="300"/>
              </a:spcAft>
              <a:defRPr sz="1200">
                <a:solidFill>
                  <a:srgbClr val="FFFFFF"/>
                </a:solidFill>
                <a:latin typeface="Calibri"/>
              </a:defRPr>
            </a:pPr>
            <a:r>
              <a:t>•  Utile per: "trova tutte le persone e le loro skill (incluse quelle senza skill)"</a:t>
            </a:r>
          </a:p>
          <a:p>
            <a:pPr algn="l">
              <a:spcAft>
                <a:spcPts val="300"/>
              </a:spcAft>
              <a:defRPr sz="1200">
                <a:solidFill>
                  <a:srgbClr val="FFFFFF"/>
                </a:solidFill>
                <a:latin typeface="Calibri"/>
              </a:defRPr>
            </a:pPr>
            <a:r>
              <a:t>•  MATCH normale scarta le righe che non corrispondono al pattern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Cypher: Leggere Dati con MATCH + WHERE</a:t>
            </a:r>
          </a:p>
        </p:txBody>
      </p:sp>
      <p:sp>
        <p:nvSpPr>
          <p:cNvPr id="3" name="TextBox 2"/>
          <p:cNvSpPr txBox="1"/>
          <p:nvPr/>
        </p:nvSpPr>
        <p:spPr>
          <a:xfrm>
            <a:off x="731520" y="960120"/>
            <a:ext cx="10515600" cy="457200"/>
          </a:xfrm>
          <a:prstGeom prst="rect">
            <a:avLst/>
          </a:prstGeom>
          <a:noFill/>
        </p:spPr>
        <p:txBody>
          <a:bodyPr wrap="square">
            <a:spAutoFit/>
          </a:bodyPr>
          <a:lstStyle/>
          <a:p>
            <a:pPr algn="l">
              <a:defRPr sz="1400" b="0">
                <a:solidFill>
                  <a:srgbClr val="CCCCCC"/>
                </a:solidFill>
                <a:latin typeface="Calibri"/>
              </a:defRPr>
            </a:pPr>
            <a:r>
              <a:t>WHERE filtra i risultati. Supporta operatori logici, confronti, testo e liste.</a:t>
            </a:r>
          </a:p>
        </p:txBody>
      </p:sp>
      <p:sp>
        <p:nvSpPr>
          <p:cNvPr id="4" name="TextBox 3"/>
          <p:cNvSpPr txBox="1"/>
          <p:nvPr/>
        </p:nvSpPr>
        <p:spPr>
          <a:xfrm>
            <a:off x="731520" y="1417320"/>
            <a:ext cx="5029200" cy="411480"/>
          </a:xfrm>
          <a:prstGeom prst="rect">
            <a:avLst/>
          </a:prstGeom>
          <a:noFill/>
        </p:spPr>
        <p:txBody>
          <a:bodyPr wrap="square">
            <a:spAutoFit/>
          </a:bodyPr>
          <a:lstStyle/>
          <a:p>
            <a:pPr algn="l">
              <a:defRPr sz="1600" b="1">
                <a:solidFill>
                  <a:srgbClr val="F08040"/>
                </a:solidFill>
                <a:latin typeface="Calibri"/>
              </a:defRPr>
            </a:pPr>
            <a:r>
              <a:t>Filtri con WHERE</a:t>
            </a:r>
          </a:p>
        </p:txBody>
      </p:sp>
      <p:sp>
        <p:nvSpPr>
          <p:cNvPr id="5" name="Rectangle 4"/>
          <p:cNvSpPr/>
          <p:nvPr/>
        </p:nvSpPr>
        <p:spPr>
          <a:xfrm>
            <a:off x="731520" y="1828800"/>
            <a:ext cx="5029200" cy="192024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901952"/>
            <a:ext cx="4809744" cy="1773936"/>
          </a:xfrm>
          <a:prstGeom prst="rect">
            <a:avLst/>
          </a:prstGeom>
          <a:noFill/>
        </p:spPr>
        <p:txBody>
          <a:bodyPr wrap="square">
            <a:spAutoFit/>
          </a:bodyPr>
          <a:lstStyle/>
          <a:p>
            <a:pPr>
              <a:spcAft>
                <a:spcPts val="100"/>
              </a:spcAft>
              <a:defRPr sz="1000">
                <a:solidFill>
                  <a:srgbClr val="7EC68E"/>
                </a:solidFill>
                <a:latin typeface="Consolas"/>
              </a:defRPr>
            </a:pPr>
            <a:r>
              <a:t>// AND / OR con parentesi:</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(p.location = "Roma"</a:t>
            </a:r>
          </a:p>
          <a:p>
            <a:pPr>
              <a:spcAft>
                <a:spcPts val="100"/>
              </a:spcAft>
              <a:defRPr sz="1000">
                <a:solidFill>
                  <a:srgbClr val="7EC68E"/>
                </a:solidFill>
                <a:latin typeface="Consolas"/>
              </a:defRPr>
            </a:pPr>
            <a:r>
              <a:t>   OR  p.location = "Milano")</a:t>
            </a:r>
          </a:p>
          <a:p>
            <a:pPr>
              <a:spcAft>
                <a:spcPts val="100"/>
              </a:spcAft>
              <a:defRPr sz="1000">
                <a:solidFill>
                  <a:srgbClr val="7EC68E"/>
                </a:solidFill>
                <a:latin typeface="Consolas"/>
              </a:defRPr>
            </a:pPr>
            <a:r>
              <a:t>  AND p.title CONTAINS "Senior"</a:t>
            </a:r>
          </a:p>
          <a:p>
            <a:pPr>
              <a:spcAft>
                <a:spcPts val="100"/>
              </a:spcAft>
              <a:defRPr sz="1000">
                <a:solidFill>
                  <a:srgbClr val="7EC68E"/>
                </a:solidFill>
                <a:latin typeface="Consolas"/>
              </a:defRPr>
            </a:pPr>
            <a:r>
              <a:t>RETURN p.name, p.location, p.title;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IN per liste:</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p.location IN ("Roma", "Milano")</a:t>
            </a:r>
          </a:p>
          <a:p>
            <a:pPr>
              <a:spcAft>
                <a:spcPts val="100"/>
              </a:spcAft>
              <a:defRPr sz="1000">
                <a:solidFill>
                  <a:srgbClr val="7EC68E"/>
                </a:solidFill>
                <a:latin typeface="Consolas"/>
              </a:defRPr>
            </a:pPr>
            <a:r>
              <a:t>RETURN p.name, p.location;</a:t>
            </a:r>
          </a:p>
        </p:txBody>
      </p:sp>
      <p:sp>
        <p:nvSpPr>
          <p:cNvPr id="7" name="TextBox 6"/>
          <p:cNvSpPr txBox="1"/>
          <p:nvPr/>
        </p:nvSpPr>
        <p:spPr>
          <a:xfrm>
            <a:off x="5669280" y="1417320"/>
            <a:ext cx="4846320" cy="411480"/>
          </a:xfrm>
          <a:prstGeom prst="rect">
            <a:avLst/>
          </a:prstGeom>
          <a:noFill/>
        </p:spPr>
        <p:txBody>
          <a:bodyPr wrap="square">
            <a:spAutoFit/>
          </a:bodyPr>
          <a:lstStyle/>
          <a:p>
            <a:pPr algn="l">
              <a:defRPr sz="1600" b="1">
                <a:solidFill>
                  <a:srgbClr val="F08040"/>
                </a:solidFill>
                <a:latin typeface="Calibri"/>
              </a:defRPr>
            </a:pPr>
            <a:r>
              <a:t>Testo e valori NULL</a:t>
            </a:r>
          </a:p>
        </p:txBody>
      </p:sp>
      <p:sp>
        <p:nvSpPr>
          <p:cNvPr id="8" name="Rectangle 7"/>
          <p:cNvSpPr/>
          <p:nvPr/>
        </p:nvSpPr>
        <p:spPr>
          <a:xfrm>
            <a:off x="5669280" y="1828800"/>
            <a:ext cx="4846320" cy="21031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79008" y="1901952"/>
            <a:ext cx="4626864" cy="1956816"/>
          </a:xfrm>
          <a:prstGeom prst="rect">
            <a:avLst/>
          </a:prstGeom>
          <a:noFill/>
        </p:spPr>
        <p:txBody>
          <a:bodyPr wrap="square">
            <a:spAutoFit/>
          </a:bodyPr>
          <a:lstStyle/>
          <a:p>
            <a:pPr>
              <a:spcAft>
                <a:spcPts val="100"/>
              </a:spcAft>
              <a:defRPr sz="1000">
                <a:solidFill>
                  <a:srgbClr val="7EC68E"/>
                </a:solidFill>
                <a:latin typeface="Consolas"/>
              </a:defRPr>
            </a:pPr>
            <a:r>
              <a:t>// CONTAINS, STARTS WITH, ENDS WITH:</a:t>
            </a:r>
          </a:p>
          <a:p>
            <a:pPr>
              <a:spcAft>
                <a:spcPts val="100"/>
              </a:spcAft>
              <a:defRPr sz="1000">
                <a:solidFill>
                  <a:srgbClr val="7EC68E"/>
                </a:solidFill>
                <a:latin typeface="Consolas"/>
              </a:defRPr>
            </a:pPr>
            <a:r>
              <a:t>MATCH (s:Skill)</a:t>
            </a:r>
          </a:p>
          <a:p>
            <a:pPr>
              <a:spcAft>
                <a:spcPts val="100"/>
              </a:spcAft>
              <a:defRPr sz="1000">
                <a:solidFill>
                  <a:srgbClr val="7EC68E"/>
                </a:solidFill>
                <a:latin typeface="Consolas"/>
              </a:defRPr>
            </a:pPr>
            <a:r>
              <a:t>WHERE s.name STARTS WITH "Py"</a:t>
            </a:r>
          </a:p>
          <a:p>
            <a:pPr>
              <a:spcAft>
                <a:spcPts val="100"/>
              </a:spcAft>
              <a:defRPr sz="1000">
                <a:solidFill>
                  <a:srgbClr val="7EC68E"/>
                </a:solidFill>
                <a:latin typeface="Consolas"/>
              </a:defRPr>
            </a:pPr>
            <a:r>
              <a:t>RETURN s.name UNION</a:t>
            </a:r>
          </a:p>
          <a:p>
            <a:pPr>
              <a:spcAft>
                <a:spcPts val="100"/>
              </a:spcAft>
              <a:defRPr sz="1000">
                <a:solidFill>
                  <a:srgbClr val="7EC68E"/>
                </a:solidFill>
                <a:latin typeface="Consolas"/>
              </a:defRPr>
            </a:pPr>
            <a:r>
              <a:t>MATCH (s:Skill)</a:t>
            </a:r>
          </a:p>
          <a:p>
            <a:pPr>
              <a:spcAft>
                <a:spcPts val="100"/>
              </a:spcAft>
              <a:defRPr sz="1000">
                <a:solidFill>
                  <a:srgbClr val="7EC68E"/>
                </a:solidFill>
                <a:latin typeface="Consolas"/>
              </a:defRPr>
            </a:pPr>
            <a:r>
              <a:t>WHERE s.name CONTAINS "cloud"</a:t>
            </a:r>
          </a:p>
          <a:p>
            <a:pPr>
              <a:spcAft>
                <a:spcPts val="100"/>
              </a:spcAft>
              <a:defRPr sz="1000">
                <a:solidFill>
                  <a:srgbClr val="7EC68E"/>
                </a:solidFill>
                <a:latin typeface="Consolas"/>
              </a:defRPr>
            </a:pPr>
            <a:r>
              <a:t>RETURN s.name;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IS NULL / IS NOT NULL:</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p.location IS NULL</a:t>
            </a:r>
          </a:p>
          <a:p>
            <a:pPr>
              <a:spcAft>
                <a:spcPts val="100"/>
              </a:spcAft>
              <a:defRPr sz="1000">
                <a:solidFill>
                  <a:srgbClr val="7EC68E"/>
                </a:solidFill>
                <a:latin typeface="Consolas"/>
              </a:defRPr>
            </a:pPr>
            <a:r>
              <a:t>RETURN p.name;</a:t>
            </a:r>
          </a:p>
        </p:txBody>
      </p:sp>
      <p:sp>
        <p:nvSpPr>
          <p:cNvPr id="10" name="Rectangle 9"/>
          <p:cNvSpPr/>
          <p:nvPr/>
        </p:nvSpPr>
        <p:spPr>
          <a:xfrm>
            <a:off x="731520" y="42062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389120"/>
            <a:ext cx="10515600" cy="365760"/>
          </a:xfrm>
          <a:prstGeom prst="rect">
            <a:avLst/>
          </a:prstGeom>
          <a:noFill/>
        </p:spPr>
        <p:txBody>
          <a:bodyPr wrap="square">
            <a:spAutoFit/>
          </a:bodyPr>
          <a:lstStyle/>
          <a:p>
            <a:pPr algn="l">
              <a:defRPr sz="1500" b="1">
                <a:solidFill>
                  <a:srgbClr val="F08040"/>
                </a:solidFill>
                <a:latin typeface="Calibri"/>
              </a:defRPr>
            </a:pPr>
            <a:r>
              <a:t>Ordinamento e Paginazione</a:t>
            </a:r>
          </a:p>
        </p:txBody>
      </p:sp>
      <p:sp>
        <p:nvSpPr>
          <p:cNvPr id="12" name="Rectangle 11"/>
          <p:cNvSpPr/>
          <p:nvPr/>
        </p:nvSpPr>
        <p:spPr>
          <a:xfrm>
            <a:off x="731520" y="4800600"/>
            <a:ext cx="1051560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4873752"/>
            <a:ext cx="10296144" cy="1499616"/>
          </a:xfrm>
          <a:prstGeom prst="rect">
            <a:avLst/>
          </a:prstGeom>
          <a:noFill/>
        </p:spPr>
        <p:txBody>
          <a:bodyPr wrap="square">
            <a:spAutoFit/>
          </a:bodyPr>
          <a:lstStyle/>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RETURN p.name, p.location AS nome, p.title AS ruolo</a:t>
            </a:r>
          </a:p>
          <a:p>
            <a:pPr>
              <a:spcAft>
                <a:spcPts val="100"/>
              </a:spcAft>
              <a:defRPr sz="1000">
                <a:solidFill>
                  <a:srgbClr val="7EC68E"/>
                </a:solidFill>
                <a:latin typeface="Consolas"/>
              </a:defRPr>
            </a:pPr>
            <a:r>
              <a:t>ORDER BY nome ASC</a:t>
            </a:r>
          </a:p>
          <a:p>
            <a:pPr>
              <a:spcAft>
                <a:spcPts val="100"/>
              </a:spcAft>
              <a:defRPr sz="1000">
                <a:solidFill>
                  <a:srgbClr val="7EC68E"/>
                </a:solidFill>
                <a:latin typeface="Consolas"/>
              </a:defRPr>
            </a:pPr>
            <a:r>
              <a:t>SKIP 10 LIMIT 10;  // pagina 2</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MATCH (p:Person)-[:WORKED_ON]-&gt;(proj:Project)</a:t>
            </a:r>
          </a:p>
          <a:p>
            <a:pPr>
              <a:spcAft>
                <a:spcPts val="100"/>
              </a:spcAft>
              <a:defRPr sz="1000">
                <a:solidFill>
                  <a:srgbClr val="7EC68E"/>
                </a:solidFill>
                <a:latin typeface="Consolas"/>
              </a:defRPr>
            </a:pPr>
            <a:r>
              <a:t>RETURN DISTINCT p.location AS sedi</a:t>
            </a:r>
          </a:p>
          <a:p>
            <a:pPr>
              <a:spcAft>
                <a:spcPts val="100"/>
              </a:spcAft>
              <a:defRPr sz="1000">
                <a:solidFill>
                  <a:srgbClr val="7EC68E"/>
                </a:solidFill>
                <a:latin typeface="Consolas"/>
              </a:defRPr>
            </a:pPr>
            <a:r>
              <a:t>ORDER BY sedi;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Cypher: Aggregazioni</a:t>
            </a:r>
          </a:p>
        </p:txBody>
      </p:sp>
      <p:sp>
        <p:nvSpPr>
          <p:cNvPr id="3" name="TextBox 2"/>
          <p:cNvSpPr txBox="1"/>
          <p:nvPr/>
        </p:nvSpPr>
        <p:spPr>
          <a:xfrm>
            <a:off x="731520" y="914400"/>
            <a:ext cx="10515600" cy="457200"/>
          </a:xfrm>
          <a:prstGeom prst="rect">
            <a:avLst/>
          </a:prstGeom>
          <a:noFill/>
        </p:spPr>
        <p:txBody>
          <a:bodyPr wrap="square">
            <a:spAutoFit/>
          </a:bodyPr>
          <a:lstStyle/>
          <a:p>
            <a:pPr algn="l">
              <a:defRPr sz="1400" b="0">
                <a:solidFill>
                  <a:srgbClr val="CCCCCC"/>
                </a:solidFill>
                <a:latin typeface="Calibri"/>
              </a:defRPr>
            </a:pPr>
            <a:r>
              <a:t>COUNT, COLLECT, AVG, SUM, MIN, MAX — come SQL ma senza GROUP BY esplicito. Le colonne non aggregate sono automaticamente chiavi di raggruppamento.</a:t>
            </a:r>
          </a:p>
        </p:txBody>
      </p:sp>
      <p:sp>
        <p:nvSpPr>
          <p:cNvPr id="4" name="Rectangle 3"/>
          <p:cNvSpPr/>
          <p:nvPr/>
        </p:nvSpPr>
        <p:spPr>
          <a:xfrm>
            <a:off x="731520" y="1554480"/>
            <a:ext cx="5029200" cy="237744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627632"/>
            <a:ext cx="4809744" cy="2231136"/>
          </a:xfrm>
          <a:prstGeom prst="rect">
            <a:avLst/>
          </a:prstGeom>
          <a:noFill/>
        </p:spPr>
        <p:txBody>
          <a:bodyPr wrap="square">
            <a:spAutoFit/>
          </a:bodyPr>
          <a:lstStyle/>
          <a:p>
            <a:pPr>
              <a:spcAft>
                <a:spcPts val="100"/>
              </a:spcAft>
              <a:defRPr sz="1000">
                <a:solidFill>
                  <a:srgbClr val="7EC68E"/>
                </a:solidFill>
                <a:latin typeface="Consolas"/>
              </a:defRPr>
            </a:pPr>
            <a:r>
              <a:t>// COUNT: quante persone per location?</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RETURN p.location AS sede,</a:t>
            </a:r>
          </a:p>
          <a:p>
            <a:pPr>
              <a:spcAft>
                <a:spcPts val="100"/>
              </a:spcAft>
              <a:defRPr sz="1000">
                <a:solidFill>
                  <a:srgbClr val="7EC68E"/>
                </a:solidFill>
                <a:latin typeface="Consolas"/>
              </a:defRPr>
            </a:pPr>
            <a:r>
              <a:t>       count(*) AS persone</a:t>
            </a:r>
          </a:p>
          <a:p>
            <a:pPr>
              <a:spcAft>
                <a:spcPts val="100"/>
              </a:spcAft>
              <a:defRPr sz="1000">
                <a:solidFill>
                  <a:srgbClr val="7EC68E"/>
                </a:solidFill>
                <a:latin typeface="Consolas"/>
              </a:defRPr>
            </a:pPr>
            <a:r>
              <a:t>ORDER BY persone DESC;</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COLLECT: lista skill per persona:</a:t>
            </a:r>
          </a:p>
          <a:p>
            <a:pPr>
              <a:spcAft>
                <a:spcPts val="100"/>
              </a:spcAft>
              <a:defRPr sz="1000">
                <a:solidFill>
                  <a:srgbClr val="7EC68E"/>
                </a:solidFill>
                <a:latin typeface="Consolas"/>
              </a:defRPr>
            </a:pPr>
            <a:r>
              <a:t>MATCH (p:Person)-[:HAS_SKILL]-&gt;(s:Skill)</a:t>
            </a:r>
          </a:p>
          <a:p>
            <a:pPr>
              <a:spcAft>
                <a:spcPts val="100"/>
              </a:spcAft>
              <a:defRPr sz="1000">
                <a:solidFill>
                  <a:srgbClr val="7EC68E"/>
                </a:solidFill>
                <a:latin typeface="Consolas"/>
              </a:defRPr>
            </a:pPr>
            <a:r>
              <a:t>RETURN p.name AS persona,</a:t>
            </a:r>
          </a:p>
          <a:p>
            <a:pPr>
              <a:spcAft>
                <a:spcPts val="100"/>
              </a:spcAft>
              <a:defRPr sz="1000">
                <a:solidFill>
                  <a:srgbClr val="7EC68E"/>
                </a:solidFill>
                <a:latin typeface="Consolas"/>
              </a:defRPr>
            </a:pPr>
            <a:r>
              <a:t>       collect(s.name) AS skill,</a:t>
            </a:r>
          </a:p>
          <a:p>
            <a:pPr>
              <a:spcAft>
                <a:spcPts val="100"/>
              </a:spcAft>
              <a:defRPr sz="1000">
                <a:solidFill>
                  <a:srgbClr val="7EC68E"/>
                </a:solidFill>
                <a:latin typeface="Consolas"/>
              </a:defRPr>
            </a:pPr>
            <a:r>
              <a:t>       count(s) AS totale_skill</a:t>
            </a:r>
          </a:p>
          <a:p>
            <a:pPr>
              <a:spcAft>
                <a:spcPts val="100"/>
              </a:spcAft>
              <a:defRPr sz="1000">
                <a:solidFill>
                  <a:srgbClr val="7EC68E"/>
                </a:solidFill>
                <a:latin typeface="Consolas"/>
              </a:defRPr>
            </a:pPr>
            <a:r>
              <a:t>ORDER BY totale_skill DESC LIMIT 5;</a:t>
            </a:r>
          </a:p>
        </p:txBody>
      </p:sp>
      <p:sp>
        <p:nvSpPr>
          <p:cNvPr id="6" name="TextBox 5"/>
          <p:cNvSpPr txBox="1"/>
          <p:nvPr/>
        </p:nvSpPr>
        <p:spPr>
          <a:xfrm>
            <a:off x="5669280" y="1554480"/>
            <a:ext cx="4846320" cy="2377440"/>
          </a:xfrm>
          <a:prstGeom prst="rect">
            <a:avLst/>
          </a:prstGeom>
          <a:noFill/>
        </p:spPr>
        <p:txBody>
          <a:bodyPr wrap="square">
            <a:spAutoFit/>
          </a:bodyPr>
          <a:lstStyle/>
          <a:p>
            <a:pPr algn="l">
              <a:defRPr sz="1100" b="0">
                <a:solidFill>
                  <a:srgbClr val="CCCCCC"/>
                </a:solidFill>
                <a:latin typeface="Calibri"/>
              </a:defRPr>
            </a:pPr>
            <a:r>
              <a:t>Dettaglio funzioni di aggregazione:</a:t>
            </a:r>
            <a:br/>
            <a:br/>
            <a:r>
              <a:t>count(*)     = conta tutte le righe</a:t>
            </a:r>
            <a:br/>
            <a:r>
              <a:t>count(expr)  = conta i valori non-NULL</a:t>
            </a:r>
            <a:br/>
            <a:r>
              <a:t>count(DISTINCT expr) = conta valori unici</a:t>
            </a:r>
            <a:br/>
            <a:br/>
            <a:r>
              <a:t>collect(expr)      = lista di tutti i valori</a:t>
            </a:r>
            <a:br/>
            <a:r>
              <a:t>collect(DISTINCT)  = lista senza duplicati</a:t>
            </a:r>
            <a:br/>
            <a:br/>
            <a:r>
              <a:t>avg(expr)  = media aritmetica</a:t>
            </a:r>
            <a:br/>
            <a:r>
              <a:t>sum(expr)  = somma</a:t>
            </a:r>
            <a:br/>
            <a:r>
              <a:t>min(expr)  = valore minimo</a:t>
            </a:r>
            <a:br/>
            <a:r>
              <a:t>max(expr)  = valore massimo</a:t>
            </a:r>
            <a:br/>
            <a:br/>
            <a:r>
              <a:t>Attenzione: count() è più veloce</a:t>
            </a:r>
            <a:br/>
            <a:r>
              <a:t>di size(collect()) perché non</a:t>
            </a:r>
            <a:br/>
            <a:r>
              <a:t>costruisce la lista intermedia.</a:t>
            </a:r>
          </a:p>
        </p:txBody>
      </p:sp>
      <p:sp>
        <p:nvSpPr>
          <p:cNvPr id="7" name="Rectangle 6"/>
          <p:cNvSpPr/>
          <p:nvPr/>
        </p:nvSpPr>
        <p:spPr>
          <a:xfrm>
            <a:off x="731520" y="46634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846320"/>
            <a:ext cx="10515600" cy="365760"/>
          </a:xfrm>
          <a:prstGeom prst="rect">
            <a:avLst/>
          </a:prstGeom>
          <a:noFill/>
        </p:spPr>
        <p:txBody>
          <a:bodyPr wrap="square">
            <a:spAutoFit/>
          </a:bodyPr>
          <a:lstStyle/>
          <a:p>
            <a:pPr algn="l">
              <a:defRPr sz="1300" b="0">
                <a:solidFill>
                  <a:srgbClr val="F0C040"/>
                </a:solidFill>
                <a:latin typeface="Calibri"/>
              </a:defRPr>
            </a:pPr>
            <a:r>
              <a:t>Ogni RETURN o WITH può mescolare colonne aggregate e non aggregate.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Cypher: Scrivere Dati</a:t>
            </a:r>
          </a:p>
        </p:txBody>
      </p:sp>
      <p:sp>
        <p:nvSpPr>
          <p:cNvPr id="3" name="TextBox 2"/>
          <p:cNvSpPr txBox="1"/>
          <p:nvPr/>
        </p:nvSpPr>
        <p:spPr>
          <a:xfrm>
            <a:off x="731520" y="914400"/>
            <a:ext cx="10515600" cy="457200"/>
          </a:xfrm>
          <a:prstGeom prst="rect">
            <a:avLst/>
          </a:prstGeom>
          <a:noFill/>
        </p:spPr>
        <p:txBody>
          <a:bodyPr wrap="square">
            <a:spAutoFit/>
          </a:bodyPr>
          <a:lstStyle/>
          <a:p>
            <a:pPr algn="l">
              <a:defRPr sz="1400" b="0">
                <a:solidFill>
                  <a:srgbClr val="CCCCCC"/>
                </a:solidFill>
                <a:latin typeface="Calibri"/>
              </a:defRPr>
            </a:pPr>
            <a:r>
              <a:t>CREATE, MERGE, SET, DELETE — le operazioni di scrittura in Cypher.</a:t>
            </a:r>
          </a:p>
        </p:txBody>
      </p:sp>
      <p:sp>
        <p:nvSpPr>
          <p:cNvPr id="4" name="TextBox 3"/>
          <p:cNvSpPr txBox="1"/>
          <p:nvPr/>
        </p:nvSpPr>
        <p:spPr>
          <a:xfrm>
            <a:off x="731520" y="1417320"/>
            <a:ext cx="5029200" cy="411480"/>
          </a:xfrm>
          <a:prstGeom prst="rect">
            <a:avLst/>
          </a:prstGeom>
          <a:noFill/>
        </p:spPr>
        <p:txBody>
          <a:bodyPr wrap="square">
            <a:spAutoFit/>
          </a:bodyPr>
          <a:lstStyle/>
          <a:p>
            <a:pPr algn="l">
              <a:defRPr sz="1600" b="1">
                <a:solidFill>
                  <a:srgbClr val="F08040"/>
                </a:solidFill>
                <a:latin typeface="Calibri"/>
              </a:defRPr>
            </a:pPr>
            <a:r>
              <a:t>CREATE vs MERGE</a:t>
            </a:r>
          </a:p>
        </p:txBody>
      </p:sp>
      <p:sp>
        <p:nvSpPr>
          <p:cNvPr id="5" name="TextBox 4"/>
          <p:cNvSpPr txBox="1"/>
          <p:nvPr/>
        </p:nvSpPr>
        <p:spPr>
          <a:xfrm>
            <a:off x="731520" y="1828800"/>
            <a:ext cx="5029200" cy="2286000"/>
          </a:xfrm>
          <a:prstGeom prst="rect">
            <a:avLst/>
          </a:prstGeom>
          <a:noFill/>
        </p:spPr>
        <p:txBody>
          <a:bodyPr wrap="square">
            <a:spAutoFit/>
          </a:bodyPr>
          <a:lstStyle/>
          <a:p>
            <a:pPr algn="l">
              <a:spcAft>
                <a:spcPts val="300"/>
              </a:spcAft>
              <a:defRPr sz="1200">
                <a:solidFill>
                  <a:srgbClr val="FFFFFF"/>
                </a:solidFill>
                <a:latin typeface="Calibri"/>
              </a:defRPr>
            </a:pPr>
            <a:r>
              <a:t>•  CREATE — inserisce sempre. Se il nodo già esiste, lo duplica o fallisce</a:t>
            </a:r>
          </a:p>
          <a:p>
            <a:pPr algn="l">
              <a:spcAft>
                <a:spcPts val="300"/>
              </a:spcAft>
              <a:defRPr sz="1200">
                <a:solidFill>
                  <a:srgbClr val="FFFFFF"/>
                </a:solidFill>
                <a:latin typeface="Calibri"/>
              </a:defRPr>
            </a:pPr>
            <a:r>
              <a:t>•  MERGE — match-or-create: cerca il pattern, se non esiste lo crea</a:t>
            </a:r>
          </a:p>
          <a:p>
            <a:pPr algn="l">
              <a:spcAft>
                <a:spcPts val="300"/>
              </a:spcAft>
              <a:defRPr sz="1200">
                <a:solidFill>
                  <a:srgbClr val="FFFFFF"/>
                </a:solidFill>
                <a:latin typeface="Calibri"/>
              </a:defRPr>
            </a:pPr>
            <a:r>
              <a:t>•  MERGE è IDEMPOTENTE — eseguirlo N volte produce lo stesso risultato</a:t>
            </a:r>
          </a:p>
          <a:p>
            <a:pPr algn="l">
              <a:spcAft>
                <a:spcPts val="300"/>
              </a:spcAft>
              <a:defRPr sz="1200">
                <a:solidFill>
                  <a:srgbClr val="FFFFFF"/>
                </a:solidFill>
                <a:latin typeface="Calibri"/>
              </a:defRPr>
            </a:pPr>
            <a:r>
              <a:t>•  Preferire MERGE su chiave univoca + constraint UNIQUE</a:t>
            </a:r>
          </a:p>
        </p:txBody>
      </p:sp>
      <p:sp>
        <p:nvSpPr>
          <p:cNvPr id="6" name="Rectangle 5"/>
          <p:cNvSpPr/>
          <p:nvPr/>
        </p:nvSpPr>
        <p:spPr>
          <a:xfrm>
            <a:off x="731520" y="4206240"/>
            <a:ext cx="5029200" cy="18288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4279392"/>
            <a:ext cx="4809744" cy="1682496"/>
          </a:xfrm>
          <a:prstGeom prst="rect">
            <a:avLst/>
          </a:prstGeom>
          <a:noFill/>
        </p:spPr>
        <p:txBody>
          <a:bodyPr wrap="square">
            <a:spAutoFit/>
          </a:bodyPr>
          <a:lstStyle/>
          <a:p>
            <a:pPr>
              <a:spcAft>
                <a:spcPts val="100"/>
              </a:spcAft>
              <a:defRPr sz="1000">
                <a:solidFill>
                  <a:srgbClr val="7EC68E"/>
                </a:solidFill>
                <a:latin typeface="Consolas"/>
              </a:defRPr>
            </a:pPr>
            <a:r>
              <a:t>// CREATE: crea sempre un nuovo nodo</a:t>
            </a:r>
          </a:p>
          <a:p>
            <a:pPr>
              <a:spcAft>
                <a:spcPts val="100"/>
              </a:spcAft>
              <a:defRPr sz="1000">
                <a:solidFill>
                  <a:srgbClr val="7EC68E"/>
                </a:solidFill>
                <a:latin typeface="Consolas"/>
              </a:defRPr>
            </a:pPr>
            <a:r>
              <a:t>CREATE (p:Person {</a:t>
            </a:r>
          </a:p>
          <a:p>
            <a:pPr>
              <a:spcAft>
                <a:spcPts val="100"/>
              </a:spcAft>
              <a:defRPr sz="1000">
                <a:solidFill>
                  <a:srgbClr val="7EC68E"/>
                </a:solidFill>
                <a:latin typeface="Consolas"/>
              </a:defRPr>
            </a:pPr>
            <a:r>
              <a:t>  employee_id: 999,</a:t>
            </a:r>
          </a:p>
          <a:p>
            <a:pPr>
              <a:spcAft>
                <a:spcPts val="100"/>
              </a:spcAft>
              <a:defRPr sz="1000">
                <a:solidFill>
                  <a:srgbClr val="7EC68E"/>
                </a:solidFill>
                <a:latin typeface="Consolas"/>
              </a:defRPr>
            </a:pPr>
            <a:r>
              <a:t>  name: "Test User",</a:t>
            </a:r>
          </a:p>
          <a:p>
            <a:pPr>
              <a:spcAft>
                <a:spcPts val="100"/>
              </a:spcAft>
              <a:defRPr sz="1000">
                <a:solidFill>
                  <a:srgbClr val="7EC68E"/>
                </a:solidFill>
                <a:latin typeface="Consolas"/>
              </a:defRPr>
            </a:pPr>
            <a:r>
              <a:t>  location: "Test"});</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MERGE: cerca per chiave, imposta props</a:t>
            </a:r>
          </a:p>
          <a:p>
            <a:pPr>
              <a:spcAft>
                <a:spcPts val="100"/>
              </a:spcAft>
              <a:defRPr sz="1000">
                <a:solidFill>
                  <a:srgbClr val="7EC68E"/>
                </a:solidFill>
                <a:latin typeface="Consolas"/>
              </a:defRPr>
            </a:pPr>
            <a:r>
              <a:t>MERGE (p:Person {employee_id: 999})</a:t>
            </a:r>
          </a:p>
          <a:p>
            <a:pPr>
              <a:spcAft>
                <a:spcPts val="100"/>
              </a:spcAft>
              <a:defRPr sz="1000">
                <a:solidFill>
                  <a:srgbClr val="7EC68E"/>
                </a:solidFill>
                <a:latin typeface="Consolas"/>
              </a:defRPr>
            </a:pPr>
            <a:r>
              <a:t>  SET p.name = "Test User",</a:t>
            </a:r>
          </a:p>
          <a:p>
            <a:pPr>
              <a:spcAft>
                <a:spcPts val="100"/>
              </a:spcAft>
              <a:defRPr sz="1000">
                <a:solidFill>
                  <a:srgbClr val="7EC68E"/>
                </a:solidFill>
                <a:latin typeface="Consolas"/>
              </a:defRPr>
            </a:pPr>
            <a:r>
              <a:t>      p.location = "Test";</a:t>
            </a:r>
          </a:p>
        </p:txBody>
      </p:sp>
      <p:sp>
        <p:nvSpPr>
          <p:cNvPr id="8" name="TextBox 7"/>
          <p:cNvSpPr txBox="1"/>
          <p:nvPr/>
        </p:nvSpPr>
        <p:spPr>
          <a:xfrm>
            <a:off x="5669280" y="1417320"/>
            <a:ext cx="4846320" cy="411480"/>
          </a:xfrm>
          <a:prstGeom prst="rect">
            <a:avLst/>
          </a:prstGeom>
          <a:noFill/>
        </p:spPr>
        <p:txBody>
          <a:bodyPr wrap="square">
            <a:spAutoFit/>
          </a:bodyPr>
          <a:lstStyle/>
          <a:p>
            <a:pPr algn="l">
              <a:defRPr sz="1600" b="1">
                <a:solidFill>
                  <a:srgbClr val="F08040"/>
                </a:solidFill>
                <a:latin typeface="Calibri"/>
              </a:defRPr>
            </a:pPr>
            <a:r>
              <a:t>SET, DELETE, ON CREATE/MATCH</a:t>
            </a:r>
          </a:p>
        </p:txBody>
      </p:sp>
      <p:sp>
        <p:nvSpPr>
          <p:cNvPr id="9" name="Rectangle 8"/>
          <p:cNvSpPr/>
          <p:nvPr/>
        </p:nvSpPr>
        <p:spPr>
          <a:xfrm>
            <a:off x="5669280" y="1828800"/>
            <a:ext cx="4846320" cy="32004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79008" y="1901952"/>
            <a:ext cx="4626864" cy="3054096"/>
          </a:xfrm>
          <a:prstGeom prst="rect">
            <a:avLst/>
          </a:prstGeom>
          <a:noFill/>
        </p:spPr>
        <p:txBody>
          <a:bodyPr wrap="square">
            <a:spAutoFit/>
          </a:bodyPr>
          <a:lstStyle/>
          <a:p>
            <a:pPr>
              <a:spcAft>
                <a:spcPts val="100"/>
              </a:spcAft>
              <a:defRPr sz="1000">
                <a:solidFill>
                  <a:srgbClr val="7EC68E"/>
                </a:solidFill>
                <a:latin typeface="Consolas"/>
              </a:defRPr>
            </a:pPr>
            <a:r>
              <a:t>// SET = aggiorna proprietà esistenti</a:t>
            </a:r>
          </a:p>
          <a:p>
            <a:pPr>
              <a:spcAft>
                <a:spcPts val="100"/>
              </a:spcAft>
              <a:defRPr sz="1000">
                <a:solidFill>
                  <a:srgbClr val="7EC68E"/>
                </a:solidFill>
                <a:latin typeface="Consolas"/>
              </a:defRPr>
            </a:pPr>
            <a:r>
              <a:t>MATCH (p:Person {employee_id: 1})</a:t>
            </a:r>
          </a:p>
          <a:p>
            <a:pPr>
              <a:spcAft>
                <a:spcPts val="100"/>
              </a:spcAft>
              <a:defRPr sz="1000">
                <a:solidFill>
                  <a:srgbClr val="7EC68E"/>
                </a:solidFill>
                <a:latin typeface="Consolas"/>
              </a:defRPr>
            </a:pPr>
            <a:r>
              <a:t>SET p.email = "mario.rossi@azienda.com";</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SET += unisce props (merge safe):</a:t>
            </a:r>
          </a:p>
          <a:p>
            <a:pPr>
              <a:spcAft>
                <a:spcPts val="100"/>
              </a:spcAft>
              <a:defRPr sz="1000">
                <a:solidFill>
                  <a:srgbClr val="7EC68E"/>
                </a:solidFill>
                <a:latin typeface="Consolas"/>
              </a:defRPr>
            </a:pPr>
            <a:r>
              <a:t>SET p += {email: "mario@co.com",</a:t>
            </a:r>
          </a:p>
          <a:p>
            <a:pPr>
              <a:spcAft>
                <a:spcPts val="100"/>
              </a:spcAft>
              <a:defRPr sz="1000">
                <a:solidFill>
                  <a:srgbClr val="7EC68E"/>
                </a:solidFill>
                <a:latin typeface="Consolas"/>
              </a:defRPr>
            </a:pPr>
            <a:r>
              <a:t>         phone: "+39 333 1234567"};</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ON CREATE / ON MATCH con MERGE:</a:t>
            </a:r>
          </a:p>
          <a:p>
            <a:pPr>
              <a:spcAft>
                <a:spcPts val="100"/>
              </a:spcAft>
              <a:defRPr sz="1000">
                <a:solidFill>
                  <a:srgbClr val="7EC68E"/>
                </a:solidFill>
                <a:latin typeface="Consolas"/>
              </a:defRPr>
            </a:pPr>
            <a:r>
              <a:t>MERGE (p:Person {employee_id: 999})</a:t>
            </a:r>
          </a:p>
          <a:p>
            <a:pPr>
              <a:spcAft>
                <a:spcPts val="100"/>
              </a:spcAft>
              <a:defRPr sz="1000">
                <a:solidFill>
                  <a:srgbClr val="7EC68E"/>
                </a:solidFill>
                <a:latin typeface="Consolas"/>
              </a:defRPr>
            </a:pPr>
            <a:r>
              <a:t>  ON CREATE SET p.created = date()</a:t>
            </a:r>
          </a:p>
          <a:p>
            <a:pPr>
              <a:spcAft>
                <a:spcPts val="100"/>
              </a:spcAft>
              <a:defRPr sz="1000">
                <a:solidFill>
                  <a:srgbClr val="7EC68E"/>
                </a:solidFill>
                <a:latin typeface="Consolas"/>
              </a:defRPr>
            </a:pPr>
            <a:r>
              <a:t>  ON MATCH  SET p.updated = date();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DELETE (DETACH per nodi con relazioni):</a:t>
            </a:r>
          </a:p>
          <a:p>
            <a:pPr>
              <a:spcAft>
                <a:spcPts val="100"/>
              </a:spcAft>
              <a:defRPr sz="1000">
                <a:solidFill>
                  <a:srgbClr val="7EC68E"/>
                </a:solidFill>
                <a:latin typeface="Consolas"/>
              </a:defRPr>
            </a:pPr>
            <a:r>
              <a:t>MATCH (p:Person {employee_id: 999})</a:t>
            </a:r>
          </a:p>
          <a:p>
            <a:pPr>
              <a:spcAft>
                <a:spcPts val="100"/>
              </a:spcAft>
              <a:defRPr sz="1000">
                <a:solidFill>
                  <a:srgbClr val="7EC68E"/>
                </a:solidFill>
                <a:latin typeface="Consolas"/>
              </a:defRPr>
            </a:pPr>
            <a:r>
              <a:t>DETACH DELETE 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Vincoli (Constraints)</a:t>
            </a:r>
          </a:p>
        </p:txBody>
      </p:sp>
      <p:sp>
        <p:nvSpPr>
          <p:cNvPr id="3" name="TextBox 2"/>
          <p:cNvSpPr txBox="1"/>
          <p:nvPr/>
        </p:nvSpPr>
        <p:spPr>
          <a:xfrm>
            <a:off x="731520" y="914400"/>
            <a:ext cx="10515600" cy="365760"/>
          </a:xfrm>
          <a:prstGeom prst="rect">
            <a:avLst/>
          </a:prstGeom>
          <a:noFill/>
        </p:spPr>
        <p:txBody>
          <a:bodyPr wrap="square">
            <a:spAutoFit/>
          </a:bodyPr>
          <a:lstStyle/>
          <a:p>
            <a:pPr algn="l">
              <a:defRPr sz="1400" b="0">
                <a:solidFill>
                  <a:srgbClr val="CCCCCC"/>
                </a:solidFill>
                <a:latin typeface="Calibri"/>
              </a:defRPr>
            </a:pPr>
            <a:r>
              <a:t>I constraint garantiscono l'integrità dei dati. Vanno creati PRIMA del caricamento.</a:t>
            </a:r>
          </a:p>
        </p:txBody>
      </p:sp>
      <p:sp>
        <p:nvSpPr>
          <p:cNvPr id="4" name="TextBox 3"/>
          <p:cNvSpPr txBox="1"/>
          <p:nvPr/>
        </p:nvSpPr>
        <p:spPr>
          <a:xfrm>
            <a:off x="731520" y="1371600"/>
            <a:ext cx="5029200" cy="1828800"/>
          </a:xfrm>
          <a:prstGeom prst="rect">
            <a:avLst/>
          </a:prstGeom>
          <a:noFill/>
        </p:spPr>
        <p:txBody>
          <a:bodyPr wrap="square">
            <a:spAutoFit/>
          </a:bodyPr>
          <a:lstStyle/>
          <a:p>
            <a:pPr algn="l">
              <a:spcAft>
                <a:spcPts val="300"/>
              </a:spcAft>
              <a:defRPr sz="1200">
                <a:solidFill>
                  <a:srgbClr val="FFFFFF"/>
                </a:solidFill>
                <a:latin typeface="Calibri"/>
              </a:defRPr>
            </a:pPr>
            <a:r>
              <a:t>•  UNIQUE — unicità su una proprietà (es: Person.employee_id)</a:t>
            </a:r>
          </a:p>
          <a:p>
            <a:pPr algn="l">
              <a:spcAft>
                <a:spcPts val="300"/>
              </a:spcAft>
              <a:defRPr sz="1200">
                <a:solidFill>
                  <a:srgbClr val="FFFFFF"/>
                </a:solidFill>
                <a:latin typeface="Calibri"/>
              </a:defRPr>
            </a:pPr>
            <a:r>
              <a:t>  Crea automaticamente un indice RANGE</a:t>
            </a:r>
          </a:p>
          <a:p>
            <a:pPr algn="l">
              <a:spcAft>
                <a:spcPts val="300"/>
              </a:spcAft>
              <a:defRPr sz="1200">
                <a:solidFill>
                  <a:srgbClr val="FFFFFF"/>
                </a:solidFill>
                <a:latin typeface="Calibri"/>
              </a:defRPr>
            </a:pPr>
            <a:r>
              <a:t>  Rilevante per MERGE: senza constraint, MERGE concorrente può duplicare</a:t>
            </a:r>
          </a:p>
          <a:p>
            <a:pPr algn="l">
              <a:spcAft>
                <a:spcPts val="300"/>
              </a:spcAft>
              <a:defRPr sz="1200">
                <a:solidFill>
                  <a:srgbClr val="FFFFFF"/>
                </a:solidFill>
                <a:latin typeface="Calibri"/>
              </a:defRPr>
            </a:pPr>
            <a:r>
              <a:t>•  EXISTS — proprietà obbligatoria (es: Person.name non può essere null)</a:t>
            </a:r>
          </a:p>
          <a:p>
            <a:pPr algn="l">
              <a:spcAft>
                <a:spcPts val="300"/>
              </a:spcAft>
              <a:defRPr sz="1200">
                <a:solidFill>
                  <a:srgbClr val="FFFFFF"/>
                </a:solidFill>
                <a:latin typeface="Calibri"/>
              </a:defRPr>
            </a:pPr>
            <a:r>
              <a:t>•  NODE KEY — unicità + exists combinati su una o più proprietà</a:t>
            </a:r>
          </a:p>
        </p:txBody>
      </p:sp>
      <p:sp>
        <p:nvSpPr>
          <p:cNvPr id="5" name="Rectangle 4"/>
          <p:cNvSpPr/>
          <p:nvPr/>
        </p:nvSpPr>
        <p:spPr>
          <a:xfrm>
            <a:off x="5669280" y="1371600"/>
            <a:ext cx="4846320" cy="201168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79008" y="1444752"/>
            <a:ext cx="4626864" cy="1865376"/>
          </a:xfrm>
          <a:prstGeom prst="rect">
            <a:avLst/>
          </a:prstGeom>
          <a:noFill/>
        </p:spPr>
        <p:txBody>
          <a:bodyPr wrap="square">
            <a:spAutoFit/>
          </a:bodyPr>
          <a:lstStyle/>
          <a:p>
            <a:pPr>
              <a:spcAft>
                <a:spcPts val="100"/>
              </a:spcAft>
              <a:defRPr sz="1000">
                <a:solidFill>
                  <a:srgbClr val="7EC68E"/>
                </a:solidFill>
                <a:latin typeface="Consolas"/>
              </a:defRPr>
            </a:pPr>
            <a:r>
              <a:t>CREATE CONSTRAINT person_id IF NOT EXISTS</a:t>
            </a:r>
          </a:p>
          <a:p>
            <a:pPr>
              <a:spcAft>
                <a:spcPts val="100"/>
              </a:spcAft>
              <a:defRPr sz="1000">
                <a:solidFill>
                  <a:srgbClr val="7EC68E"/>
                </a:solidFill>
                <a:latin typeface="Consolas"/>
              </a:defRPr>
            </a:pPr>
            <a:r>
              <a:t>  FOR (p:Person)</a:t>
            </a:r>
          </a:p>
          <a:p>
            <a:pPr>
              <a:spcAft>
                <a:spcPts val="100"/>
              </a:spcAft>
              <a:defRPr sz="1000">
                <a:solidFill>
                  <a:srgbClr val="7EC68E"/>
                </a:solidFill>
                <a:latin typeface="Consolas"/>
              </a:defRPr>
            </a:pPr>
            <a:r>
              <a:t>  REQUIRE p.employee_id IS UNIQUE;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CREATE CONSTRAINT person_name IF NOT EXISTS</a:t>
            </a:r>
          </a:p>
          <a:p>
            <a:pPr>
              <a:spcAft>
                <a:spcPts val="100"/>
              </a:spcAft>
              <a:defRPr sz="1000">
                <a:solidFill>
                  <a:srgbClr val="7EC68E"/>
                </a:solidFill>
                <a:latin typeface="Consolas"/>
              </a:defRPr>
            </a:pPr>
            <a:r>
              <a:t>  FOR (p:Person)</a:t>
            </a:r>
          </a:p>
          <a:p>
            <a:pPr>
              <a:spcAft>
                <a:spcPts val="100"/>
              </a:spcAft>
              <a:defRPr sz="1000">
                <a:solidFill>
                  <a:srgbClr val="7EC68E"/>
                </a:solidFill>
                <a:latin typeface="Consolas"/>
              </a:defRPr>
            </a:pPr>
            <a:r>
              <a:t>  REQUIRE p.name IS NOT NULL;</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Node Key composto:</a:t>
            </a:r>
          </a:p>
          <a:p>
            <a:pPr>
              <a:spcAft>
                <a:spcPts val="100"/>
              </a:spcAft>
              <a:defRPr sz="1000">
                <a:solidFill>
                  <a:srgbClr val="7EC68E"/>
                </a:solidFill>
                <a:latin typeface="Consolas"/>
              </a:defRPr>
            </a:pPr>
            <a:r>
              <a:t>CREATE CONSTRAINT project_key IF NOT EXISTS</a:t>
            </a:r>
          </a:p>
          <a:p>
            <a:pPr>
              <a:spcAft>
                <a:spcPts val="100"/>
              </a:spcAft>
              <a:defRPr sz="1000">
                <a:solidFill>
                  <a:srgbClr val="7EC68E"/>
                </a:solidFill>
                <a:latin typeface="Consolas"/>
              </a:defRPr>
            </a:pPr>
            <a:r>
              <a:t>  FOR (p:Project)</a:t>
            </a:r>
          </a:p>
          <a:p>
            <a:pPr>
              <a:spcAft>
                <a:spcPts val="100"/>
              </a:spcAft>
              <a:defRPr sz="1000">
                <a:solidFill>
                  <a:srgbClr val="7EC68E"/>
                </a:solidFill>
                <a:latin typeface="Consolas"/>
              </a:defRPr>
            </a:pPr>
            <a:r>
              <a:t>  REQUIRE (p.project_id, p.name) IS NODE KEY;</a:t>
            </a:r>
          </a:p>
        </p:txBody>
      </p:sp>
      <p:sp>
        <p:nvSpPr>
          <p:cNvPr id="7" name="Rectangle 6"/>
          <p:cNvSpPr/>
          <p:nvPr/>
        </p:nvSpPr>
        <p:spPr>
          <a:xfrm>
            <a:off x="731520" y="34747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657600"/>
            <a:ext cx="10515600" cy="365760"/>
          </a:xfrm>
          <a:prstGeom prst="rect">
            <a:avLst/>
          </a:prstGeom>
          <a:noFill/>
        </p:spPr>
        <p:txBody>
          <a:bodyPr wrap="square">
            <a:spAutoFit/>
          </a:bodyPr>
          <a:lstStyle/>
          <a:p>
            <a:pPr algn="l">
              <a:defRPr sz="1500" b="1">
                <a:solidFill>
                  <a:srgbClr val="F08040"/>
                </a:solidFill>
                <a:latin typeface="Calibri"/>
              </a:defRPr>
            </a:pPr>
            <a:r>
              <a:t>Verificare i constraint esistenti:</a:t>
            </a:r>
          </a:p>
        </p:txBody>
      </p:sp>
      <p:sp>
        <p:nvSpPr>
          <p:cNvPr id="9" name="Rectangle 8"/>
          <p:cNvSpPr/>
          <p:nvPr/>
        </p:nvSpPr>
        <p:spPr>
          <a:xfrm>
            <a:off x="731520" y="4114800"/>
            <a:ext cx="502920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4187952"/>
            <a:ext cx="4809744" cy="1499616"/>
          </a:xfrm>
          <a:prstGeom prst="rect">
            <a:avLst/>
          </a:prstGeom>
          <a:noFill/>
        </p:spPr>
        <p:txBody>
          <a:bodyPr wrap="square">
            <a:spAutoFit/>
          </a:bodyPr>
          <a:lstStyle/>
          <a:p>
            <a:pPr>
              <a:spcAft>
                <a:spcPts val="100"/>
              </a:spcAft>
              <a:defRPr sz="1000">
                <a:solidFill>
                  <a:srgbClr val="7EC68E"/>
                </a:solidFill>
                <a:latin typeface="Consolas"/>
              </a:defRPr>
            </a:pPr>
            <a:r>
              <a:t>SHOW CONSTRAINTS;</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Output esempio:</a:t>
            </a:r>
          </a:p>
          <a:p>
            <a:pPr>
              <a:spcAft>
                <a:spcPts val="100"/>
              </a:spcAft>
              <a:defRPr sz="1000">
                <a:solidFill>
                  <a:srgbClr val="7EC68E"/>
                </a:solidFill>
                <a:latin typeface="Consolas"/>
              </a:defRPr>
            </a:pPr>
            <a:r>
              <a:t>// name          | type   | label    | properties</a:t>
            </a:r>
          </a:p>
          <a:p>
            <a:pPr>
              <a:spcAft>
                <a:spcPts val="100"/>
              </a:spcAft>
              <a:defRPr sz="1000">
                <a:solidFill>
                  <a:srgbClr val="7EC68E"/>
                </a:solidFill>
                <a:latin typeface="Consolas"/>
              </a:defRPr>
            </a:pPr>
            <a:r>
              <a:t>// person_id     | UNIQUE | Person   | employee_id</a:t>
            </a:r>
          </a:p>
          <a:p>
            <a:pPr>
              <a:spcAft>
                <a:spcPts val="100"/>
              </a:spcAft>
              <a:defRPr sz="1000">
                <a:solidFill>
                  <a:srgbClr val="7EC68E"/>
                </a:solidFill>
                <a:latin typeface="Consolas"/>
              </a:defRPr>
            </a:pPr>
            <a:r>
              <a:t>// person_name   | EXISTS | Person   | name</a:t>
            </a:r>
          </a:p>
          <a:p>
            <a:pPr>
              <a:spcAft>
                <a:spcPts val="100"/>
              </a:spcAft>
              <a:defRPr sz="1000">
                <a:solidFill>
                  <a:srgbClr val="7EC68E"/>
                </a:solidFill>
                <a:latin typeface="Consolas"/>
              </a:defRPr>
            </a:pPr>
            <a:r>
              <a:t>// project_key   | NODE KEY | Project | project_id, name</a:t>
            </a:r>
          </a:p>
        </p:txBody>
      </p:sp>
      <p:sp>
        <p:nvSpPr>
          <p:cNvPr id="11" name="TextBox 10"/>
          <p:cNvSpPr txBox="1"/>
          <p:nvPr/>
        </p:nvSpPr>
        <p:spPr>
          <a:xfrm>
            <a:off x="5669280" y="4114800"/>
            <a:ext cx="4846320" cy="1645920"/>
          </a:xfrm>
          <a:prstGeom prst="rect">
            <a:avLst/>
          </a:prstGeom>
          <a:noFill/>
        </p:spPr>
        <p:txBody>
          <a:bodyPr wrap="square">
            <a:spAutoFit/>
          </a:bodyPr>
          <a:lstStyle/>
          <a:p>
            <a:pPr algn="l">
              <a:defRPr sz="1200" b="0">
                <a:solidFill>
                  <a:srgbClr val="CCCCCC"/>
                </a:solidFill>
                <a:latin typeface="Calibri"/>
              </a:defRPr>
            </a:pPr>
            <a:r>
              <a:t>Perché creare constraint PRIMA?</a:t>
            </a:r>
            <a:br/>
            <a:br/>
            <a:r>
              <a:t>1. Il caricamento fallisce subito se</a:t>
            </a:r>
            <a:br/>
            <a:r>
              <a:t>   i dati violano i vincoli</a:t>
            </a:r>
            <a:br/>
            <a:r>
              <a:t>2. MERGE su proprietà UNIQUE è</a:t>
            </a:r>
            <a:br/>
            <a:r>
              <a:t>   atomicamente sicuro</a:t>
            </a:r>
            <a:br/>
            <a:r>
              <a:t>3. L’indice sottostante accelera</a:t>
            </a:r>
            <a:br/>
            <a:r>
              <a:t>   il caricamento (nessuna scansione)</a:t>
            </a:r>
            <a:br/>
            <a:br/>
            <a:r>
              <a:t>Regola: CREATE CONSTRAINT ... →</a:t>
            </a:r>
            <a:br/>
            <a:r>
              <a:t>LOAD DATA → SHOW CONSTRAINTS</a:t>
            </a:r>
            <a:br/>
            <a:r>
              <a:t>per verificare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Indici e Performance</a:t>
            </a:r>
          </a:p>
        </p:txBody>
      </p:sp>
      <p:sp>
        <p:nvSpPr>
          <p:cNvPr id="3" name="TextBox 2"/>
          <p:cNvSpPr txBox="1"/>
          <p:nvPr/>
        </p:nvSpPr>
        <p:spPr>
          <a:xfrm>
            <a:off x="731520" y="914400"/>
            <a:ext cx="10515600" cy="457200"/>
          </a:xfrm>
          <a:prstGeom prst="rect">
            <a:avLst/>
          </a:prstGeom>
          <a:noFill/>
        </p:spPr>
        <p:txBody>
          <a:bodyPr wrap="square">
            <a:spAutoFit/>
          </a:bodyPr>
          <a:lstStyle/>
          <a:p>
            <a:pPr algn="l">
              <a:defRPr sz="1400" b="0">
                <a:solidFill>
                  <a:srgbClr val="CCCCCC"/>
                </a:solidFill>
                <a:latin typeface="Calibri"/>
              </a:defRPr>
            </a:pPr>
            <a:r>
              <a:t>Gli indici accelerano la lettura. Senza indice, Neo4j esegue NodeByLabelScan (legge tutti i nodi).</a:t>
            </a:r>
          </a:p>
        </p:txBody>
      </p:sp>
      <p:sp>
        <p:nvSpPr>
          <p:cNvPr id="4" name="TextBox 3"/>
          <p:cNvSpPr txBox="1"/>
          <p:nvPr/>
        </p:nvSpPr>
        <p:spPr>
          <a:xfrm>
            <a:off x="731520" y="1463040"/>
            <a:ext cx="5029200" cy="1828800"/>
          </a:xfrm>
          <a:prstGeom prst="rect">
            <a:avLst/>
          </a:prstGeom>
          <a:noFill/>
        </p:spPr>
        <p:txBody>
          <a:bodyPr wrap="square">
            <a:spAutoFit/>
          </a:bodyPr>
          <a:lstStyle/>
          <a:p>
            <a:pPr algn="l">
              <a:spcAft>
                <a:spcPts val="300"/>
              </a:spcAft>
              <a:defRPr sz="1200">
                <a:solidFill>
                  <a:srgbClr val="FFFFFF"/>
                </a:solidFill>
                <a:latin typeface="Calibri"/>
              </a:defRPr>
            </a:pPr>
            <a:r>
              <a:t>•  RANGE (default) — per confronti esatti, range, ORDER BY</a:t>
            </a:r>
          </a:p>
          <a:p>
            <a:pPr algn="l">
              <a:spcAft>
                <a:spcPts val="300"/>
              </a:spcAft>
              <a:defRPr sz="1200">
                <a:solidFill>
                  <a:srgbClr val="FFFFFF"/>
                </a:solidFill>
                <a:latin typeface="Calibri"/>
              </a:defRPr>
            </a:pPr>
            <a:r>
              <a:t>•  TEXT — per CONTAINS, STARTS WITH, ENDS WITH</a:t>
            </a:r>
          </a:p>
          <a:p>
            <a:pPr algn="l">
              <a:spcAft>
                <a:spcPts val="300"/>
              </a:spcAft>
              <a:defRPr sz="1200">
                <a:solidFill>
                  <a:srgbClr val="FFFFFF"/>
                </a:solidFill>
                <a:latin typeface="Calibri"/>
              </a:defRPr>
            </a:pPr>
            <a:r>
              <a:t>•  POINT — per ricerche geospaziali</a:t>
            </a:r>
          </a:p>
          <a:p>
            <a:pPr algn="l">
              <a:spcAft>
                <a:spcPts val="300"/>
              </a:spcAft>
              <a:defRPr sz="1200">
                <a:solidFill>
                  <a:srgbClr val="FFFFFF"/>
                </a:solidFill>
                <a:latin typeface="Calibri"/>
              </a:defRPr>
            </a:pPr>
            <a:r>
              <a:t>•  FULLTEXT — per ricerca testuale avanzata (tokenizzazione)</a:t>
            </a:r>
          </a:p>
          <a:p>
            <a:pPr algn="l">
              <a:spcAft>
                <a:spcPts val="300"/>
              </a:spcAft>
              <a:defRPr sz="1200">
                <a:solidFill>
                  <a:srgbClr val="FFFFFF"/>
                </a:solidFill>
                <a:latin typeface="Calibri"/>
              </a:defRPr>
            </a:pPr>
            <a:r>
              <a:t>•  I constraint UNIQUE creano automaticamente un indice RANGE</a:t>
            </a:r>
          </a:p>
          <a:p>
            <a:pPr algn="l">
              <a:spcAft>
                <a:spcPts val="300"/>
              </a:spcAft>
              <a:defRPr sz="1200">
                <a:solidFill>
                  <a:srgbClr val="FFFFFF"/>
                </a:solidFill>
                <a:latin typeface="Calibri"/>
              </a:defRPr>
            </a:pPr>
            <a:r>
              <a:t>•  Gli indici migliorano la LETTURA ma rallentano leggermente la SCRITTURA</a:t>
            </a:r>
          </a:p>
        </p:txBody>
      </p:sp>
      <p:sp>
        <p:nvSpPr>
          <p:cNvPr id="5" name="Rectangle 4"/>
          <p:cNvSpPr/>
          <p:nvPr/>
        </p:nvSpPr>
        <p:spPr>
          <a:xfrm>
            <a:off x="5669280" y="1463040"/>
            <a:ext cx="4846320" cy="201168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79008" y="1536192"/>
            <a:ext cx="4626864" cy="1865376"/>
          </a:xfrm>
          <a:prstGeom prst="rect">
            <a:avLst/>
          </a:prstGeom>
          <a:noFill/>
        </p:spPr>
        <p:txBody>
          <a:bodyPr wrap="square">
            <a:spAutoFit/>
          </a:bodyPr>
          <a:lstStyle/>
          <a:p>
            <a:pPr>
              <a:spcAft>
                <a:spcPts val="100"/>
              </a:spcAft>
              <a:defRPr sz="1000">
                <a:solidFill>
                  <a:srgbClr val="7EC68E"/>
                </a:solidFill>
                <a:latin typeface="Consolas"/>
              </a:defRPr>
            </a:pPr>
            <a:r>
              <a:t>CREATE INDEX person_location IF NOT EXISTS</a:t>
            </a:r>
          </a:p>
          <a:p>
            <a:pPr>
              <a:spcAft>
                <a:spcPts val="100"/>
              </a:spcAft>
              <a:defRPr sz="1000">
                <a:solidFill>
                  <a:srgbClr val="7EC68E"/>
                </a:solidFill>
                <a:latin typeface="Consolas"/>
              </a:defRPr>
            </a:pPr>
            <a:r>
              <a:t>  FOR (p:Person) ON (p.location);</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CREATE TEXT INDEX skill_name IF NOT EXISTS</a:t>
            </a:r>
          </a:p>
          <a:p>
            <a:pPr>
              <a:spcAft>
                <a:spcPts val="100"/>
              </a:spcAft>
              <a:defRPr sz="1000">
                <a:solidFill>
                  <a:srgbClr val="7EC68E"/>
                </a:solidFill>
                <a:latin typeface="Consolas"/>
              </a:defRPr>
            </a:pPr>
            <a:r>
              <a:t>  FOR (s:Skill) ON (s.name);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Indice composito:</a:t>
            </a:r>
          </a:p>
          <a:p>
            <a:pPr>
              <a:spcAft>
                <a:spcPts val="100"/>
              </a:spcAft>
              <a:defRPr sz="1000">
                <a:solidFill>
                  <a:srgbClr val="7EC68E"/>
                </a:solidFill>
                <a:latin typeface="Consolas"/>
              </a:defRPr>
            </a:pPr>
            <a:r>
              <a:t>CREATE INDEX person_dept_role IF NOT EXISTS</a:t>
            </a:r>
          </a:p>
          <a:p>
            <a:pPr>
              <a:spcAft>
                <a:spcPts val="100"/>
              </a:spcAft>
              <a:defRPr sz="1000">
                <a:solidFill>
                  <a:srgbClr val="7EC68E"/>
                </a:solidFill>
                <a:latin typeface="Consolas"/>
              </a:defRPr>
            </a:pPr>
            <a:r>
              <a:t>  FOR (p:Person)</a:t>
            </a:r>
          </a:p>
          <a:p>
            <a:pPr>
              <a:spcAft>
                <a:spcPts val="100"/>
              </a:spcAft>
              <a:defRPr sz="1000">
                <a:solidFill>
                  <a:srgbClr val="7EC68E"/>
                </a:solidFill>
                <a:latin typeface="Consolas"/>
              </a:defRPr>
            </a:pPr>
            <a:r>
              <a:t>  ON (p.department, p.title);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SHOW INDEXES;</a:t>
            </a:r>
          </a:p>
        </p:txBody>
      </p:sp>
      <p:sp>
        <p:nvSpPr>
          <p:cNvPr id="7" name="Rectangle 6"/>
          <p:cNvSpPr/>
          <p:nvPr/>
        </p:nvSpPr>
        <p:spPr>
          <a:xfrm>
            <a:off x="731520" y="36576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840480"/>
            <a:ext cx="10515600" cy="365760"/>
          </a:xfrm>
          <a:prstGeom prst="rect">
            <a:avLst/>
          </a:prstGeom>
          <a:noFill/>
        </p:spPr>
        <p:txBody>
          <a:bodyPr wrap="square">
            <a:spAutoFit/>
          </a:bodyPr>
          <a:lstStyle/>
          <a:p>
            <a:pPr algn="l">
              <a:defRPr sz="1500" b="1">
                <a:solidFill>
                  <a:srgbClr val="F08040"/>
                </a:solidFill>
                <a:latin typeface="Calibri"/>
              </a:defRPr>
            </a:pPr>
            <a:r>
              <a:t>PROFILE: vedere se la query usa l’indice</a:t>
            </a:r>
          </a:p>
        </p:txBody>
      </p:sp>
      <p:sp>
        <p:nvSpPr>
          <p:cNvPr id="9" name="Rectangle 8"/>
          <p:cNvSpPr/>
          <p:nvPr/>
        </p:nvSpPr>
        <p:spPr>
          <a:xfrm>
            <a:off x="731520" y="4297680"/>
            <a:ext cx="5029200" cy="18288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4370832"/>
            <a:ext cx="4809744" cy="1682496"/>
          </a:xfrm>
          <a:prstGeom prst="rect">
            <a:avLst/>
          </a:prstGeom>
          <a:noFill/>
        </p:spPr>
        <p:txBody>
          <a:bodyPr wrap="square">
            <a:spAutoFit/>
          </a:bodyPr>
          <a:lstStyle/>
          <a:p>
            <a:pPr>
              <a:spcAft>
                <a:spcPts val="100"/>
              </a:spcAft>
              <a:defRPr sz="1000">
                <a:solidFill>
                  <a:srgbClr val="7EC68E"/>
                </a:solidFill>
                <a:latin typeface="Consolas"/>
              </a:defRPr>
            </a:pPr>
            <a:r>
              <a:t>PROFILE</a:t>
            </a:r>
          </a:p>
          <a:p>
            <a:pPr>
              <a:spcAft>
                <a:spcPts val="100"/>
              </a:spcAft>
              <a:defRPr sz="1000">
                <a:solidFill>
                  <a:srgbClr val="7EC68E"/>
                </a:solidFill>
                <a:latin typeface="Consolas"/>
              </a:defRPr>
            </a:pPr>
            <a:r>
              <a:t>MATCH (p:Person)</a:t>
            </a:r>
          </a:p>
          <a:p>
            <a:pPr>
              <a:spcAft>
                <a:spcPts val="100"/>
              </a:spcAft>
              <a:defRPr sz="1000">
                <a:solidFill>
                  <a:srgbClr val="7EC68E"/>
                </a:solidFill>
                <a:latin typeface="Consolas"/>
              </a:defRPr>
            </a:pPr>
            <a:r>
              <a:t>WHERE p.location = "Roma"</a:t>
            </a:r>
          </a:p>
          <a:p>
            <a:pPr>
              <a:spcAft>
                <a:spcPts val="100"/>
              </a:spcAft>
              <a:defRPr sz="1000">
                <a:solidFill>
                  <a:srgbClr val="7EC68E"/>
                </a:solidFill>
                <a:latin typeface="Consolas"/>
              </a:defRPr>
            </a:pPr>
            <a:r>
              <a:t>RETURN p.name;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Operatori nel piano:</a:t>
            </a:r>
          </a:p>
          <a:p>
            <a:pPr>
              <a:spcAft>
                <a:spcPts val="100"/>
              </a:spcAft>
              <a:defRPr sz="1000">
                <a:solidFill>
                  <a:srgbClr val="7EC68E"/>
                </a:solidFill>
                <a:latin typeface="Consolas"/>
              </a:defRPr>
            </a:pPr>
            <a:r>
              <a:t>// NodeIndexSeek    = BUONO (usa indice)</a:t>
            </a:r>
          </a:p>
          <a:p>
            <a:pPr>
              <a:spcAft>
                <a:spcPts val="100"/>
              </a:spcAft>
              <a:defRPr sz="1000">
                <a:solidFill>
                  <a:srgbClr val="7EC68E"/>
                </a:solidFill>
                <a:latin typeface="Consolas"/>
              </a:defRPr>
            </a:pPr>
            <a:r>
              <a:t>// NodeByLabelScan  = se legge TUTTI i nodi</a:t>
            </a:r>
          </a:p>
          <a:p>
            <a:pPr>
              <a:spcAft>
                <a:spcPts val="100"/>
              </a:spcAft>
              <a:defRPr sz="1000">
                <a:solidFill>
                  <a:srgbClr val="7EC68E"/>
                </a:solidFill>
                <a:latin typeface="Consolas"/>
              </a:defRPr>
            </a:pPr>
            <a:r>
              <a:t>// AllNodesScan     = MALE (nessun filtro)</a:t>
            </a:r>
          </a:p>
          <a:p>
            <a:pPr>
              <a:spcAft>
                <a:spcPts val="100"/>
              </a:spcAft>
              <a:defRPr sz="1000">
                <a:solidFill>
                  <a:srgbClr val="7EC68E"/>
                </a:solidFill>
                <a:latin typeface="Consolas"/>
              </a:defRPr>
            </a:pPr>
            <a:r>
              <a:t>// CartesianProduct = MALE (pattern errato)</a:t>
            </a:r>
          </a:p>
        </p:txBody>
      </p:sp>
      <p:sp>
        <p:nvSpPr>
          <p:cNvPr id="11" name="Rectangle 10"/>
          <p:cNvSpPr/>
          <p:nvPr/>
        </p:nvSpPr>
        <p:spPr>
          <a:xfrm>
            <a:off x="5669280" y="4297680"/>
            <a:ext cx="4846320" cy="21031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79008" y="4370832"/>
            <a:ext cx="4626864" cy="1956816"/>
          </a:xfrm>
          <a:prstGeom prst="rect">
            <a:avLst/>
          </a:prstGeom>
          <a:noFill/>
        </p:spPr>
        <p:txBody>
          <a:bodyPr wrap="square">
            <a:spAutoFit/>
          </a:bodyPr>
          <a:lstStyle/>
          <a:p>
            <a:pPr>
              <a:spcAft>
                <a:spcPts val="100"/>
              </a:spcAft>
              <a:defRPr sz="1000">
                <a:solidFill>
                  <a:srgbClr val="7EC68E"/>
                </a:solidFill>
                <a:latin typeface="Consolas"/>
              </a:defRPr>
            </a:pPr>
            <a:r>
              <a:t>// Confronto: con e senza indice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SENZA indice (NodeByLabelScan):</a:t>
            </a:r>
          </a:p>
          <a:p>
            <a:pPr>
              <a:spcAft>
                <a:spcPts val="100"/>
              </a:spcAft>
              <a:defRPr sz="1000">
                <a:solidFill>
                  <a:srgbClr val="7EC68E"/>
                </a:solidFill>
                <a:latin typeface="Consolas"/>
              </a:defRPr>
            </a:pPr>
            <a:r>
              <a:t>// dbHits: 238 (legge tutte le persone)</a:t>
            </a:r>
          </a:p>
          <a:p>
            <a:pPr>
              <a:spcAft>
                <a:spcPts val="100"/>
              </a:spcAft>
              <a:defRPr sz="1000">
                <a:solidFill>
                  <a:srgbClr val="7EC68E"/>
                </a:solidFill>
                <a:latin typeface="Consolas"/>
              </a:defRPr>
            </a:pPr>
            <a:r>
              <a:t>//  Poi filtra una per una in memoria</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CON indice (NodeIndexSeek):</a:t>
            </a:r>
          </a:p>
          <a:p>
            <a:pPr>
              <a:spcAft>
                <a:spcPts val="100"/>
              </a:spcAft>
              <a:defRPr sz="1000">
                <a:solidFill>
                  <a:srgbClr val="7EC68E"/>
                </a:solidFill>
                <a:latin typeface="Consolas"/>
              </a:defRPr>
            </a:pPr>
            <a:r>
              <a:t>// dbHits: ~3 (indice + recupero nodo)</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EXPLAIN = piano stimato (non esegue)</a:t>
            </a:r>
          </a:p>
          <a:p>
            <a:pPr>
              <a:spcAft>
                <a:spcPts val="100"/>
              </a:spcAft>
              <a:defRPr sz="1000">
                <a:solidFill>
                  <a:srgbClr val="7EC68E"/>
                </a:solidFill>
                <a:latin typeface="Consolas"/>
              </a:defRPr>
            </a:pPr>
            <a:r>
              <a:t>PROFILE = esegue + metriche reali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Strategie di Caricamento</a:t>
            </a:r>
          </a:p>
        </p:txBody>
      </p:sp>
      <p:sp>
        <p:nvSpPr>
          <p:cNvPr id="3" name="TextBox 2"/>
          <p:cNvSpPr txBox="1"/>
          <p:nvPr/>
        </p:nvSpPr>
        <p:spPr>
          <a:xfrm>
            <a:off x="731520" y="914400"/>
            <a:ext cx="10515600" cy="365760"/>
          </a:xfrm>
          <a:prstGeom prst="rect">
            <a:avLst/>
          </a:prstGeom>
          <a:noFill/>
        </p:spPr>
        <p:txBody>
          <a:bodyPr wrap="square">
            <a:spAutoFit/>
          </a:bodyPr>
          <a:lstStyle/>
          <a:p>
            <a:pPr algn="l">
              <a:defRPr sz="1400" b="0">
                <a:solidFill>
                  <a:srgbClr val="CCCCCC"/>
                </a:solidFill>
                <a:latin typeface="Calibri"/>
              </a:defRPr>
            </a:pPr>
            <a:r>
              <a:t>Caricare 238 persone uno alla volta vs in batch: la differenza è di 300x.</a:t>
            </a:r>
          </a:p>
        </p:txBody>
      </p:sp>
      <p:sp>
        <p:nvSpPr>
          <p:cNvPr id="4" name="TextBox 3"/>
          <p:cNvSpPr txBox="1"/>
          <p:nvPr/>
        </p:nvSpPr>
        <p:spPr>
          <a:xfrm>
            <a:off x="731520" y="1417320"/>
            <a:ext cx="5029200" cy="1828800"/>
          </a:xfrm>
          <a:prstGeom prst="rect">
            <a:avLst/>
          </a:prstGeom>
          <a:noFill/>
        </p:spPr>
        <p:txBody>
          <a:bodyPr wrap="square">
            <a:spAutoFit/>
          </a:bodyPr>
          <a:lstStyle/>
          <a:p>
            <a:pPr algn="l">
              <a:spcAft>
                <a:spcPts val="300"/>
              </a:spcAft>
              <a:defRPr sz="1200">
                <a:solidFill>
                  <a:srgbClr val="FFFFFF"/>
                </a:solidFill>
                <a:latin typeface="Calibri"/>
              </a:defRPr>
            </a:pPr>
            <a:r>
              <a:t>•  Row-by-row: una query per ogni riga → N chiamate al database</a:t>
            </a:r>
          </a:p>
          <a:p>
            <a:pPr algn="l">
              <a:spcAft>
                <a:spcPts val="300"/>
              </a:spcAft>
              <a:defRPr sz="1200">
                <a:solidFill>
                  <a:srgbClr val="FFFFFF"/>
                </a:solidFill>
                <a:latin typeface="Calibri"/>
              </a:defRPr>
            </a:pPr>
            <a:r>
              <a:t>  Costo: latenza di rete N volte + N transazioni</a:t>
            </a:r>
          </a:p>
          <a:p>
            <a:pPr algn="l">
              <a:spcAft>
                <a:spcPts val="300"/>
              </a:spcAft>
              <a:defRPr sz="1200">
                <a:solidFill>
                  <a:srgbClr val="FFFFFF"/>
                </a:solidFill>
                <a:latin typeface="Calibri"/>
              </a:defRPr>
            </a:pPr>
            <a:r>
              <a:t>•  UNWIND batch: colleziona i dati in lista, invia in un’unica transazione</a:t>
            </a:r>
          </a:p>
          <a:p>
            <a:pPr algn="l">
              <a:spcAft>
                <a:spcPts val="300"/>
              </a:spcAft>
              <a:defRPr sz="1200">
                <a:solidFill>
                  <a:srgbClr val="FFFFFF"/>
                </a:solidFill>
                <a:latin typeface="Calibri"/>
              </a:defRPr>
            </a:pPr>
            <a:r>
              <a:t>  Costo: 1 chiamata + 1 transazione + ciclo nel database</a:t>
            </a:r>
          </a:p>
          <a:p>
            <a:pPr algn="l">
              <a:spcAft>
                <a:spcPts val="300"/>
              </a:spcAft>
              <a:defRPr sz="1200">
                <a:solidFill>
                  <a:srgbClr val="FFFFFF"/>
                </a:solidFill>
                <a:latin typeface="Calibri"/>
              </a:defRPr>
            </a:pPr>
            <a:r>
              <a:t>•  MERGE è idempotente — si può rieseguire senza rischi</a:t>
            </a:r>
          </a:p>
          <a:p>
            <a:pPr algn="l">
              <a:spcAft>
                <a:spcPts val="300"/>
              </a:spcAft>
              <a:defRPr sz="1200">
                <a:solidFill>
                  <a:srgbClr val="FFFFFF"/>
                </a:solidFill>
                <a:latin typeface="Calibri"/>
              </a:defRPr>
            </a:pPr>
            <a:r>
              <a:t>•  CREATE è più veloce ma non tollera duplicati</a:t>
            </a:r>
          </a:p>
        </p:txBody>
      </p:sp>
      <p:sp>
        <p:nvSpPr>
          <p:cNvPr id="5" name="Rectangle 4"/>
          <p:cNvSpPr/>
          <p:nvPr/>
        </p:nvSpPr>
        <p:spPr>
          <a:xfrm>
            <a:off x="5669280" y="1417320"/>
            <a:ext cx="4846320" cy="18288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79008" y="1490472"/>
            <a:ext cx="4626864" cy="1682496"/>
          </a:xfrm>
          <a:prstGeom prst="rect">
            <a:avLst/>
          </a:prstGeom>
          <a:noFill/>
        </p:spPr>
        <p:txBody>
          <a:bodyPr wrap="square">
            <a:spAutoFit/>
          </a:bodyPr>
          <a:lstStyle/>
          <a:p>
            <a:pPr>
              <a:spcAft>
                <a:spcPts val="100"/>
              </a:spcAft>
              <a:defRPr sz="1000">
                <a:solidFill>
                  <a:srgbClr val="7EC68E"/>
                </a:solidFill>
                <a:latin typeface="Consolas"/>
              </a:defRPr>
            </a:pPr>
            <a:r>
              <a:t># UNWIND con MERGE (pattern sicuro):</a:t>
            </a:r>
          </a:p>
          <a:p>
            <a:pPr>
              <a:spcAft>
                <a:spcPts val="100"/>
              </a:spcAft>
              <a:defRPr sz="1000">
                <a:solidFill>
                  <a:srgbClr val="7EC68E"/>
                </a:solidFill>
                <a:latin typeface="Consolas"/>
              </a:defRPr>
            </a:pPr>
            <a:r>
              <a:t>batch = df.to_dict("records")</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driver.execute_query("""</a:t>
            </a:r>
          </a:p>
          <a:p>
            <a:pPr>
              <a:spcAft>
                <a:spcPts val="100"/>
              </a:spcAft>
              <a:defRPr sz="1000">
                <a:solidFill>
                  <a:srgbClr val="7EC68E"/>
                </a:solidFill>
                <a:latin typeface="Consolas"/>
              </a:defRPr>
            </a:pPr>
            <a:r>
              <a:t>UNWIND $batch AS row</a:t>
            </a:r>
          </a:p>
          <a:p>
            <a:pPr>
              <a:spcAft>
                <a:spcPts val="100"/>
              </a:spcAft>
              <a:defRPr sz="1000">
                <a:solidFill>
                  <a:srgbClr val="7EC68E"/>
                </a:solidFill>
                <a:latin typeface="Consolas"/>
              </a:defRPr>
            </a:pPr>
            <a:r>
              <a:t>MERGE (p:Person {employee_id: row.employee_id})</a:t>
            </a:r>
          </a:p>
          <a:p>
            <a:pPr>
              <a:spcAft>
                <a:spcPts val="100"/>
              </a:spcAft>
              <a:defRPr sz="1000">
                <a:solidFill>
                  <a:srgbClr val="7EC68E"/>
                </a:solidFill>
                <a:latin typeface="Consolas"/>
              </a:defRPr>
            </a:pPr>
            <a:r>
              <a:t>  SET p.name = row.name,</a:t>
            </a:r>
          </a:p>
          <a:p>
            <a:pPr>
              <a:spcAft>
                <a:spcPts val="100"/>
              </a:spcAft>
              <a:defRPr sz="1000">
                <a:solidFill>
                  <a:srgbClr val="7EC68E"/>
                </a:solidFill>
                <a:latin typeface="Consolas"/>
              </a:defRPr>
            </a:pPr>
            <a:r>
              <a:t>      p.location = row.location,</a:t>
            </a:r>
          </a:p>
          <a:p>
            <a:pPr>
              <a:spcAft>
                <a:spcPts val="100"/>
              </a:spcAft>
              <a:defRPr sz="1000">
                <a:solidFill>
                  <a:srgbClr val="7EC68E"/>
                </a:solidFill>
                <a:latin typeface="Consolas"/>
              </a:defRPr>
            </a:pPr>
            <a:r>
              <a:t>      p.title = row.title</a:t>
            </a:r>
          </a:p>
          <a:p>
            <a:pPr>
              <a:spcAft>
                <a:spcPts val="100"/>
              </a:spcAft>
              <a:defRPr sz="1000">
                <a:solidFill>
                  <a:srgbClr val="7EC68E"/>
                </a:solidFill>
                <a:latin typeface="Consolas"/>
              </a:defRPr>
            </a:pPr>
            <a:r>
              <a:t>""", batch=batch)</a:t>
            </a:r>
          </a:p>
        </p:txBody>
      </p:sp>
      <p:sp>
        <p:nvSpPr>
          <p:cNvPr id="7" name="Rectangle 6"/>
          <p:cNvSpPr/>
          <p:nvPr/>
        </p:nvSpPr>
        <p:spPr>
          <a:xfrm>
            <a:off x="731520" y="34747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657600"/>
            <a:ext cx="10515600" cy="365760"/>
          </a:xfrm>
          <a:prstGeom prst="rect">
            <a:avLst/>
          </a:prstGeom>
          <a:noFill/>
        </p:spPr>
        <p:txBody>
          <a:bodyPr wrap="square">
            <a:spAutoFit/>
          </a:bodyPr>
          <a:lstStyle/>
          <a:p>
            <a:pPr algn="l">
              <a:defRPr sz="1500" b="1">
                <a:solidFill>
                  <a:srgbClr val="F08040"/>
                </a:solidFill>
                <a:latin typeface="Calibri"/>
              </a:defRPr>
            </a:pPr>
            <a:r>
              <a:t>Benchmark sul dataset Org Graph:</a:t>
            </a:r>
          </a:p>
        </p:txBody>
      </p:sp>
      <p:sp>
        <p:nvSpPr>
          <p:cNvPr id="9" name="TextBox 8"/>
          <p:cNvSpPr txBox="1"/>
          <p:nvPr/>
        </p:nvSpPr>
        <p:spPr>
          <a:xfrm>
            <a:off x="731520" y="4023360"/>
            <a:ext cx="5029200" cy="1828800"/>
          </a:xfrm>
          <a:prstGeom prst="rect">
            <a:avLst/>
          </a:prstGeom>
          <a:noFill/>
        </p:spPr>
        <p:txBody>
          <a:bodyPr wrap="square">
            <a:spAutoFit/>
          </a:bodyPr>
          <a:lstStyle/>
          <a:p>
            <a:pPr algn="l">
              <a:defRPr sz="1100" b="0">
                <a:solidFill>
                  <a:srgbClr val="7EC68E"/>
                </a:solidFill>
                <a:latin typeface="Consolas"/>
              </a:defRPr>
            </a:pPr>
            <a:r>
              <a:t>Metodo          Query    Tempo</a:t>
            </a:r>
            <a:br/>
            <a:r>
              <a:t>───────────────  ───────  ──────</a:t>
            </a:r>
            <a:br/>
            <a:r>
              <a:t>Row-by-row      31.500   440 sec</a:t>
            </a:r>
            <a:br/>
            <a:r>
              <a:t>UNWIND batch        7     1.4 sec</a:t>
            </a:r>
            <a:br/>
            <a:r>
              <a:t>                                ↑ 300x</a:t>
            </a:r>
            <a:br/>
            <a:br/>
            <a:r>
              <a:t>Perché tanto? La latenza di rete</a:t>
            </a:r>
            <a:br/>
            <a:r>
              <a:t>è il collo di bottiglia, non il DB.</a:t>
            </a:r>
            <a:br/>
            <a:r>
              <a:t>Con UNWIND paghiamo una latenza</a:t>
            </a:r>
            <a:br/>
            <a:r>
              <a:t>per 7 batch invece che 31.500 query.</a:t>
            </a:r>
          </a:p>
        </p:txBody>
      </p:sp>
      <p:sp>
        <p:nvSpPr>
          <p:cNvPr id="10" name="TextBox 9"/>
          <p:cNvSpPr txBox="1"/>
          <p:nvPr/>
        </p:nvSpPr>
        <p:spPr>
          <a:xfrm>
            <a:off x="5669280" y="4023360"/>
            <a:ext cx="4846320" cy="1828800"/>
          </a:xfrm>
          <a:prstGeom prst="rect">
            <a:avLst/>
          </a:prstGeom>
          <a:noFill/>
        </p:spPr>
        <p:txBody>
          <a:bodyPr wrap="square">
            <a:spAutoFit/>
          </a:bodyPr>
          <a:lstStyle/>
          <a:p>
            <a:pPr algn="l">
              <a:defRPr sz="1200" b="0">
                <a:solidFill>
                  <a:srgbClr val="CCCCCC"/>
                </a:solidFill>
                <a:latin typeface="Calibri"/>
              </a:defRPr>
            </a:pPr>
            <a:r>
              <a:t>Best practice per il caricamento:</a:t>
            </a:r>
            <a:br/>
            <a:br/>
            <a:r>
              <a:t>1. Crea constraint e indici PRIMA</a:t>
            </a:r>
            <a:br/>
            <a:r>
              <a:t>2. Usa UNWIND + MERGE</a:t>
            </a:r>
            <a:br/>
            <a:r>
              <a:t>3. Batch da 500-5000 righe</a:t>
            </a:r>
            <a:br/>
            <a:r>
              <a:t>4. Usa ON CREATE SET / ON MATCH SET</a:t>
            </a:r>
            <a:br/>
            <a:r>
              <a:t>   per separare inserimento da</a:t>
            </a:r>
            <a:br/>
            <a:r>
              <a:t>   aggiornamento</a:t>
            </a:r>
            <a:br/>
            <a:r>
              <a:t>5. Verifica con MATCH ... RETURN count()</a:t>
            </a:r>
            <a:br/>
            <a:br/>
            <a:r>
              <a:t>Lo script di caricamento del corso</a:t>
            </a:r>
            <a:br/>
            <a:r>
              <a:t>carica in ~1 secondo tutto l’Org Graph</a:t>
            </a:r>
            <a:br/>
            <a:r>
              <a:t>(238 persone, 93 progetti, 55 skill,</a:t>
            </a:r>
            <a:br/>
            <a:r>
              <a:t>2 supervisor) con 7 query UNWIND.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Visualizzare il Grafo: Browser &amp; Bloom</a:t>
            </a:r>
          </a:p>
        </p:txBody>
      </p:sp>
      <p:sp>
        <p:nvSpPr>
          <p:cNvPr id="3" name="TextBox 2"/>
          <p:cNvSpPr txBox="1"/>
          <p:nvPr/>
        </p:nvSpPr>
        <p:spPr>
          <a:xfrm>
            <a:off x="731520" y="1051560"/>
            <a:ext cx="5029200" cy="2286000"/>
          </a:xfrm>
          <a:prstGeom prst="rect">
            <a:avLst/>
          </a:prstGeom>
          <a:noFill/>
        </p:spPr>
        <p:txBody>
          <a:bodyPr wrap="square">
            <a:spAutoFit/>
          </a:bodyPr>
          <a:lstStyle/>
          <a:p>
            <a:pPr algn="l">
              <a:spcAft>
                <a:spcPts val="0"/>
              </a:spcAft>
              <a:defRPr sz="1200">
                <a:solidFill>
                  <a:srgbClr val="FFFFFF"/>
                </a:solidFill>
                <a:latin typeface="Calibri"/>
              </a:defRPr>
            </a:pPr>
            <a:r>
              <a:t>•  Neo4j Browser — interfaccia web integrata</a:t>
            </a:r>
          </a:p>
          <a:p>
            <a:pPr algn="l">
              <a:spcAft>
                <a:spcPts val="0"/>
              </a:spcAft>
              <a:defRPr sz="1200">
                <a:solidFill>
                  <a:srgbClr val="FFFFFF"/>
                </a:solidFill>
                <a:latin typeface="Calibri"/>
              </a:defRPr>
            </a:pPr>
            <a:r>
              <a:t>  • :play movie-graph per tutorial interattivo</a:t>
            </a:r>
          </a:p>
          <a:p>
            <a:pPr algn="l">
              <a:spcAft>
                <a:spcPts val="0"/>
              </a:spcAft>
              <a:defRPr sz="1200">
                <a:solidFill>
                  <a:srgbClr val="FFFFFF"/>
                </a:solidFill>
                <a:latin typeface="Calibri"/>
              </a:defRPr>
            </a:pPr>
            <a:r>
              <a:t>  • Visualizzazione grafica a cerchi e frecce</a:t>
            </a:r>
          </a:p>
          <a:p>
            <a:pPr algn="l">
              <a:spcAft>
                <a:spcPts val="0"/>
              </a:spcAft>
              <a:defRPr sz="1200">
                <a:solidFill>
                  <a:srgbClr val="FFFFFF"/>
                </a:solidFill>
                <a:latin typeface="Calibri"/>
              </a:defRPr>
            </a:pPr>
            <a:r>
              <a:t>  • Esportazione PNG, CSV, JSON</a:t>
            </a:r>
          </a:p>
          <a:p>
            <a:pPr algn="l">
              <a:spcAft>
                <a:spcPts val="0"/>
              </a:spcAft>
              <a:defRPr sz="1200">
                <a:solidFill>
                  <a:srgbClr val="FFFFFF"/>
                </a:solidFill>
                <a:latin typeface="Calibri"/>
              </a:defRPr>
            </a:pPr>
            <a:r>
              <a:t>•  Neo4j Bloom — drag &amp; drop, storytelling visuale</a:t>
            </a:r>
          </a:p>
          <a:p>
            <a:pPr algn="l">
              <a:spcAft>
                <a:spcPts val="0"/>
              </a:spcAft>
              <a:defRPr sz="1200">
                <a:solidFill>
                  <a:srgbClr val="FFFFFF"/>
                </a:solidFill>
                <a:latin typeface="Calibri"/>
              </a:defRPr>
            </a:pPr>
            <a:r>
              <a:t>  • Ricerca in linguaggio naturale</a:t>
            </a:r>
          </a:p>
          <a:p>
            <a:pPr algn="l">
              <a:spcAft>
                <a:spcPts val="0"/>
              </a:spcAft>
              <a:defRPr sz="1200">
                <a:solidFill>
                  <a:srgbClr val="FFFFFF"/>
                </a:solidFill>
                <a:latin typeface="Calibri"/>
              </a:defRPr>
            </a:pPr>
            <a:r>
              <a:t>  • Grafi animati, filtri visuali</a:t>
            </a:r>
          </a:p>
          <a:p>
            <a:pPr algn="l">
              <a:spcAft>
                <a:spcPts val="0"/>
              </a:spcAft>
              <a:defRPr sz="1200">
                <a:solidFill>
                  <a:srgbClr val="FFFFFF"/>
                </a:solidFill>
                <a:latin typeface="Calibri"/>
              </a:defRPr>
            </a:pPr>
            <a:r>
              <a:t>•  Neo4j Workspace — modellazione grafica collaborativa</a:t>
            </a:r>
          </a:p>
        </p:txBody>
      </p:sp>
      <p:sp>
        <p:nvSpPr>
          <p:cNvPr id="4" name="TextBox 3"/>
          <p:cNvSpPr txBox="1"/>
          <p:nvPr/>
        </p:nvSpPr>
        <p:spPr>
          <a:xfrm>
            <a:off x="5669280" y="1051560"/>
            <a:ext cx="4846320" cy="411480"/>
          </a:xfrm>
          <a:prstGeom prst="rect">
            <a:avLst/>
          </a:prstGeom>
          <a:noFill/>
        </p:spPr>
        <p:txBody>
          <a:bodyPr wrap="square">
            <a:spAutoFit/>
          </a:bodyPr>
          <a:lstStyle/>
          <a:p>
            <a:pPr algn="l">
              <a:defRPr sz="1600" b="1">
                <a:solidFill>
                  <a:srgbClr val="F08040"/>
                </a:solidFill>
                <a:latin typeface="Calibri"/>
              </a:defRPr>
            </a:pPr>
            <a:r>
              <a:t>Suggerimenti Browser</a:t>
            </a:r>
          </a:p>
        </p:txBody>
      </p:sp>
      <p:sp>
        <p:nvSpPr>
          <p:cNvPr id="5" name="TextBox 4"/>
          <p:cNvSpPr txBox="1"/>
          <p:nvPr/>
        </p:nvSpPr>
        <p:spPr>
          <a:xfrm>
            <a:off x="5669280" y="1508760"/>
            <a:ext cx="4846320" cy="2194560"/>
          </a:xfrm>
          <a:prstGeom prst="rect">
            <a:avLst/>
          </a:prstGeom>
          <a:noFill/>
        </p:spPr>
        <p:txBody>
          <a:bodyPr wrap="square">
            <a:spAutoFit/>
          </a:bodyPr>
          <a:lstStyle/>
          <a:p>
            <a:pPr algn="l">
              <a:defRPr sz="1200" b="0">
                <a:solidFill>
                  <a:srgbClr val="CCCCCC"/>
                </a:solidFill>
                <a:latin typeface="Calibri"/>
              </a:defRPr>
            </a:pPr>
            <a:r>
              <a:t>• I nodi sono cerchi colorati per label</a:t>
            </a:r>
            <a:br/>
            <a:r>
              <a:t>• Le frecce sono le relazioni</a:t>
            </a:r>
            <a:br/>
            <a:r>
              <a:t>• Clicca su un nodo per vedere le props</a:t>
            </a:r>
            <a:br/>
            <a:r>
              <a:t>• Trascina i nodi per riorganizzare</a:t>
            </a:r>
            <a:br/>
            <a:r>
              <a:t>• Usa la lente di ingrandimento</a:t>
            </a:r>
            <a:br/>
            <a:r>
              <a:t>• Il pulsante full-screen è in alto</a:t>
            </a:r>
            <a:br/>
            <a:r>
              <a:t>• Esporta come PNG con la fotocamera</a:t>
            </a:r>
            <a:br/>
            <a:br/>
            <a:r>
              <a:t>Per dataset grandi usare LIMIT:</a:t>
            </a:r>
            <a:br/>
            <a:r>
              <a:t>MATCH (n) RETURN n LIMIT 100</a:t>
            </a:r>
            <a:br/>
            <a:r>
              <a:t>altrimenti il Browser si blocca.</a:t>
            </a:r>
          </a:p>
        </p:txBody>
      </p:sp>
      <p:sp>
        <p:nvSpPr>
          <p:cNvPr id="6" name="TextBox 5"/>
          <p:cNvSpPr txBox="1"/>
          <p:nvPr/>
        </p:nvSpPr>
        <p:spPr>
          <a:xfrm>
            <a:off x="731520" y="3108960"/>
            <a:ext cx="10515600" cy="411480"/>
          </a:xfrm>
          <a:prstGeom prst="rect">
            <a:avLst/>
          </a:prstGeom>
          <a:noFill/>
        </p:spPr>
        <p:txBody>
          <a:bodyPr wrap="square">
            <a:spAutoFit/>
          </a:bodyPr>
          <a:lstStyle/>
          <a:p>
            <a:pPr algn="l">
              <a:defRPr sz="1600" b="1">
                <a:solidFill>
                  <a:srgbClr val="F08040"/>
                </a:solidFill>
                <a:latin typeface="Calibri"/>
              </a:defRPr>
            </a:pPr>
            <a:r>
              <a:t>Comandi utili nel Browser</a:t>
            </a:r>
          </a:p>
        </p:txBody>
      </p:sp>
      <p:sp>
        <p:nvSpPr>
          <p:cNvPr id="7" name="Rectangle 6"/>
          <p:cNvSpPr/>
          <p:nvPr/>
        </p:nvSpPr>
        <p:spPr>
          <a:xfrm>
            <a:off x="731520" y="3566160"/>
            <a:ext cx="5029200" cy="25603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3639312"/>
            <a:ext cx="4809744" cy="2414016"/>
          </a:xfrm>
          <a:prstGeom prst="rect">
            <a:avLst/>
          </a:prstGeom>
          <a:noFill/>
        </p:spPr>
        <p:txBody>
          <a:bodyPr wrap="square">
            <a:spAutoFit/>
          </a:bodyPr>
          <a:lstStyle/>
          <a:p>
            <a:pPr>
              <a:spcAft>
                <a:spcPts val="100"/>
              </a:spcAft>
              <a:defRPr sz="1000">
                <a:solidFill>
                  <a:srgbClr val="7EC68E"/>
                </a:solidFill>
                <a:latin typeface="Consolas"/>
              </a:defRPr>
            </a:pPr>
            <a:r>
              <a:t>:help cypher   // guida Cypher</a:t>
            </a:r>
          </a:p>
          <a:p>
            <a:pPr>
              <a:spcAft>
                <a:spcPts val="100"/>
              </a:spcAft>
              <a:defRPr sz="1000">
                <a:solidFill>
                  <a:srgbClr val="7EC68E"/>
                </a:solidFill>
                <a:latin typeface="Consolas"/>
              </a:defRPr>
            </a:pPr>
            <a:r>
              <a:t>:play movie-graph  // tutorial</a:t>
            </a:r>
          </a:p>
          <a:p>
            <a:pPr>
              <a:spcAft>
                <a:spcPts val="100"/>
              </a:spcAft>
              <a:defRPr sz="1000">
                <a:solidFill>
                  <a:srgbClr val="7EC68E"/>
                </a:solidFill>
                <a:latin typeface="Consolas"/>
              </a:defRPr>
            </a:pPr>
            <a:r>
              <a:t>:schema        // mostra il modello</a:t>
            </a:r>
          </a:p>
          <a:p>
            <a:pPr>
              <a:spcAft>
                <a:spcPts val="100"/>
              </a:spcAft>
              <a:defRPr sz="1000">
                <a:solidFill>
                  <a:srgbClr val="7EC68E"/>
                </a:solidFill>
                <a:latin typeface="Consolas"/>
              </a:defRPr>
            </a:pPr>
            <a:r>
              <a:t>SHOW CONSTRAINTS;  // vincoli attivi</a:t>
            </a:r>
          </a:p>
          <a:p>
            <a:pPr>
              <a:spcAft>
                <a:spcPts val="100"/>
              </a:spcAft>
              <a:defRPr sz="1000">
                <a:solidFill>
                  <a:srgbClr val="7EC68E"/>
                </a:solidFill>
                <a:latin typeface="Consolas"/>
              </a:defRPr>
            </a:pPr>
            <a:r>
              <a:t>SHOW INDEXES;      // indici</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Aprire Browser:</a:t>
            </a:r>
          </a:p>
          <a:p>
            <a:pPr>
              <a:spcAft>
                <a:spcPts val="100"/>
              </a:spcAft>
              <a:defRPr sz="1000">
                <a:solidFill>
                  <a:srgbClr val="7EC68E"/>
                </a:solidFill>
                <a:latin typeface="Consolas"/>
              </a:defRPr>
            </a:pPr>
            <a:r>
              <a:t>// Locale: http://localhost:7474</a:t>
            </a:r>
          </a:p>
          <a:p>
            <a:pPr>
              <a:spcAft>
                <a:spcPts val="100"/>
              </a:spcAft>
              <a:defRPr sz="1000">
                <a:solidFill>
                  <a:srgbClr val="7EC68E"/>
                </a:solidFill>
                <a:latin typeface="Consolas"/>
              </a:defRPr>
            </a:pPr>
            <a:r>
              <a:t>// Cloud: workspace.neo4j.io</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Eseguire query:</a:t>
            </a:r>
          </a:p>
          <a:p>
            <a:pPr>
              <a:spcAft>
                <a:spcPts val="100"/>
              </a:spcAft>
              <a:defRPr sz="1000">
                <a:solidFill>
                  <a:srgbClr val="7EC68E"/>
                </a:solidFill>
                <a:latin typeface="Consolas"/>
              </a:defRPr>
            </a:pPr>
            <a:r>
              <a:t>MATCH (n) RETURN n LIMIT 25</a:t>
            </a:r>
          </a:p>
          <a:p>
            <a:pPr>
              <a:spcAft>
                <a:spcPts val="100"/>
              </a:spcAft>
              <a:defRPr sz="1000">
                <a:solidFill>
                  <a:srgbClr val="7EC68E"/>
                </a:solidFill>
                <a:latin typeface="Consolas"/>
              </a:defRPr>
            </a:pPr>
            <a:r>
              <a:t>// Cliccare su "Graph" per vedere il grafo</a:t>
            </a:r>
          </a:p>
        </p:txBody>
      </p:sp>
      <p:sp>
        <p:nvSpPr>
          <p:cNvPr id="9" name="TextBox 8"/>
          <p:cNvSpPr txBox="1"/>
          <p:nvPr/>
        </p:nvSpPr>
        <p:spPr>
          <a:xfrm>
            <a:off x="5669280" y="3566160"/>
            <a:ext cx="4846320" cy="1371600"/>
          </a:xfrm>
          <a:prstGeom prst="rect">
            <a:avLst/>
          </a:prstGeom>
          <a:noFill/>
        </p:spPr>
        <p:txBody>
          <a:bodyPr wrap="square">
            <a:spAutoFit/>
          </a:bodyPr>
          <a:lstStyle/>
          <a:p>
            <a:pPr algn="l">
              <a:defRPr sz="1200" b="0">
                <a:solidFill>
                  <a:srgbClr val="CCCCCC"/>
                </a:solidFill>
                <a:latin typeface="Calibri"/>
              </a:defRPr>
            </a:pPr>
            <a:r>
              <a:t>Il Browser è lo strumento principale per esplorare</a:t>
            </a:r>
            <a:br/>
            <a:r>
              <a:t>il grafo e testare query Cypher durante il corso.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Visualizzare il Grafo: Python</a:t>
            </a:r>
          </a:p>
        </p:txBody>
      </p:sp>
      <p:sp>
        <p:nvSpPr>
          <p:cNvPr id="3" name="TextBox 2"/>
          <p:cNvSpPr txBox="1"/>
          <p:nvPr/>
        </p:nvSpPr>
        <p:spPr>
          <a:xfrm>
            <a:off x="731520" y="1051560"/>
            <a:ext cx="5029200" cy="1371600"/>
          </a:xfrm>
          <a:prstGeom prst="rect">
            <a:avLst/>
          </a:prstGeom>
          <a:noFill/>
        </p:spPr>
        <p:txBody>
          <a:bodyPr wrap="square">
            <a:spAutoFit/>
          </a:bodyPr>
          <a:lstStyle/>
          <a:p>
            <a:pPr algn="l">
              <a:spcAft>
                <a:spcPts val="700"/>
              </a:spcAft>
              <a:defRPr sz="1300">
                <a:solidFill>
                  <a:srgbClr val="FFFFFF"/>
                </a:solidFill>
                <a:latin typeface="Calibri"/>
              </a:defRPr>
            </a:pPr>
            <a:r>
              <a:t>•  networkx + matplotlib — grafi statici (buono per analisi)</a:t>
            </a:r>
          </a:p>
          <a:p>
            <a:pPr algn="l">
              <a:spcAft>
                <a:spcPts val="700"/>
              </a:spcAft>
              <a:defRPr sz="1300">
                <a:solidFill>
                  <a:srgbClr val="FFFFFF"/>
                </a:solidFill>
                <a:latin typeface="Calibri"/>
              </a:defRPr>
            </a:pPr>
            <a:r>
              <a:t>•  pyvis — grafi interattivi HTML (buono per presentazioni)</a:t>
            </a:r>
          </a:p>
          <a:p>
            <a:pPr algn="l">
              <a:spcAft>
                <a:spcPts val="700"/>
              </a:spcAft>
              <a:defRPr sz="1300">
                <a:solidFill>
                  <a:srgbClr val="FFFFFF"/>
                </a:solidFill>
                <a:latin typeface="Calibri"/>
              </a:defRPr>
            </a:pPr>
            <a:r>
              <a:t>•  Entrambi leggono i dati dal driver Neo4j</a:t>
            </a:r>
          </a:p>
        </p:txBody>
      </p:sp>
      <p:sp>
        <p:nvSpPr>
          <p:cNvPr id="4" name="Rectangle 3"/>
          <p:cNvSpPr/>
          <p:nvPr/>
        </p:nvSpPr>
        <p:spPr>
          <a:xfrm>
            <a:off x="731520" y="2560320"/>
            <a:ext cx="5029200" cy="30175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633472"/>
            <a:ext cx="4809744" cy="2871216"/>
          </a:xfrm>
          <a:prstGeom prst="rect">
            <a:avLst/>
          </a:prstGeom>
          <a:noFill/>
        </p:spPr>
        <p:txBody>
          <a:bodyPr wrap="square">
            <a:spAutoFit/>
          </a:bodyPr>
          <a:lstStyle/>
          <a:p>
            <a:pPr>
              <a:spcAft>
                <a:spcPts val="100"/>
              </a:spcAft>
              <a:defRPr sz="1000">
                <a:solidFill>
                  <a:srgbClr val="7EC68E"/>
                </a:solidFill>
                <a:latin typeface="Consolas"/>
              </a:defRPr>
            </a:pPr>
            <a:r>
              <a:t># Grafo statico con networkx + matplotlib:</a:t>
            </a:r>
          </a:p>
          <a:p>
            <a:pPr>
              <a:spcAft>
                <a:spcPts val="100"/>
              </a:spcAft>
              <a:defRPr sz="1000">
                <a:solidFill>
                  <a:srgbClr val="7EC68E"/>
                </a:solidFill>
                <a:latin typeface="Consolas"/>
              </a:defRPr>
            </a:pPr>
            <a:r>
              <a:t>import networkx as nx</a:t>
            </a:r>
          </a:p>
          <a:p>
            <a:pPr>
              <a:spcAft>
                <a:spcPts val="100"/>
              </a:spcAft>
              <a:defRPr sz="1000">
                <a:solidFill>
                  <a:srgbClr val="7EC68E"/>
                </a:solidFill>
                <a:latin typeface="Consolas"/>
              </a:defRPr>
            </a:pPr>
            <a:r>
              <a:t>import matplotlib.pyplot as plt</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G = nx.Graph()</a:t>
            </a:r>
          </a:p>
          <a:p>
            <a:pPr>
              <a:spcAft>
                <a:spcPts val="100"/>
              </a:spcAft>
              <a:defRPr sz="1000">
                <a:solidFill>
                  <a:srgbClr val="7EC68E"/>
                </a:solidFill>
                <a:latin typeface="Consolas"/>
              </a:defRPr>
            </a:pPr>
            <a:r>
              <a:t>G.add_edge("Alice", "Python",</a:t>
            </a:r>
          </a:p>
          <a:p>
            <a:pPr>
              <a:spcAft>
                <a:spcPts val="100"/>
              </a:spcAft>
              <a:defRPr sz="1000">
                <a:solidFill>
                  <a:srgbClr val="7EC68E"/>
                </a:solidFill>
                <a:latin typeface="Consolas"/>
              </a:defRPr>
            </a:pPr>
            <a:r>
              <a:t>           relation="HAS_SKILL")</a:t>
            </a:r>
          </a:p>
          <a:p>
            <a:pPr>
              <a:spcAft>
                <a:spcPts val="100"/>
              </a:spcAft>
              <a:defRPr sz="1000">
                <a:solidFill>
                  <a:srgbClr val="7EC68E"/>
                </a:solidFill>
                <a:latin typeface="Consolas"/>
              </a:defRPr>
            </a:pPr>
            <a:r>
              <a:t>G.add_edge("Bob", "Python",</a:t>
            </a:r>
          </a:p>
          <a:p>
            <a:pPr>
              <a:spcAft>
                <a:spcPts val="100"/>
              </a:spcAft>
              <a:defRPr sz="1000">
                <a:solidFill>
                  <a:srgbClr val="7EC68E"/>
                </a:solidFill>
                <a:latin typeface="Consolas"/>
              </a:defRPr>
            </a:pPr>
            <a:r>
              <a:t>           relation="HAS_SKILL")</a:t>
            </a:r>
          </a:p>
          <a:p>
            <a:pPr>
              <a:spcAft>
                <a:spcPts val="100"/>
              </a:spcAft>
              <a:defRPr sz="1000">
                <a:solidFill>
                  <a:srgbClr val="7EC68E"/>
                </a:solidFill>
                <a:latin typeface="Consolas"/>
              </a:defRPr>
            </a:pPr>
            <a:r>
              <a:t>G.add_edge("Bob", "Java",</a:t>
            </a:r>
          </a:p>
          <a:p>
            <a:pPr>
              <a:spcAft>
                <a:spcPts val="100"/>
              </a:spcAft>
              <a:defRPr sz="1000">
                <a:solidFill>
                  <a:srgbClr val="7EC68E"/>
                </a:solidFill>
                <a:latin typeface="Consolas"/>
              </a:defRPr>
            </a:pPr>
            <a:r>
              <a:t>           relation="HAS_SKILL")</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nx.draw(G, with_labels=True,</a:t>
            </a:r>
          </a:p>
          <a:p>
            <a:pPr>
              <a:spcAft>
                <a:spcPts val="100"/>
              </a:spcAft>
              <a:defRPr sz="1000">
                <a:solidFill>
                  <a:srgbClr val="7EC68E"/>
                </a:solidFill>
                <a:latin typeface="Consolas"/>
              </a:defRPr>
            </a:pPr>
            <a:r>
              <a:t>        node_color="lightblue",</a:t>
            </a:r>
          </a:p>
          <a:p>
            <a:pPr>
              <a:spcAft>
                <a:spcPts val="100"/>
              </a:spcAft>
              <a:defRPr sz="1000">
                <a:solidFill>
                  <a:srgbClr val="7EC68E"/>
                </a:solidFill>
                <a:latin typeface="Consolas"/>
              </a:defRPr>
            </a:pPr>
            <a:r>
              <a:t>        node_size=2000)</a:t>
            </a:r>
          </a:p>
          <a:p>
            <a:pPr>
              <a:spcAft>
                <a:spcPts val="100"/>
              </a:spcAft>
              <a:defRPr sz="1000">
                <a:solidFill>
                  <a:srgbClr val="7EC68E"/>
                </a:solidFill>
                <a:latin typeface="Consolas"/>
              </a:defRPr>
            </a:pPr>
            <a:r>
              <a:t>plt.title("Skill Graph")</a:t>
            </a:r>
          </a:p>
          <a:p>
            <a:pPr>
              <a:spcAft>
                <a:spcPts val="100"/>
              </a:spcAft>
              <a:defRPr sz="1000">
                <a:solidFill>
                  <a:srgbClr val="7EC68E"/>
                </a:solidFill>
                <a:latin typeface="Consolas"/>
              </a:defRPr>
            </a:pPr>
            <a:r>
              <a:t>plt.show()</a:t>
            </a:r>
          </a:p>
        </p:txBody>
      </p:sp>
      <p:sp>
        <p:nvSpPr>
          <p:cNvPr id="6" name="Rectangle 5"/>
          <p:cNvSpPr/>
          <p:nvPr/>
        </p:nvSpPr>
        <p:spPr>
          <a:xfrm>
            <a:off x="5669280" y="2560320"/>
            <a:ext cx="4846320" cy="30175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79008" y="2633472"/>
            <a:ext cx="4626864" cy="2871216"/>
          </a:xfrm>
          <a:prstGeom prst="rect">
            <a:avLst/>
          </a:prstGeom>
          <a:noFill/>
        </p:spPr>
        <p:txBody>
          <a:bodyPr wrap="square">
            <a:spAutoFit/>
          </a:bodyPr>
          <a:lstStyle/>
          <a:p>
            <a:pPr>
              <a:spcAft>
                <a:spcPts val="100"/>
              </a:spcAft>
              <a:defRPr sz="1000">
                <a:solidFill>
                  <a:srgbClr val="7EC68E"/>
                </a:solidFill>
                <a:latin typeface="Consolas"/>
              </a:defRPr>
            </a:pPr>
            <a:r>
              <a:t># pyvis per grafo interattivo HTML:</a:t>
            </a:r>
          </a:p>
          <a:p>
            <a:pPr>
              <a:spcAft>
                <a:spcPts val="100"/>
              </a:spcAft>
              <a:defRPr sz="1000">
                <a:solidFill>
                  <a:srgbClr val="7EC68E"/>
                </a:solidFill>
                <a:latin typeface="Consolas"/>
              </a:defRPr>
            </a:pPr>
            <a:r>
              <a:t>from pyvis.network import Network</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net = Network(height="500px", width="100%")</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Aggiungi nodi con etichette:</a:t>
            </a:r>
          </a:p>
          <a:p>
            <a:pPr>
              <a:spcAft>
                <a:spcPts val="100"/>
              </a:spcAft>
              <a:defRPr sz="1000">
                <a:solidFill>
                  <a:srgbClr val="7EC68E"/>
                </a:solidFill>
                <a:latin typeface="Consolas"/>
              </a:defRPr>
            </a:pPr>
            <a:r>
              <a:t>net.add_node("Alice", label="Alice")</a:t>
            </a:r>
          </a:p>
          <a:p>
            <a:pPr>
              <a:spcAft>
                <a:spcPts val="100"/>
              </a:spcAft>
              <a:defRPr sz="1000">
                <a:solidFill>
                  <a:srgbClr val="7EC68E"/>
                </a:solidFill>
                <a:latin typeface="Consolas"/>
              </a:defRPr>
            </a:pPr>
            <a:r>
              <a:t>net.add_node("Python", label="Python")</a:t>
            </a:r>
          </a:p>
          <a:p>
            <a:pPr>
              <a:spcAft>
                <a:spcPts val="100"/>
              </a:spcAft>
              <a:defRPr sz="1000">
                <a:solidFill>
                  <a:srgbClr val="7EC68E"/>
                </a:solidFill>
                <a:latin typeface="Consolas"/>
              </a:defRPr>
            </a:pPr>
            <a:r>
              <a:t>net.add_node("Bob", label="Bob")</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Aggiungi relazioni:</a:t>
            </a:r>
          </a:p>
          <a:p>
            <a:pPr>
              <a:spcAft>
                <a:spcPts val="100"/>
              </a:spcAft>
              <a:defRPr sz="1000">
                <a:solidFill>
                  <a:srgbClr val="7EC68E"/>
                </a:solidFill>
                <a:latin typeface="Consolas"/>
              </a:defRPr>
            </a:pPr>
            <a:r>
              <a:t>net.add_edge("Alice", "Python")</a:t>
            </a:r>
          </a:p>
          <a:p>
            <a:pPr>
              <a:spcAft>
                <a:spcPts val="100"/>
              </a:spcAft>
              <a:defRPr sz="1000">
                <a:solidFill>
                  <a:srgbClr val="7EC68E"/>
                </a:solidFill>
                <a:latin typeface="Consolas"/>
              </a:defRPr>
            </a:pPr>
            <a:r>
              <a:t>net.add_edge("Bob", "Python")</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Salva come HTML e apri nel browser:</a:t>
            </a:r>
          </a:p>
          <a:p>
            <a:pPr>
              <a:spcAft>
                <a:spcPts val="100"/>
              </a:spcAft>
              <a:defRPr sz="1000">
                <a:solidFill>
                  <a:srgbClr val="7EC68E"/>
                </a:solidFill>
                <a:latin typeface="Consolas"/>
              </a:defRPr>
            </a:pPr>
            <a:r>
              <a:t>net.show("grafo.html")</a:t>
            </a:r>
          </a:p>
        </p:txBody>
      </p:sp>
      <p:sp>
        <p:nvSpPr>
          <p:cNvPr id="8" name="Rectangle 7"/>
          <p:cNvSpPr/>
          <p:nvPr/>
        </p:nvSpPr>
        <p:spPr>
          <a:xfrm>
            <a:off x="731520" y="57607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943600"/>
            <a:ext cx="10515600" cy="365760"/>
          </a:xfrm>
          <a:prstGeom prst="rect">
            <a:avLst/>
          </a:prstGeom>
          <a:noFill/>
        </p:spPr>
        <p:txBody>
          <a:bodyPr wrap="square">
            <a:spAutoFit/>
          </a:bodyPr>
          <a:lstStyle/>
          <a:p>
            <a:pPr algn="l">
              <a:defRPr sz="1300" b="0">
                <a:solidFill>
                  <a:srgbClr val="F0C040"/>
                </a:solidFill>
                <a:latin typeface="Calibri"/>
              </a:defRPr>
            </a:pPr>
            <a:r>
              <a:t>Entrambi gli strumenti leggono i dati dal driver Neo4j e li trasformano in un grafo visuale.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Org Graph: Il Nostro Dataset</a:t>
            </a:r>
          </a:p>
        </p:txBody>
      </p:sp>
      <p:sp>
        <p:nvSpPr>
          <p:cNvPr id="3" name="TextBox 2"/>
          <p:cNvSpPr txBox="1"/>
          <p:nvPr/>
        </p:nvSpPr>
        <p:spPr>
          <a:xfrm>
            <a:off x="731520" y="914400"/>
            <a:ext cx="10515600" cy="457200"/>
          </a:xfrm>
          <a:prstGeom prst="rect">
            <a:avLst/>
          </a:prstGeom>
          <a:noFill/>
        </p:spPr>
        <p:txBody>
          <a:bodyPr wrap="square">
            <a:spAutoFit/>
          </a:bodyPr>
          <a:lstStyle/>
          <a:p>
            <a:pPr algn="l">
              <a:defRPr sz="1500" b="0">
                <a:solidFill>
                  <a:srgbClr val="CCCCCC"/>
                </a:solidFill>
                <a:latin typeface="Calibri"/>
              </a:defRPr>
            </a:pPr>
            <a:r>
              <a:t>Un grafo aziendale reale che useremo per tutto il corso. Anonimizzato da dati HR reali.</a:t>
            </a:r>
          </a:p>
        </p:txBody>
      </p:sp>
      <p:sp>
        <p:nvSpPr>
          <p:cNvPr id="4" name="TextBox 3"/>
          <p:cNvSpPr txBox="1"/>
          <p:nvPr/>
        </p:nvSpPr>
        <p:spPr>
          <a:xfrm>
            <a:off x="731520" y="1463040"/>
            <a:ext cx="5029200" cy="3200400"/>
          </a:xfrm>
          <a:prstGeom prst="rect">
            <a:avLst/>
          </a:prstGeom>
          <a:noFill/>
        </p:spPr>
        <p:txBody>
          <a:bodyPr wrap="square">
            <a:spAutoFit/>
          </a:bodyPr>
          <a:lstStyle/>
          <a:p>
            <a:pPr algn="l">
              <a:spcAft>
                <a:spcPts val="0"/>
              </a:spcAft>
              <a:defRPr sz="1200">
                <a:solidFill>
                  <a:srgbClr val="FFFFFF"/>
                </a:solidFill>
                <a:latin typeface="Calibri"/>
              </a:defRPr>
            </a:pPr>
            <a:r>
              <a:t>•  238 persone (consulenti, manager, tecnici)</a:t>
            </a:r>
          </a:p>
          <a:p>
            <a:pPr algn="l">
              <a:spcAft>
                <a:spcPts val="0"/>
              </a:spcAft>
              <a:defRPr sz="1200">
                <a:solidFill>
                  <a:srgbClr val="FFFFFF"/>
                </a:solidFill>
                <a:latin typeface="Calibri"/>
              </a:defRPr>
            </a:pPr>
            <a:r>
              <a:t>•  93 progetti seguiti dalle persone</a:t>
            </a:r>
          </a:p>
          <a:p>
            <a:pPr algn="l">
              <a:spcAft>
                <a:spcPts val="0"/>
              </a:spcAft>
              <a:defRPr sz="1200">
                <a:solidFill>
                  <a:srgbClr val="FFFFFF"/>
                </a:solidFill>
                <a:latin typeface="Calibri"/>
              </a:defRPr>
            </a:pPr>
            <a:r>
              <a:t>•  55 skill certificate (tecnologiche e trasversali)</a:t>
            </a:r>
          </a:p>
          <a:p>
            <a:pPr algn="l">
              <a:spcAft>
                <a:spcPts val="0"/>
              </a:spcAft>
              <a:defRPr sz="1200">
                <a:solidFill>
                  <a:srgbClr val="FFFFFF"/>
                </a:solidFill>
                <a:latin typeface="Calibri"/>
              </a:defRPr>
            </a:pPr>
            <a:r>
              <a:t>•  2 supervisor (direttori di area)</a:t>
            </a:r>
          </a:p>
          <a:p>
            <a:pPr algn="l">
              <a:spcAft>
                <a:spcPts val="0"/>
              </a:spcAft>
              <a:defRPr sz="1200">
                <a:solidFill>
                  <a:srgbClr val="FFFFFF"/>
                </a:solidFill>
                <a:latin typeface="Calibri"/>
              </a:defRPr>
            </a:pPr>
            <a:r>
              <a:t>•  Relazioni:</a:t>
            </a:r>
          </a:p>
          <a:p>
            <a:pPr algn="l">
              <a:spcAft>
                <a:spcPts val="0"/>
              </a:spcAft>
              <a:defRPr sz="1200">
                <a:solidFill>
                  <a:srgbClr val="FFFFFF"/>
                </a:solidFill>
                <a:latin typeface="Calibri"/>
              </a:defRPr>
            </a:pPr>
            <a:r>
              <a:t>  • HAS_SKILL {proficiency: 1-5}</a:t>
            </a:r>
          </a:p>
          <a:p>
            <a:pPr algn="l">
              <a:spcAft>
                <a:spcPts val="0"/>
              </a:spcAft>
              <a:defRPr sz="1200">
                <a:solidFill>
                  <a:srgbClr val="FFFFFF"/>
                </a:solidFill>
                <a:latin typeface="Calibri"/>
              </a:defRPr>
            </a:pPr>
            <a:r>
              <a:t>  • WORKED_ON {role: Developer/Architect/etc.}</a:t>
            </a:r>
          </a:p>
          <a:p>
            <a:pPr algn="l">
              <a:spcAft>
                <a:spcPts val="0"/>
              </a:spcAft>
              <a:defRPr sz="1200">
                <a:solidFill>
                  <a:srgbClr val="FFFFFF"/>
                </a:solidFill>
                <a:latin typeface="Calibri"/>
              </a:defRPr>
            </a:pPr>
            <a:r>
              <a:t>  • REPORTS_TO (Person → Supervisor)</a:t>
            </a:r>
          </a:p>
          <a:p>
            <a:pPr algn="l">
              <a:spcAft>
                <a:spcPts val="0"/>
              </a:spcAft>
              <a:defRPr sz="1200">
                <a:solidFill>
                  <a:srgbClr val="FFFFFF"/>
                </a:solidFill>
                <a:latin typeface="Calibri"/>
              </a:defRPr>
            </a:pPr>
            <a:r>
              <a:t>•  Dati anonimizzati da foglio Excel aziendale reale</a:t>
            </a:r>
          </a:p>
          <a:p>
            <a:pPr algn="l">
              <a:spcAft>
                <a:spcPts val="0"/>
              </a:spcAft>
              <a:defRPr sz="1200">
                <a:solidFill>
                  <a:srgbClr val="FFFFFF"/>
                </a:solidFill>
                <a:latin typeface="Calibri"/>
              </a:defRPr>
            </a:pPr>
            <a:r>
              <a:t>•  Ospitato su AuraDB Free Tier</a:t>
            </a:r>
          </a:p>
        </p:txBody>
      </p:sp>
      <p:sp>
        <p:nvSpPr>
          <p:cNvPr id="5" name="TextBox 4"/>
          <p:cNvSpPr txBox="1"/>
          <p:nvPr/>
        </p:nvSpPr>
        <p:spPr>
          <a:xfrm>
            <a:off x="5669280" y="1463040"/>
            <a:ext cx="4846320" cy="2377440"/>
          </a:xfrm>
          <a:prstGeom prst="rect">
            <a:avLst/>
          </a:prstGeom>
          <a:noFill/>
        </p:spPr>
        <p:txBody>
          <a:bodyPr wrap="square">
            <a:spAutoFit/>
          </a:bodyPr>
          <a:lstStyle/>
          <a:p>
            <a:pPr algn="l">
              <a:defRPr sz="1000" b="0">
                <a:solidFill>
                  <a:srgbClr val="7EC68E"/>
                </a:solidFill>
                <a:latin typeface="Consolas"/>
              </a:defRPr>
            </a:pPr>
            <a:r>
              <a:t>Esempio di riga CSV:</a:t>
            </a:r>
            <a:br/>
            <a:br/>
            <a:r>
              <a:t>employee_id | 1</a:t>
            </a:r>
            <a:br/>
            <a:r>
              <a:t>name        | Mario Rossi</a:t>
            </a:r>
            <a:br/>
            <a:r>
              <a:t>gender      | M</a:t>
            </a:r>
            <a:br/>
            <a:r>
              <a:t>discipline  | Technology</a:t>
            </a:r>
            <a:br/>
            <a:r>
              <a:t>department  | Digital</a:t>
            </a:r>
            <a:br/>
            <a:r>
              <a:t>code        | ITA-001</a:t>
            </a:r>
            <a:br/>
            <a:r>
              <a:t>location    | Roma</a:t>
            </a:r>
            <a:br/>
            <a:r>
              <a:t>title       | Senior Consultant</a:t>
            </a:r>
            <a:br/>
            <a:r>
              <a:t>supervisor_id | 200</a:t>
            </a:r>
            <a:br/>
            <a:r>
              <a:t>supervisor_name | Anna Bianchi</a:t>
            </a:r>
            <a:br/>
            <a:r>
              <a:t>project_id  | 10</a:t>
            </a:r>
            <a:br/>
            <a:r>
              <a:t>project_name | AI Platform</a:t>
            </a:r>
            <a:br/>
            <a:r>
              <a:t>role        | Developer</a:t>
            </a:r>
          </a:p>
        </p:txBody>
      </p:sp>
      <p:sp>
        <p:nvSpPr>
          <p:cNvPr id="6" name="TextBox 5"/>
          <p:cNvSpPr txBox="1"/>
          <p:nvPr/>
        </p:nvSpPr>
        <p:spPr>
          <a:xfrm>
            <a:off x="5669280" y="3931920"/>
            <a:ext cx="4846320" cy="1645920"/>
          </a:xfrm>
          <a:prstGeom prst="rect">
            <a:avLst/>
          </a:prstGeom>
          <a:noFill/>
        </p:spPr>
        <p:txBody>
          <a:bodyPr wrap="square">
            <a:spAutoFit/>
          </a:bodyPr>
          <a:lstStyle/>
          <a:p>
            <a:pPr algn="l">
              <a:defRPr sz="1200" b="0">
                <a:solidFill>
                  <a:srgbClr val="CCCCCC"/>
                </a:solidFill>
                <a:latin typeface="Calibri"/>
              </a:defRPr>
            </a:pPr>
            <a:r>
              <a:t>Struttura dati:</a:t>
            </a:r>
            <a:br/>
            <a:br/>
            <a:r>
              <a:t>Ogni riga CSV = una persona</a:t>
            </a:r>
            <a:br/>
            <a:r>
              <a:t>con le skill in colonne separate.</a:t>
            </a:r>
            <a:br/>
            <a:r>
              <a:t>Il caricamento UNWIND trasforma</a:t>
            </a:r>
            <a:br/>
            <a:r>
              <a:t>le righe in nodi e relazioni.</a:t>
            </a:r>
            <a:br/>
            <a:br/>
            <a:r>
              <a:t>Nei prossimi esercizi esploreremo</a:t>
            </a:r>
            <a:br/>
            <a:r>
              <a:t>il dataset con Cypher dal Browser</a:t>
            </a:r>
            <a:br/>
            <a:r>
              <a:t>e dal notebook Python.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Schema del Org Graph</a:t>
            </a:r>
          </a:p>
        </p:txBody>
      </p:sp>
      <p:sp>
        <p:nvSpPr>
          <p:cNvPr id="3" name="TextBox 2"/>
          <p:cNvSpPr txBox="1"/>
          <p:nvPr/>
        </p:nvSpPr>
        <p:spPr>
          <a:xfrm>
            <a:off x="731520" y="914400"/>
            <a:ext cx="10515600" cy="365760"/>
          </a:xfrm>
          <a:prstGeom prst="rect">
            <a:avLst/>
          </a:prstGeom>
          <a:noFill/>
        </p:spPr>
        <p:txBody>
          <a:bodyPr wrap="square">
            <a:spAutoFit/>
          </a:bodyPr>
          <a:lstStyle/>
          <a:p>
            <a:pPr algn="l">
              <a:defRPr sz="1400" b="0">
                <a:solidFill>
                  <a:srgbClr val="CCCCCC"/>
                </a:solidFill>
                <a:latin typeface="Calibri"/>
              </a:defRPr>
            </a:pPr>
            <a:r>
              <a:t>Il modello a grafo del nostro progetto: nodi, labels, relazioni e proprietà.</a:t>
            </a:r>
          </a:p>
        </p:txBody>
      </p:sp>
      <p:sp>
        <p:nvSpPr>
          <p:cNvPr id="4" name="TextBox 3"/>
          <p:cNvSpPr txBox="1"/>
          <p:nvPr/>
        </p:nvSpPr>
        <p:spPr>
          <a:xfrm>
            <a:off x="731520" y="1371600"/>
            <a:ext cx="5029200" cy="365760"/>
          </a:xfrm>
          <a:prstGeom prst="rect">
            <a:avLst/>
          </a:prstGeom>
          <a:noFill/>
        </p:spPr>
        <p:txBody>
          <a:bodyPr wrap="square">
            <a:spAutoFit/>
          </a:bodyPr>
          <a:lstStyle/>
          <a:p>
            <a:pPr algn="l">
              <a:defRPr sz="1600" b="1">
                <a:solidFill>
                  <a:srgbClr val="F08040"/>
                </a:solidFill>
                <a:latin typeface="Calibri"/>
              </a:defRPr>
            </a:pPr>
            <a:r>
              <a:t>(:Person)</a:t>
            </a:r>
          </a:p>
        </p:txBody>
      </p:sp>
      <p:sp>
        <p:nvSpPr>
          <p:cNvPr id="5" name="TextBox 4"/>
          <p:cNvSpPr txBox="1"/>
          <p:nvPr/>
        </p:nvSpPr>
        <p:spPr>
          <a:xfrm>
            <a:off x="731520" y="1783080"/>
            <a:ext cx="5029200" cy="731520"/>
          </a:xfrm>
          <a:prstGeom prst="rect">
            <a:avLst/>
          </a:prstGeom>
          <a:noFill/>
        </p:spPr>
        <p:txBody>
          <a:bodyPr wrap="square">
            <a:spAutoFit/>
          </a:bodyPr>
          <a:lstStyle/>
          <a:p>
            <a:pPr algn="l">
              <a:defRPr sz="1100" b="0">
                <a:solidFill>
                  <a:srgbClr val="7EC68E"/>
                </a:solidFill>
                <a:latin typeface="Consolas"/>
              </a:defRPr>
            </a:pPr>
            <a:r>
              <a:t>employee_id  name  gender  discipline</a:t>
            </a:r>
          </a:p>
        </p:txBody>
      </p:sp>
      <p:sp>
        <p:nvSpPr>
          <p:cNvPr id="6" name="TextBox 5"/>
          <p:cNvSpPr txBox="1"/>
          <p:nvPr/>
        </p:nvSpPr>
        <p:spPr>
          <a:xfrm>
            <a:off x="731520" y="2103120"/>
            <a:ext cx="5029200" cy="731520"/>
          </a:xfrm>
          <a:prstGeom prst="rect">
            <a:avLst/>
          </a:prstGeom>
          <a:noFill/>
        </p:spPr>
        <p:txBody>
          <a:bodyPr wrap="square">
            <a:spAutoFit/>
          </a:bodyPr>
          <a:lstStyle/>
          <a:p>
            <a:pPr algn="l">
              <a:defRPr sz="1100" b="0">
                <a:solidFill>
                  <a:srgbClr val="7EC68E"/>
                </a:solidFill>
                <a:latin typeface="Consolas"/>
              </a:defRPr>
            </a:pPr>
            <a:r>
              <a:t>department  code  location  title       </a:t>
            </a:r>
          </a:p>
        </p:txBody>
      </p:sp>
      <p:sp>
        <p:nvSpPr>
          <p:cNvPr id="7" name="TextBox 6"/>
          <p:cNvSpPr txBox="1"/>
          <p:nvPr/>
        </p:nvSpPr>
        <p:spPr>
          <a:xfrm>
            <a:off x="5669280" y="1371600"/>
            <a:ext cx="5029200" cy="365760"/>
          </a:xfrm>
          <a:prstGeom prst="rect">
            <a:avLst/>
          </a:prstGeom>
          <a:noFill/>
        </p:spPr>
        <p:txBody>
          <a:bodyPr wrap="square">
            <a:spAutoFit/>
          </a:bodyPr>
          <a:lstStyle/>
          <a:p>
            <a:pPr algn="l">
              <a:defRPr sz="1600" b="1">
                <a:solidFill>
                  <a:srgbClr val="F08040"/>
                </a:solidFill>
                <a:latin typeface="Calibri"/>
              </a:defRPr>
            </a:pPr>
            <a:r>
              <a:t>(:Skill)  e  (:Project)  e  (:Supervisor)</a:t>
            </a:r>
          </a:p>
        </p:txBody>
      </p:sp>
      <p:sp>
        <p:nvSpPr>
          <p:cNvPr id="8" name="TextBox 7"/>
          <p:cNvSpPr txBox="1"/>
          <p:nvPr/>
        </p:nvSpPr>
        <p:spPr>
          <a:xfrm>
            <a:off x="5669280" y="1783080"/>
            <a:ext cx="5029200" cy="731520"/>
          </a:xfrm>
          <a:prstGeom prst="rect">
            <a:avLst/>
          </a:prstGeom>
          <a:noFill/>
        </p:spPr>
        <p:txBody>
          <a:bodyPr wrap="square">
            <a:spAutoFit/>
          </a:bodyPr>
          <a:lstStyle/>
          <a:p>
            <a:pPr algn="l">
              <a:defRPr sz="1100" b="0">
                <a:solidFill>
                  <a:srgbClr val="7EC68E"/>
                </a:solidFill>
                <a:latin typeface="Consolas"/>
              </a:defRPr>
            </a:pPr>
            <a:r>
              <a:t>Skill: name</a:t>
            </a:r>
          </a:p>
        </p:txBody>
      </p:sp>
      <p:sp>
        <p:nvSpPr>
          <p:cNvPr id="9" name="TextBox 8"/>
          <p:cNvSpPr txBox="1"/>
          <p:nvPr/>
        </p:nvSpPr>
        <p:spPr>
          <a:xfrm>
            <a:off x="5669280" y="2103120"/>
            <a:ext cx="5029200" cy="731520"/>
          </a:xfrm>
          <a:prstGeom prst="rect">
            <a:avLst/>
          </a:prstGeom>
          <a:noFill/>
        </p:spPr>
        <p:txBody>
          <a:bodyPr wrap="square">
            <a:spAutoFit/>
          </a:bodyPr>
          <a:lstStyle/>
          <a:p>
            <a:pPr algn="l">
              <a:defRPr sz="1100" b="0">
                <a:solidFill>
                  <a:srgbClr val="7EC68E"/>
                </a:solidFill>
                <a:latin typeface="Consolas"/>
              </a:defRPr>
            </a:pPr>
            <a:r>
              <a:t>Project: project_id, name</a:t>
            </a:r>
          </a:p>
        </p:txBody>
      </p:sp>
      <p:sp>
        <p:nvSpPr>
          <p:cNvPr id="10" name="TextBox 9"/>
          <p:cNvSpPr txBox="1"/>
          <p:nvPr/>
        </p:nvSpPr>
        <p:spPr>
          <a:xfrm>
            <a:off x="5669280" y="2423160"/>
            <a:ext cx="5029200" cy="731520"/>
          </a:xfrm>
          <a:prstGeom prst="rect">
            <a:avLst/>
          </a:prstGeom>
          <a:noFill/>
        </p:spPr>
        <p:txBody>
          <a:bodyPr wrap="square">
            <a:spAutoFit/>
          </a:bodyPr>
          <a:lstStyle/>
          <a:p>
            <a:pPr algn="l">
              <a:defRPr sz="1100" b="0">
                <a:solidFill>
                  <a:srgbClr val="7EC68E"/>
                </a:solidFill>
                <a:latin typeface="Consolas"/>
              </a:defRPr>
            </a:pPr>
            <a:r>
              <a:t>Supervisor: supervisor_id, name</a:t>
            </a:r>
          </a:p>
        </p:txBody>
      </p:sp>
      <p:sp>
        <p:nvSpPr>
          <p:cNvPr id="11" name="Rectangle 10"/>
          <p:cNvSpPr/>
          <p:nvPr/>
        </p:nvSpPr>
        <p:spPr>
          <a:xfrm>
            <a:off x="731520" y="32918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520440"/>
            <a:ext cx="10515600" cy="365760"/>
          </a:xfrm>
          <a:prstGeom prst="rect">
            <a:avLst/>
          </a:prstGeom>
          <a:noFill/>
        </p:spPr>
        <p:txBody>
          <a:bodyPr wrap="square">
            <a:spAutoFit/>
          </a:bodyPr>
          <a:lstStyle/>
          <a:p>
            <a:pPr algn="l">
              <a:defRPr sz="1500" b="1">
                <a:solidFill>
                  <a:srgbClr val="F0C040"/>
                </a:solidFill>
                <a:latin typeface="Calibri"/>
              </a:defRPr>
            </a:pPr>
            <a:r>
              <a:t>Relazioni:</a:t>
            </a:r>
          </a:p>
        </p:txBody>
      </p:sp>
      <p:sp>
        <p:nvSpPr>
          <p:cNvPr id="13" name="Rectangle 12"/>
          <p:cNvSpPr/>
          <p:nvPr/>
        </p:nvSpPr>
        <p:spPr>
          <a:xfrm>
            <a:off x="731520" y="3931920"/>
            <a:ext cx="10515600" cy="16459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4005072"/>
            <a:ext cx="10296144" cy="1499616"/>
          </a:xfrm>
          <a:prstGeom prst="rect">
            <a:avLst/>
          </a:prstGeom>
          <a:noFill/>
        </p:spPr>
        <p:txBody>
          <a:bodyPr wrap="square">
            <a:spAutoFit/>
          </a:bodyPr>
          <a:lstStyle/>
          <a:p>
            <a:pPr>
              <a:spcAft>
                <a:spcPts val="100"/>
              </a:spcAft>
              <a:defRPr sz="1000">
                <a:solidFill>
                  <a:srgbClr val="7EC68E"/>
                </a:solidFill>
                <a:latin typeface="Consolas"/>
              </a:defRPr>
            </a:pPr>
            <a:r>
              <a:t>// HAS_SKILL: competenza di una persona</a:t>
            </a:r>
          </a:p>
          <a:p>
            <a:pPr>
              <a:spcAft>
                <a:spcPts val="100"/>
              </a:spcAft>
              <a:defRPr sz="1000">
                <a:solidFill>
                  <a:srgbClr val="7EC68E"/>
                </a:solidFill>
                <a:latin typeface="Consolas"/>
              </a:defRPr>
            </a:pPr>
            <a:r>
              <a:t>(p:Person)-[h:HAS_SKILL {proficiency: 1-5}]-&gt;(s:Skill)</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WORKED_ON: esperienza lavorativa su progetto</a:t>
            </a:r>
          </a:p>
          <a:p>
            <a:pPr>
              <a:spcAft>
                <a:spcPts val="100"/>
              </a:spcAft>
              <a:defRPr sz="1000">
                <a:solidFill>
                  <a:srgbClr val="7EC68E"/>
                </a:solidFill>
                <a:latin typeface="Consolas"/>
              </a:defRPr>
            </a:pPr>
            <a:r>
              <a:t>(p:Person)-[w:WORKED_ON {role: "Developer"}]-&gt;(proj:Project)</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REPORTS_TO: gerarchia organizzativa</a:t>
            </a:r>
          </a:p>
          <a:p>
            <a:pPr>
              <a:spcAft>
                <a:spcPts val="100"/>
              </a:spcAft>
              <a:defRPr sz="1000">
                <a:solidFill>
                  <a:srgbClr val="7EC68E"/>
                </a:solidFill>
                <a:latin typeface="Consolas"/>
              </a:defRPr>
            </a:pPr>
            <a:r>
              <a:t>(p:Person)-[:REPORTS_TO]-&gt;(sup:Supervisor)</a:t>
            </a:r>
          </a:p>
        </p:txBody>
      </p:sp>
      <p:sp>
        <p:nvSpPr>
          <p:cNvPr id="15" name="TextBox 14"/>
          <p:cNvSpPr txBox="1"/>
          <p:nvPr/>
        </p:nvSpPr>
        <p:spPr>
          <a:xfrm>
            <a:off x="731520" y="5760720"/>
            <a:ext cx="10515600" cy="365760"/>
          </a:xfrm>
          <a:prstGeom prst="rect">
            <a:avLst/>
          </a:prstGeom>
          <a:noFill/>
        </p:spPr>
        <p:txBody>
          <a:bodyPr wrap="square">
            <a:spAutoFit/>
          </a:bodyPr>
          <a:lstStyle/>
          <a:p>
            <a:pPr algn="l">
              <a:defRPr sz="1100" b="0">
                <a:solidFill>
                  <a:srgbClr val="CCCCCC"/>
                </a:solidFill>
                <a:latin typeface="Calibri"/>
              </a:defRPr>
            </a:pPr>
            <a:r>
              <a:t>Una persona PUÒ non avere skill, non avere progetti, o non riportare a nessuno. Tutte le proprietà sono in INGLESE (name, non nome).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Esempio Completo: Movie Graph</a:t>
            </a:r>
          </a:p>
        </p:txBody>
      </p:sp>
      <p:sp>
        <p:nvSpPr>
          <p:cNvPr id="3" name="TextBox 2"/>
          <p:cNvSpPr txBox="1"/>
          <p:nvPr/>
        </p:nvSpPr>
        <p:spPr>
          <a:xfrm>
            <a:off x="731520" y="914400"/>
            <a:ext cx="10515600" cy="365760"/>
          </a:xfrm>
          <a:prstGeom prst="rect">
            <a:avLst/>
          </a:prstGeom>
          <a:noFill/>
        </p:spPr>
        <p:txBody>
          <a:bodyPr wrap="square">
            <a:spAutoFit/>
          </a:bodyPr>
          <a:lstStyle/>
          <a:p>
            <a:pPr algn="l">
              <a:defRPr sz="1400" b="0">
                <a:solidFill>
                  <a:srgbClr val="CCCCCC"/>
                </a:solidFill>
                <a:latin typeface="Calibri"/>
              </a:defRPr>
            </a:pPr>
            <a:r>
              <a:t>Dataset incluso in Neo4j Browser con nodi Movie e Person (attori/registi). Attivare con :play movie-graph.</a:t>
            </a:r>
          </a:p>
        </p:txBody>
      </p:sp>
      <p:sp>
        <p:nvSpPr>
          <p:cNvPr id="4" name="Rectangle 3"/>
          <p:cNvSpPr/>
          <p:nvPr/>
        </p:nvSpPr>
        <p:spPr>
          <a:xfrm>
            <a:off x="731520" y="1371600"/>
            <a:ext cx="5029200" cy="25603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444752"/>
            <a:ext cx="4809744" cy="2414016"/>
          </a:xfrm>
          <a:prstGeom prst="rect">
            <a:avLst/>
          </a:prstGeom>
          <a:noFill/>
        </p:spPr>
        <p:txBody>
          <a:bodyPr wrap="square">
            <a:spAutoFit/>
          </a:bodyPr>
          <a:lstStyle/>
          <a:p>
            <a:pPr>
              <a:spcAft>
                <a:spcPts val="100"/>
              </a:spcAft>
              <a:defRPr sz="1000">
                <a:solidFill>
                  <a:srgbClr val="7EC68E"/>
                </a:solidFill>
                <a:latin typeface="Consolas"/>
              </a:defRPr>
            </a:pPr>
            <a:r>
              <a:t>// Attori di film usciti dopo il 2000:</a:t>
            </a:r>
          </a:p>
          <a:p>
            <a:pPr>
              <a:spcAft>
                <a:spcPts val="100"/>
              </a:spcAft>
              <a:defRPr sz="1000">
                <a:solidFill>
                  <a:srgbClr val="7EC68E"/>
                </a:solidFill>
                <a:latin typeface="Consolas"/>
              </a:defRPr>
            </a:pPr>
            <a:r>
              <a:t>MATCH (p:Person)-[:ACTED_IN]-&gt;(m:Movie)</a:t>
            </a:r>
          </a:p>
          <a:p>
            <a:pPr>
              <a:spcAft>
                <a:spcPts val="100"/>
              </a:spcAft>
              <a:defRPr sz="1000">
                <a:solidFill>
                  <a:srgbClr val="7EC68E"/>
                </a:solidFill>
                <a:latin typeface="Consolas"/>
              </a:defRPr>
            </a:pPr>
            <a:r>
              <a:t>WHERE m.released &gt; 2000</a:t>
            </a:r>
          </a:p>
          <a:p>
            <a:pPr>
              <a:spcAft>
                <a:spcPts val="100"/>
              </a:spcAft>
              <a:defRPr sz="1000">
                <a:solidFill>
                  <a:srgbClr val="7EC68E"/>
                </a:solidFill>
                <a:latin typeface="Consolas"/>
              </a:defRPr>
            </a:pPr>
            <a:r>
              <a:t>RETURN p.name, m.title, m.released</a:t>
            </a:r>
          </a:p>
          <a:p>
            <a:pPr>
              <a:spcAft>
                <a:spcPts val="100"/>
              </a:spcAft>
              <a:defRPr sz="1000">
                <a:solidFill>
                  <a:srgbClr val="7EC68E"/>
                </a:solidFill>
                <a:latin typeface="Consolas"/>
              </a:defRPr>
            </a:pPr>
            <a:r>
              <a:t>ORDER BY m.released DESC;</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Co-protagonisti di Tom Hanks:</a:t>
            </a:r>
          </a:p>
          <a:p>
            <a:pPr>
              <a:spcAft>
                <a:spcPts val="100"/>
              </a:spcAft>
              <a:defRPr sz="1000">
                <a:solidFill>
                  <a:srgbClr val="7EC68E"/>
                </a:solidFill>
                <a:latin typeface="Consolas"/>
              </a:defRPr>
            </a:pPr>
            <a:r>
              <a:t>MATCH (tom:Person {name: "Tom Hanks"})</a:t>
            </a:r>
          </a:p>
          <a:p>
            <a:pPr>
              <a:spcAft>
                <a:spcPts val="100"/>
              </a:spcAft>
              <a:defRPr sz="1000">
                <a:solidFill>
                  <a:srgbClr val="7EC68E"/>
                </a:solidFill>
                <a:latin typeface="Consolas"/>
              </a:defRPr>
            </a:pPr>
            <a:r>
              <a:t>  -[:ACTED_IN]-&gt;(m:Movie)&lt;-[:ACTED_IN]-(co:Person)</a:t>
            </a:r>
          </a:p>
          <a:p>
            <a:pPr>
              <a:spcAft>
                <a:spcPts val="100"/>
              </a:spcAft>
              <a:defRPr sz="1000">
                <a:solidFill>
                  <a:srgbClr val="7EC68E"/>
                </a:solidFill>
                <a:latin typeface="Consolas"/>
              </a:defRPr>
            </a:pPr>
            <a:r>
              <a:t>RETURN co.name, m.title ORDER BY m.title;</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Output: Meg Ryan | Sleepless in Seattle</a:t>
            </a:r>
          </a:p>
          <a:p>
            <a:pPr>
              <a:spcAft>
                <a:spcPts val="100"/>
              </a:spcAft>
              <a:defRPr sz="1000">
                <a:solidFill>
                  <a:srgbClr val="7EC68E"/>
                </a:solidFill>
                <a:latin typeface="Consolas"/>
              </a:defRPr>
            </a:pPr>
            <a:r>
              <a:t>//         Bill Paxton | Apollo 13</a:t>
            </a:r>
          </a:p>
        </p:txBody>
      </p:sp>
      <p:sp>
        <p:nvSpPr>
          <p:cNvPr id="6" name="Rectangle 5"/>
          <p:cNvSpPr/>
          <p:nvPr/>
        </p:nvSpPr>
        <p:spPr>
          <a:xfrm>
            <a:off x="5669280" y="1371600"/>
            <a:ext cx="4846320" cy="265176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79008" y="1444752"/>
            <a:ext cx="4626864" cy="2505456"/>
          </a:xfrm>
          <a:prstGeom prst="rect">
            <a:avLst/>
          </a:prstGeom>
          <a:noFill/>
        </p:spPr>
        <p:txBody>
          <a:bodyPr wrap="square">
            <a:spAutoFit/>
          </a:bodyPr>
          <a:lstStyle/>
          <a:p>
            <a:pPr>
              <a:spcAft>
                <a:spcPts val="100"/>
              </a:spcAft>
              <a:defRPr sz="1000">
                <a:solidFill>
                  <a:srgbClr val="7EC68E"/>
                </a:solidFill>
                <a:latin typeface="Consolas"/>
              </a:defRPr>
            </a:pPr>
            <a:r>
              <a:t>// Numero di film per attore:</a:t>
            </a:r>
          </a:p>
          <a:p>
            <a:pPr>
              <a:spcAft>
                <a:spcPts val="100"/>
              </a:spcAft>
              <a:defRPr sz="1000">
                <a:solidFill>
                  <a:srgbClr val="7EC68E"/>
                </a:solidFill>
                <a:latin typeface="Consolas"/>
              </a:defRPr>
            </a:pPr>
            <a:r>
              <a:t>MATCH (p:Person)-[:ACTED_IN]-&gt;(m:Movie)</a:t>
            </a:r>
          </a:p>
          <a:p>
            <a:pPr>
              <a:spcAft>
                <a:spcPts val="100"/>
              </a:spcAft>
              <a:defRPr sz="1000">
                <a:solidFill>
                  <a:srgbClr val="7EC68E"/>
                </a:solidFill>
                <a:latin typeface="Consolas"/>
              </a:defRPr>
            </a:pPr>
            <a:r>
              <a:t>RETURN p.name, count(m) AS film</a:t>
            </a:r>
          </a:p>
          <a:p>
            <a:pPr>
              <a:spcAft>
                <a:spcPts val="100"/>
              </a:spcAft>
              <a:defRPr sz="1000">
                <a:solidFill>
                  <a:srgbClr val="7EC68E"/>
                </a:solidFill>
                <a:latin typeface="Consolas"/>
              </a:defRPr>
            </a:pPr>
            <a:r>
              <a:t>ORDER BY film DESC LIMIT 10;</a:t>
            </a:r>
          </a:p>
          <a:p>
            <a:pPr>
              <a:spcAft>
                <a:spcPts val="100"/>
              </a:spcAft>
              <a:defRPr sz="1000">
                <a:solidFill>
                  <a:srgbClr val="7EC68E"/>
                </a:solidFill>
                <a:latin typeface="Consolas"/>
              </a:defRPr>
            </a:pPr>
          </a:p>
          <a:p>
            <a:pPr>
              <a:spcAft>
                <a:spcPts val="100"/>
              </a:spcAft>
              <a:defRPr sz="1000">
                <a:solidFill>
                  <a:srgbClr val="7EC68E"/>
                </a:solidFill>
                <a:latin typeface="Consolas"/>
              </a:defRPr>
            </a:pPr>
            <a:r>
              <a:t>// Registi e i loro attori:</a:t>
            </a:r>
          </a:p>
          <a:p>
            <a:pPr>
              <a:spcAft>
                <a:spcPts val="100"/>
              </a:spcAft>
              <a:defRPr sz="1000">
                <a:solidFill>
                  <a:srgbClr val="7EC68E"/>
                </a:solidFill>
                <a:latin typeface="Consolas"/>
              </a:defRPr>
            </a:pPr>
            <a:r>
              <a:t>MATCH (d:Person)-[:DIRECTED]-&gt;(m:Movie)</a:t>
            </a:r>
          </a:p>
          <a:p>
            <a:pPr>
              <a:spcAft>
                <a:spcPts val="100"/>
              </a:spcAft>
              <a:defRPr sz="1000">
                <a:solidFill>
                  <a:srgbClr val="7EC68E"/>
                </a:solidFill>
                <a:latin typeface="Consolas"/>
              </a:defRPr>
            </a:pPr>
            <a:r>
              <a:t>  &lt;-[:ACTED_IN]-(a:Person)</a:t>
            </a:r>
          </a:p>
          <a:p>
            <a:pPr>
              <a:spcAft>
                <a:spcPts val="100"/>
              </a:spcAft>
              <a:defRPr sz="1000">
                <a:solidFill>
                  <a:srgbClr val="7EC68E"/>
                </a:solidFill>
                <a:latin typeface="Consolas"/>
              </a:defRPr>
            </a:pPr>
            <a:r>
              <a:t>RETURN d.name AS regista,</a:t>
            </a:r>
          </a:p>
          <a:p>
            <a:pPr>
              <a:spcAft>
                <a:spcPts val="100"/>
              </a:spcAft>
              <a:defRPr sz="1000">
                <a:solidFill>
                  <a:srgbClr val="7EC68E"/>
                </a:solidFill>
                <a:latin typeface="Consolas"/>
              </a:defRPr>
            </a:pPr>
            <a:r>
              <a:t>       collect(DISTINCT a.name) AS attori,</a:t>
            </a:r>
          </a:p>
          <a:p>
            <a:pPr>
              <a:spcAft>
                <a:spcPts val="100"/>
              </a:spcAft>
              <a:defRPr sz="1000">
                <a:solidFill>
                  <a:srgbClr val="7EC68E"/>
                </a:solidFill>
                <a:latin typeface="Consolas"/>
              </a:defRPr>
            </a:pPr>
            <a:r>
              <a:t>       count(DISTINCT a.name) AS num</a:t>
            </a:r>
          </a:p>
          <a:p>
            <a:pPr>
              <a:spcAft>
                <a:spcPts val="100"/>
              </a:spcAft>
              <a:defRPr sz="1000">
                <a:solidFill>
                  <a:srgbClr val="7EC68E"/>
                </a:solidFill>
                <a:latin typeface="Consolas"/>
              </a:defRPr>
            </a:pPr>
            <a:r>
              <a:t>ORDER BY num DESC LIMIT 5;</a:t>
            </a:r>
          </a:p>
        </p:txBody>
      </p:sp>
      <p:sp>
        <p:nvSpPr>
          <p:cNvPr id="8" name="Rectangle 7"/>
          <p:cNvSpPr/>
          <p:nvPr/>
        </p:nvSpPr>
        <p:spPr>
          <a:xfrm>
            <a:off x="731520" y="402336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206240"/>
            <a:ext cx="10515600" cy="365760"/>
          </a:xfrm>
          <a:prstGeom prst="rect">
            <a:avLst/>
          </a:prstGeom>
          <a:noFill/>
        </p:spPr>
        <p:txBody>
          <a:bodyPr wrap="square">
            <a:spAutoFit/>
          </a:bodyPr>
          <a:lstStyle/>
          <a:p>
            <a:pPr algn="l">
              <a:defRPr sz="1500" b="1">
                <a:solidFill>
                  <a:srgbClr val="F08040"/>
                </a:solidFill>
                <a:latin typeface="Calibri"/>
              </a:defRPr>
            </a:pPr>
            <a:r>
              <a:t>Perché Movie Graph è un buon esempio didattico:</a:t>
            </a:r>
          </a:p>
        </p:txBody>
      </p:sp>
      <p:sp>
        <p:nvSpPr>
          <p:cNvPr id="10" name="TextBox 9"/>
          <p:cNvSpPr txBox="1"/>
          <p:nvPr/>
        </p:nvSpPr>
        <p:spPr>
          <a:xfrm>
            <a:off x="731520" y="4663440"/>
            <a:ext cx="10515600" cy="1371600"/>
          </a:xfrm>
          <a:prstGeom prst="rect">
            <a:avLst/>
          </a:prstGeom>
          <a:noFill/>
        </p:spPr>
        <p:txBody>
          <a:bodyPr wrap="square">
            <a:spAutoFit/>
          </a:bodyPr>
          <a:lstStyle/>
          <a:p>
            <a:pPr algn="l">
              <a:spcAft>
                <a:spcPts val="300"/>
              </a:spcAft>
              <a:defRPr sz="1200">
                <a:solidFill>
                  <a:srgbClr val="FFFFFF"/>
                </a:solidFill>
                <a:latin typeface="Calibri"/>
              </a:defRPr>
            </a:pPr>
            <a:r>
              <a:t>•  Modello semplice: 2 labels (Movie, Person), 3 relazioni (ACTED_IN, DIRECTED, REVIEWED)</a:t>
            </a:r>
          </a:p>
          <a:p>
            <a:pPr algn="l">
              <a:spcAft>
                <a:spcPts val="300"/>
              </a:spcAft>
              <a:defRPr sz="1200">
                <a:solidFill>
                  <a:srgbClr val="FFFFFF"/>
                </a:solidFill>
                <a:latin typeface="Calibri"/>
              </a:defRPr>
            </a:pPr>
            <a:r>
              <a:t>•  Pattern matching immediato: "attori che hanno recitato con X"</a:t>
            </a:r>
          </a:p>
          <a:p>
            <a:pPr algn="l">
              <a:spcAft>
                <a:spcPts val="300"/>
              </a:spcAft>
              <a:defRPr sz="1200">
                <a:solidFill>
                  <a:srgbClr val="FFFFFF"/>
                </a:solidFill>
                <a:latin typeface="Calibri"/>
              </a:defRPr>
            </a:pPr>
            <a:r>
              <a:t>•  Aggregazioni naturali: film per attore, attori per regista</a:t>
            </a:r>
          </a:p>
          <a:p>
            <a:pPr algn="l">
              <a:spcAft>
                <a:spcPts val="300"/>
              </a:spcAft>
              <a:defRPr sz="1200">
                <a:solidFill>
                  <a:srgbClr val="FFFFFF"/>
                </a:solidFill>
                <a:latin typeface="Calibri"/>
              </a:defRPr>
            </a:pPr>
            <a:r>
              <a:t>•  ShortestPath: Bacon number (cammino minimo tra due attori)</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Esercizi (1/2)</a:t>
            </a:r>
          </a:p>
        </p:txBody>
      </p:sp>
      <p:sp>
        <p:nvSpPr>
          <p:cNvPr id="3" name="TextBox 2"/>
          <p:cNvSpPr txBox="1"/>
          <p:nvPr/>
        </p:nvSpPr>
        <p:spPr>
          <a:xfrm>
            <a:off x="731520" y="914400"/>
            <a:ext cx="10515600" cy="365760"/>
          </a:xfrm>
          <a:prstGeom prst="rect">
            <a:avLst/>
          </a:prstGeom>
          <a:noFill/>
        </p:spPr>
        <p:txBody>
          <a:bodyPr wrap="square">
            <a:spAutoFit/>
          </a:bodyPr>
          <a:lstStyle/>
          <a:p>
            <a:pPr algn="l">
              <a:defRPr sz="1400" b="0">
                <a:solidFill>
                  <a:srgbClr val="CCCCCC"/>
                </a:solidFill>
                <a:latin typeface="Calibri"/>
              </a:defRPr>
            </a:pPr>
            <a:r>
              <a:t>Esercizi sul dataset Org Graph. Le soluzioni sono nel notebook della Sessione 1.</a:t>
            </a:r>
          </a:p>
        </p:txBody>
      </p:sp>
      <p:sp>
        <p:nvSpPr>
          <p:cNvPr id="4" name="TextBox 3"/>
          <p:cNvSpPr txBox="1"/>
          <p:nvPr/>
        </p:nvSpPr>
        <p:spPr>
          <a:xfrm>
            <a:off x="731520" y="1371600"/>
            <a:ext cx="5029200" cy="4114800"/>
          </a:xfrm>
          <a:prstGeom prst="rect">
            <a:avLst/>
          </a:prstGeom>
          <a:noFill/>
        </p:spPr>
        <p:txBody>
          <a:bodyPr wrap="square">
            <a:spAutoFit/>
          </a:bodyPr>
          <a:lstStyle/>
          <a:p>
            <a:pPr algn="l">
              <a:spcAft>
                <a:spcPts val="0"/>
              </a:spcAft>
              <a:defRPr sz="1200">
                <a:solidFill>
                  <a:srgbClr val="FFFFFF"/>
                </a:solidFill>
                <a:latin typeface="Calibri"/>
              </a:defRPr>
            </a:pPr>
            <a:r>
              <a:t>•  1. Connettiti a Neo4j via Python driver</a:t>
            </a:r>
          </a:p>
          <a:p>
            <a:pPr algn="l">
              <a:spcAft>
                <a:spcPts val="0"/>
              </a:spcAft>
              <a:defRPr sz="1200">
                <a:solidFill>
                  <a:srgbClr val="FFFFFF"/>
                </a:solidFill>
                <a:latin typeface="Calibri"/>
              </a:defRPr>
            </a:pPr>
            <a:r>
              <a:t>  driver = GraphDatabase.driver(URI, auth=(USER, PASS))</a:t>
            </a:r>
          </a:p>
          <a:p>
            <a:pPr algn="l">
              <a:spcAft>
                <a:spcPts val="0"/>
              </a:spcAft>
              <a:defRPr sz="1200">
                <a:solidFill>
                  <a:srgbClr val="FFFFFF"/>
                </a:solidFill>
                <a:latin typeface="Calibri"/>
              </a:defRPr>
            </a:pPr>
            <a:r>
              <a:t>  Esegui: MATCH (n) RETURN n LIMIT 25</a:t>
            </a:r>
          </a:p>
          <a:p>
            <a:pPr algn="l">
              <a:spcAft>
                <a:spcPts val="0"/>
              </a:spcAft>
              <a:defRPr sz="1200">
                <a:solidFill>
                  <a:srgbClr val="FFFFFF"/>
                </a:solidFill>
                <a:latin typeface="Calibri"/>
              </a:defRPr>
            </a:pPr>
            <a:r>
              <a:t>•  </a:t>
            </a:r>
          </a:p>
          <a:p>
            <a:pPr algn="l">
              <a:spcAft>
                <a:spcPts val="0"/>
              </a:spcAft>
              <a:defRPr sz="1200">
                <a:solidFill>
                  <a:srgbClr val="FFFFFF"/>
                </a:solidFill>
                <a:latin typeface="Calibri"/>
              </a:defRPr>
            </a:pPr>
            <a:r>
              <a:t>•  2. Trova tutte le persone di Roma</a:t>
            </a:r>
          </a:p>
          <a:p>
            <a:pPr algn="l">
              <a:spcAft>
                <a:spcPts val="0"/>
              </a:spcAft>
              <a:defRPr sz="1200">
                <a:solidFill>
                  <a:srgbClr val="FFFFFF"/>
                </a:solidFill>
                <a:latin typeface="Calibri"/>
              </a:defRPr>
            </a:pPr>
            <a:r>
              <a:t>  MATCH (p:Person) WHERE p.location = "Roma"</a:t>
            </a:r>
          </a:p>
          <a:p>
            <a:pPr algn="l">
              <a:spcAft>
                <a:spcPts val="0"/>
              </a:spcAft>
              <a:defRPr sz="1200">
                <a:solidFill>
                  <a:srgbClr val="FFFFFF"/>
                </a:solidFill>
                <a:latin typeface="Calibri"/>
              </a:defRPr>
            </a:pPr>
            <a:r>
              <a:t>  RETURN p.name, p.title</a:t>
            </a:r>
          </a:p>
          <a:p>
            <a:pPr algn="l">
              <a:spcAft>
                <a:spcPts val="0"/>
              </a:spcAft>
              <a:defRPr sz="1200">
                <a:solidFill>
                  <a:srgbClr val="FFFFFF"/>
                </a:solidFill>
                <a:latin typeface="Calibri"/>
              </a:defRPr>
            </a:pPr>
            <a:r>
              <a:t>•  </a:t>
            </a:r>
          </a:p>
          <a:p>
            <a:pPr algn="l">
              <a:spcAft>
                <a:spcPts val="0"/>
              </a:spcAft>
              <a:defRPr sz="1200">
                <a:solidFill>
                  <a:srgbClr val="FFFFFF"/>
                </a:solidFill>
                <a:latin typeface="Calibri"/>
              </a:defRPr>
            </a:pPr>
            <a:r>
              <a:t>•  3. Quante persone per ogni location?</a:t>
            </a:r>
          </a:p>
          <a:p>
            <a:pPr algn="l">
              <a:spcAft>
                <a:spcPts val="0"/>
              </a:spcAft>
              <a:defRPr sz="1200">
                <a:solidFill>
                  <a:srgbClr val="FFFFFF"/>
                </a:solidFill>
                <a:latin typeface="Calibri"/>
              </a:defRPr>
            </a:pPr>
            <a:r>
              <a:t>  MATCH (p:Person) RETURN p.location, count(*)</a:t>
            </a:r>
          </a:p>
          <a:p>
            <a:pPr algn="l">
              <a:spcAft>
                <a:spcPts val="0"/>
              </a:spcAft>
              <a:defRPr sz="1200">
                <a:solidFill>
                  <a:srgbClr val="FFFFFF"/>
                </a:solidFill>
                <a:latin typeface="Calibri"/>
              </a:defRPr>
            </a:pPr>
            <a:r>
              <a:t>  ORDER BY count(*) DESC</a:t>
            </a:r>
          </a:p>
          <a:p>
            <a:pPr algn="l">
              <a:spcAft>
                <a:spcPts val="0"/>
              </a:spcAft>
              <a:defRPr sz="1200">
                <a:solidFill>
                  <a:srgbClr val="FFFFFF"/>
                </a:solidFill>
                <a:latin typeface="Calibri"/>
              </a:defRPr>
            </a:pPr>
            <a:r>
              <a:t>•  </a:t>
            </a:r>
          </a:p>
          <a:p>
            <a:pPr algn="l">
              <a:spcAft>
                <a:spcPts val="0"/>
              </a:spcAft>
              <a:defRPr sz="1200">
                <a:solidFill>
                  <a:srgbClr val="FFFFFF"/>
                </a:solidFill>
                <a:latin typeface="Calibri"/>
              </a:defRPr>
            </a:pPr>
            <a:r>
              <a:t>•  4. Trova tutte le skill di una persona specifica</a:t>
            </a:r>
          </a:p>
          <a:p>
            <a:pPr algn="l">
              <a:spcAft>
                <a:spcPts val="0"/>
              </a:spcAft>
              <a:defRPr sz="1200">
                <a:solidFill>
                  <a:srgbClr val="FFFFFF"/>
                </a:solidFill>
                <a:latin typeface="Calibri"/>
              </a:defRPr>
            </a:pPr>
            <a:r>
              <a:t>  MATCH (p:Person {name: 'Mario Rossi'})</a:t>
            </a:r>
          </a:p>
          <a:p>
            <a:pPr algn="l">
              <a:spcAft>
                <a:spcPts val="0"/>
              </a:spcAft>
              <a:defRPr sz="1200">
                <a:solidFill>
                  <a:srgbClr val="FFFFFF"/>
                </a:solidFill>
                <a:latin typeface="Calibri"/>
              </a:defRPr>
            </a:pPr>
            <a:r>
              <a:t>  -[:HAS_SKILL]-&gt;(s:Skill) RETURN s.name</a:t>
            </a:r>
          </a:p>
          <a:p>
            <a:pPr algn="l">
              <a:spcAft>
                <a:spcPts val="0"/>
              </a:spcAft>
              <a:defRPr sz="1200">
                <a:solidFill>
                  <a:srgbClr val="FFFFFF"/>
                </a:solidFill>
                <a:latin typeface="Calibri"/>
              </a:defRPr>
            </a:pPr>
            <a:r>
              <a:t>•  </a:t>
            </a:r>
          </a:p>
          <a:p>
            <a:pPr algn="l">
              <a:spcAft>
                <a:spcPts val="0"/>
              </a:spcAft>
              <a:defRPr sz="1200">
                <a:solidFill>
                  <a:srgbClr val="FFFFFF"/>
                </a:solidFill>
                <a:latin typeface="Calibri"/>
              </a:defRPr>
            </a:pPr>
            <a:r>
              <a:t>•  5. Persone che hanno Python come skill</a:t>
            </a:r>
          </a:p>
          <a:p>
            <a:pPr algn="l">
              <a:spcAft>
                <a:spcPts val="0"/>
              </a:spcAft>
              <a:defRPr sz="1200">
                <a:solidFill>
                  <a:srgbClr val="FFFFFF"/>
                </a:solidFill>
                <a:latin typeface="Calibri"/>
              </a:defRPr>
            </a:pPr>
            <a:r>
              <a:t>  MATCH (p:Person)-[:HAS_SKILL]-&gt;(s:Skill {name: 'Python'})</a:t>
            </a:r>
          </a:p>
          <a:p>
            <a:pPr algn="l">
              <a:spcAft>
                <a:spcPts val="0"/>
              </a:spcAft>
              <a:defRPr sz="1200">
                <a:solidFill>
                  <a:srgbClr val="FFFFFF"/>
                </a:solidFill>
                <a:latin typeface="Calibri"/>
              </a:defRPr>
            </a:pPr>
            <a:r>
              <a:t>  RETURN p.name ORDER BY p.name</a:t>
            </a:r>
          </a:p>
        </p:txBody>
      </p:sp>
      <p:sp>
        <p:nvSpPr>
          <p:cNvPr id="5" name="TextBox 4"/>
          <p:cNvSpPr txBox="1"/>
          <p:nvPr/>
        </p:nvSpPr>
        <p:spPr>
          <a:xfrm>
            <a:off x="5669280" y="1371600"/>
            <a:ext cx="4846320" cy="4114800"/>
          </a:xfrm>
          <a:prstGeom prst="rect">
            <a:avLst/>
          </a:prstGeom>
          <a:noFill/>
        </p:spPr>
        <p:txBody>
          <a:bodyPr wrap="square">
            <a:spAutoFit/>
          </a:bodyPr>
          <a:lstStyle/>
          <a:p>
            <a:pPr algn="l">
              <a:defRPr sz="1100" b="0">
                <a:solidFill>
                  <a:srgbClr val="7EC68E"/>
                </a:solidFill>
                <a:latin typeface="Consolas"/>
              </a:defRPr>
            </a:pPr>
            <a:r>
              <a:t>Suggerimenti:</a:t>
            </a:r>
            <a:br/>
            <a:br/>
            <a:r>
              <a:t>Usa il notebook per eseguire le</a:t>
            </a:r>
            <a:br/>
            <a:r>
              <a:t>query con driver.execute_query()</a:t>
            </a:r>
            <a:br/>
            <a:br/>
            <a:r>
              <a:t>Oppure apri Neo4j Browser e incolla</a:t>
            </a:r>
            <a:br/>
            <a:r>
              <a:t>direttamente il Cypher.</a:t>
            </a:r>
            <a:br/>
            <a:br/>
            <a:r>
              <a:t>Tutte le proprietà sono in inglese:</a:t>
            </a:r>
            <a:br/>
            <a:r>
              <a:t>  name, employee_id, location,</a:t>
            </a:r>
            <a:br/>
            <a:r>
              <a:t>  title, department, gender.</a:t>
            </a:r>
            <a:br/>
            <a:br/>
            <a:r>
              <a:t>Skill: HAS_SKILL {proficiency}</a:t>
            </a:r>
            <a:br/>
            <a:r>
              <a:t>Progetti: WORKED_ON {role}</a:t>
            </a:r>
            <a:br/>
            <a:r>
              <a:t>Riporti: REPORTS_TO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Esercizi (2/2)</a:t>
            </a:r>
          </a:p>
        </p:txBody>
      </p:sp>
      <p:sp>
        <p:nvSpPr>
          <p:cNvPr id="3" name="TextBox 2"/>
          <p:cNvSpPr txBox="1"/>
          <p:nvPr/>
        </p:nvSpPr>
        <p:spPr>
          <a:xfrm>
            <a:off x="731520" y="1097280"/>
            <a:ext cx="5029200" cy="4572000"/>
          </a:xfrm>
          <a:prstGeom prst="rect">
            <a:avLst/>
          </a:prstGeom>
          <a:noFill/>
        </p:spPr>
        <p:txBody>
          <a:bodyPr wrap="square">
            <a:spAutoFit/>
          </a:bodyPr>
          <a:lstStyle/>
          <a:p>
            <a:pPr algn="l">
              <a:spcAft>
                <a:spcPts val="0"/>
              </a:spcAft>
              <a:defRPr sz="1100">
                <a:solidFill>
                  <a:srgbClr val="FFFFFF"/>
                </a:solidFill>
                <a:latin typeface="Calibri"/>
              </a:defRPr>
            </a:pPr>
            <a:r>
              <a:t>•  6. Skill più diffuse (top 5)</a:t>
            </a:r>
          </a:p>
          <a:p>
            <a:pPr algn="l">
              <a:spcAft>
                <a:spcPts val="0"/>
              </a:spcAft>
              <a:defRPr sz="1100">
                <a:solidFill>
                  <a:srgbClr val="FFFFFF"/>
                </a:solidFill>
                <a:latin typeface="Calibri"/>
              </a:defRPr>
            </a:pPr>
            <a:r>
              <a:t>  MATCH (p:Person)-[:HAS_SKILL]-&gt;(s:Skill)</a:t>
            </a:r>
          </a:p>
          <a:p>
            <a:pPr algn="l">
              <a:spcAft>
                <a:spcPts val="0"/>
              </a:spcAft>
              <a:defRPr sz="1100">
                <a:solidFill>
                  <a:srgbClr val="FFFFFF"/>
                </a:solidFill>
                <a:latin typeface="Calibri"/>
              </a:defRPr>
            </a:pPr>
            <a:r>
              <a:t>  RETURN s.name, count(*) AS persone</a:t>
            </a:r>
          </a:p>
          <a:p>
            <a:pPr algn="l">
              <a:spcAft>
                <a:spcPts val="0"/>
              </a:spcAft>
              <a:defRPr sz="1100">
                <a:solidFill>
                  <a:srgbClr val="FFFFFF"/>
                </a:solidFill>
                <a:latin typeface="Calibri"/>
              </a:defRPr>
            </a:pPr>
            <a:r>
              <a:t>  ORDER BY persone DESC LIMIT 5</a:t>
            </a:r>
          </a:p>
          <a:p>
            <a:pPr algn="l">
              <a:spcAft>
                <a:spcPts val="0"/>
              </a:spcAft>
              <a:defRPr sz="1100">
                <a:solidFill>
                  <a:srgbClr val="FFFFFF"/>
                </a:solidFill>
                <a:latin typeface="Calibri"/>
              </a:defRPr>
            </a:pPr>
            <a:r>
              <a:t>•  </a:t>
            </a:r>
          </a:p>
          <a:p>
            <a:pPr algn="l">
              <a:spcAft>
                <a:spcPts val="0"/>
              </a:spcAft>
              <a:defRPr sz="1100">
                <a:solidFill>
                  <a:srgbClr val="FFFFFF"/>
                </a:solidFill>
                <a:latin typeface="Calibri"/>
              </a:defRPr>
            </a:pPr>
            <a:r>
              <a:t>•  7. Media proficiency per skill</a:t>
            </a:r>
          </a:p>
          <a:p>
            <a:pPr algn="l">
              <a:spcAft>
                <a:spcPts val="0"/>
              </a:spcAft>
              <a:defRPr sz="1100">
                <a:solidFill>
                  <a:srgbClr val="FFFFFF"/>
                </a:solidFill>
                <a:latin typeface="Calibri"/>
              </a:defRPr>
            </a:pPr>
            <a:r>
              <a:t>  MATCH (p:Person)-[h:HAS_SKILL]-&gt;(s:Skill)</a:t>
            </a:r>
          </a:p>
          <a:p>
            <a:pPr algn="l">
              <a:spcAft>
                <a:spcPts val="0"/>
              </a:spcAft>
              <a:defRPr sz="1100">
                <a:solidFill>
                  <a:srgbClr val="FFFFFF"/>
                </a:solidFill>
                <a:latin typeface="Calibri"/>
              </a:defRPr>
            </a:pPr>
            <a:r>
              <a:t>  RETURN s.name, avg(h.proficiency), count(p)</a:t>
            </a:r>
          </a:p>
          <a:p>
            <a:pPr algn="l">
              <a:spcAft>
                <a:spcPts val="0"/>
              </a:spcAft>
              <a:defRPr sz="1100">
                <a:solidFill>
                  <a:srgbClr val="FFFFFF"/>
                </a:solidFill>
                <a:latin typeface="Calibri"/>
              </a:defRPr>
            </a:pPr>
            <a:r>
              <a:t>  ORDER BY avg(h.proficiency) DESC LIMIT 10</a:t>
            </a:r>
          </a:p>
          <a:p>
            <a:pPr algn="l">
              <a:spcAft>
                <a:spcPts val="0"/>
              </a:spcAft>
              <a:defRPr sz="1100">
                <a:solidFill>
                  <a:srgbClr val="FFFFFF"/>
                </a:solidFill>
                <a:latin typeface="Calibri"/>
              </a:defRPr>
            </a:pPr>
            <a:r>
              <a:t>•  </a:t>
            </a:r>
          </a:p>
          <a:p>
            <a:pPr algn="l">
              <a:spcAft>
                <a:spcPts val="0"/>
              </a:spcAft>
              <a:defRPr sz="1100">
                <a:solidFill>
                  <a:srgbClr val="FFFFFF"/>
                </a:solidFill>
                <a:latin typeface="Calibri"/>
              </a:defRPr>
            </a:pPr>
            <a:r>
              <a:t>•  8. Persone che condividono un progetto</a:t>
            </a:r>
          </a:p>
          <a:p>
            <a:pPr algn="l">
              <a:spcAft>
                <a:spcPts val="0"/>
              </a:spcAft>
              <a:defRPr sz="1100">
                <a:solidFill>
                  <a:srgbClr val="FFFFFF"/>
                </a:solidFill>
                <a:latin typeface="Calibri"/>
              </a:defRPr>
            </a:pPr>
            <a:r>
              <a:t>  MATCH (p1:Person)-[:WORKED_ON]-&gt;(proj:Project)</a:t>
            </a:r>
          </a:p>
          <a:p>
            <a:pPr algn="l">
              <a:spcAft>
                <a:spcPts val="0"/>
              </a:spcAft>
              <a:defRPr sz="1100">
                <a:solidFill>
                  <a:srgbClr val="FFFFFF"/>
                </a:solidFill>
                <a:latin typeface="Calibri"/>
              </a:defRPr>
            </a:pPr>
            <a:r>
              <a:t>    &lt;-[:WORKED_ON]-(p2:Person)</a:t>
            </a:r>
          </a:p>
          <a:p>
            <a:pPr algn="l">
              <a:spcAft>
                <a:spcPts val="0"/>
              </a:spcAft>
              <a:defRPr sz="1100">
                <a:solidFill>
                  <a:srgbClr val="FFFFFF"/>
                </a:solidFill>
                <a:latin typeface="Calibri"/>
              </a:defRPr>
            </a:pPr>
            <a:r>
              <a:t>  RETURN p1.name, p2.name, proj.name LIMIT 10</a:t>
            </a:r>
          </a:p>
          <a:p>
            <a:pPr algn="l">
              <a:spcAft>
                <a:spcPts val="0"/>
              </a:spcAft>
              <a:defRPr sz="1100">
                <a:solidFill>
                  <a:srgbClr val="FFFFFF"/>
                </a:solidFill>
                <a:latin typeface="Calibri"/>
              </a:defRPr>
            </a:pPr>
            <a:r>
              <a:t>•  </a:t>
            </a:r>
          </a:p>
          <a:p>
            <a:pPr algn="l">
              <a:spcAft>
                <a:spcPts val="0"/>
              </a:spcAft>
              <a:defRPr sz="1100">
                <a:solidFill>
                  <a:srgbClr val="FFFFFF"/>
                </a:solidFill>
                <a:latin typeface="Calibri"/>
              </a:defRPr>
            </a:pPr>
            <a:r>
              <a:t>•  9. Crea un nuovo nodo Person e dagli una skill</a:t>
            </a:r>
          </a:p>
          <a:p>
            <a:pPr algn="l">
              <a:spcAft>
                <a:spcPts val="0"/>
              </a:spcAft>
              <a:defRPr sz="1100">
                <a:solidFill>
                  <a:srgbClr val="FFFFFF"/>
                </a:solidFill>
                <a:latin typeface="Calibri"/>
              </a:defRPr>
            </a:pPr>
            <a:r>
              <a:t>  MERGE (p:Person {employee_id: 999})</a:t>
            </a:r>
          </a:p>
          <a:p>
            <a:pPr algn="l">
              <a:spcAft>
                <a:spcPts val="0"/>
              </a:spcAft>
              <a:defRPr sz="1100">
                <a:solidFill>
                  <a:srgbClr val="FFFFFF"/>
                </a:solidFill>
                <a:latin typeface="Calibri"/>
              </a:defRPr>
            </a:pPr>
            <a:r>
              <a:t>  SET p.name = "Test"</a:t>
            </a:r>
          </a:p>
          <a:p>
            <a:pPr algn="l">
              <a:spcAft>
                <a:spcPts val="0"/>
              </a:spcAft>
              <a:defRPr sz="1100">
                <a:solidFill>
                  <a:srgbClr val="FFFFFF"/>
                </a:solidFill>
                <a:latin typeface="Calibri"/>
              </a:defRPr>
            </a:pPr>
            <a:r>
              <a:t>  MATCH (s:Skill {name: 'Python'})</a:t>
            </a:r>
          </a:p>
          <a:p>
            <a:pPr algn="l">
              <a:spcAft>
                <a:spcPts val="0"/>
              </a:spcAft>
              <a:defRPr sz="1100">
                <a:solidFill>
                  <a:srgbClr val="FFFFFF"/>
                </a:solidFill>
                <a:latin typeface="Calibri"/>
              </a:defRPr>
            </a:pPr>
            <a:r>
              <a:t>  MERGE (p)-[:HAS_SKILL {proficiency: 3}]-&gt;(s)</a:t>
            </a:r>
          </a:p>
        </p:txBody>
      </p:sp>
      <p:sp>
        <p:nvSpPr>
          <p:cNvPr id="4" name="TextBox 3"/>
          <p:cNvSpPr txBox="1"/>
          <p:nvPr/>
        </p:nvSpPr>
        <p:spPr>
          <a:xfrm>
            <a:off x="5669280" y="1097280"/>
            <a:ext cx="4846320" cy="4572000"/>
          </a:xfrm>
          <a:prstGeom prst="rect">
            <a:avLst/>
          </a:prstGeom>
          <a:noFill/>
        </p:spPr>
        <p:txBody>
          <a:bodyPr wrap="square">
            <a:spAutoFit/>
          </a:bodyPr>
          <a:lstStyle/>
          <a:p>
            <a:pPr algn="l">
              <a:defRPr sz="1200" b="0">
                <a:solidFill>
                  <a:srgbClr val="CCCCCC"/>
                </a:solidFill>
                <a:latin typeface="Calibri"/>
              </a:defRPr>
            </a:pPr>
            <a:r>
              <a:t>Obiettivi degli esercizi:</a:t>
            </a:r>
            <a:br/>
            <a:br/>
            <a:r>
              <a:t>1. Verificare la connessione al DB</a:t>
            </a:r>
            <a:br/>
            <a:r>
              <a:t>2. Filtrare con WHERE =, IN</a:t>
            </a:r>
            <a:br/>
            <a:r>
              <a:t>3. Raggruppare con count()</a:t>
            </a:r>
            <a:br/>
            <a:r>
              <a:t>4. Navigare relazioni HAS_SKILL</a:t>
            </a:r>
            <a:br/>
            <a:r>
              <a:t>5. Filtrare su nodi specifici</a:t>
            </a:r>
            <a:br/>
            <a:r>
              <a:t>6. Aggregare con ORDER BY + LIMIT</a:t>
            </a:r>
            <a:br/>
            <a:r>
              <a:t>7. Media su proprietà relazione</a:t>
            </a:r>
            <a:br/>
            <a:r>
              <a:t>8. Pattern multi-hop con progetto</a:t>
            </a:r>
            <a:br/>
            <a:r>
              <a:t>   condiviso</a:t>
            </a:r>
            <a:br/>
            <a:r>
              <a:t>9. Scrivere dati con MERGE</a:t>
            </a:r>
            <a:br/>
            <a:br/>
            <a:r>
              <a:t>Tempo stimato: 20-30 minuti.</a:t>
            </a:r>
            <a:br/>
            <a:r>
              <a:t>Le soluzioni complete sono nel</a:t>
            </a:r>
            <a:br/>
            <a:r>
              <a:t>notebook della Sessione 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10515600" cy="594360"/>
          </a:xfrm>
          <a:prstGeom prst="rect">
            <a:avLst/>
          </a:prstGeom>
          <a:noFill/>
        </p:spPr>
        <p:txBody>
          <a:bodyPr wrap="square">
            <a:spAutoFit/>
          </a:bodyPr>
          <a:lstStyle/>
          <a:p>
            <a:pPr algn="l">
              <a:defRPr sz="3300" b="1">
                <a:solidFill>
                  <a:srgbClr val="F0C040"/>
                </a:solidFill>
                <a:latin typeface="Calibri"/>
              </a:defRPr>
            </a:pPr>
            <a:r>
              <a:t>Punti Chiave</a:t>
            </a:r>
          </a:p>
        </p:txBody>
      </p:sp>
      <p:sp>
        <p:nvSpPr>
          <p:cNvPr id="3" name="TextBox 2"/>
          <p:cNvSpPr txBox="1"/>
          <p:nvPr/>
        </p:nvSpPr>
        <p:spPr>
          <a:xfrm>
            <a:off x="731520" y="1051560"/>
            <a:ext cx="10515600" cy="5029200"/>
          </a:xfrm>
          <a:prstGeom prst="rect">
            <a:avLst/>
          </a:prstGeom>
          <a:noFill/>
        </p:spPr>
        <p:txBody>
          <a:bodyPr wrap="square">
            <a:spAutoFit/>
          </a:bodyPr>
          <a:lstStyle/>
          <a:p>
            <a:pPr algn="l">
              <a:spcAft>
                <a:spcPts val="800"/>
              </a:spcAft>
              <a:defRPr sz="1400">
                <a:solidFill>
                  <a:srgbClr val="FFFFFF"/>
                </a:solidFill>
                <a:latin typeface="Calibri"/>
              </a:defRPr>
            </a:pPr>
            <a:r>
              <a:t>•  DB a grafo eccellono con DATI CONNESSI — nessun JOIN costoso, traversal O(1) per hop</a:t>
            </a:r>
          </a:p>
          <a:p>
            <a:pPr algn="l">
              <a:spcAft>
                <a:spcPts val="800"/>
              </a:spcAft>
              <a:defRPr sz="1400">
                <a:solidFill>
                  <a:srgbClr val="FFFFFF"/>
                </a:solidFill>
                <a:latin typeface="Calibri"/>
              </a:defRPr>
            </a:pPr>
            <a:r>
              <a:t>•  Neo4j è un Property Graph: nodi + labels + relazioni + proprietà = tutto è dati</a:t>
            </a:r>
          </a:p>
          <a:p>
            <a:pPr algn="l">
              <a:spcAft>
                <a:spcPts val="800"/>
              </a:spcAft>
              <a:defRPr sz="1400">
                <a:solidFill>
                  <a:srgbClr val="FFFFFF"/>
                </a:solidFill>
                <a:latin typeface="Calibri"/>
              </a:defRPr>
            </a:pPr>
            <a:r>
              <a:t>•  Le relazioni sono cittadini di prima classe — memorizzate fisicamente, non calcolate</a:t>
            </a:r>
          </a:p>
          <a:p>
            <a:pPr algn="l">
              <a:spcAft>
                <a:spcPts val="800"/>
              </a:spcAft>
              <a:defRPr sz="1400">
                <a:solidFill>
                  <a:srgbClr val="FFFFFF"/>
                </a:solidFill>
                <a:latin typeface="Calibri"/>
              </a:defRPr>
            </a:pPr>
            <a:r>
              <a:t>•  Cypher è dichiarativo: descrivi il PATTERN, non il PERCORSO (MATCH (a)-[:R]-&gt;(b))</a:t>
            </a:r>
          </a:p>
          <a:p>
            <a:pPr algn="l">
              <a:spcAft>
                <a:spcPts val="800"/>
              </a:spcAft>
              <a:defRPr sz="1400">
                <a:solidFill>
                  <a:srgbClr val="FFFFFF"/>
                </a:solidFill>
                <a:latin typeface="Calibri"/>
              </a:defRPr>
            </a:pPr>
            <a:r>
              <a:t>•  MERGE è idempotente — preferiscilo a CREATE per caricamenti ripetuti</a:t>
            </a:r>
          </a:p>
          <a:p>
            <a:pPr algn="l">
              <a:spcAft>
                <a:spcPts val="800"/>
              </a:spcAft>
              <a:defRPr sz="1400">
                <a:solidFill>
                  <a:srgbClr val="FFFFFF"/>
                </a:solidFill>
                <a:latin typeface="Calibri"/>
              </a:defRPr>
            </a:pPr>
            <a:r>
              <a:t>•  Constraint UNIQUE = indice automatico + protezione da duplicati</a:t>
            </a:r>
          </a:p>
          <a:p>
            <a:pPr algn="l">
              <a:spcAft>
                <a:spcPts val="800"/>
              </a:spcAft>
              <a:defRPr sz="1400">
                <a:solidFill>
                  <a:srgbClr val="FFFFFF"/>
                </a:solidFill>
                <a:latin typeface="Calibri"/>
              </a:defRPr>
            </a:pPr>
            <a:r>
              <a:t>•  UNWIND batching = 300× più veloce del row-by-row (1.4s vs 440s)</a:t>
            </a:r>
          </a:p>
          <a:p>
            <a:pPr algn="l">
              <a:spcAft>
                <a:spcPts val="800"/>
              </a:spcAft>
              <a:defRPr sz="1400">
                <a:solidFill>
                  <a:srgbClr val="FFFFFF"/>
                </a:solidFill>
                <a:latin typeface="Calibri"/>
              </a:defRPr>
            </a:pPr>
            <a:r>
              <a:t>•  Neo4j Browser: esplorazione rapida, visualizzazione grafica, :play tutorial</a:t>
            </a:r>
          </a:p>
          <a:p>
            <a:pPr algn="l">
              <a:spcAft>
                <a:spcPts val="800"/>
              </a:spcAft>
              <a:defRPr sz="1400">
                <a:solidFill>
                  <a:srgbClr val="FFFFFF"/>
                </a:solidFill>
                <a:latin typeface="Calibri"/>
              </a:defRPr>
            </a:pPr>
            <a:r>
              <a:t>•  Il progetto Org Graph ci accompagnerà per tutto il corso — 238 persone, 93 progetti, 55 skill</a:t>
            </a:r>
          </a:p>
          <a:p>
            <a:pPr algn="l">
              <a:spcAft>
                <a:spcPts val="800"/>
              </a:spcAft>
              <a:defRPr sz="1400">
                <a:solidFill>
                  <a:srgbClr val="FFFFFF"/>
                </a:solidFill>
                <a:latin typeface="Calibri"/>
              </a:defRPr>
            </a:pPr>
            <a:r>
              <a:t>•  Tutte le proprietà sono in inglese (name, employee_id, location, title, proficiency)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Rectangle 1"/>
          <p:cNvSpPr/>
          <p:nvPr/>
        </p:nvSpPr>
        <p:spPr>
          <a:xfrm>
            <a:off x="731520" y="23774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058400" cy="1097280"/>
          </a:xfrm>
          <a:prstGeom prst="rect">
            <a:avLst/>
          </a:prstGeom>
          <a:noFill/>
        </p:spPr>
        <p:txBody>
          <a:bodyPr wrap="square">
            <a:spAutoFit/>
          </a:bodyPr>
          <a:lstStyle/>
          <a:p>
            <a:pPr algn="ctr">
              <a:defRPr sz="4200" b="1">
                <a:solidFill>
                  <a:srgbClr val="F0C040"/>
                </a:solidFill>
                <a:latin typeface="Calibri"/>
              </a:defRPr>
            </a:pPr>
            <a:r>
              <a:t>Alla prossima!</a:t>
            </a:r>
          </a:p>
        </p:txBody>
      </p:sp>
      <p:sp>
        <p:nvSpPr>
          <p:cNvPr id="4" name="TextBox 3"/>
          <p:cNvSpPr txBox="1"/>
          <p:nvPr/>
        </p:nvSpPr>
        <p:spPr>
          <a:xfrm>
            <a:off x="914400" y="2651760"/>
            <a:ext cx="10058400" cy="548640"/>
          </a:xfrm>
          <a:prstGeom prst="rect">
            <a:avLst/>
          </a:prstGeom>
          <a:noFill/>
        </p:spPr>
        <p:txBody>
          <a:bodyPr wrap="square">
            <a:spAutoFit/>
          </a:bodyPr>
          <a:lstStyle/>
          <a:p>
            <a:pPr algn="ctr">
              <a:defRPr sz="2400" b="0">
                <a:solidFill>
                  <a:srgbClr val="FFFFFF"/>
                </a:solidFill>
                <a:latin typeface="Calibri"/>
              </a:defRPr>
            </a:pPr>
            <a:r>
              <a:t>Sessione 2: Cypher: Da Basi a Query Reali</a:t>
            </a:r>
          </a:p>
        </p:txBody>
      </p:sp>
      <p:sp>
        <p:nvSpPr>
          <p:cNvPr id="5" name="TextBox 4"/>
          <p:cNvSpPr txBox="1"/>
          <p:nvPr/>
        </p:nvSpPr>
        <p:spPr>
          <a:xfrm>
            <a:off x="2286000" y="3566160"/>
            <a:ext cx="8229600" cy="2286000"/>
          </a:xfrm>
          <a:prstGeom prst="rect">
            <a:avLst/>
          </a:prstGeom>
          <a:noFill/>
        </p:spPr>
        <p:txBody>
          <a:bodyPr wrap="square">
            <a:spAutoFit/>
          </a:bodyPr>
          <a:lstStyle/>
          <a:p>
            <a:pPr algn="l">
              <a:spcAft>
                <a:spcPts val="1200"/>
              </a:spcAft>
              <a:defRPr sz="1400">
                <a:solidFill>
                  <a:srgbClr val="CCCCCC"/>
                </a:solidFill>
                <a:latin typeface="Calibri"/>
              </a:defRPr>
            </a:pPr>
            <a:r>
              <a:t>•  Pattern matching avanzato (path variables, shortestPath)</a:t>
            </a:r>
          </a:p>
          <a:p>
            <a:pPr algn="l">
              <a:spcAft>
                <a:spcPts val="1200"/>
              </a:spcAft>
              <a:defRPr sz="1400">
                <a:solidFill>
                  <a:srgbClr val="CCCCCC"/>
                </a:solidFill>
                <a:latin typeface="Calibri"/>
              </a:defRPr>
            </a:pPr>
            <a:r>
              <a:t>•  Aggregazioni complesse e subquery</a:t>
            </a:r>
          </a:p>
          <a:p>
            <a:pPr algn="l">
              <a:spcAft>
                <a:spcPts val="1200"/>
              </a:spcAft>
              <a:defRPr sz="1400">
                <a:solidFill>
                  <a:srgbClr val="CCCCCC"/>
                </a:solidFill>
                <a:latin typeface="Calibri"/>
              </a:defRPr>
            </a:pPr>
            <a:r>
              <a:t>•  Date, liste, map in Cypher</a:t>
            </a:r>
          </a:p>
          <a:p>
            <a:pPr algn="l">
              <a:spcAft>
                <a:spcPts val="1200"/>
              </a:spcAft>
              <a:defRPr sz="1400">
                <a:solidFill>
                  <a:srgbClr val="CCCCCC"/>
                </a:solidFill>
                <a:latin typeface="Calibri"/>
              </a:defRPr>
            </a:pPr>
            <a:r>
              <a:t>•  Query tuning con PROFILE ed EXPLAIN</a:t>
            </a:r>
          </a:p>
          <a:p>
            <a:pPr algn="l">
              <a:spcAft>
                <a:spcPts val="1200"/>
              </a:spcAft>
              <a:defRPr sz="1400">
                <a:solidFill>
                  <a:srgbClr val="CCCCCC"/>
                </a:solidFill>
                <a:latin typeface="Calibri"/>
              </a:defRPr>
            </a:pPr>
            <a:r>
              <a:t>•  APOC: procedure standard di Neo4j</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ptIjPmYduDEihDAvnsmSINQ"/>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pMCiS0.yx0EOD8F1j3NQrHQ"/>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pzz079BM2o06hslZIU5JQRQ"/>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AWS Summit">
  <a:themeElements>
    <a:clrScheme name="Summits 2023">
      <a:dk1>
        <a:sysClr val="windowText" lastClr="000000"/>
      </a:dk1>
      <a:lt1>
        <a:sysClr val="window" lastClr="FFFFFF"/>
      </a:lt1>
      <a:dk2>
        <a:srgbClr val="000036"/>
      </a:dk2>
      <a:lt2>
        <a:srgbClr val="F2F4F4"/>
      </a:lt2>
      <a:accent1>
        <a:srgbClr val="289EFF"/>
      </a:accent1>
      <a:accent2>
        <a:srgbClr val="0D9F91"/>
      </a:accent2>
      <a:accent3>
        <a:srgbClr val="7E4FF3"/>
      </a:accent3>
      <a:accent4>
        <a:srgbClr val="DB2BB6"/>
      </a:accent4>
      <a:accent5>
        <a:srgbClr val="3B3BA8"/>
      </a:accent5>
      <a:accent6>
        <a:srgbClr val="FFAE00"/>
      </a:accent6>
      <a:hlink>
        <a:srgbClr val="289EFF"/>
      </a:hlink>
      <a:folHlink>
        <a:srgbClr val="289EFF"/>
      </a:folHlink>
    </a:clrScheme>
    <a:fontScheme name="Ember Display Heavy Normal">
      <a:majorFont>
        <a:latin typeface="Amazon Ember Display Heavy"/>
        <a:ea typeface=""/>
        <a:cs typeface=""/>
      </a:majorFont>
      <a:minorFont>
        <a:latin typeface="Amazon Ember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a:noFill/>
        </a:ln>
      </a:spPr>
      <a:bodyPr rtlCol="0" anchor="ctr"/>
      <a:lstStyle>
        <a:defPPr algn="ctr">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9050" cap="rnd">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rIns="0" rtlCol="0">
        <a:spAutoFit/>
      </a:bodyPr>
      <a:lstStyle>
        <a:defPPr algn="ctr">
          <a:defRPr dirty="0" err="1" smtClean="0"/>
        </a:defPPr>
      </a:lstStyle>
    </a:txDef>
  </a:objectDefaults>
  <a:extraClrSchemeLst/>
  <a:extLst>
    <a:ext uri="{05A4C25C-085E-4340-85A3-A5531E510DB2}">
      <thm15:themeFamily xmlns:thm15="http://schemas.microsoft.com/office/thememl/2012/main" name="Summits2023_Template_E5_20221104.potx" id="{A56BE9F4-D30D-4077-9DE6-56BC56D8BE09}" vid="{A27EAEEB-49CB-4ED0-B294-A2D0142F5203}"/>
    </a:ext>
  </a:extLst>
</a:theme>
</file>

<file path=docMetadata/LabelInfo.xml><?xml version="1.0" encoding="utf-8"?>
<clbl:labelList xmlns:clbl="http://schemas.microsoft.com/office/2020/mipLabelMetadata">
  <clbl:label id="{bb5d96ea-ab39-44a0-a6d6-b6f0aac5958b}" enabled="1" method="Privileged" siteId="{76a2ae5a-9f00-4f6b-95ed-5d33d77c4d61}" contentBits="0" removed="0"/>
</clbl:labelList>
</file>

<file path=docProps/app.xml><?xml version="1.0" encoding="utf-8"?>
<Properties xmlns="http://schemas.openxmlformats.org/officeDocument/2006/extended-properties" xmlns:vt="http://schemas.openxmlformats.org/officeDocument/2006/docPropsVTypes">
  <TotalTime>2</TotalTime>
  <Words>0</Words>
  <Application>Microsoft Office PowerPoint</Application>
  <PresentationFormat>Widescreen</PresentationFormat>
  <Paragraphs>0</Paragraphs>
  <Slides>1</Slides>
  <Notes>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1</vt:i4>
      </vt:variant>
    </vt:vector>
  </HeadingPairs>
  <TitlesOfParts>
    <vt:vector size="8" baseType="lpstr">
      <vt:lpstr>Amazon Ember Display</vt:lpstr>
      <vt:lpstr>Arial</vt:lpstr>
      <vt:lpstr>Helvetica Light</vt:lpstr>
      <vt:lpstr>Ubuntu</vt:lpstr>
      <vt:lpstr>Wingdings</vt:lpstr>
      <vt:lpstr>1_AWS Summit</vt:lpstr>
      <vt:lpstr>think-cell Slide</vt:lpstr>
      <vt:lpstr>PowerPoint Presentation</vt:lpstr>
    </vt:vector>
  </TitlesOfParts>
  <Company>Capgemini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BOCCHI, LEONARDO</dc:creator>
  <cp:lastModifiedBy>BOCCHI, LEONARDO</cp:lastModifiedBy>
  <cp:revision>1</cp:revision>
  <dcterms:created xsi:type="dcterms:W3CDTF">2026-07-10T07:18:38Z</dcterms:created>
  <dcterms:modified xsi:type="dcterms:W3CDTF">2026-07-10T07:20:50Z</dcterms:modified>
</cp:coreProperties>
</file>