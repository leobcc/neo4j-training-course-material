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xml"/><Relationship Id="rId4" Type="http://schemas.openxmlformats.org/officeDocument/2006/relationships/image" Target="../media/image4.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4.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emf"/></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5.emf"/><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oleObject" Target="../embeddings/oleObject3.bin"/><Relationship Id="rId5" Type="http://schemas.openxmlformats.org/officeDocument/2006/relationships/slideMaster" Target="../slideMasters/slideMaster1.xml"/><Relationship Id="rId4" Type="http://schemas.openxmlformats.org/officeDocument/2006/relationships/tags" Target="../tags/tag8.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4.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4.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4.emf"/></Relationships>
</file>

<file path=ppt/slideLayouts/_rels/slideLayout20.xml.rels><?xml version="1.0" encoding="UTF-8" standalone="yes"?>
<Relationships xmlns="http://schemas.openxmlformats.org/package/2006/relationships"><Relationship Id="rId2" Type="http://schemas.openxmlformats.org/officeDocument/2006/relationships/hyperlink" Target="https://www.capgemini.com/optimize-your-business-and-it-operations" TargetMode="External"/><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5" Type="http://schemas.openxmlformats.org/officeDocument/2006/relationships/image" Target="../media/image12.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 Id="rId14" Type="http://schemas.openxmlformats.org/officeDocument/2006/relationships/hyperlink" Target="http://www.capgemini.com/"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spTree>
      <p:nvGrpSpPr>
        <p:cNvPr id="1" name=""/>
        <p:cNvGrpSpPr/>
        <p:nvPr/>
      </p:nvGrpSpPr>
      <p:grpSpPr>
        <a:xfrm>
          <a:off x="0" y="0"/>
          <a:ext cx="0" cy="0"/>
          <a:chOff x="0" y="0"/>
          <a:chExt cx="0" cy="0"/>
        </a:xfrm>
      </p:grpSpPr>
      <p:pic>
        <p:nvPicPr>
          <p:cNvPr id="7" name="Content Placeholder 16">
            <a:extLst>
              <a:ext uri="{FF2B5EF4-FFF2-40B4-BE49-F238E27FC236}">
                <a16:creationId xmlns:a16="http://schemas.microsoft.com/office/drawing/2014/main" id="{810E1061-A44A-A554-F24D-33361C93E53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1279" r="18225"/>
          <a:stretch/>
        </p:blipFill>
        <p:spPr>
          <a:xfrm>
            <a:off x="6153150" y="1"/>
            <a:ext cx="6038850" cy="6858000"/>
          </a:xfrm>
          <a:prstGeom prst="rect">
            <a:avLst/>
          </a:prstGeom>
        </p:spPr>
      </p:pic>
      <p:pic>
        <p:nvPicPr>
          <p:cNvPr id="2" name="Picture 1" descr="A picture containing lamp&#10;&#10;Description automatically generated">
            <a:extLst>
              <a:ext uri="{FF2B5EF4-FFF2-40B4-BE49-F238E27FC236}">
                <a16:creationId xmlns:a16="http://schemas.microsoft.com/office/drawing/2014/main" id="{784FD2C4-7C76-FDA5-3DDA-6F3155DF7428}"/>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rot="3600000">
            <a:off x="611517" y="-2"/>
            <a:ext cx="9695699" cy="6858000"/>
          </a:xfrm>
          <a:prstGeom prst="rect">
            <a:avLst/>
          </a:prstGeom>
        </p:spPr>
      </p:pic>
      <p:sp>
        <p:nvSpPr>
          <p:cNvPr id="3" name="Title 1">
            <a:extLst>
              <a:ext uri="{FF2B5EF4-FFF2-40B4-BE49-F238E27FC236}">
                <a16:creationId xmlns:a16="http://schemas.microsoft.com/office/drawing/2014/main" id="{E93AA952-AC13-ABF0-FA1E-8CA3E3C3A877}"/>
              </a:ext>
            </a:extLst>
          </p:cNvPr>
          <p:cNvSpPr>
            <a:spLocks noGrp="1"/>
          </p:cNvSpPr>
          <p:nvPr>
            <p:ph type="ctrTitle" hasCustomPrompt="1"/>
          </p:nvPr>
        </p:nvSpPr>
        <p:spPr bwMode="invGray">
          <a:xfrm>
            <a:off x="191344" y="3287890"/>
            <a:ext cx="4494765"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3200" b="0" cap="all" baseline="0" dirty="0">
                <a:solidFill>
                  <a:schemeClr val="tx1"/>
                </a:solidFill>
                <a:latin typeface="Ubuntu" panose="020B0504030602030204" pitchFamily="34" charset="0"/>
              </a:defRPr>
            </a:lvl1pPr>
          </a:lstStyle>
          <a:p>
            <a:pPr marL="0" lvl="0"/>
            <a:r>
              <a:rPr lang="en-US"/>
              <a:t>SECTION TITLE ALL CAPS, LOREM IPSUM DOLOR AMET.</a:t>
            </a:r>
          </a:p>
        </p:txBody>
      </p:sp>
    </p:spTree>
    <p:extLst>
      <p:ext uri="{BB962C8B-B14F-4D97-AF65-F5344CB8AC3E}">
        <p14:creationId xmlns:p14="http://schemas.microsoft.com/office/powerpoint/2010/main" val="1741874436"/>
      </p:ext>
    </p:extLst>
  </p:cSld>
  <p:clrMapOvr>
    <a:masterClrMapping/>
  </p:clrMapOvr>
  <p:extLst>
    <p:ext uri="{DCECCB84-F9BA-43D5-87BE-67443E8EF086}">
      <p15:sldGuideLst xmlns:p15="http://schemas.microsoft.com/office/powerpoint/2012/main">
        <p15:guide id="1" orient="horz" pos="2376">
          <p15:clr>
            <a:srgbClr val="FBAE40"/>
          </p15:clr>
        </p15:guide>
        <p15:guide id="2" pos="3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220E46"/>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26313-2FA2-469F-957D-B5D4672A72D1}"/>
              </a:ext>
            </a:extLst>
          </p:cNvPr>
          <p:cNvSpPr>
            <a:spLocks noGrp="1"/>
          </p:cNvSpPr>
          <p:nvPr>
            <p:ph type="title" hasCustomPrompt="1"/>
          </p:nvPr>
        </p:nvSpPr>
        <p:spPr/>
        <p:txBody>
          <a:bodyPr/>
          <a:lstStyle>
            <a:lvl1pPr>
              <a:defRPr/>
            </a:lvl1pPr>
          </a:lstStyle>
          <a:p>
            <a:r>
              <a:rPr lang="en-US"/>
              <a:t>Title only layout</a:t>
            </a:r>
          </a:p>
        </p:txBody>
      </p:sp>
    </p:spTree>
    <p:extLst>
      <p:ext uri="{BB962C8B-B14F-4D97-AF65-F5344CB8AC3E}">
        <p14:creationId xmlns:p14="http://schemas.microsoft.com/office/powerpoint/2010/main" val="223048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04800" y="1899138"/>
            <a:ext cx="11582398" cy="1717393"/>
          </a:xfrm>
        </p:spPr>
        <p:txBody>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304799" y="822325"/>
            <a:ext cx="11582399" cy="424732"/>
          </a:xfrm>
          <a:prstGeom prst="rect">
            <a:avLst/>
          </a:prstGeom>
        </p:spPr>
        <p:txBody>
          <a:bodyPr anchor="ctr" anchorCtr="0"/>
          <a:lstStyle>
            <a:lvl1pPr marL="0" indent="0">
              <a:buNone/>
              <a:defRPr>
                <a:solidFill>
                  <a:srgbClr val="01AADD"/>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a:xfrm>
            <a:off x="304800" y="304801"/>
            <a:ext cx="11582400" cy="495300"/>
          </a:xfrm>
        </p:spPr>
        <p:txBody>
          <a:bodyPr anchor="ctr" anchorCtr="0"/>
          <a:lstStyle>
            <a:lvl1pPr>
              <a:defRPr sz="2800" cap="all" baseline="0"/>
            </a:lvl1pPr>
          </a:lstStyle>
          <a:p>
            <a:r>
              <a:rPr lang="en-US"/>
              <a:t>Click to edit Master title style</a:t>
            </a:r>
            <a:endParaRPr lang="de-DE"/>
          </a:p>
        </p:txBody>
      </p:sp>
    </p:spTree>
    <p:extLst>
      <p:ext uri="{BB962C8B-B14F-4D97-AF65-F5344CB8AC3E}">
        <p14:creationId xmlns:p14="http://schemas.microsoft.com/office/powerpoint/2010/main" val="338996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3" name="Parallelogram 2">
            <a:extLst>
              <a:ext uri="{FF2B5EF4-FFF2-40B4-BE49-F238E27FC236}">
                <a16:creationId xmlns:a16="http://schemas.microsoft.com/office/drawing/2014/main" id="{C7EC611B-E20B-F9F1-FC23-540C98C6B806}"/>
              </a:ext>
            </a:extLst>
          </p:cNvPr>
          <p:cNvSpPr/>
          <p:nvPr userDrawn="1"/>
        </p:nvSpPr>
        <p:spPr>
          <a:xfrm>
            <a:off x="7469900" y="-1"/>
            <a:ext cx="4722676" cy="6858001"/>
          </a:xfrm>
          <a:custGeom>
            <a:avLst/>
            <a:gdLst>
              <a:gd name="connsiteX0" fmla="*/ 0 w 4722101"/>
              <a:gd name="connsiteY0" fmla="*/ 6858001 h 6858001"/>
              <a:gd name="connsiteX1" fmla="*/ 1180525 w 4722101"/>
              <a:gd name="connsiteY1" fmla="*/ 0 h 6858001"/>
              <a:gd name="connsiteX2" fmla="*/ 4722101 w 4722101"/>
              <a:gd name="connsiteY2" fmla="*/ 0 h 6858001"/>
              <a:gd name="connsiteX3" fmla="*/ 3541576 w 4722101"/>
              <a:gd name="connsiteY3" fmla="*/ 6858001 h 6858001"/>
              <a:gd name="connsiteX4" fmla="*/ 0 w 4722101"/>
              <a:gd name="connsiteY4" fmla="*/ 6858001 h 6858001"/>
              <a:gd name="connsiteX0" fmla="*/ 0 w 4722676"/>
              <a:gd name="connsiteY0" fmla="*/ 6858001 h 6858001"/>
              <a:gd name="connsiteX1" fmla="*/ 1180525 w 4722676"/>
              <a:gd name="connsiteY1" fmla="*/ 0 h 6858001"/>
              <a:gd name="connsiteX2" fmla="*/ 4722101 w 4722676"/>
              <a:gd name="connsiteY2" fmla="*/ 0 h 6858001"/>
              <a:gd name="connsiteX3" fmla="*/ 4722676 w 4722676"/>
              <a:gd name="connsiteY3" fmla="*/ 6858001 h 6858001"/>
              <a:gd name="connsiteX4" fmla="*/ 0 w 4722676"/>
              <a:gd name="connsiteY4" fmla="*/ 6858001 h 68580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22676" h="6858001">
                <a:moveTo>
                  <a:pt x="0" y="6858001"/>
                </a:moveTo>
                <a:lnTo>
                  <a:pt x="1180525" y="0"/>
                </a:lnTo>
                <a:lnTo>
                  <a:pt x="4722101" y="0"/>
                </a:lnTo>
                <a:cubicBezTo>
                  <a:pt x="4722293" y="2286000"/>
                  <a:pt x="4722484" y="4572001"/>
                  <a:pt x="4722676" y="6858001"/>
                </a:cubicBezTo>
                <a:lnTo>
                  <a:pt x="0" y="6858001"/>
                </a:lnTo>
                <a:close/>
              </a:path>
            </a:pathLst>
          </a:custGeom>
          <a:gradFill flip="none" rotWithShape="1">
            <a:gsLst>
              <a:gs pos="0">
                <a:srgbClr val="C51248"/>
              </a:gs>
              <a:gs pos="50000">
                <a:srgbClr val="512677"/>
              </a:gs>
              <a:gs pos="100000">
                <a:srgbClr val="2C2A7A"/>
              </a:gs>
            </a:gsLst>
            <a:path path="circle">
              <a:fillToRect l="100000" b="100000"/>
            </a:path>
            <a:tileRect t="-100000" r="-100000"/>
          </a:gra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it-IT" sz="3200" b="0" i="0" u="none" strike="noStrike" cap="none" spc="0" normalizeH="0" baseline="0">
              <a:ln>
                <a:noFill/>
              </a:ln>
              <a:solidFill>
                <a:srgbClr val="FFFFFF"/>
              </a:solidFill>
              <a:effectLst/>
              <a:uFillTx/>
              <a:latin typeface="Helvetica Light"/>
              <a:ea typeface="Helvetica Light"/>
              <a:cs typeface="Helvetica Light"/>
              <a:sym typeface="Helvetica Light"/>
            </a:endParaRP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87694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rgbClr val="24134F"/>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29383165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userDrawn="1"/>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userDrawn="1"/>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Tree>
    <p:extLst>
      <p:ext uri="{BB962C8B-B14F-4D97-AF65-F5344CB8AC3E}">
        <p14:creationId xmlns:p14="http://schemas.microsoft.com/office/powerpoint/2010/main" val="2352832821"/>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1132199565"/>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userDrawn="1"/>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userDrawn="1"/>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Tree>
    <p:extLst>
      <p:ext uri="{BB962C8B-B14F-4D97-AF65-F5344CB8AC3E}">
        <p14:creationId xmlns:p14="http://schemas.microsoft.com/office/powerpoint/2010/main" val="2664802671"/>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4">
    <p:bg>
      <p:bgPr>
        <a:solidFill>
          <a:srgbClr val="E6E7E7"/>
        </a:solidFill>
        <a:effectLst/>
      </p:bgPr>
    </p:bg>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userDrawn="1"/>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err="1"/>
              <a:t>Cliquez</a:t>
            </a:r>
            <a:r>
              <a:rPr lang="en-US"/>
              <a:t> sur </a:t>
            </a:r>
            <a:r>
              <a:rPr lang="en-US" err="1"/>
              <a:t>l'icône</a:t>
            </a:r>
            <a:r>
              <a:rPr lang="en-US"/>
              <a:t> pour </a:t>
            </a:r>
            <a:r>
              <a:rPr lang="en-US" err="1"/>
              <a:t>ajouter</a:t>
            </a:r>
            <a:r>
              <a:rPr lang="en-US"/>
              <a:t> </a:t>
            </a:r>
            <a:r>
              <a:rPr lang="en-US" err="1"/>
              <a:t>une</a:t>
            </a:r>
            <a:r>
              <a:rPr lang="en-US"/>
              <a:t> image</a:t>
            </a:r>
          </a:p>
        </p:txBody>
      </p:sp>
      <p:grpSp>
        <p:nvGrpSpPr>
          <p:cNvPr id="17" name="Group 14"/>
          <p:cNvGrpSpPr>
            <a:grpSpLocks noChangeAspect="1"/>
          </p:cNvGrpSpPr>
          <p:nvPr userDrawn="1"/>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defTabSz="914400"/>
              <a:endParaRPr lang="en-US">
                <a:solidFill>
                  <a:prstClr val="black"/>
                </a:solidFill>
              </a:endParaRPr>
            </a:p>
          </p:txBody>
        </p:sp>
      </p:grpSp>
    </p:spTree>
    <p:extLst>
      <p:ext uri="{BB962C8B-B14F-4D97-AF65-F5344CB8AC3E}">
        <p14:creationId xmlns:p14="http://schemas.microsoft.com/office/powerpoint/2010/main" val="1503174146"/>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ontent &amp; Headin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4" y="4"/>
          <a:ext cx="180998" cy="143985"/>
        </p:xfrm>
        <a:graphic>
          <a:graphicData uri="http://schemas.openxmlformats.org/presentationml/2006/ole">
            <mc:AlternateContent xmlns:mc="http://schemas.openxmlformats.org/markup-compatibility/2006">
              <mc:Choice xmlns:v="urn:schemas-microsoft-com:vml" Requires="v">
                <p:oleObj name="think-cell Slide" r:id="rId6" imgW="360" imgH="360" progId="">
                  <p:embed/>
                </p:oleObj>
              </mc:Choice>
              <mc:Fallback>
                <p:oleObj name="think-cell Slide" r:id="rId6" imgW="360" imgH="360" progId="">
                  <p:embed/>
                  <p:pic>
                    <p:nvPicPr>
                      <p:cNvPr id="4" name="Object 3" hidden="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 y="4"/>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2"/>
            </p:custDataLst>
          </p:nvPr>
        </p:nvSpPr>
        <p:spPr/>
        <p:txBody>
          <a:bodyPr/>
          <a:lstStyle>
            <a:lvl1pPr>
              <a:defRPr>
                <a:solidFill>
                  <a:schemeClr val="tx1"/>
                </a:solidFill>
              </a:defRPr>
            </a:lvl1pPr>
          </a:lstStyle>
          <a:p>
            <a:r>
              <a:rPr lang="en-US" noProof="0"/>
              <a:t>Click to edit Master title style</a:t>
            </a:r>
            <a:endParaRPr lang="en-US"/>
          </a:p>
        </p:txBody>
      </p:sp>
      <p:sp>
        <p:nvSpPr>
          <p:cNvPr id="3" name="Content Placeholder 2"/>
          <p:cNvSpPr>
            <a:spLocks noGrp="1"/>
          </p:cNvSpPr>
          <p:nvPr>
            <p:ph idx="1"/>
            <p:custDataLst>
              <p:tags r:id="rId3"/>
            </p:custDataLst>
          </p:nvPr>
        </p:nvSpPr>
        <p:spPr>
          <a:xfrm>
            <a:off x="420081" y="1882776"/>
            <a:ext cx="11351847" cy="4384675"/>
          </a:xfrm>
        </p:spPr>
        <p:txBody>
          <a:bodyPr/>
          <a:lstStyle>
            <a:lvl1pPr>
              <a:defRPr b="0"/>
            </a:lvl1pPr>
            <a:lvl2pPr marL="457083" indent="-223781">
              <a:defRPr/>
            </a:lvl2pPr>
            <a:lvl3pPr>
              <a:defRPr/>
            </a:lvl3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
        <p:nvSpPr>
          <p:cNvPr id="8" name="Espace réservé du texte 7"/>
          <p:cNvSpPr>
            <a:spLocks noGrp="1"/>
          </p:cNvSpPr>
          <p:nvPr>
            <p:ph type="body" sz="quarter" idx="11"/>
            <p:custDataLst>
              <p:tags r:id="rId4"/>
            </p:custDataLst>
          </p:nvPr>
        </p:nvSpPr>
        <p:spPr>
          <a:xfrm>
            <a:off x="420081" y="1309688"/>
            <a:ext cx="11351847" cy="548640"/>
          </a:xfrm>
        </p:spPr>
        <p:txBody>
          <a:bodyPr/>
          <a:lstStyle>
            <a:lvl1pPr marL="0" indent="0">
              <a:buNone/>
              <a:defRPr sz="2000" b="1">
                <a:solidFill>
                  <a:srgbClr val="E47E1A"/>
                </a:solidFill>
              </a:defRPr>
            </a:lvl1pPr>
          </a:lstStyle>
          <a:p>
            <a:pPr lvl="0"/>
            <a:r>
              <a:rPr lang="en-US"/>
              <a:t>Click to edit Master text styles</a:t>
            </a:r>
          </a:p>
        </p:txBody>
      </p:sp>
    </p:spTree>
    <p:extLst>
      <p:ext uri="{BB962C8B-B14F-4D97-AF65-F5344CB8AC3E}">
        <p14:creationId xmlns:p14="http://schemas.microsoft.com/office/powerpoint/2010/main" val="3509918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Big Table">
    <p:spTree>
      <p:nvGrpSpPr>
        <p:cNvPr id="1" name=""/>
        <p:cNvGrpSpPr/>
        <p:nvPr/>
      </p:nvGrpSpPr>
      <p:grpSpPr>
        <a:xfrm>
          <a:off x="0" y="0"/>
          <a:ext cx="0" cy="0"/>
          <a:chOff x="0" y="0"/>
          <a:chExt cx="0" cy="0"/>
        </a:xfrm>
      </p:grpSpPr>
      <p:sp>
        <p:nvSpPr>
          <p:cNvPr id="6" name="Retângulo 43">
            <a:extLst>
              <a:ext uri="{FF2B5EF4-FFF2-40B4-BE49-F238E27FC236}">
                <a16:creationId xmlns:a16="http://schemas.microsoft.com/office/drawing/2014/main" id="{25FC8637-25BD-4C09-AF25-56B4243DAB3D}"/>
              </a:ext>
            </a:extLst>
          </p:cNvPr>
          <p:cNvSpPr/>
          <p:nvPr userDrawn="1"/>
        </p:nvSpPr>
        <p:spPr>
          <a:xfrm>
            <a:off x="6924021" y="6592810"/>
            <a:ext cx="242375" cy="215444"/>
          </a:xfrm>
          <a:prstGeom prst="rect">
            <a:avLst/>
          </a:prstGeom>
        </p:spPr>
        <p:txBody>
          <a:bodyPr wrap="none">
            <a:spAutoFit/>
          </a:bodyPr>
          <a:lstStyle/>
          <a:p>
            <a:pPr algn="r" defTabSz="914400"/>
            <a:fld id="{0502E5A9-B53C-401E-A0E0-4A359BB0A9E5}" type="slidenum">
              <a:rPr lang="en-US" sz="800" smtClean="0">
                <a:solidFill>
                  <a:prstClr val="black">
                    <a:lumMod val="50000"/>
                    <a:lumOff val="50000"/>
                  </a:prstClr>
                </a:solidFill>
                <a:cs typeface="Arial" panose="020B0604020202020204" pitchFamily="34" charset="0"/>
              </a:rPr>
              <a:pPr algn="r" defTabSz="914400"/>
              <a:t>‹#›</a:t>
            </a:fld>
            <a:endParaRPr lang="en-US" sz="80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defTabSz="914400">
              <a:lnSpc>
                <a:spcPct val="85000"/>
              </a:lnSpc>
              <a:defRPr/>
            </a:pPr>
            <a:r>
              <a:rPr lang="en-US" sz="800" kern="0">
                <a:solidFill>
                  <a:srgbClr val="00458D"/>
                </a:solidFill>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defTabSz="914400"/>
            <a:r>
              <a:rPr lang="en-US" sz="800">
                <a:solidFill>
                  <a:srgbClr val="E6E7E7">
                    <a:lumMod val="50000"/>
                  </a:srgbClr>
                </a:solidFill>
                <a:cs typeface="Arial" panose="020B0604020202020204" pitchFamily="34" charset="0"/>
              </a:rPr>
              <a:t>© 2017 Capgemini. All rights reserved.</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b="0" i="0" dirty="0">
                <a:latin typeface="+mn-lt"/>
              </a:defRPr>
            </a:lvl1pPr>
          </a:lstStyle>
          <a:p>
            <a:pPr lvl="0">
              <a:lnSpc>
                <a:spcPts val="3000"/>
              </a:lnSpc>
            </a:pPr>
            <a:r>
              <a:rPr lang="en-US"/>
              <a:t>Click to add title</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t="-5676"/>
          <a:stretch/>
        </p:blipFill>
        <p:spPr>
          <a:xfrm>
            <a:off x="11635686" y="6398376"/>
            <a:ext cx="424356" cy="459624"/>
          </a:xfrm>
          <a:prstGeom prst="rect">
            <a:avLst/>
          </a:prstGeom>
        </p:spPr>
      </p:pic>
      <p:sp>
        <p:nvSpPr>
          <p:cNvPr id="14" name="Text Placeholder 2"/>
          <p:cNvSpPr>
            <a:spLocks noGrp="1"/>
          </p:cNvSpPr>
          <p:nvPr>
            <p:ph idx="1"/>
          </p:nvPr>
        </p:nvSpPr>
        <p:spPr>
          <a:xfrm>
            <a:off x="413067" y="1412875"/>
            <a:ext cx="11370945" cy="5040313"/>
          </a:xfrm>
          <a:prstGeom prst="rect">
            <a:avLst/>
          </a:prstGeom>
        </p:spPr>
        <p:txBody>
          <a:bodyPr vert="horz" lIns="0" tIns="0" rIns="0" bIns="0" rtlCol="0">
            <a:normAutofit/>
          </a:bodyPr>
          <a:lstStyle>
            <a:lvl1pPr>
              <a:defRPr lang="en-US" dirty="0">
                <a:latin typeface="+mn-lt"/>
                <a:ea typeface="+mn-ea"/>
                <a:cs typeface="+mn-cs"/>
              </a:defRPr>
            </a:lvl1pPr>
            <a:lvl2pPr>
              <a:defRPr lang="en-US" dirty="0">
                <a:latin typeface="+mn-lt"/>
                <a:ea typeface="+mn-ea"/>
                <a:cs typeface="+mn-cs"/>
              </a:defRPr>
            </a:lvl2pPr>
            <a:lvl3pPr>
              <a:defRPr lang="en-US" dirty="0">
                <a:latin typeface="+mn-lt"/>
                <a:ea typeface="+mn-ea"/>
                <a:cs typeface="+mn-cs"/>
              </a:defRPr>
            </a:lvl3pPr>
            <a:lvl4pPr>
              <a:defRPr lang="en-US" dirty="0">
                <a:latin typeface="+mn-lt"/>
                <a:ea typeface="+mn-ea"/>
                <a:cs typeface="+mn-cs"/>
              </a:defRPr>
            </a:lvl4pPr>
          </a:lstStyle>
          <a:p>
            <a:pPr lvl="0">
              <a:lnSpc>
                <a:spcPts val="2200"/>
              </a:lnSpc>
              <a:spcBef>
                <a:spcPts val="0"/>
              </a:spcBef>
              <a:spcAft>
                <a:spcPts val="600"/>
              </a:spcAft>
            </a:pPr>
            <a:r>
              <a:rPr lang="en-US"/>
              <a:t>Edit Master text styles</a:t>
            </a:r>
          </a:p>
          <a:p>
            <a:pPr marL="233363" lvl="1">
              <a:lnSpc>
                <a:spcPts val="2000"/>
              </a:lnSpc>
              <a:spcBef>
                <a:spcPts val="0"/>
              </a:spcBef>
              <a:spcAft>
                <a:spcPts val="600"/>
              </a:spcAft>
              <a:buClr>
                <a:schemeClr val="accent1"/>
              </a:buClr>
              <a:buFont typeface="Wingdings" panose="05000000000000000000" pitchFamily="2" charset="2"/>
              <a:buChar char="§"/>
            </a:pPr>
            <a:r>
              <a:rPr lang="en-US"/>
              <a:t>Second level</a:t>
            </a:r>
          </a:p>
          <a:p>
            <a:pPr marL="457200" lvl="2" indent="-223838">
              <a:lnSpc>
                <a:spcPts val="1600"/>
              </a:lnSpc>
              <a:spcBef>
                <a:spcPts val="0"/>
              </a:spcBef>
              <a:spcAft>
                <a:spcPts val="600"/>
              </a:spcAft>
              <a:buClr>
                <a:schemeClr val="accent1"/>
              </a:buClr>
            </a:pPr>
            <a:r>
              <a:rPr lang="en-US"/>
              <a:t>Third level</a:t>
            </a:r>
          </a:p>
          <a:p>
            <a:pPr marL="690563" lvl="3" indent="-233363">
              <a:spcBef>
                <a:spcPts val="0"/>
              </a:spcBef>
              <a:spcAft>
                <a:spcPts val="600"/>
              </a:spcAft>
              <a:buClr>
                <a:schemeClr val="accent1"/>
              </a:buClr>
              <a:buChar char="‒"/>
            </a:pPr>
            <a:r>
              <a:rPr lang="en-US"/>
              <a:t>Fourth level</a:t>
            </a:r>
          </a:p>
        </p:txBody>
      </p:sp>
    </p:spTree>
    <p:extLst>
      <p:ext uri="{BB962C8B-B14F-4D97-AF65-F5344CB8AC3E}">
        <p14:creationId xmlns:p14="http://schemas.microsoft.com/office/powerpoint/2010/main" val="243245036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Diapositiva titolo">
    <p:bg>
      <p:bgRef idx="1001">
        <a:schemeClr val="bg1"/>
      </p:bgRef>
    </p:bg>
    <p:spTree>
      <p:nvGrpSpPr>
        <p:cNvPr id="1" name=""/>
        <p:cNvGrpSpPr/>
        <p:nvPr/>
      </p:nvGrpSpPr>
      <p:grpSpPr>
        <a:xfrm>
          <a:off x="0" y="0"/>
          <a:ext cx="0" cy="0"/>
          <a:chOff x="0" y="0"/>
          <a:chExt cx="0" cy="0"/>
        </a:xfrm>
      </p:grpSpPr>
      <p:sp>
        <p:nvSpPr>
          <p:cNvPr id="2" name="Titolo 1"/>
          <p:cNvSpPr>
            <a:spLocks noGrp="1"/>
          </p:cNvSpPr>
          <p:nvPr>
            <p:ph type="ctrTitle" hasCustomPrompt="1"/>
          </p:nvPr>
        </p:nvSpPr>
        <p:spPr>
          <a:xfrm>
            <a:off x="2816555" y="2294992"/>
            <a:ext cx="8944075" cy="615552"/>
          </a:xfrm>
          <a:prstGeom prst="rect">
            <a:avLst/>
          </a:prstGeom>
        </p:spPr>
        <p:txBody>
          <a:bodyPr lIns="0" bIns="0"/>
          <a:lstStyle>
            <a:lvl1pPr>
              <a:defRPr>
                <a:solidFill>
                  <a:srgbClr val="C3231E"/>
                </a:solidFill>
              </a:defRPr>
            </a:lvl1pPr>
          </a:lstStyle>
          <a:p>
            <a:r>
              <a:rPr lang="en-US" noProof="0"/>
              <a:t>Presentation title</a:t>
            </a:r>
          </a:p>
        </p:txBody>
      </p:sp>
      <p:sp>
        <p:nvSpPr>
          <p:cNvPr id="3" name="Sottotitolo 2"/>
          <p:cNvSpPr>
            <a:spLocks noGrp="1"/>
          </p:cNvSpPr>
          <p:nvPr>
            <p:ph type="subTitle" idx="1" hasCustomPrompt="1"/>
          </p:nvPr>
        </p:nvSpPr>
        <p:spPr>
          <a:xfrm>
            <a:off x="2816555" y="2930059"/>
            <a:ext cx="8944075" cy="345637"/>
          </a:xfrm>
          <a:prstGeom prst="rect">
            <a:avLst/>
          </a:prstGeom>
        </p:spPr>
        <p:txBody>
          <a:bodyPr lIns="0" rIns="0" bIns="0" anchor="t"/>
          <a:lstStyle>
            <a:lvl1pPr marL="0" indent="0" algn="l">
              <a:buNone/>
              <a:defRPr>
                <a:solidFill>
                  <a:srgbClr val="6E6E6E"/>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noProof="0"/>
              <a:t>Possible subtitle of the presentation</a:t>
            </a:r>
          </a:p>
        </p:txBody>
      </p:sp>
      <p:sp>
        <p:nvSpPr>
          <p:cNvPr id="15" name="Segnaposto testo 14"/>
          <p:cNvSpPr>
            <a:spLocks noGrp="1"/>
          </p:cNvSpPr>
          <p:nvPr>
            <p:ph type="body" sz="quarter" idx="13" hasCustomPrompt="1"/>
          </p:nvPr>
        </p:nvSpPr>
        <p:spPr>
          <a:xfrm>
            <a:off x="2816555" y="4725144"/>
            <a:ext cx="3149600" cy="457200"/>
          </a:xfrm>
          <a:prstGeom prst="rect">
            <a:avLst/>
          </a:prstGeom>
        </p:spPr>
        <p:txBody>
          <a:bodyPr vert="horz" lIns="0" tIns="0" rIns="0" bIns="0"/>
          <a:lstStyle>
            <a:lvl1pPr>
              <a:defRPr sz="1600">
                <a:solidFill>
                  <a:srgbClr val="6E6E6E"/>
                </a:solidFill>
              </a:defRPr>
            </a:lvl1pPr>
          </a:lstStyle>
          <a:p>
            <a:pPr lvl="0"/>
            <a:r>
              <a:rPr lang="en-US" noProof="0"/>
              <a:t>Name and title </a:t>
            </a:r>
          </a:p>
        </p:txBody>
      </p:sp>
      <p:sp>
        <p:nvSpPr>
          <p:cNvPr id="8" name="Segnaposto testo 7"/>
          <p:cNvSpPr>
            <a:spLocks noGrp="1"/>
          </p:cNvSpPr>
          <p:nvPr>
            <p:ph type="body" sz="quarter" idx="14" hasCustomPrompt="1"/>
          </p:nvPr>
        </p:nvSpPr>
        <p:spPr>
          <a:xfrm>
            <a:off x="2817283" y="5311357"/>
            <a:ext cx="3148871" cy="344806"/>
          </a:xfrm>
          <a:prstGeom prst="rect">
            <a:avLst/>
          </a:prstGeom>
        </p:spPr>
        <p:txBody>
          <a:bodyPr vert="horz" lIns="0" rIns="0"/>
          <a:lstStyle>
            <a:lvl1pPr>
              <a:defRPr>
                <a:solidFill>
                  <a:srgbClr val="C3231E"/>
                </a:solidFill>
              </a:defRPr>
            </a:lvl1pPr>
            <a:lvl2pPr>
              <a:defRPr>
                <a:solidFill>
                  <a:srgbClr val="C3231E"/>
                </a:solidFill>
              </a:defRPr>
            </a:lvl2pPr>
            <a:lvl3pPr>
              <a:defRPr>
                <a:solidFill>
                  <a:srgbClr val="C3231E"/>
                </a:solidFill>
              </a:defRPr>
            </a:lvl3pPr>
            <a:lvl4pPr>
              <a:defRPr>
                <a:solidFill>
                  <a:srgbClr val="C3231E"/>
                </a:solidFill>
              </a:defRPr>
            </a:lvl4pPr>
            <a:lvl5pPr>
              <a:defRPr>
                <a:solidFill>
                  <a:srgbClr val="C3231E"/>
                </a:solidFill>
              </a:defRPr>
            </a:lvl5pPr>
          </a:lstStyle>
          <a:p>
            <a:pPr lvl="0"/>
            <a:r>
              <a:rPr lang="en-US" noProof="0"/>
              <a:t>City, Nation</a:t>
            </a:r>
          </a:p>
        </p:txBody>
      </p:sp>
      <p:sp>
        <p:nvSpPr>
          <p:cNvPr id="10" name="Segnaposto testo 9"/>
          <p:cNvSpPr>
            <a:spLocks noGrp="1"/>
          </p:cNvSpPr>
          <p:nvPr>
            <p:ph type="body" sz="quarter" idx="16" hasCustomPrompt="1"/>
          </p:nvPr>
        </p:nvSpPr>
        <p:spPr>
          <a:xfrm>
            <a:off x="2841601" y="5943600"/>
            <a:ext cx="9374716" cy="288000"/>
          </a:xfrm>
          <a:prstGeom prst="rect">
            <a:avLst/>
          </a:prstGeom>
        </p:spPr>
        <p:txBody>
          <a:bodyPr vert="horz" wrap="none" lIns="0" tIns="0" rIns="0" bIns="0" anchor="ctr" anchorCtr="0"/>
          <a:lstStyle>
            <a:lvl1pPr marL="342900" marR="0" indent="-342900" algn="l" defTabSz="457200" rtl="0" eaLnBrk="1" fontAlgn="auto" latinLnBrk="0" hangingPunct="1">
              <a:lnSpc>
                <a:spcPct val="100000"/>
              </a:lnSpc>
              <a:spcBef>
                <a:spcPct val="20000"/>
              </a:spcBef>
              <a:spcAft>
                <a:spcPts val="0"/>
              </a:spcAft>
              <a:buClrTx/>
              <a:buSzTx/>
              <a:buFont typeface="Arial"/>
              <a:buNone/>
              <a:tabLst/>
              <a:defRPr sz="800"/>
            </a:lvl1pPr>
          </a:lstStyle>
          <a:p>
            <a:pPr marL="342900" marR="0" lvl="0" indent="-342900" algn="l" defTabSz="457200" rtl="0" eaLnBrk="1" fontAlgn="auto" latinLnBrk="0" hangingPunct="1">
              <a:lnSpc>
                <a:spcPct val="100000"/>
              </a:lnSpc>
              <a:spcBef>
                <a:spcPct val="20000"/>
              </a:spcBef>
              <a:spcAft>
                <a:spcPts val="0"/>
              </a:spcAft>
              <a:buClrTx/>
              <a:buSzTx/>
              <a:buFont typeface="Arial"/>
              <a:buNone/>
              <a:tabLst/>
              <a:defRPr/>
            </a:pPr>
            <a:r>
              <a:rPr lang="en-US" noProof="0"/>
              <a:t>Contains confidential proprietary and trade secrets information of CNH Industrial. Any use of this work without express written consent is strictly prohibited.</a:t>
            </a:r>
          </a:p>
          <a:p>
            <a:pPr lvl="0"/>
            <a:endParaRPr lang="en-US" noProof="0"/>
          </a:p>
        </p:txBody>
      </p:sp>
      <p:sp>
        <p:nvSpPr>
          <p:cNvPr id="14" name="Segnaposto testo 13"/>
          <p:cNvSpPr>
            <a:spLocks noGrp="1"/>
          </p:cNvSpPr>
          <p:nvPr>
            <p:ph type="body" sz="quarter" idx="17" hasCustomPrompt="1"/>
          </p:nvPr>
        </p:nvSpPr>
        <p:spPr>
          <a:xfrm>
            <a:off x="2817283" y="5689600"/>
            <a:ext cx="3148871" cy="228600"/>
          </a:xfrm>
          <a:prstGeom prst="rect">
            <a:avLst/>
          </a:prstGeom>
        </p:spPr>
        <p:txBody>
          <a:bodyPr vert="horz" lIns="0" tIns="0" rIns="0" bIns="0"/>
          <a:lstStyle>
            <a:lvl1pPr>
              <a:defRPr>
                <a:solidFill>
                  <a:srgbClr val="6E6E6E"/>
                </a:solidFill>
              </a:defRPr>
            </a:lvl1pPr>
          </a:lstStyle>
          <a:p>
            <a:r>
              <a:rPr lang="en-US" sz="1200" noProof="0">
                <a:solidFill>
                  <a:srgbClr val="6E6E6E"/>
                </a:solidFill>
                <a:latin typeface="Arial"/>
                <a:cs typeface="Arial"/>
              </a:rPr>
              <a:t>May 5th, 2017</a:t>
            </a:r>
          </a:p>
        </p:txBody>
      </p:sp>
    </p:spTree>
    <p:extLst>
      <p:ext uri="{BB962C8B-B14F-4D97-AF65-F5344CB8AC3E}">
        <p14:creationId xmlns:p14="http://schemas.microsoft.com/office/powerpoint/2010/main" val="392806277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2010606"/>
            <a:ext cx="5543551"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2010606"/>
            <a:ext cx="5516444"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insert title</a:t>
            </a:r>
            <a:endParaRPr lang="pt-PT"/>
          </a:p>
        </p:txBody>
      </p:sp>
    </p:spTree>
    <p:extLst>
      <p:ext uri="{BB962C8B-B14F-4D97-AF65-F5344CB8AC3E}">
        <p14:creationId xmlns:p14="http://schemas.microsoft.com/office/powerpoint/2010/main" val="135493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Slide 1">
    <p:bg>
      <p:bgPr>
        <a:solidFill>
          <a:srgbClr val="E6E7E7"/>
        </a:solidFill>
        <a:effectLst/>
      </p:bgPr>
    </p:bg>
    <p:spTree>
      <p:nvGrpSpPr>
        <p:cNvPr id="1" name=""/>
        <p:cNvGrpSpPr/>
        <p:nvPr/>
      </p:nvGrpSpPr>
      <p:grpSpPr>
        <a:xfrm>
          <a:off x="0" y="0"/>
          <a:ext cx="0" cy="0"/>
          <a:chOff x="0" y="0"/>
          <a:chExt cx="0" cy="0"/>
        </a:xfrm>
      </p:grpSpPr>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7" name="Object 6"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079" name="Freeform 7"/>
          <p:cNvSpPr>
            <a:spLocks/>
          </p:cNvSpPr>
          <p:nvPr userDrawn="1"/>
        </p:nvSpPr>
        <p:spPr bwMode="auto">
          <a:xfrm>
            <a:off x="5137150" y="0"/>
            <a:ext cx="7054850" cy="6854825"/>
          </a:xfrm>
          <a:custGeom>
            <a:avLst/>
            <a:gdLst/>
            <a:ahLst/>
            <a:cxnLst>
              <a:cxn ang="0">
                <a:pos x="4444" y="0"/>
              </a:cxn>
              <a:cxn ang="0">
                <a:pos x="4444" y="32"/>
              </a:cxn>
              <a:cxn ang="0">
                <a:pos x="4444" y="4292"/>
              </a:cxn>
              <a:cxn ang="0">
                <a:pos x="4440" y="4306"/>
              </a:cxn>
              <a:cxn ang="0">
                <a:pos x="4426" y="4314"/>
              </a:cxn>
              <a:cxn ang="0">
                <a:pos x="4326" y="4318"/>
              </a:cxn>
              <a:cxn ang="0">
                <a:pos x="4228" y="4310"/>
              </a:cxn>
              <a:cxn ang="0">
                <a:pos x="4076" y="4282"/>
              </a:cxn>
              <a:cxn ang="0">
                <a:pos x="3928" y="4240"/>
              </a:cxn>
              <a:cxn ang="0">
                <a:pos x="3740" y="4170"/>
              </a:cxn>
              <a:cxn ang="0">
                <a:pos x="3474" y="4042"/>
              </a:cxn>
              <a:cxn ang="0">
                <a:pos x="3216" y="3896"/>
              </a:cxn>
              <a:cxn ang="0">
                <a:pos x="3024" y="3772"/>
              </a:cxn>
              <a:cxn ang="0">
                <a:pos x="2704" y="3544"/>
              </a:cxn>
              <a:cxn ang="0">
                <a:pos x="2396" y="3300"/>
              </a:cxn>
              <a:cxn ang="0">
                <a:pos x="2180" y="3116"/>
              </a:cxn>
              <a:cxn ang="0">
                <a:pos x="2256" y="2964"/>
              </a:cxn>
              <a:cxn ang="0">
                <a:pos x="2286" y="2890"/>
              </a:cxn>
              <a:cxn ang="0">
                <a:pos x="2322" y="2774"/>
              </a:cxn>
              <a:cxn ang="0">
                <a:pos x="2338" y="2654"/>
              </a:cxn>
              <a:cxn ang="0">
                <a:pos x="2336" y="2562"/>
              </a:cxn>
              <a:cxn ang="0">
                <a:pos x="2306" y="2432"/>
              </a:cxn>
              <a:cxn ang="0">
                <a:pos x="2242" y="2310"/>
              </a:cxn>
              <a:cxn ang="0">
                <a:pos x="2188" y="2238"/>
              </a:cxn>
              <a:cxn ang="0">
                <a:pos x="2092" y="2144"/>
              </a:cxn>
              <a:cxn ang="0">
                <a:pos x="1986" y="2062"/>
              </a:cxn>
              <a:cxn ang="0">
                <a:pos x="1878" y="1990"/>
              </a:cxn>
              <a:cxn ang="0">
                <a:pos x="1712" y="1894"/>
              </a:cxn>
              <a:cxn ang="0">
                <a:pos x="1538" y="1808"/>
              </a:cxn>
              <a:cxn ang="0">
                <a:pos x="1156" y="1640"/>
              </a:cxn>
              <a:cxn ang="0">
                <a:pos x="710" y="1446"/>
              </a:cxn>
              <a:cxn ang="0">
                <a:pos x="524" y="1350"/>
              </a:cxn>
              <a:cxn ang="0">
                <a:pos x="354" y="1230"/>
              </a:cxn>
              <a:cxn ang="0">
                <a:pos x="262" y="1144"/>
              </a:cxn>
              <a:cxn ang="0">
                <a:pos x="158" y="1020"/>
              </a:cxn>
              <a:cxn ang="0">
                <a:pos x="80" y="884"/>
              </a:cxn>
              <a:cxn ang="0">
                <a:pos x="28" y="740"/>
              </a:cxn>
              <a:cxn ang="0">
                <a:pos x="2" y="584"/>
              </a:cxn>
              <a:cxn ang="0">
                <a:pos x="4" y="418"/>
              </a:cxn>
              <a:cxn ang="0">
                <a:pos x="18" y="314"/>
              </a:cxn>
              <a:cxn ang="0">
                <a:pos x="58" y="162"/>
              </a:cxn>
              <a:cxn ang="0">
                <a:pos x="118" y="16"/>
              </a:cxn>
              <a:cxn ang="0">
                <a:pos x="122" y="0"/>
              </a:cxn>
            </a:cxnLst>
            <a:rect l="0" t="0" r="r" b="b"/>
            <a:pathLst>
              <a:path w="4444" h="4318">
                <a:moveTo>
                  <a:pt x="122" y="0"/>
                </a:moveTo>
                <a:lnTo>
                  <a:pt x="122" y="0"/>
                </a:lnTo>
                <a:lnTo>
                  <a:pt x="4444" y="0"/>
                </a:lnTo>
                <a:lnTo>
                  <a:pt x="4444" y="0"/>
                </a:lnTo>
                <a:lnTo>
                  <a:pt x="4444" y="32"/>
                </a:lnTo>
                <a:lnTo>
                  <a:pt x="4444" y="32"/>
                </a:lnTo>
                <a:lnTo>
                  <a:pt x="4444" y="4272"/>
                </a:lnTo>
                <a:lnTo>
                  <a:pt x="4444" y="4272"/>
                </a:lnTo>
                <a:lnTo>
                  <a:pt x="4444" y="4292"/>
                </a:lnTo>
                <a:lnTo>
                  <a:pt x="4444" y="4292"/>
                </a:lnTo>
                <a:lnTo>
                  <a:pt x="4444" y="4300"/>
                </a:lnTo>
                <a:lnTo>
                  <a:pt x="4440" y="4306"/>
                </a:lnTo>
                <a:lnTo>
                  <a:pt x="4436" y="4310"/>
                </a:lnTo>
                <a:lnTo>
                  <a:pt x="4426" y="4314"/>
                </a:lnTo>
                <a:lnTo>
                  <a:pt x="4426" y="4314"/>
                </a:lnTo>
                <a:lnTo>
                  <a:pt x="4402" y="4316"/>
                </a:lnTo>
                <a:lnTo>
                  <a:pt x="4376" y="4318"/>
                </a:lnTo>
                <a:lnTo>
                  <a:pt x="4326" y="4318"/>
                </a:lnTo>
                <a:lnTo>
                  <a:pt x="4278" y="4316"/>
                </a:lnTo>
                <a:lnTo>
                  <a:pt x="4228" y="4310"/>
                </a:lnTo>
                <a:lnTo>
                  <a:pt x="4228" y="4310"/>
                </a:lnTo>
                <a:lnTo>
                  <a:pt x="4176" y="4302"/>
                </a:lnTo>
                <a:lnTo>
                  <a:pt x="4126" y="4294"/>
                </a:lnTo>
                <a:lnTo>
                  <a:pt x="4076" y="4282"/>
                </a:lnTo>
                <a:lnTo>
                  <a:pt x="4026" y="4270"/>
                </a:lnTo>
                <a:lnTo>
                  <a:pt x="3978" y="4256"/>
                </a:lnTo>
                <a:lnTo>
                  <a:pt x="3928" y="4240"/>
                </a:lnTo>
                <a:lnTo>
                  <a:pt x="3832" y="4206"/>
                </a:lnTo>
                <a:lnTo>
                  <a:pt x="3832" y="4206"/>
                </a:lnTo>
                <a:lnTo>
                  <a:pt x="3740" y="4170"/>
                </a:lnTo>
                <a:lnTo>
                  <a:pt x="3650" y="4130"/>
                </a:lnTo>
                <a:lnTo>
                  <a:pt x="3562" y="4088"/>
                </a:lnTo>
                <a:lnTo>
                  <a:pt x="3474" y="4042"/>
                </a:lnTo>
                <a:lnTo>
                  <a:pt x="3386" y="3996"/>
                </a:lnTo>
                <a:lnTo>
                  <a:pt x="3302" y="3946"/>
                </a:lnTo>
                <a:lnTo>
                  <a:pt x="3216" y="3896"/>
                </a:lnTo>
                <a:lnTo>
                  <a:pt x="3134" y="3844"/>
                </a:lnTo>
                <a:lnTo>
                  <a:pt x="3134" y="3844"/>
                </a:lnTo>
                <a:lnTo>
                  <a:pt x="3024" y="3772"/>
                </a:lnTo>
                <a:lnTo>
                  <a:pt x="2916" y="3698"/>
                </a:lnTo>
                <a:lnTo>
                  <a:pt x="2808" y="3622"/>
                </a:lnTo>
                <a:lnTo>
                  <a:pt x="2704" y="3544"/>
                </a:lnTo>
                <a:lnTo>
                  <a:pt x="2600" y="3464"/>
                </a:lnTo>
                <a:lnTo>
                  <a:pt x="2498" y="3382"/>
                </a:lnTo>
                <a:lnTo>
                  <a:pt x="2396" y="3300"/>
                </a:lnTo>
                <a:lnTo>
                  <a:pt x="2296" y="3214"/>
                </a:lnTo>
                <a:lnTo>
                  <a:pt x="2296" y="3214"/>
                </a:lnTo>
                <a:lnTo>
                  <a:pt x="2180" y="3116"/>
                </a:lnTo>
                <a:lnTo>
                  <a:pt x="2180" y="3116"/>
                </a:lnTo>
                <a:lnTo>
                  <a:pt x="2220" y="3040"/>
                </a:lnTo>
                <a:lnTo>
                  <a:pt x="2256" y="2964"/>
                </a:lnTo>
                <a:lnTo>
                  <a:pt x="2256" y="2964"/>
                </a:lnTo>
                <a:lnTo>
                  <a:pt x="2272" y="2928"/>
                </a:lnTo>
                <a:lnTo>
                  <a:pt x="2286" y="2890"/>
                </a:lnTo>
                <a:lnTo>
                  <a:pt x="2300" y="2852"/>
                </a:lnTo>
                <a:lnTo>
                  <a:pt x="2312" y="2814"/>
                </a:lnTo>
                <a:lnTo>
                  <a:pt x="2322" y="2774"/>
                </a:lnTo>
                <a:lnTo>
                  <a:pt x="2330" y="2736"/>
                </a:lnTo>
                <a:lnTo>
                  <a:pt x="2334" y="2696"/>
                </a:lnTo>
                <a:lnTo>
                  <a:pt x="2338" y="2654"/>
                </a:lnTo>
                <a:lnTo>
                  <a:pt x="2338" y="2654"/>
                </a:lnTo>
                <a:lnTo>
                  <a:pt x="2340" y="2608"/>
                </a:lnTo>
                <a:lnTo>
                  <a:pt x="2336" y="2562"/>
                </a:lnTo>
                <a:lnTo>
                  <a:pt x="2330" y="2518"/>
                </a:lnTo>
                <a:lnTo>
                  <a:pt x="2320" y="2474"/>
                </a:lnTo>
                <a:lnTo>
                  <a:pt x="2306" y="2432"/>
                </a:lnTo>
                <a:lnTo>
                  <a:pt x="2288" y="2390"/>
                </a:lnTo>
                <a:lnTo>
                  <a:pt x="2266" y="2350"/>
                </a:lnTo>
                <a:lnTo>
                  <a:pt x="2242" y="2310"/>
                </a:lnTo>
                <a:lnTo>
                  <a:pt x="2242" y="2310"/>
                </a:lnTo>
                <a:lnTo>
                  <a:pt x="2216" y="2274"/>
                </a:lnTo>
                <a:lnTo>
                  <a:pt x="2188" y="2238"/>
                </a:lnTo>
                <a:lnTo>
                  <a:pt x="2158" y="2206"/>
                </a:lnTo>
                <a:lnTo>
                  <a:pt x="2126" y="2174"/>
                </a:lnTo>
                <a:lnTo>
                  <a:pt x="2092" y="2144"/>
                </a:lnTo>
                <a:lnTo>
                  <a:pt x="2058" y="2116"/>
                </a:lnTo>
                <a:lnTo>
                  <a:pt x="2022" y="2088"/>
                </a:lnTo>
                <a:lnTo>
                  <a:pt x="1986" y="2062"/>
                </a:lnTo>
                <a:lnTo>
                  <a:pt x="1986" y="2062"/>
                </a:lnTo>
                <a:lnTo>
                  <a:pt x="1932" y="2024"/>
                </a:lnTo>
                <a:lnTo>
                  <a:pt x="1878" y="1990"/>
                </a:lnTo>
                <a:lnTo>
                  <a:pt x="1824" y="1956"/>
                </a:lnTo>
                <a:lnTo>
                  <a:pt x="1768" y="1924"/>
                </a:lnTo>
                <a:lnTo>
                  <a:pt x="1712" y="1894"/>
                </a:lnTo>
                <a:lnTo>
                  <a:pt x="1654" y="1864"/>
                </a:lnTo>
                <a:lnTo>
                  <a:pt x="1596" y="1836"/>
                </a:lnTo>
                <a:lnTo>
                  <a:pt x="1538" y="1808"/>
                </a:lnTo>
                <a:lnTo>
                  <a:pt x="1538" y="1808"/>
                </a:lnTo>
                <a:lnTo>
                  <a:pt x="1346" y="1724"/>
                </a:lnTo>
                <a:lnTo>
                  <a:pt x="1156" y="1640"/>
                </a:lnTo>
                <a:lnTo>
                  <a:pt x="774" y="1474"/>
                </a:lnTo>
                <a:lnTo>
                  <a:pt x="774" y="1474"/>
                </a:lnTo>
                <a:lnTo>
                  <a:pt x="710" y="1446"/>
                </a:lnTo>
                <a:lnTo>
                  <a:pt x="646" y="1416"/>
                </a:lnTo>
                <a:lnTo>
                  <a:pt x="584" y="1384"/>
                </a:lnTo>
                <a:lnTo>
                  <a:pt x="524" y="1350"/>
                </a:lnTo>
                <a:lnTo>
                  <a:pt x="466" y="1312"/>
                </a:lnTo>
                <a:lnTo>
                  <a:pt x="410" y="1272"/>
                </a:lnTo>
                <a:lnTo>
                  <a:pt x="354" y="1230"/>
                </a:lnTo>
                <a:lnTo>
                  <a:pt x="302" y="1184"/>
                </a:lnTo>
                <a:lnTo>
                  <a:pt x="302" y="1184"/>
                </a:lnTo>
                <a:lnTo>
                  <a:pt x="262" y="1144"/>
                </a:lnTo>
                <a:lnTo>
                  <a:pt x="224" y="1104"/>
                </a:lnTo>
                <a:lnTo>
                  <a:pt x="188" y="1062"/>
                </a:lnTo>
                <a:lnTo>
                  <a:pt x="158" y="1020"/>
                </a:lnTo>
                <a:lnTo>
                  <a:pt x="128" y="976"/>
                </a:lnTo>
                <a:lnTo>
                  <a:pt x="102" y="930"/>
                </a:lnTo>
                <a:lnTo>
                  <a:pt x="80" y="884"/>
                </a:lnTo>
                <a:lnTo>
                  <a:pt x="58" y="838"/>
                </a:lnTo>
                <a:lnTo>
                  <a:pt x="42" y="790"/>
                </a:lnTo>
                <a:lnTo>
                  <a:pt x="28" y="740"/>
                </a:lnTo>
                <a:lnTo>
                  <a:pt x="16" y="688"/>
                </a:lnTo>
                <a:lnTo>
                  <a:pt x="8" y="636"/>
                </a:lnTo>
                <a:lnTo>
                  <a:pt x="2" y="584"/>
                </a:lnTo>
                <a:lnTo>
                  <a:pt x="0" y="530"/>
                </a:lnTo>
                <a:lnTo>
                  <a:pt x="0" y="474"/>
                </a:lnTo>
                <a:lnTo>
                  <a:pt x="4" y="418"/>
                </a:lnTo>
                <a:lnTo>
                  <a:pt x="4" y="418"/>
                </a:lnTo>
                <a:lnTo>
                  <a:pt x="10" y="366"/>
                </a:lnTo>
                <a:lnTo>
                  <a:pt x="18" y="314"/>
                </a:lnTo>
                <a:lnTo>
                  <a:pt x="30" y="262"/>
                </a:lnTo>
                <a:lnTo>
                  <a:pt x="42" y="212"/>
                </a:lnTo>
                <a:lnTo>
                  <a:pt x="58" y="162"/>
                </a:lnTo>
                <a:lnTo>
                  <a:pt x="76" y="112"/>
                </a:lnTo>
                <a:lnTo>
                  <a:pt x="94" y="64"/>
                </a:lnTo>
                <a:lnTo>
                  <a:pt x="118" y="16"/>
                </a:lnTo>
                <a:lnTo>
                  <a:pt x="118" y="16"/>
                </a:lnTo>
                <a:lnTo>
                  <a:pt x="122" y="0"/>
                </a:lnTo>
                <a:lnTo>
                  <a:pt x="122" y="0"/>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1" name="Title 1"/>
          <p:cNvSpPr>
            <a:spLocks noGrp="1"/>
          </p:cNvSpPr>
          <p:nvPr>
            <p:ph type="ctrTitle" hasCustomPrompt="1"/>
          </p:nvPr>
        </p:nvSpPr>
        <p:spPr>
          <a:xfrm>
            <a:off x="407988" y="1358153"/>
            <a:ext cx="4774258" cy="147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defRPr lang="en-US" sz="2600" b="0" dirty="0">
                <a:solidFill>
                  <a:schemeClr val="accent1"/>
                </a:solidFill>
              </a:defRPr>
            </a:lvl1pPr>
          </a:lstStyle>
          <a:p>
            <a:pPr marL="0" lvl="0"/>
            <a:r>
              <a:rPr lang="en-US"/>
              <a:t>Click to insert title</a:t>
            </a:r>
          </a:p>
        </p:txBody>
      </p:sp>
      <p:sp>
        <p:nvSpPr>
          <p:cNvPr id="12" name="Subtitle 2"/>
          <p:cNvSpPr>
            <a:spLocks noGrp="1"/>
          </p:cNvSpPr>
          <p:nvPr>
            <p:ph type="subTitle" idx="1" hasCustomPrompt="1"/>
          </p:nvPr>
        </p:nvSpPr>
        <p:spPr>
          <a:xfrm>
            <a:off x="407988" y="2976180"/>
            <a:ext cx="4774257"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grpSp>
        <p:nvGrpSpPr>
          <p:cNvPr id="13" name="Group 14"/>
          <p:cNvGrpSpPr>
            <a:grpSpLocks noChangeAspect="1"/>
          </p:cNvGrpSpPr>
          <p:nvPr userDrawn="1"/>
        </p:nvGrpSpPr>
        <p:grpSpPr>
          <a:xfrm>
            <a:off x="416888" y="4537346"/>
            <a:ext cx="5040000" cy="1123654"/>
            <a:chOff x="728663" y="4465638"/>
            <a:chExt cx="5354637" cy="1193801"/>
          </a:xfrm>
        </p:grpSpPr>
        <p:sp>
          <p:nvSpPr>
            <p:cNvPr id="14"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6"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1098424076"/>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Slide 2">
    <p:spTree>
      <p:nvGrpSpPr>
        <p:cNvPr id="1" name=""/>
        <p:cNvGrpSpPr/>
        <p:nvPr/>
      </p:nvGrpSpPr>
      <p:grpSpPr>
        <a:xfrm>
          <a:off x="0" y="0"/>
          <a:ext cx="0" cy="0"/>
          <a:chOff x="0" y="0"/>
          <a:chExt cx="0" cy="0"/>
        </a:xfrm>
      </p:grpSpPr>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nvGrpSpPr>
          <p:cNvPr id="15" name="Group 14"/>
          <p:cNvGrpSpPr>
            <a:grpSpLocks noChangeAspect="1"/>
          </p:cNvGrpSpPr>
          <p:nvPr userDrawn="1"/>
        </p:nvGrpSpPr>
        <p:grpSpPr>
          <a:xfrm>
            <a:off x="416888" y="4537346"/>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
        <p:nvSpPr>
          <p:cNvPr id="22" name="Subtitle 2"/>
          <p:cNvSpPr>
            <a:spLocks noGrp="1"/>
          </p:cNvSpPr>
          <p:nvPr>
            <p:ph type="subTitle" idx="1" hasCustomPrompt="1"/>
          </p:nvPr>
        </p:nvSpPr>
        <p:spPr>
          <a:xfrm>
            <a:off x="5665976" y="1690688"/>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sp>
        <p:nvSpPr>
          <p:cNvPr id="2" name="Titre 1"/>
          <p:cNvSpPr>
            <a:spLocks noGrp="1"/>
          </p:cNvSpPr>
          <p:nvPr>
            <p:ph type="title" hasCustomPrompt="1"/>
          </p:nvPr>
        </p:nvSpPr>
        <p:spPr>
          <a:xfrm>
            <a:off x="5655320" y="622300"/>
            <a:ext cx="6260455" cy="1068388"/>
          </a:xfrm>
          <a:prstGeom prst="rect">
            <a:avLst/>
          </a:prstGeom>
        </p:spPr>
        <p:txBody>
          <a:bodyPr lIns="0" anchor="b"/>
          <a:lstStyle>
            <a:lvl1pPr>
              <a:defRPr sz="2600">
                <a:solidFill>
                  <a:schemeClr val="accent2"/>
                </a:solidFill>
              </a:defRPr>
            </a:lvl1pPr>
          </a:lstStyle>
          <a:p>
            <a:r>
              <a:rPr lang="en-US"/>
              <a:t>Click to insert title</a:t>
            </a:r>
          </a:p>
        </p:txBody>
      </p:sp>
    </p:spTree>
    <p:extLst>
      <p:ext uri="{BB962C8B-B14F-4D97-AF65-F5344CB8AC3E}">
        <p14:creationId xmlns:p14="http://schemas.microsoft.com/office/powerpoint/2010/main" val="345012534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Slide 3">
    <p:bg>
      <p:bgPr>
        <a:solidFill>
          <a:srgbClr val="E6E7E7"/>
        </a:solidFill>
        <a:effectLst/>
      </p:bgPr>
    </p:bg>
    <p:spTree>
      <p:nvGrpSpPr>
        <p:cNvPr id="1" name=""/>
        <p:cNvGrpSpPr/>
        <p:nvPr/>
      </p:nvGrpSpPr>
      <p:grpSpPr>
        <a:xfrm>
          <a:off x="0" y="0"/>
          <a:ext cx="0" cy="0"/>
          <a:chOff x="0" y="0"/>
          <a:chExt cx="0" cy="0"/>
        </a:xfrm>
      </p:grpSpPr>
      <p:graphicFrame>
        <p:nvGraphicFramePr>
          <p:cNvPr id="16" name="Object 15"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6" name="Object 15"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6" name="Freeform 6"/>
          <p:cNvSpPr>
            <a:spLocks/>
          </p:cNvSpPr>
          <p:nvPr userDrawn="1"/>
        </p:nvSpPr>
        <p:spPr bwMode="auto">
          <a:xfrm>
            <a:off x="3771900" y="1847851"/>
            <a:ext cx="8420100" cy="5010150"/>
          </a:xfrm>
          <a:custGeom>
            <a:avLst/>
            <a:gdLst/>
            <a:ahLst/>
            <a:cxnLst>
              <a:cxn ang="0">
                <a:pos x="5302" y="3130"/>
              </a:cxn>
              <a:cxn ang="0">
                <a:pos x="5302" y="994"/>
              </a:cxn>
              <a:cxn ang="0">
                <a:pos x="5302" y="982"/>
              </a:cxn>
              <a:cxn ang="0">
                <a:pos x="5302" y="966"/>
              </a:cxn>
              <a:cxn ang="0">
                <a:pos x="5298" y="962"/>
              </a:cxn>
              <a:cxn ang="0">
                <a:pos x="5284" y="968"/>
              </a:cxn>
              <a:cxn ang="0">
                <a:pos x="5234" y="992"/>
              </a:cxn>
              <a:cxn ang="0">
                <a:pos x="5132" y="1030"/>
              </a:cxn>
              <a:cxn ang="0">
                <a:pos x="5080" y="1044"/>
              </a:cxn>
              <a:cxn ang="0">
                <a:pos x="4944" y="1076"/>
              </a:cxn>
              <a:cxn ang="0">
                <a:pos x="4806" y="1094"/>
              </a:cxn>
              <a:cxn ang="0">
                <a:pos x="4668" y="1104"/>
              </a:cxn>
              <a:cxn ang="0">
                <a:pos x="4528" y="1102"/>
              </a:cxn>
              <a:cxn ang="0">
                <a:pos x="4436" y="1098"/>
              </a:cxn>
              <a:cxn ang="0">
                <a:pos x="4254" y="1080"/>
              </a:cxn>
              <a:cxn ang="0">
                <a:pos x="4074" y="1054"/>
              </a:cxn>
              <a:cxn ang="0">
                <a:pos x="3894" y="1018"/>
              </a:cxn>
              <a:cxn ang="0">
                <a:pos x="3806" y="996"/>
              </a:cxn>
              <a:cxn ang="0">
                <a:pos x="3518" y="918"/>
              </a:cxn>
              <a:cxn ang="0">
                <a:pos x="3236" y="828"/>
              </a:cxn>
              <a:cxn ang="0">
                <a:pos x="2956" y="724"/>
              </a:cxn>
              <a:cxn ang="0">
                <a:pos x="2680" y="612"/>
              </a:cxn>
              <a:cxn ang="0">
                <a:pos x="2522" y="544"/>
              </a:cxn>
              <a:cxn ang="0">
                <a:pos x="2210" y="402"/>
              </a:cxn>
              <a:cxn ang="0">
                <a:pos x="1902" y="250"/>
              </a:cxn>
              <a:cxn ang="0">
                <a:pos x="1596" y="92"/>
              </a:cxn>
              <a:cxn ang="0">
                <a:pos x="1446" y="10"/>
              </a:cxn>
              <a:cxn ang="0">
                <a:pos x="1434" y="4"/>
              </a:cxn>
              <a:cxn ang="0">
                <a:pos x="1432" y="0"/>
              </a:cxn>
              <a:cxn ang="0">
                <a:pos x="1424" y="0"/>
              </a:cxn>
              <a:cxn ang="0">
                <a:pos x="1286" y="88"/>
              </a:cxn>
              <a:cxn ang="0">
                <a:pos x="1132" y="194"/>
              </a:cxn>
              <a:cxn ang="0">
                <a:pos x="982" y="304"/>
              </a:cxn>
              <a:cxn ang="0">
                <a:pos x="838" y="422"/>
              </a:cxn>
              <a:cxn ang="0">
                <a:pos x="702" y="548"/>
              </a:cxn>
              <a:cxn ang="0">
                <a:pos x="660" y="592"/>
              </a:cxn>
              <a:cxn ang="0">
                <a:pos x="578" y="678"/>
              </a:cxn>
              <a:cxn ang="0">
                <a:pos x="500" y="768"/>
              </a:cxn>
              <a:cxn ang="0">
                <a:pos x="428" y="862"/>
              </a:cxn>
              <a:cxn ang="0">
                <a:pos x="360" y="958"/>
              </a:cxn>
              <a:cxn ang="0">
                <a:pos x="296" y="1058"/>
              </a:cxn>
              <a:cxn ang="0">
                <a:pos x="240" y="1162"/>
              </a:cxn>
              <a:cxn ang="0">
                <a:pos x="188" y="1270"/>
              </a:cxn>
              <a:cxn ang="0">
                <a:pos x="164" y="1326"/>
              </a:cxn>
              <a:cxn ang="0">
                <a:pos x="114" y="1460"/>
              </a:cxn>
              <a:cxn ang="0">
                <a:pos x="72" y="1596"/>
              </a:cxn>
              <a:cxn ang="0">
                <a:pos x="42" y="1736"/>
              </a:cxn>
              <a:cxn ang="0">
                <a:pos x="18" y="1876"/>
              </a:cxn>
              <a:cxn ang="0">
                <a:pos x="10" y="1958"/>
              </a:cxn>
              <a:cxn ang="0">
                <a:pos x="4" y="2038"/>
              </a:cxn>
              <a:cxn ang="0">
                <a:pos x="2" y="2052"/>
              </a:cxn>
              <a:cxn ang="0">
                <a:pos x="0" y="2054"/>
              </a:cxn>
              <a:cxn ang="0">
                <a:pos x="0" y="2312"/>
              </a:cxn>
              <a:cxn ang="0">
                <a:pos x="6" y="2330"/>
              </a:cxn>
              <a:cxn ang="0">
                <a:pos x="6" y="2350"/>
              </a:cxn>
              <a:cxn ang="0">
                <a:pos x="26" y="2552"/>
              </a:cxn>
              <a:cxn ang="0">
                <a:pos x="56" y="2752"/>
              </a:cxn>
              <a:cxn ang="0">
                <a:pos x="100" y="2950"/>
              </a:cxn>
              <a:cxn ang="0">
                <a:pos x="150" y="3148"/>
              </a:cxn>
              <a:cxn ang="0">
                <a:pos x="154" y="3156"/>
              </a:cxn>
              <a:cxn ang="0">
                <a:pos x="5304" y="3156"/>
              </a:cxn>
              <a:cxn ang="0">
                <a:pos x="5302" y="3130"/>
              </a:cxn>
            </a:cxnLst>
            <a:rect l="0" t="0" r="r" b="b"/>
            <a:pathLst>
              <a:path w="5304" h="3156">
                <a:moveTo>
                  <a:pt x="5302" y="3130"/>
                </a:moveTo>
                <a:lnTo>
                  <a:pt x="5302" y="3130"/>
                </a:lnTo>
                <a:lnTo>
                  <a:pt x="5302" y="994"/>
                </a:lnTo>
                <a:lnTo>
                  <a:pt x="5302" y="994"/>
                </a:lnTo>
                <a:lnTo>
                  <a:pt x="5302" y="982"/>
                </a:lnTo>
                <a:lnTo>
                  <a:pt x="5302" y="982"/>
                </a:lnTo>
                <a:lnTo>
                  <a:pt x="5302" y="968"/>
                </a:lnTo>
                <a:lnTo>
                  <a:pt x="5302" y="966"/>
                </a:lnTo>
                <a:lnTo>
                  <a:pt x="5300" y="964"/>
                </a:lnTo>
                <a:lnTo>
                  <a:pt x="5298" y="962"/>
                </a:lnTo>
                <a:lnTo>
                  <a:pt x="5294" y="964"/>
                </a:lnTo>
                <a:lnTo>
                  <a:pt x="5284" y="968"/>
                </a:lnTo>
                <a:lnTo>
                  <a:pt x="5284" y="968"/>
                </a:lnTo>
                <a:lnTo>
                  <a:pt x="5234" y="992"/>
                </a:lnTo>
                <a:lnTo>
                  <a:pt x="5184" y="1012"/>
                </a:lnTo>
                <a:lnTo>
                  <a:pt x="5132" y="1030"/>
                </a:lnTo>
                <a:lnTo>
                  <a:pt x="5080" y="1044"/>
                </a:lnTo>
                <a:lnTo>
                  <a:pt x="5080" y="1044"/>
                </a:lnTo>
                <a:lnTo>
                  <a:pt x="5012" y="1062"/>
                </a:lnTo>
                <a:lnTo>
                  <a:pt x="4944" y="1076"/>
                </a:lnTo>
                <a:lnTo>
                  <a:pt x="4876" y="1086"/>
                </a:lnTo>
                <a:lnTo>
                  <a:pt x="4806" y="1094"/>
                </a:lnTo>
                <a:lnTo>
                  <a:pt x="4736" y="1100"/>
                </a:lnTo>
                <a:lnTo>
                  <a:pt x="4668" y="1104"/>
                </a:lnTo>
                <a:lnTo>
                  <a:pt x="4598" y="1104"/>
                </a:lnTo>
                <a:lnTo>
                  <a:pt x="4528" y="1102"/>
                </a:lnTo>
                <a:lnTo>
                  <a:pt x="4528" y="1102"/>
                </a:lnTo>
                <a:lnTo>
                  <a:pt x="4436" y="1098"/>
                </a:lnTo>
                <a:lnTo>
                  <a:pt x="4344" y="1090"/>
                </a:lnTo>
                <a:lnTo>
                  <a:pt x="4254" y="1080"/>
                </a:lnTo>
                <a:lnTo>
                  <a:pt x="4164" y="1068"/>
                </a:lnTo>
                <a:lnTo>
                  <a:pt x="4074" y="1054"/>
                </a:lnTo>
                <a:lnTo>
                  <a:pt x="3984" y="1036"/>
                </a:lnTo>
                <a:lnTo>
                  <a:pt x="3894" y="1018"/>
                </a:lnTo>
                <a:lnTo>
                  <a:pt x="3806" y="996"/>
                </a:lnTo>
                <a:lnTo>
                  <a:pt x="3806" y="996"/>
                </a:lnTo>
                <a:lnTo>
                  <a:pt x="3660" y="960"/>
                </a:lnTo>
                <a:lnTo>
                  <a:pt x="3518" y="918"/>
                </a:lnTo>
                <a:lnTo>
                  <a:pt x="3376" y="874"/>
                </a:lnTo>
                <a:lnTo>
                  <a:pt x="3236" y="828"/>
                </a:lnTo>
                <a:lnTo>
                  <a:pt x="3096" y="778"/>
                </a:lnTo>
                <a:lnTo>
                  <a:pt x="2956" y="724"/>
                </a:lnTo>
                <a:lnTo>
                  <a:pt x="2818" y="670"/>
                </a:lnTo>
                <a:lnTo>
                  <a:pt x="2680" y="612"/>
                </a:lnTo>
                <a:lnTo>
                  <a:pt x="2680" y="612"/>
                </a:lnTo>
                <a:lnTo>
                  <a:pt x="2522" y="544"/>
                </a:lnTo>
                <a:lnTo>
                  <a:pt x="2366" y="474"/>
                </a:lnTo>
                <a:lnTo>
                  <a:pt x="2210" y="402"/>
                </a:lnTo>
                <a:lnTo>
                  <a:pt x="2056" y="326"/>
                </a:lnTo>
                <a:lnTo>
                  <a:pt x="1902" y="250"/>
                </a:lnTo>
                <a:lnTo>
                  <a:pt x="1748" y="172"/>
                </a:lnTo>
                <a:lnTo>
                  <a:pt x="1596" y="92"/>
                </a:lnTo>
                <a:lnTo>
                  <a:pt x="1446" y="10"/>
                </a:lnTo>
                <a:lnTo>
                  <a:pt x="1446" y="10"/>
                </a:lnTo>
                <a:lnTo>
                  <a:pt x="1438" y="6"/>
                </a:lnTo>
                <a:lnTo>
                  <a:pt x="1434" y="4"/>
                </a:lnTo>
                <a:lnTo>
                  <a:pt x="1432" y="0"/>
                </a:lnTo>
                <a:lnTo>
                  <a:pt x="1432" y="0"/>
                </a:lnTo>
                <a:lnTo>
                  <a:pt x="1424" y="0"/>
                </a:lnTo>
                <a:lnTo>
                  <a:pt x="1424" y="0"/>
                </a:lnTo>
                <a:lnTo>
                  <a:pt x="1286" y="88"/>
                </a:lnTo>
                <a:lnTo>
                  <a:pt x="1286" y="88"/>
                </a:lnTo>
                <a:lnTo>
                  <a:pt x="1208" y="140"/>
                </a:lnTo>
                <a:lnTo>
                  <a:pt x="1132" y="194"/>
                </a:lnTo>
                <a:lnTo>
                  <a:pt x="1056" y="248"/>
                </a:lnTo>
                <a:lnTo>
                  <a:pt x="982" y="304"/>
                </a:lnTo>
                <a:lnTo>
                  <a:pt x="910" y="362"/>
                </a:lnTo>
                <a:lnTo>
                  <a:pt x="838" y="422"/>
                </a:lnTo>
                <a:lnTo>
                  <a:pt x="770" y="484"/>
                </a:lnTo>
                <a:lnTo>
                  <a:pt x="702" y="548"/>
                </a:lnTo>
                <a:lnTo>
                  <a:pt x="702" y="548"/>
                </a:lnTo>
                <a:lnTo>
                  <a:pt x="660" y="592"/>
                </a:lnTo>
                <a:lnTo>
                  <a:pt x="618" y="634"/>
                </a:lnTo>
                <a:lnTo>
                  <a:pt x="578" y="678"/>
                </a:lnTo>
                <a:lnTo>
                  <a:pt x="538" y="724"/>
                </a:lnTo>
                <a:lnTo>
                  <a:pt x="500" y="768"/>
                </a:lnTo>
                <a:lnTo>
                  <a:pt x="464" y="814"/>
                </a:lnTo>
                <a:lnTo>
                  <a:pt x="428" y="862"/>
                </a:lnTo>
                <a:lnTo>
                  <a:pt x="392" y="910"/>
                </a:lnTo>
                <a:lnTo>
                  <a:pt x="360" y="958"/>
                </a:lnTo>
                <a:lnTo>
                  <a:pt x="328" y="1008"/>
                </a:lnTo>
                <a:lnTo>
                  <a:pt x="296" y="1058"/>
                </a:lnTo>
                <a:lnTo>
                  <a:pt x="268" y="1110"/>
                </a:lnTo>
                <a:lnTo>
                  <a:pt x="240" y="1162"/>
                </a:lnTo>
                <a:lnTo>
                  <a:pt x="212" y="1216"/>
                </a:lnTo>
                <a:lnTo>
                  <a:pt x="188" y="1270"/>
                </a:lnTo>
                <a:lnTo>
                  <a:pt x="164" y="1326"/>
                </a:lnTo>
                <a:lnTo>
                  <a:pt x="164" y="1326"/>
                </a:lnTo>
                <a:lnTo>
                  <a:pt x="136" y="1392"/>
                </a:lnTo>
                <a:lnTo>
                  <a:pt x="114" y="1460"/>
                </a:lnTo>
                <a:lnTo>
                  <a:pt x="92" y="1528"/>
                </a:lnTo>
                <a:lnTo>
                  <a:pt x="72" y="1596"/>
                </a:lnTo>
                <a:lnTo>
                  <a:pt x="56" y="1666"/>
                </a:lnTo>
                <a:lnTo>
                  <a:pt x="42" y="1736"/>
                </a:lnTo>
                <a:lnTo>
                  <a:pt x="28" y="1806"/>
                </a:lnTo>
                <a:lnTo>
                  <a:pt x="18" y="1876"/>
                </a:lnTo>
                <a:lnTo>
                  <a:pt x="18" y="1876"/>
                </a:lnTo>
                <a:lnTo>
                  <a:pt x="10" y="1958"/>
                </a:lnTo>
                <a:lnTo>
                  <a:pt x="4" y="2038"/>
                </a:lnTo>
                <a:lnTo>
                  <a:pt x="4" y="2038"/>
                </a:lnTo>
                <a:lnTo>
                  <a:pt x="4" y="2048"/>
                </a:lnTo>
                <a:lnTo>
                  <a:pt x="2" y="2052"/>
                </a:lnTo>
                <a:lnTo>
                  <a:pt x="0" y="2054"/>
                </a:lnTo>
                <a:lnTo>
                  <a:pt x="0" y="2054"/>
                </a:lnTo>
                <a:lnTo>
                  <a:pt x="0" y="2312"/>
                </a:lnTo>
                <a:lnTo>
                  <a:pt x="0" y="2312"/>
                </a:lnTo>
                <a:lnTo>
                  <a:pt x="4" y="2320"/>
                </a:lnTo>
                <a:lnTo>
                  <a:pt x="6" y="2330"/>
                </a:lnTo>
                <a:lnTo>
                  <a:pt x="6" y="2350"/>
                </a:lnTo>
                <a:lnTo>
                  <a:pt x="6" y="2350"/>
                </a:lnTo>
                <a:lnTo>
                  <a:pt x="14" y="2452"/>
                </a:lnTo>
                <a:lnTo>
                  <a:pt x="26" y="2552"/>
                </a:lnTo>
                <a:lnTo>
                  <a:pt x="40" y="2652"/>
                </a:lnTo>
                <a:lnTo>
                  <a:pt x="56" y="2752"/>
                </a:lnTo>
                <a:lnTo>
                  <a:pt x="76" y="2852"/>
                </a:lnTo>
                <a:lnTo>
                  <a:pt x="100" y="2950"/>
                </a:lnTo>
                <a:lnTo>
                  <a:pt x="124" y="3050"/>
                </a:lnTo>
                <a:lnTo>
                  <a:pt x="150" y="3148"/>
                </a:lnTo>
                <a:lnTo>
                  <a:pt x="150" y="3148"/>
                </a:lnTo>
                <a:lnTo>
                  <a:pt x="154" y="3156"/>
                </a:lnTo>
                <a:lnTo>
                  <a:pt x="154" y="3156"/>
                </a:lnTo>
                <a:lnTo>
                  <a:pt x="5304" y="3156"/>
                </a:lnTo>
                <a:lnTo>
                  <a:pt x="5304" y="3156"/>
                </a:lnTo>
                <a:lnTo>
                  <a:pt x="5302" y="3130"/>
                </a:lnTo>
                <a:lnTo>
                  <a:pt x="5302" y="3130"/>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 name="Title 1"/>
          <p:cNvSpPr>
            <a:spLocks noGrp="1"/>
          </p:cNvSpPr>
          <p:nvPr>
            <p:ph type="ctrTitle" hasCustomPrompt="1"/>
          </p:nvPr>
        </p:nvSpPr>
        <p:spPr>
          <a:xfrm>
            <a:off x="5016499" y="3644152"/>
            <a:ext cx="6899275"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gn="l">
              <a:lnSpc>
                <a:spcPts val="3000"/>
              </a:lnSpc>
              <a:defRPr lang="en-US" sz="2600" b="0" dirty="0">
                <a:solidFill>
                  <a:schemeClr val="bg1"/>
                </a:solidFill>
              </a:defRPr>
            </a:lvl1pPr>
          </a:lstStyle>
          <a:p>
            <a:pPr marL="0" lvl="0"/>
            <a:r>
              <a:rPr lang="en-US"/>
              <a:t>Click to insert title</a:t>
            </a:r>
          </a:p>
        </p:txBody>
      </p:sp>
      <p:sp>
        <p:nvSpPr>
          <p:cNvPr id="8" name="Subtitle 2"/>
          <p:cNvSpPr>
            <a:spLocks noGrp="1"/>
          </p:cNvSpPr>
          <p:nvPr>
            <p:ph type="subTitle" idx="1" hasCustomPrompt="1"/>
          </p:nvPr>
        </p:nvSpPr>
        <p:spPr>
          <a:xfrm>
            <a:off x="5016499" y="5236923"/>
            <a:ext cx="6899275"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a:t>Click to insert presenter, location, and date</a:t>
            </a:r>
          </a:p>
        </p:txBody>
      </p:sp>
      <p:grpSp>
        <p:nvGrpSpPr>
          <p:cNvPr id="22" name="Group 14"/>
          <p:cNvGrpSpPr>
            <a:grpSpLocks noChangeAspect="1"/>
          </p:cNvGrpSpPr>
          <p:nvPr userDrawn="1"/>
        </p:nvGrpSpPr>
        <p:grpSpPr>
          <a:xfrm>
            <a:off x="407988" y="695702"/>
            <a:ext cx="5040000" cy="1123653"/>
            <a:chOff x="728663" y="4465638"/>
            <a:chExt cx="5354637" cy="1193800"/>
          </a:xfrm>
        </p:grpSpPr>
        <p:sp>
          <p:nvSpPr>
            <p:cNvPr id="23"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4"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5"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6"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7"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1749621551"/>
      </p:ext>
    </p:extLst>
  </p:cSld>
  <p:clrMapOvr>
    <a:masterClrMapping/>
  </p:clrMapOvr>
  <p:extLst>
    <p:ext uri="{DCECCB84-F9BA-43D5-87BE-67443E8EF086}">
      <p15:sldGuideLst xmlns:p15="http://schemas.microsoft.com/office/powerpoint/2012/main">
        <p15:guide id="1" orient="horz" pos="935">
          <p15:clr>
            <a:srgbClr val="FBAE40"/>
          </p15:clr>
        </p15:guide>
        <p15:guide id="2" pos="257">
          <p15:clr>
            <a:srgbClr val="FBAE40"/>
          </p15:clr>
        </p15:guide>
        <p15:guide id="3" pos="3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4">
    <p:bg>
      <p:bgPr>
        <a:solidFill>
          <a:srgbClr val="E6E7E7"/>
        </a:solidFill>
        <a:effectLst/>
      </p:bgPr>
    </p:bg>
    <p:spTree>
      <p:nvGrpSpPr>
        <p:cNvPr id="1" name=""/>
        <p:cNvGrpSpPr/>
        <p:nvPr/>
      </p:nvGrpSpPr>
      <p:grpSpPr>
        <a:xfrm>
          <a:off x="0" y="0"/>
          <a:ext cx="0" cy="0"/>
          <a:chOff x="0" y="0"/>
          <a:chExt cx="0" cy="0"/>
        </a:xfrm>
      </p:grpSpPr>
      <p:graphicFrame>
        <p:nvGraphicFramePr>
          <p:cNvPr id="14" name="Object 13"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4" name="Object 13"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71" name="Freeform 7"/>
          <p:cNvSpPr>
            <a:spLocks/>
          </p:cNvSpPr>
          <p:nvPr userDrawn="1"/>
        </p:nvSpPr>
        <p:spPr bwMode="auto">
          <a:xfrm>
            <a:off x="5892403" y="1"/>
            <a:ext cx="6327776" cy="5670550"/>
          </a:xfrm>
          <a:custGeom>
            <a:avLst/>
            <a:gdLst/>
            <a:ahLst/>
            <a:cxnLst>
              <a:cxn ang="0">
                <a:pos x="3986" y="2526"/>
              </a:cxn>
              <a:cxn ang="0">
                <a:pos x="3986" y="2512"/>
              </a:cxn>
              <a:cxn ang="0">
                <a:pos x="3986" y="0"/>
              </a:cxn>
              <a:cxn ang="0">
                <a:pos x="648" y="0"/>
              </a:cxn>
              <a:cxn ang="0">
                <a:pos x="682" y="84"/>
              </a:cxn>
              <a:cxn ang="0">
                <a:pos x="698" y="132"/>
              </a:cxn>
              <a:cxn ang="0">
                <a:pos x="724" y="230"/>
              </a:cxn>
              <a:cxn ang="0">
                <a:pos x="738" y="328"/>
              </a:cxn>
              <a:cxn ang="0">
                <a:pos x="744" y="428"/>
              </a:cxn>
              <a:cxn ang="0">
                <a:pos x="744" y="478"/>
              </a:cxn>
              <a:cxn ang="0">
                <a:pos x="734" y="656"/>
              </a:cxn>
              <a:cxn ang="0">
                <a:pos x="710" y="830"/>
              </a:cxn>
              <a:cxn ang="0">
                <a:pos x="674" y="1002"/>
              </a:cxn>
              <a:cxn ang="0">
                <a:pos x="628" y="1172"/>
              </a:cxn>
              <a:cxn ang="0">
                <a:pos x="590" y="1296"/>
              </a:cxn>
              <a:cxn ang="0">
                <a:pos x="504" y="1542"/>
              </a:cxn>
              <a:cxn ang="0">
                <a:pos x="406" y="1782"/>
              </a:cxn>
              <a:cxn ang="0">
                <a:pos x="300" y="2020"/>
              </a:cxn>
              <a:cxn ang="0">
                <a:pos x="244" y="2136"/>
              </a:cxn>
              <a:cxn ang="0">
                <a:pos x="128" y="2366"/>
              </a:cxn>
              <a:cxn ang="0">
                <a:pos x="8" y="2594"/>
              </a:cxn>
              <a:cxn ang="0">
                <a:pos x="0" y="2608"/>
              </a:cxn>
              <a:cxn ang="0">
                <a:pos x="0" y="2612"/>
              </a:cxn>
              <a:cxn ang="0">
                <a:pos x="50" y="2690"/>
              </a:cxn>
              <a:cxn ang="0">
                <a:pos x="100" y="2766"/>
              </a:cxn>
              <a:cxn ang="0">
                <a:pos x="190" y="2890"/>
              </a:cxn>
              <a:cxn ang="0">
                <a:pos x="286" y="3006"/>
              </a:cxn>
              <a:cxn ang="0">
                <a:pos x="390" y="3116"/>
              </a:cxn>
              <a:cxn ang="0">
                <a:pos x="502" y="3220"/>
              </a:cxn>
              <a:cxn ang="0">
                <a:pos x="540" y="3252"/>
              </a:cxn>
              <a:cxn ang="0">
                <a:pos x="622" y="3312"/>
              </a:cxn>
              <a:cxn ang="0">
                <a:pos x="706" y="3366"/>
              </a:cxn>
              <a:cxn ang="0">
                <a:pos x="792" y="3414"/>
              </a:cxn>
              <a:cxn ang="0">
                <a:pos x="882" y="3456"/>
              </a:cxn>
              <a:cxn ang="0">
                <a:pos x="976" y="3492"/>
              </a:cxn>
              <a:cxn ang="0">
                <a:pos x="1070" y="3520"/>
              </a:cxn>
              <a:cxn ang="0">
                <a:pos x="1170" y="3542"/>
              </a:cxn>
              <a:cxn ang="0">
                <a:pos x="1220" y="3552"/>
              </a:cxn>
              <a:cxn ang="0">
                <a:pos x="1374" y="3568"/>
              </a:cxn>
              <a:cxn ang="0">
                <a:pos x="1382" y="3568"/>
              </a:cxn>
              <a:cxn ang="0">
                <a:pos x="1390" y="3572"/>
              </a:cxn>
              <a:cxn ang="0">
                <a:pos x="1420" y="3572"/>
              </a:cxn>
              <a:cxn ang="0">
                <a:pos x="1544" y="3572"/>
              </a:cxn>
              <a:cxn ang="0">
                <a:pos x="1544" y="3568"/>
              </a:cxn>
              <a:cxn ang="0">
                <a:pos x="1610" y="3564"/>
              </a:cxn>
              <a:cxn ang="0">
                <a:pos x="1740" y="3552"/>
              </a:cxn>
              <a:cxn ang="0">
                <a:pos x="1870" y="3530"/>
              </a:cxn>
              <a:cxn ang="0">
                <a:pos x="1998" y="3502"/>
              </a:cxn>
              <a:cxn ang="0">
                <a:pos x="2062" y="3486"/>
              </a:cxn>
              <a:cxn ang="0">
                <a:pos x="2262" y="3426"/>
              </a:cxn>
              <a:cxn ang="0">
                <a:pos x="2458" y="3356"/>
              </a:cxn>
              <a:cxn ang="0">
                <a:pos x="2650" y="3276"/>
              </a:cxn>
              <a:cxn ang="0">
                <a:pos x="2840" y="3190"/>
              </a:cxn>
              <a:cxn ang="0">
                <a:pos x="2966" y="3128"/>
              </a:cxn>
              <a:cxn ang="0">
                <a:pos x="3218" y="2996"/>
              </a:cxn>
              <a:cxn ang="0">
                <a:pos x="3464" y="2858"/>
              </a:cxn>
              <a:cxn ang="0">
                <a:pos x="3708" y="2714"/>
              </a:cxn>
              <a:cxn ang="0">
                <a:pos x="3828" y="2640"/>
              </a:cxn>
              <a:cxn ang="0">
                <a:pos x="3974" y="2548"/>
              </a:cxn>
              <a:cxn ang="0">
                <a:pos x="3984" y="2540"/>
              </a:cxn>
              <a:cxn ang="0">
                <a:pos x="3986" y="2526"/>
              </a:cxn>
            </a:cxnLst>
            <a:rect l="0" t="0" r="r" b="b"/>
            <a:pathLst>
              <a:path w="3986" h="3572">
                <a:moveTo>
                  <a:pt x="3986" y="2526"/>
                </a:moveTo>
                <a:lnTo>
                  <a:pt x="3986" y="2526"/>
                </a:lnTo>
                <a:lnTo>
                  <a:pt x="3986" y="2512"/>
                </a:lnTo>
                <a:lnTo>
                  <a:pt x="3986" y="2512"/>
                </a:lnTo>
                <a:lnTo>
                  <a:pt x="3986" y="0"/>
                </a:lnTo>
                <a:lnTo>
                  <a:pt x="3986" y="0"/>
                </a:lnTo>
                <a:lnTo>
                  <a:pt x="648" y="0"/>
                </a:lnTo>
                <a:lnTo>
                  <a:pt x="648" y="0"/>
                </a:lnTo>
                <a:lnTo>
                  <a:pt x="666" y="42"/>
                </a:lnTo>
                <a:lnTo>
                  <a:pt x="682" y="84"/>
                </a:lnTo>
                <a:lnTo>
                  <a:pt x="682" y="84"/>
                </a:lnTo>
                <a:lnTo>
                  <a:pt x="698" y="132"/>
                </a:lnTo>
                <a:lnTo>
                  <a:pt x="712" y="182"/>
                </a:lnTo>
                <a:lnTo>
                  <a:pt x="724" y="230"/>
                </a:lnTo>
                <a:lnTo>
                  <a:pt x="732" y="280"/>
                </a:lnTo>
                <a:lnTo>
                  <a:pt x="738" y="328"/>
                </a:lnTo>
                <a:lnTo>
                  <a:pt x="742" y="378"/>
                </a:lnTo>
                <a:lnTo>
                  <a:pt x="744" y="428"/>
                </a:lnTo>
                <a:lnTo>
                  <a:pt x="744" y="478"/>
                </a:lnTo>
                <a:lnTo>
                  <a:pt x="744" y="478"/>
                </a:lnTo>
                <a:lnTo>
                  <a:pt x="742" y="568"/>
                </a:lnTo>
                <a:lnTo>
                  <a:pt x="734" y="656"/>
                </a:lnTo>
                <a:lnTo>
                  <a:pt x="724" y="742"/>
                </a:lnTo>
                <a:lnTo>
                  <a:pt x="710" y="830"/>
                </a:lnTo>
                <a:lnTo>
                  <a:pt x="694" y="916"/>
                </a:lnTo>
                <a:lnTo>
                  <a:pt x="674" y="1002"/>
                </a:lnTo>
                <a:lnTo>
                  <a:pt x="652" y="1088"/>
                </a:lnTo>
                <a:lnTo>
                  <a:pt x="628" y="1172"/>
                </a:lnTo>
                <a:lnTo>
                  <a:pt x="628" y="1172"/>
                </a:lnTo>
                <a:lnTo>
                  <a:pt x="590" y="1296"/>
                </a:lnTo>
                <a:lnTo>
                  <a:pt x="548" y="1420"/>
                </a:lnTo>
                <a:lnTo>
                  <a:pt x="504" y="1542"/>
                </a:lnTo>
                <a:lnTo>
                  <a:pt x="456" y="1662"/>
                </a:lnTo>
                <a:lnTo>
                  <a:pt x="406" y="1782"/>
                </a:lnTo>
                <a:lnTo>
                  <a:pt x="354" y="1900"/>
                </a:lnTo>
                <a:lnTo>
                  <a:pt x="300" y="2020"/>
                </a:lnTo>
                <a:lnTo>
                  <a:pt x="244" y="2136"/>
                </a:lnTo>
                <a:lnTo>
                  <a:pt x="244" y="2136"/>
                </a:lnTo>
                <a:lnTo>
                  <a:pt x="188" y="2252"/>
                </a:lnTo>
                <a:lnTo>
                  <a:pt x="128" y="2366"/>
                </a:lnTo>
                <a:lnTo>
                  <a:pt x="70" y="2480"/>
                </a:lnTo>
                <a:lnTo>
                  <a:pt x="8" y="2594"/>
                </a:lnTo>
                <a:lnTo>
                  <a:pt x="8" y="2594"/>
                </a:lnTo>
                <a:lnTo>
                  <a:pt x="0" y="2608"/>
                </a:lnTo>
                <a:lnTo>
                  <a:pt x="0" y="2608"/>
                </a:lnTo>
                <a:lnTo>
                  <a:pt x="0" y="2612"/>
                </a:lnTo>
                <a:lnTo>
                  <a:pt x="0" y="2612"/>
                </a:lnTo>
                <a:lnTo>
                  <a:pt x="50" y="2690"/>
                </a:lnTo>
                <a:lnTo>
                  <a:pt x="100" y="2766"/>
                </a:lnTo>
                <a:lnTo>
                  <a:pt x="100" y="2766"/>
                </a:lnTo>
                <a:lnTo>
                  <a:pt x="144" y="2828"/>
                </a:lnTo>
                <a:lnTo>
                  <a:pt x="190" y="2890"/>
                </a:lnTo>
                <a:lnTo>
                  <a:pt x="236" y="2948"/>
                </a:lnTo>
                <a:lnTo>
                  <a:pt x="286" y="3006"/>
                </a:lnTo>
                <a:lnTo>
                  <a:pt x="336" y="3062"/>
                </a:lnTo>
                <a:lnTo>
                  <a:pt x="390" y="3116"/>
                </a:lnTo>
                <a:lnTo>
                  <a:pt x="444" y="3170"/>
                </a:lnTo>
                <a:lnTo>
                  <a:pt x="502" y="3220"/>
                </a:lnTo>
                <a:lnTo>
                  <a:pt x="502" y="3220"/>
                </a:lnTo>
                <a:lnTo>
                  <a:pt x="540" y="3252"/>
                </a:lnTo>
                <a:lnTo>
                  <a:pt x="582" y="3282"/>
                </a:lnTo>
                <a:lnTo>
                  <a:pt x="622" y="3312"/>
                </a:lnTo>
                <a:lnTo>
                  <a:pt x="664" y="3340"/>
                </a:lnTo>
                <a:lnTo>
                  <a:pt x="706" y="3366"/>
                </a:lnTo>
                <a:lnTo>
                  <a:pt x="750" y="3390"/>
                </a:lnTo>
                <a:lnTo>
                  <a:pt x="792" y="3414"/>
                </a:lnTo>
                <a:lnTo>
                  <a:pt x="838" y="3436"/>
                </a:lnTo>
                <a:lnTo>
                  <a:pt x="882" y="3456"/>
                </a:lnTo>
                <a:lnTo>
                  <a:pt x="928" y="3474"/>
                </a:lnTo>
                <a:lnTo>
                  <a:pt x="976" y="3492"/>
                </a:lnTo>
                <a:lnTo>
                  <a:pt x="1022" y="3506"/>
                </a:lnTo>
                <a:lnTo>
                  <a:pt x="1070" y="3520"/>
                </a:lnTo>
                <a:lnTo>
                  <a:pt x="1120" y="3532"/>
                </a:lnTo>
                <a:lnTo>
                  <a:pt x="1170" y="3542"/>
                </a:lnTo>
                <a:lnTo>
                  <a:pt x="1220" y="3552"/>
                </a:lnTo>
                <a:lnTo>
                  <a:pt x="1220" y="3552"/>
                </a:lnTo>
                <a:lnTo>
                  <a:pt x="1296" y="3562"/>
                </a:lnTo>
                <a:lnTo>
                  <a:pt x="1374" y="3568"/>
                </a:lnTo>
                <a:lnTo>
                  <a:pt x="1374" y="3568"/>
                </a:lnTo>
                <a:lnTo>
                  <a:pt x="1382" y="3568"/>
                </a:lnTo>
                <a:lnTo>
                  <a:pt x="1386" y="3568"/>
                </a:lnTo>
                <a:lnTo>
                  <a:pt x="1390" y="3572"/>
                </a:lnTo>
                <a:lnTo>
                  <a:pt x="1390" y="3572"/>
                </a:lnTo>
                <a:lnTo>
                  <a:pt x="1420" y="3572"/>
                </a:lnTo>
                <a:lnTo>
                  <a:pt x="1420" y="3572"/>
                </a:lnTo>
                <a:lnTo>
                  <a:pt x="1544" y="3572"/>
                </a:lnTo>
                <a:lnTo>
                  <a:pt x="1544" y="3572"/>
                </a:lnTo>
                <a:lnTo>
                  <a:pt x="1544" y="3568"/>
                </a:lnTo>
                <a:lnTo>
                  <a:pt x="1544" y="3568"/>
                </a:lnTo>
                <a:lnTo>
                  <a:pt x="1610" y="3564"/>
                </a:lnTo>
                <a:lnTo>
                  <a:pt x="1676" y="3558"/>
                </a:lnTo>
                <a:lnTo>
                  <a:pt x="1740" y="3552"/>
                </a:lnTo>
                <a:lnTo>
                  <a:pt x="1806" y="3542"/>
                </a:lnTo>
                <a:lnTo>
                  <a:pt x="1870" y="3530"/>
                </a:lnTo>
                <a:lnTo>
                  <a:pt x="1934" y="3516"/>
                </a:lnTo>
                <a:lnTo>
                  <a:pt x="1998" y="3502"/>
                </a:lnTo>
                <a:lnTo>
                  <a:pt x="2062" y="3486"/>
                </a:lnTo>
                <a:lnTo>
                  <a:pt x="2062" y="3486"/>
                </a:lnTo>
                <a:lnTo>
                  <a:pt x="2162" y="3458"/>
                </a:lnTo>
                <a:lnTo>
                  <a:pt x="2262" y="3426"/>
                </a:lnTo>
                <a:lnTo>
                  <a:pt x="2360" y="3392"/>
                </a:lnTo>
                <a:lnTo>
                  <a:pt x="2458" y="3356"/>
                </a:lnTo>
                <a:lnTo>
                  <a:pt x="2554" y="3316"/>
                </a:lnTo>
                <a:lnTo>
                  <a:pt x="2650" y="3276"/>
                </a:lnTo>
                <a:lnTo>
                  <a:pt x="2746" y="3234"/>
                </a:lnTo>
                <a:lnTo>
                  <a:pt x="2840" y="3190"/>
                </a:lnTo>
                <a:lnTo>
                  <a:pt x="2840" y="3190"/>
                </a:lnTo>
                <a:lnTo>
                  <a:pt x="2966" y="3128"/>
                </a:lnTo>
                <a:lnTo>
                  <a:pt x="3092" y="3062"/>
                </a:lnTo>
                <a:lnTo>
                  <a:pt x="3218" y="2996"/>
                </a:lnTo>
                <a:lnTo>
                  <a:pt x="3342" y="2928"/>
                </a:lnTo>
                <a:lnTo>
                  <a:pt x="3464" y="2858"/>
                </a:lnTo>
                <a:lnTo>
                  <a:pt x="3586" y="2786"/>
                </a:lnTo>
                <a:lnTo>
                  <a:pt x="3708" y="2714"/>
                </a:lnTo>
                <a:lnTo>
                  <a:pt x="3828" y="2640"/>
                </a:lnTo>
                <a:lnTo>
                  <a:pt x="3828" y="2640"/>
                </a:lnTo>
                <a:lnTo>
                  <a:pt x="3974" y="2548"/>
                </a:lnTo>
                <a:lnTo>
                  <a:pt x="3974" y="2548"/>
                </a:lnTo>
                <a:lnTo>
                  <a:pt x="3980" y="2544"/>
                </a:lnTo>
                <a:lnTo>
                  <a:pt x="3984" y="2540"/>
                </a:lnTo>
                <a:lnTo>
                  <a:pt x="3986" y="2534"/>
                </a:lnTo>
                <a:lnTo>
                  <a:pt x="3986" y="2526"/>
                </a:lnTo>
                <a:lnTo>
                  <a:pt x="3986" y="2526"/>
                </a:lnTo>
                <a:close/>
              </a:path>
            </a:pathLst>
          </a:custGeom>
          <a:solidFill>
            <a:schemeClr val="accent5"/>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7" name="Title 1"/>
          <p:cNvSpPr>
            <a:spLocks noGrp="1"/>
          </p:cNvSpPr>
          <p:nvPr>
            <p:ph type="ctrTitle" hasCustomPrompt="1"/>
          </p:nvPr>
        </p:nvSpPr>
        <p:spPr>
          <a:xfrm>
            <a:off x="407988" y="2339788"/>
            <a:ext cx="4967932" cy="14498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oAutofit/>
          </a:bodyPr>
          <a:lstStyle>
            <a:lvl1pPr>
              <a:lnSpc>
                <a:spcPts val="3000"/>
              </a:lnSpc>
              <a:defRPr lang="en-US" sz="2600" b="0" dirty="0">
                <a:solidFill>
                  <a:schemeClr val="accent1"/>
                </a:solidFill>
              </a:defRPr>
            </a:lvl1pPr>
          </a:lstStyle>
          <a:p>
            <a:pPr marL="0" lvl="0"/>
            <a:r>
              <a:rPr lang="en-US"/>
              <a:t>Click to insert title</a:t>
            </a:r>
          </a:p>
        </p:txBody>
      </p:sp>
      <p:sp>
        <p:nvSpPr>
          <p:cNvPr id="8" name="Subtitle 2"/>
          <p:cNvSpPr>
            <a:spLocks noGrp="1"/>
          </p:cNvSpPr>
          <p:nvPr>
            <p:ph type="subTitle" idx="1" hasCustomPrompt="1"/>
          </p:nvPr>
        </p:nvSpPr>
        <p:spPr>
          <a:xfrm>
            <a:off x="407988" y="3932559"/>
            <a:ext cx="4967932" cy="1223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accent1"/>
                </a:solidFill>
              </a:defRPr>
            </a:lvl1pPr>
          </a:lstStyle>
          <a:p>
            <a:pPr marL="0" lvl="0"/>
            <a:r>
              <a:rPr lang="en-US"/>
              <a:t>Click to insert presenter, location, and date</a:t>
            </a:r>
          </a:p>
        </p:txBody>
      </p:sp>
      <p:sp>
        <p:nvSpPr>
          <p:cNvPr id="16"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5537200" y="-1588"/>
            <a:ext cx="6654800" cy="6859588"/>
          </a:xfrm>
          <a:prstGeom prst="rect">
            <a:avLst/>
          </a:prstGeom>
        </p:spPr>
        <p:txBody>
          <a:bodyPr anchor="ctr"/>
          <a:lstStyle>
            <a:lvl1pPr marL="0" indent="0" algn="ctr">
              <a:buNone/>
              <a:defRPr/>
            </a:lvl1pPr>
          </a:lstStyle>
          <a:p>
            <a:r>
              <a:rPr lang="en-US" err="1"/>
              <a:t>Cliquez</a:t>
            </a:r>
            <a:r>
              <a:rPr lang="en-US"/>
              <a:t> sur </a:t>
            </a:r>
            <a:r>
              <a:rPr lang="en-US" err="1"/>
              <a:t>l'icône</a:t>
            </a:r>
            <a:r>
              <a:rPr lang="en-US"/>
              <a:t> pour </a:t>
            </a:r>
            <a:r>
              <a:rPr lang="en-US" err="1"/>
              <a:t>ajouter</a:t>
            </a:r>
            <a:r>
              <a:rPr lang="en-US"/>
              <a:t> </a:t>
            </a:r>
            <a:r>
              <a:rPr lang="en-US" err="1"/>
              <a:t>une</a:t>
            </a:r>
            <a:r>
              <a:rPr lang="en-US"/>
              <a:t> image</a:t>
            </a:r>
          </a:p>
        </p:txBody>
      </p:sp>
      <p:grpSp>
        <p:nvGrpSpPr>
          <p:cNvPr id="17" name="Group 14"/>
          <p:cNvGrpSpPr>
            <a:grpSpLocks noChangeAspect="1"/>
          </p:cNvGrpSpPr>
          <p:nvPr userDrawn="1"/>
        </p:nvGrpSpPr>
        <p:grpSpPr>
          <a:xfrm>
            <a:off x="407988" y="695702"/>
            <a:ext cx="5040000" cy="1123653"/>
            <a:chOff x="728663" y="4465638"/>
            <a:chExt cx="5354637" cy="1193800"/>
          </a:xfrm>
        </p:grpSpPr>
        <p:sp>
          <p:nvSpPr>
            <p:cNvPr id="18"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19" name="Freeform 12"/>
            <p:cNvSpPr>
              <a:spLocks noEditPoints="1"/>
            </p:cNvSpPr>
            <p:nvPr userDrawn="1"/>
          </p:nvSpPr>
          <p:spPr bwMode="auto">
            <a:xfrm>
              <a:off x="728663" y="4483100"/>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0"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1"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sp>
          <p:nvSpPr>
            <p:cNvPr id="22"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US">
                <a:solidFill>
                  <a:prstClr val="black"/>
                </a:solidFill>
              </a:endParaRPr>
            </a:p>
          </p:txBody>
        </p:sp>
      </p:grpSp>
    </p:spTree>
    <p:extLst>
      <p:ext uri="{BB962C8B-B14F-4D97-AF65-F5344CB8AC3E}">
        <p14:creationId xmlns:p14="http://schemas.microsoft.com/office/powerpoint/2010/main" val="2053489804"/>
      </p:ext>
    </p:extLst>
  </p:cSld>
  <p:clrMapOvr>
    <a:masterClrMapping/>
  </p:clrMapOvr>
  <p:extLst>
    <p:ext uri="{DCECCB84-F9BA-43D5-87BE-67443E8EF086}">
      <p15:sldGuideLst xmlns:p15="http://schemas.microsoft.com/office/powerpoint/2012/main">
        <p15:guide id="1" pos="257">
          <p15:clr>
            <a:srgbClr val="FBAE40"/>
          </p15:clr>
        </p15:guide>
        <p15:guide id="2" orient="horz" pos="935">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Big Table">
    <p:spTree>
      <p:nvGrpSpPr>
        <p:cNvPr id="1" name=""/>
        <p:cNvGrpSpPr/>
        <p:nvPr/>
      </p:nvGrpSpPr>
      <p:grpSpPr>
        <a:xfrm>
          <a:off x="0" y="0"/>
          <a:ext cx="0" cy="0"/>
          <a:chOff x="0" y="0"/>
          <a:chExt cx="0" cy="0"/>
        </a:xfrm>
      </p:grpSpPr>
      <p:sp>
        <p:nvSpPr>
          <p:cNvPr id="6" name="Retângulo 43">
            <a:extLst>
              <a:ext uri="{FF2B5EF4-FFF2-40B4-BE49-F238E27FC236}">
                <a16:creationId xmlns:a16="http://schemas.microsoft.com/office/drawing/2014/main" id="{25FC8637-25BD-4C09-AF25-56B4243DAB3D}"/>
              </a:ext>
            </a:extLst>
          </p:cNvPr>
          <p:cNvSpPr/>
          <p:nvPr userDrawn="1"/>
        </p:nvSpPr>
        <p:spPr>
          <a:xfrm>
            <a:off x="6924021" y="6592810"/>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pPr algn="r"/>
              <a:t>‹#›</a:t>
            </a:fld>
            <a:endParaRPr lang="en-US" sz="80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8"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a:lnSpc>
                <a:spcPct val="85000"/>
              </a:lnSpc>
              <a:defRPr/>
            </a:pPr>
            <a:r>
              <a:rPr lang="en-US" sz="800" kern="0">
                <a:solidFill>
                  <a:srgbClr val="00458D"/>
                </a:solidFill>
                <a:cs typeface="Arial" panose="020B0604020202020204" pitchFamily="34" charset="0"/>
              </a:rPr>
              <a:t>Presentation Title | Author | Date</a:t>
            </a:r>
          </a:p>
        </p:txBody>
      </p:sp>
      <p:sp>
        <p:nvSpPr>
          <p:cNvPr id="9"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r>
              <a:rPr lang="en-US" sz="800">
                <a:solidFill>
                  <a:srgbClr val="E6E7E7">
                    <a:lumMod val="50000"/>
                  </a:srgbClr>
                </a:solidFill>
                <a:cs typeface="Arial" panose="020B0604020202020204" pitchFamily="34" charset="0"/>
              </a:rPr>
              <a:t>© 2017 Capgemini. All rights reserved.</a:t>
            </a:r>
          </a:p>
        </p:txBody>
      </p:sp>
      <p:sp>
        <p:nvSpPr>
          <p:cNvPr id="10"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944596" cy="863600"/>
          </a:xfrm>
          <a:prstGeom prst="rect">
            <a:avLst/>
          </a:prstGeom>
        </p:spPr>
        <p:txBody>
          <a:bodyPr vert="horz" lIns="0" tIns="0" rIns="0" bIns="0" rtlCol="0" anchor="t">
            <a:normAutofit/>
          </a:bodyPr>
          <a:lstStyle>
            <a:lvl1pPr>
              <a:defRPr lang="pt-PT" b="0" i="0" dirty="0">
                <a:latin typeface="+mn-lt"/>
              </a:defRPr>
            </a:lvl1pPr>
          </a:lstStyle>
          <a:p>
            <a:pPr lvl="0">
              <a:lnSpc>
                <a:spcPts val="3000"/>
              </a:lnSpc>
            </a:pPr>
            <a:r>
              <a:rPr lang="en-US"/>
              <a:t>Click to add title</a:t>
            </a:r>
            <a:endParaRPr lang="pt-PT"/>
          </a:p>
        </p:txBody>
      </p:sp>
      <p:pic>
        <p:nvPicPr>
          <p:cNvPr id="12"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t="-5676"/>
          <a:stretch/>
        </p:blipFill>
        <p:spPr>
          <a:xfrm>
            <a:off x="11635686" y="6398376"/>
            <a:ext cx="424356" cy="459624"/>
          </a:xfrm>
          <a:prstGeom prst="rect">
            <a:avLst/>
          </a:prstGeom>
        </p:spPr>
      </p:pic>
      <p:sp>
        <p:nvSpPr>
          <p:cNvPr id="14" name="Text Placeholder 2"/>
          <p:cNvSpPr>
            <a:spLocks noGrp="1"/>
          </p:cNvSpPr>
          <p:nvPr>
            <p:ph idx="1"/>
          </p:nvPr>
        </p:nvSpPr>
        <p:spPr>
          <a:xfrm>
            <a:off x="413067" y="1412875"/>
            <a:ext cx="11370945" cy="5040313"/>
          </a:xfrm>
          <a:prstGeom prst="rect">
            <a:avLst/>
          </a:prstGeom>
        </p:spPr>
        <p:txBody>
          <a:bodyPr vert="horz" lIns="0" tIns="0" rIns="0" bIns="0" rtlCol="0">
            <a:normAutofit/>
          </a:bodyPr>
          <a:lstStyle>
            <a:lvl1pPr>
              <a:defRPr lang="en-US" dirty="0">
                <a:latin typeface="+mn-lt"/>
                <a:ea typeface="+mn-ea"/>
                <a:cs typeface="+mn-cs"/>
              </a:defRPr>
            </a:lvl1pPr>
            <a:lvl2pPr>
              <a:defRPr lang="en-US" dirty="0">
                <a:latin typeface="+mn-lt"/>
                <a:ea typeface="+mn-ea"/>
                <a:cs typeface="+mn-cs"/>
              </a:defRPr>
            </a:lvl2pPr>
            <a:lvl3pPr>
              <a:defRPr lang="en-US" dirty="0">
                <a:latin typeface="+mn-lt"/>
                <a:ea typeface="+mn-ea"/>
                <a:cs typeface="+mn-cs"/>
              </a:defRPr>
            </a:lvl3pPr>
            <a:lvl4pPr>
              <a:defRPr lang="en-US" dirty="0">
                <a:latin typeface="+mn-lt"/>
                <a:ea typeface="+mn-ea"/>
                <a:cs typeface="+mn-cs"/>
              </a:defRPr>
            </a:lvl4pPr>
          </a:lstStyle>
          <a:p>
            <a:pPr lvl="0">
              <a:lnSpc>
                <a:spcPts val="2200"/>
              </a:lnSpc>
              <a:spcBef>
                <a:spcPts val="0"/>
              </a:spcBef>
              <a:spcAft>
                <a:spcPts val="600"/>
              </a:spcAft>
            </a:pPr>
            <a:r>
              <a:rPr lang="en-US"/>
              <a:t>Edit Master text styles</a:t>
            </a:r>
          </a:p>
          <a:p>
            <a:pPr marL="233363" lvl="1">
              <a:lnSpc>
                <a:spcPts val="2000"/>
              </a:lnSpc>
              <a:spcBef>
                <a:spcPts val="0"/>
              </a:spcBef>
              <a:spcAft>
                <a:spcPts val="600"/>
              </a:spcAft>
              <a:buClr>
                <a:schemeClr val="accent1"/>
              </a:buClr>
              <a:buFont typeface="Wingdings" panose="05000000000000000000" pitchFamily="2" charset="2"/>
              <a:buChar char="§"/>
            </a:pPr>
            <a:r>
              <a:rPr lang="en-US"/>
              <a:t>Second level</a:t>
            </a:r>
          </a:p>
          <a:p>
            <a:pPr marL="457200" lvl="2" indent="-223838">
              <a:lnSpc>
                <a:spcPts val="1600"/>
              </a:lnSpc>
              <a:spcBef>
                <a:spcPts val="0"/>
              </a:spcBef>
              <a:spcAft>
                <a:spcPts val="600"/>
              </a:spcAft>
              <a:buClr>
                <a:schemeClr val="accent1"/>
              </a:buClr>
            </a:pPr>
            <a:r>
              <a:rPr lang="en-US"/>
              <a:t>Third level</a:t>
            </a:r>
          </a:p>
          <a:p>
            <a:pPr marL="690563" lvl="3" indent="-233363">
              <a:spcBef>
                <a:spcPts val="0"/>
              </a:spcBef>
              <a:spcAft>
                <a:spcPts val="600"/>
              </a:spcAft>
              <a:buClr>
                <a:schemeClr val="accent1"/>
              </a:buClr>
              <a:buChar char="‒"/>
            </a:pPr>
            <a:r>
              <a:rPr lang="en-US"/>
              <a:t>Fourth level</a:t>
            </a:r>
          </a:p>
        </p:txBody>
      </p:sp>
    </p:spTree>
    <p:extLst>
      <p:ext uri="{BB962C8B-B14F-4D97-AF65-F5344CB8AC3E}">
        <p14:creationId xmlns:p14="http://schemas.microsoft.com/office/powerpoint/2010/main" val="9948612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err="1"/>
              <a:t>Modifiez</a:t>
            </a:r>
            <a:r>
              <a:rPr lang="en-US"/>
              <a:t> le style du </a:t>
            </a:r>
            <a:r>
              <a:rPr lang="en-US" err="1"/>
              <a:t>titre</a:t>
            </a:r>
            <a:endParaRPr lang="en-US"/>
          </a:p>
        </p:txBody>
      </p:sp>
    </p:spTree>
    <p:extLst>
      <p:ext uri="{BB962C8B-B14F-4D97-AF65-F5344CB8AC3E}">
        <p14:creationId xmlns:p14="http://schemas.microsoft.com/office/powerpoint/2010/main" val="30294371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87" y="2010606"/>
            <a:ext cx="5543551" cy="4442581"/>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5" y="2010606"/>
            <a:ext cx="5516444" cy="4441372"/>
          </a:xfrm>
          <a:prstGeom prst="rect">
            <a:avLst/>
          </a:prstGeom>
        </p:spPr>
        <p:txBody>
          <a:bodyPr>
            <a:noAutofit/>
          </a:bodyPr>
          <a:lstStyle>
            <a:lvl1pPr>
              <a:lnSpc>
                <a:spcPct val="100000"/>
              </a:lnSpc>
              <a:defRPr sz="1400">
                <a:solidFill>
                  <a:schemeClr val="tx1"/>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87" y="1420990"/>
            <a:ext cx="5543551"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5" y="1420990"/>
            <a:ext cx="5516444" cy="438494"/>
          </a:xfrm>
          <a:prstGeom prst="rect">
            <a:avLst/>
          </a:prstGeom>
        </p:spPr>
        <p:txBody>
          <a:bodyPr>
            <a:noAutofit/>
          </a:bodyPr>
          <a:lstStyle>
            <a:lvl1pPr>
              <a:lnSpc>
                <a:spcPts val="2200"/>
              </a:lnSpc>
              <a:defRPr sz="1800" b="0">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000"/>
              </a:lnSpc>
            </a:pPr>
            <a:r>
              <a:rPr lang="en-US"/>
              <a:t>Click to insert title</a:t>
            </a:r>
            <a:endParaRPr lang="pt-PT"/>
          </a:p>
        </p:txBody>
      </p:sp>
      <p:sp>
        <p:nvSpPr>
          <p:cNvPr id="16"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20"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21" name="Rectangle 27">
            <a:hlinkClick r:id="rId2"/>
            <a:extLst>
              <a:ext uri="{FF2B5EF4-FFF2-40B4-BE49-F238E27FC236}">
                <a16:creationId xmlns:a16="http://schemas.microsoft.com/office/drawing/2014/main" id="{F376ABD1-4930-42EB-9A73-9A9C7C6BF2D3}"/>
              </a:ext>
            </a:extLst>
          </p:cNvPr>
          <p:cNvSpPr/>
          <p:nvPr userDrawn="1"/>
        </p:nvSpPr>
        <p:spPr>
          <a:xfrm>
            <a:off x="407988" y="6555971"/>
            <a:ext cx="2829007" cy="219456"/>
          </a:xfrm>
          <a:prstGeom prst="rect">
            <a:avLst/>
          </a:prstGeom>
        </p:spPr>
        <p:txBody>
          <a:bodyPr wrap="square" lIns="0" tIns="0" rIns="0" bIns="0" anchor="ctr" anchorCtr="0">
            <a:noAutofit/>
          </a:bodyPr>
          <a:lstStyle/>
          <a:p>
            <a:pPr lvl="0" algn="l" defTabSz="914400">
              <a:lnSpc>
                <a:spcPct val="85000"/>
              </a:lnSpc>
              <a:defRPr/>
            </a:pPr>
            <a:r>
              <a:rPr lang="en-US" sz="800" kern="0">
                <a:solidFill>
                  <a:srgbClr val="00458D"/>
                </a:solidFill>
                <a:latin typeface="+mj-lt"/>
                <a:cs typeface="Arial" panose="020B0604020202020204" pitchFamily="34" charset="0"/>
              </a:rPr>
              <a:t>Presentation Title | Author | Date</a:t>
            </a:r>
          </a:p>
        </p:txBody>
      </p:sp>
      <p:sp>
        <p:nvSpPr>
          <p:cNvPr id="22"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a:solidFill>
                  <a:schemeClr val="bg2">
                    <a:lumMod val="50000"/>
                  </a:schemeClr>
                </a:solidFill>
                <a:cs typeface="Arial" panose="020B0604020202020204" pitchFamily="34" charset="0"/>
              </a:rPr>
              <a:t>© 2017 Capgemini. All rights reserved.</a:t>
            </a:r>
          </a:p>
        </p:txBody>
      </p:sp>
    </p:spTree>
    <p:extLst>
      <p:ext uri="{BB962C8B-B14F-4D97-AF65-F5344CB8AC3E}">
        <p14:creationId xmlns:p14="http://schemas.microsoft.com/office/powerpoint/2010/main" val="15869852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losing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5"/>
          <p:cNvSpPr>
            <a:spLocks/>
          </p:cNvSpPr>
          <p:nvPr userDrawn="1"/>
        </p:nvSpPr>
        <p:spPr bwMode="auto">
          <a:xfrm>
            <a:off x="-1243012" y="-2656920"/>
            <a:ext cx="10768012" cy="11443496"/>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407" h="3621">
                <a:moveTo>
                  <a:pt x="854" y="0"/>
                </a:moveTo>
                <a:cubicBezTo>
                  <a:pt x="0" y="0"/>
                  <a:pt x="0" y="0"/>
                  <a:pt x="0" y="0"/>
                </a:cubicBezTo>
                <a:cubicBezTo>
                  <a:pt x="0" y="3621"/>
                  <a:pt x="0" y="3621"/>
                  <a:pt x="0" y="3621"/>
                </a:cubicBezTo>
                <a:cubicBezTo>
                  <a:pt x="3407" y="3621"/>
                  <a:pt x="3407" y="3621"/>
                  <a:pt x="3407" y="3621"/>
                </a:cubicBezTo>
                <a:cubicBezTo>
                  <a:pt x="3407" y="3617"/>
                  <a:pt x="3407" y="3617"/>
                  <a:pt x="3407" y="3617"/>
                </a:cubicBezTo>
                <a:cubicBezTo>
                  <a:pt x="179" y="3617"/>
                  <a:pt x="179" y="3617"/>
                  <a:pt x="179" y="3617"/>
                </a:cubicBezTo>
                <a:cubicBezTo>
                  <a:pt x="2551" y="2996"/>
                  <a:pt x="2421" y="1729"/>
                  <a:pt x="2096" y="1606"/>
                </a:cubicBezTo>
                <a:cubicBezTo>
                  <a:pt x="2281" y="2130"/>
                  <a:pt x="865" y="1627"/>
                  <a:pt x="854" y="0"/>
                </a:cubicBezTo>
              </a:path>
            </a:pathLst>
          </a:custGeom>
          <a:solidFill>
            <a:srgbClr val="300B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9" name="Group 8"/>
          <p:cNvGrpSpPr/>
          <p:nvPr userDrawn="1"/>
        </p:nvGrpSpPr>
        <p:grpSpPr>
          <a:xfrm>
            <a:off x="4979035" y="2404110"/>
            <a:ext cx="735013" cy="682321"/>
            <a:chOff x="5662614" y="3032124"/>
            <a:chExt cx="863600" cy="801689"/>
          </a:xfrm>
        </p:grpSpPr>
        <p:sp>
          <p:nvSpPr>
            <p:cNvPr id="10" name="Freeform 9"/>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12"/>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Rectangle 13"/>
          <p:cNvSpPr/>
          <p:nvPr userDrawn="1"/>
        </p:nvSpPr>
        <p:spPr>
          <a:xfrm>
            <a:off x="6536184" y="2886346"/>
            <a:ext cx="5125720"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r>
              <a:rPr lang="en-US" sz="900">
                <a:solidFill>
                  <a:schemeClr val="tx1"/>
                </a:solidFill>
              </a:rPr>
              <a:t>With more than 190,000 people, Capgemini is present in over 40 countries and celebrates its 50th Anniversary year in 2017. A global leader in consulting, technology and outsourcing services, the Group reported 2016 global revenues of EUR 12.5 billion. Together with its clients, Capgemini creates and delivers business, technology and digital solutions that fit their needs, enabling them to achieve innovation and competitiveness. A deeply multicultural organization, Capgemini has developed its own way of working, </a:t>
            </a:r>
            <a:r>
              <a:rPr lang="en-US" sz="900">
                <a:solidFill>
                  <a:schemeClr val="accent1"/>
                </a:solidFill>
              </a:rPr>
              <a:t>the Collaborative Business Experience™</a:t>
            </a:r>
            <a:r>
              <a:rPr lang="en-US" sz="900">
                <a:solidFill>
                  <a:schemeClr val="tx1"/>
                </a:solidFill>
              </a:rPr>
              <a:t>, and draws on </a:t>
            </a:r>
            <a:r>
              <a:rPr lang="en-US" sz="900">
                <a:solidFill>
                  <a:schemeClr val="accent1"/>
                </a:solidFill>
              </a:rPr>
              <a:t>Rightshore</a:t>
            </a:r>
            <a:r>
              <a:rPr lang="en-US" sz="900" baseline="30000">
                <a:solidFill>
                  <a:schemeClr val="accent1"/>
                </a:solidFill>
              </a:rPr>
              <a:t>®</a:t>
            </a:r>
            <a:r>
              <a:rPr lang="en-US" sz="900">
                <a:solidFill>
                  <a:schemeClr val="tx1"/>
                </a:solidFill>
              </a:rPr>
              <a:t>, its worldwide delivery model.</a:t>
            </a: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userDrawn="1"/>
        </p:nvSpPr>
        <p:spPr>
          <a:xfrm>
            <a:off x="6536184" y="4235826"/>
            <a:ext cx="2057400"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a:solidFill>
                  <a:schemeClr val="tx1"/>
                </a:solidFill>
              </a:rPr>
              <a:t>Learn more about us at</a:t>
            </a:r>
          </a:p>
          <a:p>
            <a:pPr algn="just">
              <a:lnSpc>
                <a:spcPts val="1200"/>
              </a:lnSpc>
            </a:pPr>
            <a:r>
              <a:rPr lang="en-US" sz="140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798415" y="3979258"/>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81792" y="3979258"/>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65169" y="3979258"/>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48545" y="3979258"/>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15038" y="3979258"/>
            <a:ext cx="333195" cy="333195"/>
          </a:xfrm>
          <a:prstGeom prst="rect">
            <a:avLst/>
          </a:prstGeom>
          <a:noFill/>
        </p:spPr>
      </p:pic>
      <p:sp>
        <p:nvSpPr>
          <p:cNvPr id="23" name="Rectangle 22"/>
          <p:cNvSpPr/>
          <p:nvPr userDrawn="1"/>
        </p:nvSpPr>
        <p:spPr>
          <a:xfrm>
            <a:off x="415038" y="5640913"/>
            <a:ext cx="4198620" cy="569387"/>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message contains information that may be privileged or confidential and is the property of the Capgemini Group.</a:t>
            </a:r>
            <a:br>
              <a:rPr lang="en-US" sz="800" noProof="0">
                <a:solidFill>
                  <a:schemeClr val="bg1"/>
                </a:solidFill>
                <a:latin typeface="+mn-lt"/>
                <a:cs typeface="Arial"/>
              </a:rPr>
            </a:br>
            <a:r>
              <a:rPr lang="en-US" sz="800" noProof="0">
                <a:solidFill>
                  <a:schemeClr val="bg1"/>
                </a:solidFill>
                <a:latin typeface="Arial"/>
                <a:cs typeface="Arial"/>
              </a:rPr>
              <a:t>Copyright © 2018 Capgemini. All rights reserved.</a:t>
            </a:r>
          </a:p>
          <a:p>
            <a:pPr marL="0" marR="0" indent="0" defTabSz="957756" rtl="0" eaLnBrk="1" fontAlgn="auto" latinLnBrk="0" hangingPunct="1">
              <a:lnSpc>
                <a:spcPct val="100000"/>
              </a:lnSpc>
              <a:spcBef>
                <a:spcPts val="0"/>
              </a:spcBef>
              <a:spcAft>
                <a:spcPts val="600"/>
              </a:spcAft>
              <a:buClrTx/>
              <a:buSzTx/>
              <a:buFontTx/>
              <a:buNone/>
              <a:tabLst/>
              <a:defRPr/>
            </a:pPr>
            <a:r>
              <a:rPr lang="en-US" sz="800" noProof="0">
                <a:solidFill>
                  <a:schemeClr val="bg1"/>
                </a:solidFill>
                <a:latin typeface="Arial"/>
                <a:cs typeface="Arial"/>
              </a:rPr>
              <a:t>Rightshore</a:t>
            </a:r>
            <a:r>
              <a:rPr lang="en-US" sz="800" baseline="30000" noProof="0">
                <a:solidFill>
                  <a:schemeClr val="bg1"/>
                </a:solidFill>
                <a:latin typeface="Arial"/>
                <a:cs typeface="Arial"/>
              </a:rPr>
              <a:t>®</a:t>
            </a:r>
            <a:r>
              <a:rPr lang="en-US" sz="800" noProof="0">
                <a:solidFill>
                  <a:schemeClr val="bg1"/>
                </a:solidFill>
                <a:latin typeface="Arial"/>
                <a:cs typeface="Arial"/>
              </a:rPr>
              <a:t> is a trademark belonging to Capgemini.</a:t>
            </a:r>
          </a:p>
        </p:txBody>
      </p:sp>
      <p:sp>
        <p:nvSpPr>
          <p:cNvPr id="24" name="Rectangle 23"/>
          <p:cNvSpPr/>
          <p:nvPr userDrawn="1"/>
        </p:nvSpPr>
        <p:spPr>
          <a:xfrm>
            <a:off x="6536184" y="5933302"/>
            <a:ext cx="5219699" cy="276999"/>
          </a:xfrm>
          <a:prstGeom prst="rect">
            <a:avLst/>
          </a:prstGeom>
        </p:spPr>
        <p:txBody>
          <a:bodyPr wrap="square" lIns="0" tIns="0" rIns="0" bIns="0" anchor="b" anchorCtr="0">
            <a:spAutoFit/>
          </a:bodyPr>
          <a:lstStyle/>
          <a:p>
            <a:pPr>
              <a:spcAft>
                <a:spcPts val="600"/>
              </a:spcAft>
            </a:pPr>
            <a:r>
              <a:rPr lang="en-US" sz="60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a:hlinkClick r:id="rId14"/>
          </p:cNvPr>
          <p:cNvSpPr/>
          <p:nvPr userDrawn="1"/>
        </p:nvSpPr>
        <p:spPr>
          <a:xfrm>
            <a:off x="6532245" y="4445639"/>
            <a:ext cx="1851660" cy="183449"/>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9" name="Picture 28"/>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407572" y="4434172"/>
            <a:ext cx="2560320" cy="201012"/>
          </a:xfrm>
          <a:prstGeom prst="rect">
            <a:avLst/>
          </a:prstGeom>
        </p:spPr>
      </p:pic>
    </p:spTree>
    <p:extLst>
      <p:ext uri="{BB962C8B-B14F-4D97-AF65-F5344CB8AC3E}">
        <p14:creationId xmlns:p14="http://schemas.microsoft.com/office/powerpoint/2010/main" val="40255028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defTabSz="914400"/>
            <a:fld id="{0502E5A9-B53C-401E-A0E0-4A359BB0A9E5}" type="slidenum">
              <a:rPr lang="en-US" sz="800" smtClean="0">
                <a:solidFill>
                  <a:prstClr val="black">
                    <a:lumMod val="50000"/>
                    <a:lumOff val="50000"/>
                  </a:prstClr>
                </a:solidFill>
                <a:cs typeface="Arial" panose="020B0604020202020204" pitchFamily="34" charset="0"/>
              </a:rPr>
              <a:pPr algn="r" defTabSz="914400"/>
              <a:t>‹#›</a:t>
            </a:fld>
            <a:endParaRPr lang="en-US" sz="800">
              <a:solidFill>
                <a:prstClr val="black">
                  <a:lumMod val="50000"/>
                  <a:lumOff val="50000"/>
                </a:prstClr>
              </a:solidFill>
              <a:cs typeface="Arial" panose="020B0604020202020204" pitchFamily="34" charset="0"/>
            </a:endParaRPr>
          </a:p>
        </p:txBody>
      </p:sp>
    </p:spTree>
    <p:extLst>
      <p:ext uri="{BB962C8B-B14F-4D97-AF65-F5344CB8AC3E}">
        <p14:creationId xmlns:p14="http://schemas.microsoft.com/office/powerpoint/2010/main" val="983185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Final Slide 1">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1"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chemeClr val="accent3"/>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5" y="2404110"/>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4" name="Rectangle 13"/>
          <p:cNvSpPr/>
          <p:nvPr userDrawn="1"/>
        </p:nvSpPr>
        <p:spPr>
          <a:xfrm>
            <a:off x="6536185" y="2886346"/>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tx1"/>
                </a:solidFill>
                <a:effectLst/>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tx1"/>
              </a:solidFill>
              <a:effectLst/>
            </a:endParaRPr>
          </a:p>
        </p:txBody>
      </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accent1"/>
                </a:solidFill>
              </a:rPr>
              <a:t>About Capgemini</a:t>
            </a:r>
          </a:p>
        </p:txBody>
      </p:sp>
      <p:sp>
        <p:nvSpPr>
          <p:cNvPr id="16" name="Rectangle 15"/>
          <p:cNvSpPr/>
          <p:nvPr userDrawn="1"/>
        </p:nvSpPr>
        <p:spPr>
          <a:xfrm>
            <a:off x="6536184" y="4461866"/>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tx1"/>
                </a:solidFill>
                <a:effectLst/>
              </a:rPr>
              <a:t>Get the Future You Want </a:t>
            </a:r>
            <a:r>
              <a:rPr lang="en-US" sz="900">
                <a:solidFill>
                  <a:schemeClr val="tx1"/>
                </a:solidFill>
                <a:effectLst/>
              </a:rPr>
              <a:t>|</a:t>
            </a:r>
            <a:r>
              <a:rPr lang="en-GB" sz="900">
                <a:solidFill>
                  <a:schemeClr val="tx1"/>
                </a:solidFill>
                <a:effectLst/>
              </a:rPr>
              <a:t> </a:t>
            </a:r>
            <a:r>
              <a:rPr lang="en-US" sz="1050">
                <a:solidFill>
                  <a:schemeClr val="accent2"/>
                </a:solidFill>
              </a:rPr>
              <a:t>www.capgemini.com</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userDrawn="1"/>
        </p:nvSpPr>
        <p:spPr>
          <a:xfrm>
            <a:off x="426720" y="5764024"/>
            <a:ext cx="4013280" cy="446276"/>
          </a:xfrm>
          <a:prstGeom prst="rect">
            <a:avLst/>
          </a:prstGeom>
        </p:spPr>
        <p:txBody>
          <a:bodyPr wrap="square" lIns="0" tIns="0" rIns="0" bIns="0" anchor="b" anchorCtr="0">
            <a:spAutoFit/>
          </a:bodyPr>
          <a:lstStyle/>
          <a:p>
            <a:pPr>
              <a:spcAft>
                <a:spcPts val="600"/>
              </a:spcAft>
            </a:pPr>
            <a:r>
              <a:rPr lang="en-US" sz="80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800" noProof="0">
                <a:solidFill>
                  <a:schemeClr val="bg1"/>
                </a:solidFill>
                <a:latin typeface="Arial"/>
                <a:cs typeface="Arial"/>
              </a:rPr>
              <a:t>Copyright © 2021 Capgemini. All rights reserved.</a:t>
            </a:r>
          </a:p>
        </p:txBody>
      </p:sp>
      <p:sp>
        <p:nvSpPr>
          <p:cNvPr id="25" name="Rectangle 24">
            <a:hlinkClick r:id="rId12"/>
          </p:cNvPr>
          <p:cNvSpPr/>
          <p:nvPr userDrawn="1"/>
        </p:nvSpPr>
        <p:spPr>
          <a:xfrm>
            <a:off x="7489902" y="3812094"/>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a:hlinkClick r:id="rId13"/>
          </p:cNvPr>
          <p:cNvSpPr/>
          <p:nvPr userDrawn="1"/>
        </p:nvSpPr>
        <p:spPr>
          <a:xfrm>
            <a:off x="10730865" y="3812094"/>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776822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657745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0" name="Groupe 1">
            <a:extLst>
              <a:ext uri="{FF2B5EF4-FFF2-40B4-BE49-F238E27FC236}">
                <a16:creationId xmlns:a16="http://schemas.microsoft.com/office/drawing/2014/main" id="{51FFF118-98EE-8DA3-DBD4-BAFD857D317B}"/>
              </a:ext>
            </a:extLst>
          </p:cNvPr>
          <p:cNvGrpSpPr>
            <a:grpSpLocks noChangeAspect="1"/>
          </p:cNvGrpSpPr>
          <p:nvPr userDrawn="1"/>
        </p:nvGrpSpPr>
        <p:grpSpPr>
          <a:xfrm>
            <a:off x="11562163" y="205059"/>
            <a:ext cx="419436" cy="388988"/>
            <a:chOff x="11501102" y="171573"/>
            <a:chExt cx="419436" cy="388988"/>
          </a:xfrm>
          <a:solidFill>
            <a:schemeClr val="tx1"/>
          </a:solidFill>
        </p:grpSpPr>
        <p:sp>
          <p:nvSpPr>
            <p:cNvPr id="11" name="Freeform 13">
              <a:extLst>
                <a:ext uri="{FF2B5EF4-FFF2-40B4-BE49-F238E27FC236}">
                  <a16:creationId xmlns:a16="http://schemas.microsoft.com/office/drawing/2014/main" id="{6B25F92B-C157-3ACB-55CE-8C228CF85F76}"/>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latin typeface="Ubuntu" panose="020B0504030602030204" pitchFamily="34" charset="0"/>
              </a:endParaRPr>
            </a:p>
          </p:txBody>
        </p:sp>
        <p:sp>
          <p:nvSpPr>
            <p:cNvPr id="12" name="Freeform 14">
              <a:extLst>
                <a:ext uri="{FF2B5EF4-FFF2-40B4-BE49-F238E27FC236}">
                  <a16:creationId xmlns:a16="http://schemas.microsoft.com/office/drawing/2014/main" id="{CF1B011F-6FE9-3EE4-8000-222C8F9DE235}"/>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grpFill/>
            <a:ln w="9525">
              <a:noFill/>
              <a:round/>
              <a:headEnd/>
              <a:tailEnd/>
            </a:ln>
          </p:spPr>
          <p:txBody>
            <a:bodyPr vert="horz" wrap="square" lIns="91440" tIns="45720" rIns="91440" bIns="45720" numCol="1" anchor="t" anchorCtr="0" compatLnSpc="1">
              <a:prstTxWarp prst="textNoShape">
                <a:avLst/>
              </a:prstTxWarp>
            </a:bodyPr>
            <a:lstStyle/>
            <a:p>
              <a:endParaRPr lang="en-GB">
                <a:latin typeface="Ubuntu" panose="020B0504030602030204" pitchFamily="34" charset="0"/>
              </a:endParaRPr>
            </a:p>
          </p:txBody>
        </p:sp>
      </p:grpSp>
      <p:sp>
        <p:nvSpPr>
          <p:cNvPr id="2" name="Title Placeholder 1">
            <a:extLst>
              <a:ext uri="{FF2B5EF4-FFF2-40B4-BE49-F238E27FC236}">
                <a16:creationId xmlns:a16="http://schemas.microsoft.com/office/drawing/2014/main" id="{3371DBC7-A563-4787-896F-A8C55AC39541}"/>
              </a:ext>
            </a:extLst>
          </p:cNvPr>
          <p:cNvSpPr>
            <a:spLocks noGrp="1"/>
          </p:cNvSpPr>
          <p:nvPr>
            <p:ph type="title"/>
          </p:nvPr>
        </p:nvSpPr>
        <p:spPr>
          <a:xfrm>
            <a:off x="304800" y="304800"/>
            <a:ext cx="11582400" cy="638175"/>
          </a:xfrm>
          <a:prstGeom prst="rect">
            <a:avLst/>
          </a:prstGeom>
        </p:spPr>
        <p:txBody>
          <a:bodyPr vert="horz" lIns="0" tIns="45720" rIns="0" bIns="45720" rtlCol="0" anchor="t">
            <a:noAutofit/>
          </a:bodyPr>
          <a:lstStyle/>
          <a:p>
            <a:r>
              <a:rPr lang="en-US"/>
              <a:t>Click to edit Master title style</a:t>
            </a:r>
          </a:p>
        </p:txBody>
      </p:sp>
      <p:sp>
        <p:nvSpPr>
          <p:cNvPr id="3" name="Text Placeholder 2">
            <a:extLst>
              <a:ext uri="{FF2B5EF4-FFF2-40B4-BE49-F238E27FC236}">
                <a16:creationId xmlns:a16="http://schemas.microsoft.com/office/drawing/2014/main" id="{8BD4A25B-ECC2-4D0E-BA51-828900AA1150}"/>
              </a:ext>
            </a:extLst>
          </p:cNvPr>
          <p:cNvSpPr>
            <a:spLocks noGrp="1"/>
          </p:cNvSpPr>
          <p:nvPr>
            <p:ph type="body" idx="1"/>
          </p:nvPr>
        </p:nvSpPr>
        <p:spPr>
          <a:xfrm>
            <a:off x="304801" y="1485900"/>
            <a:ext cx="11582400" cy="1855893"/>
          </a:xfrm>
          <a:prstGeom prst="rect">
            <a:avLst/>
          </a:prstGeom>
        </p:spPr>
        <p:txBody>
          <a:bodyPr vert="horz" lIns="0" tIns="45720" rIns="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3">
            <a:extLst>
              <a:ext uri="{FF2B5EF4-FFF2-40B4-BE49-F238E27FC236}">
                <a16:creationId xmlns:a16="http://schemas.microsoft.com/office/drawing/2014/main" id="{4CAD4279-FBF3-4755-ADA6-63C789BE8BA1}"/>
              </a:ext>
            </a:extLst>
          </p:cNvPr>
          <p:cNvSpPr txBox="1">
            <a:spLocks noChangeArrowheads="1"/>
          </p:cNvSpPr>
          <p:nvPr userDrawn="1"/>
        </p:nvSpPr>
        <p:spPr bwMode="white">
          <a:xfrm>
            <a:off x="7924801" y="6544949"/>
            <a:ext cx="3962400" cy="107722"/>
          </a:xfrm>
          <a:prstGeom prst="rect">
            <a:avLst/>
          </a:prstGeom>
          <a:noFill/>
          <a:ln>
            <a:noFill/>
          </a:ln>
        </p:spPr>
        <p:txBody>
          <a:bodyPr lIns="0" tIns="0" rIns="0" bIns="0">
            <a:spAutoFit/>
          </a:bodyPr>
          <a:lstStyle>
            <a:lvl1pPr>
              <a:defRPr>
                <a:solidFill>
                  <a:schemeClr val="tx1"/>
                </a:solidFill>
                <a:latin typeface="+mn-lt"/>
              </a:defRPr>
            </a:lvl1pPr>
            <a:lvl2pPr marL="742950" indent="-285750">
              <a:defRPr>
                <a:solidFill>
                  <a:schemeClr val="tx1"/>
                </a:solidFill>
                <a:latin typeface="+mn-lt"/>
              </a:defRPr>
            </a:lvl2pPr>
            <a:lvl3pPr marL="1143000" indent="-228600">
              <a:defRPr>
                <a:solidFill>
                  <a:schemeClr val="tx1"/>
                </a:solidFill>
                <a:latin typeface="+mn-lt"/>
              </a:defRPr>
            </a:lvl3pPr>
            <a:lvl4pPr marL="1600200" indent="-228600">
              <a:defRPr>
                <a:solidFill>
                  <a:schemeClr val="tx1"/>
                </a:solidFill>
                <a:latin typeface="+mn-lt"/>
              </a:defRPr>
            </a:lvl4pPr>
            <a:lvl5pPr marL="2057400" indent="-228600">
              <a:defRPr>
                <a:solidFill>
                  <a:schemeClr val="tx1"/>
                </a:solidFill>
                <a:latin typeface="+mn-lt"/>
              </a:defRPr>
            </a:lvl5pPr>
            <a:lvl6pPr marL="2514600" indent="-228600" defTabSz="457200" fontAlgn="base">
              <a:spcBef>
                <a:spcPct val="0"/>
              </a:spcBef>
              <a:spcAft>
                <a:spcPct val="0"/>
              </a:spcAft>
              <a:defRPr>
                <a:solidFill>
                  <a:schemeClr val="tx1"/>
                </a:solidFill>
                <a:latin typeface="+mn-lt"/>
              </a:defRPr>
            </a:lvl6pPr>
            <a:lvl7pPr marL="2971800" indent="-228600" defTabSz="457200" fontAlgn="base">
              <a:spcBef>
                <a:spcPct val="0"/>
              </a:spcBef>
              <a:spcAft>
                <a:spcPct val="0"/>
              </a:spcAft>
              <a:defRPr>
                <a:solidFill>
                  <a:schemeClr val="tx1"/>
                </a:solidFill>
                <a:latin typeface="+mn-lt"/>
              </a:defRPr>
            </a:lvl7pPr>
            <a:lvl8pPr marL="3429000" indent="-228600" defTabSz="457200" fontAlgn="base">
              <a:spcBef>
                <a:spcPct val="0"/>
              </a:spcBef>
              <a:spcAft>
                <a:spcPct val="0"/>
              </a:spcAft>
              <a:defRPr>
                <a:solidFill>
                  <a:schemeClr val="tx1"/>
                </a:solidFill>
                <a:latin typeface="+mn-lt"/>
              </a:defRPr>
            </a:lvl8pPr>
            <a:lvl9pPr marL="3886200" indent="-228600" defTabSz="457200" fontAlgn="base">
              <a:spcBef>
                <a:spcPct val="0"/>
              </a:spcBef>
              <a:spcAft>
                <a:spcPct val="0"/>
              </a:spcAft>
              <a:defRPr>
                <a:solidFill>
                  <a:schemeClr val="tx1"/>
                </a:solidFill>
                <a:latin typeface="+mn-lt"/>
              </a:defRPr>
            </a:lvl9pPr>
          </a:lstStyle>
          <a:p>
            <a:pPr algn="r" defTabSz="1097212" eaLnBrk="1" fontAlgn="auto" hangingPunct="1">
              <a:spcBef>
                <a:spcPts val="0"/>
              </a:spcBef>
              <a:spcAft>
                <a:spcPts val="0"/>
              </a:spcAft>
              <a:defRPr/>
            </a:pPr>
            <a:r>
              <a:rPr lang="en-US" altLang="x-none" sz="700" b="0" i="0">
                <a:solidFill>
                  <a:schemeClr val="tx1"/>
                </a:solidFill>
                <a:latin typeface="Ubuntu" panose="020B0504030602030204" pitchFamily="34" charset="0"/>
                <a:ea typeface="Amazon Ember Display" panose="020F0603020204020204" pitchFamily="34" charset="0"/>
                <a:cs typeface="Amazon Ember Display" panose="020F0603020204020204" pitchFamily="34" charset="0"/>
              </a:rPr>
              <a:t>© 2024, Capgemini S.p.A. or its affiliates. All rights reserved.</a:t>
            </a:r>
          </a:p>
        </p:txBody>
      </p:sp>
    </p:spTree>
    <p:extLst>
      <p:ext uri="{BB962C8B-B14F-4D97-AF65-F5344CB8AC3E}">
        <p14:creationId xmlns:p14="http://schemas.microsoft.com/office/powerpoint/2010/main" val="385484851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Lst>
  <p:txStyles>
    <p:titleStyle>
      <a:lvl1pPr algn="l" defTabSz="914400" rtl="0" eaLnBrk="1" latinLnBrk="0" hangingPunct="1">
        <a:lnSpc>
          <a:spcPct val="90000"/>
        </a:lnSpc>
        <a:spcBef>
          <a:spcPct val="0"/>
        </a:spcBef>
        <a:buNone/>
        <a:defRPr sz="3600" kern="1200" spc="-100" baseline="0">
          <a:solidFill>
            <a:schemeClr val="tx1"/>
          </a:solidFill>
          <a:latin typeface="Ubuntu" panose="020B0504030602030204" pitchFamily="34" charset="0"/>
          <a:ea typeface="+mj-ea"/>
          <a:cs typeface="+mj-cs"/>
        </a:defRPr>
      </a:lvl1pPr>
    </p:titleStyle>
    <p:bodyStyle>
      <a:lvl1pPr marL="228600" indent="-228600" algn="l" defTabSz="914400" rtl="0" eaLnBrk="1" latinLnBrk="0" hangingPunct="1">
        <a:lnSpc>
          <a:spcPct val="90000"/>
        </a:lnSpc>
        <a:spcBef>
          <a:spcPts val="0"/>
        </a:spcBef>
        <a:spcAft>
          <a:spcPts val="1200"/>
        </a:spcAft>
        <a:buSzPct val="90000"/>
        <a:buFont typeface="Amazon Ember Display" panose="020F0603020204020204" pitchFamily="34" charset="0"/>
        <a:buChar char="•"/>
        <a:defRPr sz="2400" kern="1200">
          <a:solidFill>
            <a:schemeClr val="tx1"/>
          </a:solidFill>
          <a:latin typeface="Ubuntu" panose="020B0504030602030204" pitchFamily="34" charset="0"/>
          <a:ea typeface="+mn-ea"/>
          <a:cs typeface="+mn-cs"/>
        </a:defRPr>
      </a:lvl1pPr>
      <a:lvl2pPr marL="457200" indent="-228600" algn="l" defTabSz="914400" rtl="0" eaLnBrk="1" latinLnBrk="0" hangingPunct="1">
        <a:lnSpc>
          <a:spcPct val="90000"/>
        </a:lnSpc>
        <a:spcBef>
          <a:spcPts val="0"/>
        </a:spcBef>
        <a:spcAft>
          <a:spcPts val="1200"/>
        </a:spcAft>
        <a:buSzPct val="90000"/>
        <a:buFont typeface="Wingdings" panose="05000000000000000000" pitchFamily="2" charset="2"/>
        <a:buChar char="§"/>
        <a:defRPr sz="2000" kern="1200">
          <a:solidFill>
            <a:schemeClr val="tx1"/>
          </a:solidFill>
          <a:latin typeface="Ubuntu" panose="020B0504030602030204" pitchFamily="34" charset="0"/>
          <a:ea typeface="+mn-ea"/>
          <a:cs typeface="+mn-cs"/>
        </a:defRPr>
      </a:lvl2pPr>
      <a:lvl3pPr marL="685800" indent="-228600" algn="l" defTabSz="914400" rtl="0" eaLnBrk="1" latinLnBrk="0" hangingPunct="1">
        <a:lnSpc>
          <a:spcPct val="90000"/>
        </a:lnSpc>
        <a:spcBef>
          <a:spcPts val="0"/>
        </a:spcBef>
        <a:spcAft>
          <a:spcPts val="600"/>
        </a:spcAft>
        <a:buFont typeface="Amazon Ember Display" panose="020F0603020204020204" pitchFamily="34" charset="0"/>
        <a:buChar char="–"/>
        <a:defRPr sz="1800" kern="1200">
          <a:solidFill>
            <a:schemeClr val="tx1"/>
          </a:solidFill>
          <a:latin typeface="Ubuntu" panose="020B0504030602030204" pitchFamily="34" charset="0"/>
          <a:ea typeface="+mn-ea"/>
          <a:cs typeface="+mn-cs"/>
        </a:defRPr>
      </a:lvl3pPr>
      <a:lvl4pPr marL="914400" indent="-228600" algn="l" defTabSz="914400" rtl="0" eaLnBrk="1" latinLnBrk="0" hangingPunct="1">
        <a:lnSpc>
          <a:spcPct val="90000"/>
        </a:lnSpc>
        <a:spcBef>
          <a:spcPts val="0"/>
        </a:spcBef>
        <a:spcAft>
          <a:spcPts val="600"/>
        </a:spcAft>
        <a:buFont typeface="Amazon Ember Display" panose="020F0603020204020204" pitchFamily="34" charset="0"/>
        <a:buChar char="•"/>
        <a:defRPr sz="1600" kern="1200">
          <a:solidFill>
            <a:schemeClr val="tx1"/>
          </a:solidFill>
          <a:latin typeface="Ubuntu" panose="020B0504030602030204" pitchFamily="34" charset="0"/>
          <a:ea typeface="+mn-ea"/>
          <a:cs typeface="+mn-cs"/>
        </a:defRPr>
      </a:lvl4pPr>
      <a:lvl5pPr marL="914400" indent="-228600" algn="l" defTabSz="914400" rtl="0" eaLnBrk="1" latinLnBrk="0" hangingPunct="1">
        <a:lnSpc>
          <a:spcPct val="90000"/>
        </a:lnSpc>
        <a:spcBef>
          <a:spcPts val="0"/>
        </a:spcBef>
        <a:buFont typeface="Amazon Ember Display" panose="020F0603020204020204" pitchFamily="34" charset="0"/>
        <a:buChar char="•"/>
        <a:defRPr sz="1600" kern="120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mazon Ember Display" panose="020F0603020204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92">
          <p15:clr>
            <a:srgbClr val="F26B43"/>
          </p15:clr>
        </p15:guide>
        <p15:guide id="4" orient="horz" pos="3912">
          <p15:clr>
            <a:srgbClr val="F26B43"/>
          </p15:clr>
        </p15:guide>
        <p15:guide id="5" pos="192">
          <p15:clr>
            <a:srgbClr val="F26B43"/>
          </p15:clr>
        </p15:guide>
        <p15:guide id="6" pos="7488">
          <p15:clr>
            <a:srgbClr val="F26B43"/>
          </p15:clr>
        </p15:guide>
        <p15:guide id="7" orient="horz" pos="9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Rectangle 1"/>
          <p:cNvSpPr/>
          <p:nvPr/>
        </p:nvSpPr>
        <p:spPr>
          <a:xfrm>
            <a:off x="731520" y="27432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188720"/>
            <a:ext cx="10058400" cy="1097280"/>
          </a:xfrm>
          <a:prstGeom prst="rect">
            <a:avLst/>
          </a:prstGeom>
          <a:noFill/>
        </p:spPr>
        <p:txBody>
          <a:bodyPr wrap="square">
            <a:spAutoFit/>
          </a:bodyPr>
          <a:lstStyle/>
          <a:p>
            <a:pPr algn="ctr">
              <a:defRPr sz="4600" b="1">
                <a:solidFill>
                  <a:srgbClr val="F0C040"/>
                </a:solidFill>
                <a:latin typeface="Calibri"/>
              </a:defRPr>
            </a:pPr>
            <a:r>
              <a:t>Neo4j Fondamentali</a:t>
            </a:r>
          </a:p>
        </p:txBody>
      </p:sp>
      <p:sp>
        <p:nvSpPr>
          <p:cNvPr id="4" name="TextBox 3"/>
          <p:cNvSpPr txBox="1"/>
          <p:nvPr/>
        </p:nvSpPr>
        <p:spPr>
          <a:xfrm>
            <a:off x="914400" y="3017520"/>
            <a:ext cx="10058400" cy="731520"/>
          </a:xfrm>
          <a:prstGeom prst="rect">
            <a:avLst/>
          </a:prstGeom>
          <a:noFill/>
        </p:spPr>
        <p:txBody>
          <a:bodyPr wrap="square">
            <a:spAutoFit/>
          </a:bodyPr>
          <a:lstStyle/>
          <a:p>
            <a:pPr algn="ctr">
              <a:defRPr sz="2600" b="0">
                <a:solidFill>
                  <a:srgbClr val="FFFFFF"/>
                </a:solidFill>
                <a:latin typeface="Calibri"/>
              </a:defRPr>
            </a:pPr>
            <a:r>
              <a:t>Sessione 1: Primi Passi con i Grafi</a:t>
            </a:r>
          </a:p>
        </p:txBody>
      </p:sp>
      <p:sp>
        <p:nvSpPr>
          <p:cNvPr id="5" name="TextBox 4"/>
          <p:cNvSpPr txBox="1"/>
          <p:nvPr/>
        </p:nvSpPr>
        <p:spPr>
          <a:xfrm>
            <a:off x="914400" y="4389120"/>
            <a:ext cx="10058400" cy="457200"/>
          </a:xfrm>
          <a:prstGeom prst="rect">
            <a:avLst/>
          </a:prstGeom>
          <a:noFill/>
        </p:spPr>
        <p:txBody>
          <a:bodyPr wrap="square">
            <a:spAutoFit/>
          </a:bodyPr>
          <a:lstStyle/>
          <a:p>
            <a:pPr algn="ctr">
              <a:defRPr sz="1700" b="0">
                <a:solidFill>
                  <a:srgbClr val="CCCCCC"/>
                </a:solidFill>
                <a:latin typeface="Calibri"/>
              </a:defRPr>
            </a:pPr>
            <a:r>
              <a:t>Database a grafo, Cypher e l’ecosistema Neo4j</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Agenda</a:t>
            </a:r>
          </a:p>
        </p:txBody>
      </p:sp>
      <p:sp>
        <p:nvSpPr>
          <p:cNvPr id="3" name="TextBox 2"/>
          <p:cNvSpPr txBox="1"/>
          <p:nvPr/>
        </p:nvSpPr>
        <p:spPr>
          <a:xfrm>
            <a:off x="731520" y="1188720"/>
            <a:ext cx="10515600" cy="365760"/>
          </a:xfrm>
          <a:prstGeom prst="rect">
            <a:avLst/>
          </a:prstGeom>
          <a:noFill/>
        </p:spPr>
        <p:txBody>
          <a:bodyPr wrap="square">
            <a:spAutoFit/>
          </a:bodyPr>
          <a:lstStyle/>
          <a:p>
            <a:pPr algn="l">
              <a:defRPr sz="1800" b="1">
                <a:solidFill>
                  <a:srgbClr val="F08040"/>
                </a:solidFill>
                <a:latin typeface="Calibri"/>
              </a:defRPr>
            </a:pPr>
            <a:r>
              <a:t>Teoria</a:t>
            </a:r>
          </a:p>
        </p:txBody>
      </p:sp>
      <p:sp>
        <p:nvSpPr>
          <p:cNvPr id="4" name="TextBox 3"/>
          <p:cNvSpPr txBox="1"/>
          <p:nvPr/>
        </p:nvSpPr>
        <p:spPr>
          <a:xfrm>
            <a:off x="731520" y="1645920"/>
            <a:ext cx="3840480" cy="3200400"/>
          </a:xfrm>
          <a:prstGeom prst="rect">
            <a:avLst/>
          </a:prstGeom>
          <a:noFill/>
        </p:spPr>
        <p:txBody>
          <a:bodyPr wrap="square">
            <a:spAutoFit/>
          </a:bodyPr>
          <a:lstStyle/>
          <a:p>
            <a:pPr algn="l">
              <a:spcAft>
                <a:spcPts val="1300"/>
              </a:spcAft>
              <a:defRPr sz="1500">
                <a:solidFill>
                  <a:srgbClr val="FFFFFF"/>
                </a:solidFill>
                <a:latin typeface="Calibri"/>
              </a:defRPr>
            </a:pPr>
            <a:r>
              <a:t>•  Cosa sono i database a grafo</a:t>
            </a:r>
          </a:p>
          <a:p>
            <a:pPr algn="l">
              <a:spcAft>
                <a:spcPts val="1300"/>
              </a:spcAft>
              <a:defRPr sz="1500">
                <a:solidFill>
                  <a:srgbClr val="FFFFFF"/>
                </a:solidFill>
                <a:latin typeface="Calibri"/>
              </a:defRPr>
            </a:pPr>
            <a:r>
              <a:t>•  Property Graph Model: nodi, relazioni, labels</a:t>
            </a:r>
          </a:p>
          <a:p>
            <a:pPr algn="l">
              <a:spcAft>
                <a:spcPts val="1300"/>
              </a:spcAft>
              <a:defRPr sz="1500">
                <a:solidFill>
                  <a:srgbClr val="FFFFFF"/>
                </a:solidFill>
                <a:latin typeface="Calibri"/>
              </a:defRPr>
            </a:pPr>
            <a:r>
              <a:t>•  Perché Neo4j vs DB relazionali</a:t>
            </a:r>
          </a:p>
          <a:p>
            <a:pPr algn="l">
              <a:spcAft>
                <a:spcPts val="1300"/>
              </a:spcAft>
              <a:defRPr sz="1500">
                <a:solidFill>
                  <a:srgbClr val="FFFFFF"/>
                </a:solidFill>
                <a:latin typeface="Calibri"/>
              </a:defRPr>
            </a:pPr>
            <a:r>
              <a:t>•  Ecosistema Neo4j (Browser, AuraDB, Bloom)</a:t>
            </a:r>
          </a:p>
          <a:p>
            <a:pPr algn="l">
              <a:spcAft>
                <a:spcPts val="1300"/>
              </a:spcAft>
              <a:defRPr sz="1500">
                <a:solidFill>
                  <a:srgbClr val="FFFFFF"/>
                </a:solidFill>
                <a:latin typeface="Calibri"/>
              </a:defRPr>
            </a:pPr>
            <a:r>
              <a:t>•  Cypher: pattern matching per leggere/scrivere</a:t>
            </a:r>
          </a:p>
          <a:p>
            <a:pPr algn="l">
              <a:spcAft>
                <a:spcPts val="1300"/>
              </a:spcAft>
              <a:defRPr sz="1500">
                <a:solidFill>
                  <a:srgbClr val="FFFFFF"/>
                </a:solidFill>
                <a:latin typeface="Calibri"/>
              </a:defRPr>
            </a:pPr>
            <a:r>
              <a:t>•  Constraints e indici</a:t>
            </a:r>
          </a:p>
        </p:txBody>
      </p:sp>
      <p:sp>
        <p:nvSpPr>
          <p:cNvPr id="5" name="TextBox 4"/>
          <p:cNvSpPr txBox="1"/>
          <p:nvPr/>
        </p:nvSpPr>
        <p:spPr>
          <a:xfrm>
            <a:off x="4754880" y="1188720"/>
            <a:ext cx="3840480" cy="365760"/>
          </a:xfrm>
          <a:prstGeom prst="rect">
            <a:avLst/>
          </a:prstGeom>
          <a:noFill/>
        </p:spPr>
        <p:txBody>
          <a:bodyPr wrap="square">
            <a:spAutoFit/>
          </a:bodyPr>
          <a:lstStyle/>
          <a:p>
            <a:pPr algn="l">
              <a:defRPr sz="1800" b="1">
                <a:solidFill>
                  <a:srgbClr val="F08040"/>
                </a:solidFill>
                <a:latin typeface="Calibri"/>
              </a:defRPr>
            </a:pPr>
            <a:r>
              <a:t>Pratica</a:t>
            </a:r>
          </a:p>
        </p:txBody>
      </p:sp>
      <p:sp>
        <p:nvSpPr>
          <p:cNvPr id="6" name="TextBox 5"/>
          <p:cNvSpPr txBox="1"/>
          <p:nvPr/>
        </p:nvSpPr>
        <p:spPr>
          <a:xfrm>
            <a:off x="4754880" y="1645920"/>
            <a:ext cx="3840480" cy="3200400"/>
          </a:xfrm>
          <a:prstGeom prst="rect">
            <a:avLst/>
          </a:prstGeom>
          <a:noFill/>
        </p:spPr>
        <p:txBody>
          <a:bodyPr wrap="square">
            <a:spAutoFit/>
          </a:bodyPr>
          <a:lstStyle/>
          <a:p>
            <a:pPr algn="l">
              <a:spcAft>
                <a:spcPts val="1300"/>
              </a:spcAft>
              <a:defRPr sz="1500">
                <a:solidFill>
                  <a:srgbClr val="FFFFFF"/>
                </a:solidFill>
                <a:latin typeface="Calibri"/>
              </a:defRPr>
            </a:pPr>
            <a:r>
              <a:t>•  Connettersi a Neo4j con Python</a:t>
            </a:r>
          </a:p>
          <a:p>
            <a:pPr algn="l">
              <a:spcAft>
                <a:spcPts val="1300"/>
              </a:spcAft>
              <a:defRPr sz="1500">
                <a:solidFill>
                  <a:srgbClr val="FFFFFF"/>
                </a:solidFill>
                <a:latin typeface="Calibri"/>
              </a:defRPr>
            </a:pPr>
            <a:r>
              <a:t>•  MATCH, WHERE, RETURN: prime query</a:t>
            </a:r>
          </a:p>
          <a:p>
            <a:pPr algn="l">
              <a:spcAft>
                <a:spcPts val="1300"/>
              </a:spcAft>
              <a:defRPr sz="1500">
                <a:solidFill>
                  <a:srgbClr val="FFFFFF"/>
                </a:solidFill>
                <a:latin typeface="Calibri"/>
              </a:defRPr>
            </a:pPr>
            <a:r>
              <a:t>•  MERGE, CREATE: scrivere dati</a:t>
            </a:r>
          </a:p>
          <a:p>
            <a:pPr algn="l">
              <a:spcAft>
                <a:spcPts val="1300"/>
              </a:spcAft>
              <a:defRPr sz="1500">
                <a:solidFill>
                  <a:srgbClr val="FFFFFF"/>
                </a:solidFill>
                <a:latin typeface="Calibri"/>
              </a:defRPr>
            </a:pPr>
            <a:r>
              <a:t>•  UNWIND batching per caricamenti bulk</a:t>
            </a:r>
          </a:p>
          <a:p>
            <a:pPr algn="l">
              <a:spcAft>
                <a:spcPts val="1300"/>
              </a:spcAft>
              <a:defRPr sz="1500">
                <a:solidFill>
                  <a:srgbClr val="FFFFFF"/>
                </a:solidFill>
                <a:latin typeface="Calibri"/>
              </a:defRPr>
            </a:pPr>
            <a:r>
              <a:t>•  Neo4j Browser: esplorare il grafo</a:t>
            </a:r>
          </a:p>
          <a:p>
            <a:pPr algn="l">
              <a:spcAft>
                <a:spcPts val="1300"/>
              </a:spcAft>
              <a:defRPr sz="1500">
                <a:solidFill>
                  <a:srgbClr val="FFFFFF"/>
                </a:solidFill>
                <a:latin typeface="Calibri"/>
              </a:defRPr>
            </a:pPr>
            <a:r>
              <a:t>•  Dataset: Org Graph e Movie Graph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Cosa sono i database a grafo?</a:t>
            </a:r>
          </a:p>
        </p:txBody>
      </p:sp>
      <p:sp>
        <p:nvSpPr>
          <p:cNvPr id="3" name="TextBox 2"/>
          <p:cNvSpPr txBox="1"/>
          <p:nvPr/>
        </p:nvSpPr>
        <p:spPr>
          <a:xfrm>
            <a:off x="731520" y="1051560"/>
            <a:ext cx="10515600" cy="365760"/>
          </a:xfrm>
          <a:prstGeom prst="rect">
            <a:avLst/>
          </a:prstGeom>
          <a:noFill/>
        </p:spPr>
        <p:txBody>
          <a:bodyPr wrap="square">
            <a:spAutoFit/>
          </a:bodyPr>
          <a:lstStyle/>
          <a:p>
            <a:pPr algn="l">
              <a:defRPr sz="1500" b="0">
                <a:solidFill>
                  <a:srgbClr val="CCCCCC"/>
                </a:solidFill>
                <a:latin typeface="Calibri"/>
              </a:defRPr>
            </a:pPr>
            <a:r>
              <a:t>Un grafo è composto da due elementi fondamentali:</a:t>
            </a:r>
          </a:p>
        </p:txBody>
      </p:sp>
      <p:sp>
        <p:nvSpPr>
          <p:cNvPr id="4" name="TextBox 3"/>
          <p:cNvSpPr txBox="1"/>
          <p:nvPr/>
        </p:nvSpPr>
        <p:spPr>
          <a:xfrm>
            <a:off x="731520" y="1554480"/>
            <a:ext cx="5029200" cy="1828800"/>
          </a:xfrm>
          <a:prstGeom prst="rect">
            <a:avLst/>
          </a:prstGeom>
          <a:noFill/>
        </p:spPr>
        <p:txBody>
          <a:bodyPr wrap="square">
            <a:spAutoFit/>
          </a:bodyPr>
          <a:lstStyle/>
          <a:p>
            <a:pPr algn="l">
              <a:spcAft>
                <a:spcPts val="800"/>
              </a:spcAft>
              <a:defRPr sz="1400">
                <a:solidFill>
                  <a:srgbClr val="FFFFFF"/>
                </a:solidFill>
                <a:latin typeface="Calibri"/>
              </a:defRPr>
            </a:pPr>
            <a:r>
              <a:t>•  Nodi (vertices) — rappresentano entità (persone, progetti, skill)</a:t>
            </a:r>
          </a:p>
          <a:p>
            <a:pPr algn="l">
              <a:spcAft>
                <a:spcPts val="800"/>
              </a:spcAft>
              <a:defRPr sz="1400">
                <a:solidFill>
                  <a:srgbClr val="FFFFFF"/>
                </a:solidFill>
                <a:latin typeface="Calibri"/>
              </a:defRPr>
            </a:pPr>
            <a:r>
              <a:t>•  Relazioni (edges) — rappresentano connessioni tra entità</a:t>
            </a:r>
          </a:p>
          <a:p>
            <a:pPr algn="l">
              <a:spcAft>
                <a:spcPts val="800"/>
              </a:spcAft>
              <a:defRPr sz="1400">
                <a:solidFill>
                  <a:srgbClr val="FFFFFF"/>
                </a:solidFill>
                <a:latin typeface="Calibri"/>
              </a:defRPr>
            </a:pPr>
            <a:r>
              <a:t>•  Entrambi possono avere proprietà (coppie chiave-valore)</a:t>
            </a:r>
          </a:p>
          <a:p>
            <a:pPr algn="l">
              <a:spcAft>
                <a:spcPts val="800"/>
              </a:spcAft>
              <a:defRPr sz="1400">
                <a:solidFill>
                  <a:srgbClr val="FFFFFF"/>
                </a:solidFill>
                <a:latin typeface="Calibri"/>
              </a:defRPr>
            </a:pPr>
            <a:r>
              <a:t>•  Le relazioni sono cittadini di prima classe — hanno sempre un tipo e una direzione</a:t>
            </a:r>
          </a:p>
        </p:txBody>
      </p:sp>
      <p:sp>
        <p:nvSpPr>
          <p:cNvPr id="5" name="TextBox 4"/>
          <p:cNvSpPr txBox="1"/>
          <p:nvPr/>
        </p:nvSpPr>
        <p:spPr>
          <a:xfrm>
            <a:off x="5669280" y="1554480"/>
            <a:ext cx="4846320" cy="1828800"/>
          </a:xfrm>
          <a:prstGeom prst="rect">
            <a:avLst/>
          </a:prstGeom>
          <a:noFill/>
        </p:spPr>
        <p:txBody>
          <a:bodyPr wrap="square">
            <a:spAutoFit/>
          </a:bodyPr>
          <a:lstStyle/>
          <a:p>
            <a:pPr algn="l">
              <a:defRPr sz="1100" b="0">
                <a:solidFill>
                  <a:srgbClr val="CCCCCC"/>
                </a:solidFill>
                <a:latin typeface="Consolas"/>
              </a:defRPr>
            </a:pPr>
            <a:r>
              <a:t>Esempio: grafo e-commerce</a:t>
            </a:r>
            <a:br/>
            <a:br/>
            <a:r>
              <a:t>  (Cliente) —[:ACQUISTA]→ (Ordine) —[:ORDINA]→ (Prodotto)</a:t>
            </a:r>
            <a:br/>
            <a:r>
              <a:t>                                     ↑</a:t>
            </a:r>
            <a:br/>
            <a:r>
              <a:t>                              [:FORNISCE]</a:t>
            </a:r>
            <a:br/>
            <a:r>
              <a:t>                                     ↑</a:t>
            </a:r>
            <a:br/>
            <a:r>
              <a:t>                                  (Fornitore)</a:t>
            </a:r>
            <a:br/>
            <a:br/>
            <a:r>
              <a:t>Ogni entità è un nodo, ogni verbo è una relazione direzionale.</a:t>
            </a:r>
          </a:p>
        </p:txBody>
      </p:sp>
      <p:sp>
        <p:nvSpPr>
          <p:cNvPr id="6" name="Rectangle 5"/>
          <p:cNvSpPr/>
          <p:nvPr/>
        </p:nvSpPr>
        <p:spPr>
          <a:xfrm>
            <a:off x="731520" y="384048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114800"/>
            <a:ext cx="10515600" cy="411480"/>
          </a:xfrm>
          <a:prstGeom prst="rect">
            <a:avLst/>
          </a:prstGeom>
          <a:noFill/>
        </p:spPr>
        <p:txBody>
          <a:bodyPr wrap="square">
            <a:spAutoFit/>
          </a:bodyPr>
          <a:lstStyle/>
          <a:p>
            <a:pPr algn="l">
              <a:defRPr sz="2000" b="1">
                <a:solidFill>
                  <a:srgbClr val="F08040"/>
                </a:solidFill>
                <a:latin typeface="Calibri"/>
              </a:defRPr>
            </a:pPr>
            <a:r>
              <a:t>Esempi reali di dati connessi</a:t>
            </a:r>
          </a:p>
        </p:txBody>
      </p:sp>
      <p:sp>
        <p:nvSpPr>
          <p:cNvPr id="8" name="TextBox 7"/>
          <p:cNvSpPr txBox="1"/>
          <p:nvPr/>
        </p:nvSpPr>
        <p:spPr>
          <a:xfrm>
            <a:off x="731520" y="4663440"/>
            <a:ext cx="10515600" cy="1371600"/>
          </a:xfrm>
          <a:prstGeom prst="rect">
            <a:avLst/>
          </a:prstGeom>
          <a:noFill/>
        </p:spPr>
        <p:txBody>
          <a:bodyPr wrap="square">
            <a:spAutoFit/>
          </a:bodyPr>
          <a:lstStyle/>
          <a:p>
            <a:pPr algn="l">
              <a:spcAft>
                <a:spcPts val="300"/>
              </a:spcAft>
              <a:defRPr sz="1300">
                <a:solidFill>
                  <a:srgbClr val="FFFFFF"/>
                </a:solidFill>
                <a:latin typeface="Calibri"/>
              </a:defRPr>
            </a:pPr>
            <a:r>
              <a:t>•  Social network: persone, amicizie, like, condivisioni</a:t>
            </a:r>
          </a:p>
          <a:p>
            <a:pPr algn="l">
              <a:spcAft>
                <a:spcPts val="300"/>
              </a:spcAft>
              <a:defRPr sz="1300">
                <a:solidFill>
                  <a:srgbClr val="FFFFFF"/>
                </a:solidFill>
                <a:latin typeface="Calibri"/>
              </a:defRPr>
            </a:pPr>
            <a:r>
              <a:t>•  Organigramma aziendale: impiegati, team, manager, riporti</a:t>
            </a:r>
          </a:p>
          <a:p>
            <a:pPr algn="l">
              <a:spcAft>
                <a:spcPts val="300"/>
              </a:spcAft>
              <a:defRPr sz="1300">
                <a:solidFill>
                  <a:srgbClr val="FFFFFF"/>
                </a:solidFill>
                <a:latin typeface="Calibri"/>
              </a:defRPr>
            </a:pPr>
            <a:r>
              <a:t>•  Raccomandazioni: prodotti, acquisti, preferenze simili</a:t>
            </a:r>
          </a:p>
          <a:p>
            <a:pPr algn="l">
              <a:spcAft>
                <a:spcPts val="300"/>
              </a:spcAft>
              <a:defRPr sz="1300">
                <a:solidFill>
                  <a:srgbClr val="FFFFFF"/>
                </a:solidFill>
                <a:latin typeface="Calibri"/>
              </a:defRPr>
            </a:pPr>
            <a:r>
              <a:t>•  Frode finanziaria: transazioni, conti, dispositivi, IP</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Il problema: JOIN nei DB relazionali</a:t>
            </a:r>
          </a:p>
        </p:txBody>
      </p:sp>
      <p:sp>
        <p:nvSpPr>
          <p:cNvPr id="3" name="TextBox 2"/>
          <p:cNvSpPr txBox="1"/>
          <p:nvPr/>
        </p:nvSpPr>
        <p:spPr>
          <a:xfrm>
            <a:off x="731520" y="1051560"/>
            <a:ext cx="10515600" cy="548640"/>
          </a:xfrm>
          <a:prstGeom prst="rect">
            <a:avLst/>
          </a:prstGeom>
          <a:noFill/>
        </p:spPr>
        <p:txBody>
          <a:bodyPr wrap="square">
            <a:spAutoFit/>
          </a:bodyPr>
          <a:lstStyle/>
          <a:p>
            <a:pPr algn="l">
              <a:defRPr sz="1400" b="0">
                <a:solidFill>
                  <a:srgbClr val="CCCCCC"/>
                </a:solidFill>
                <a:latin typeface="Calibri"/>
              </a:defRPr>
            </a:pPr>
            <a:r>
              <a:t>Nei database relazionali, le relazioni tra entità sono calcolate al momento della query via JOIN.</a:t>
            </a:r>
          </a:p>
        </p:txBody>
      </p:sp>
      <p:sp>
        <p:nvSpPr>
          <p:cNvPr id="4" name="TextBox 3"/>
          <p:cNvSpPr txBox="1"/>
          <p:nvPr/>
        </p:nvSpPr>
        <p:spPr>
          <a:xfrm>
            <a:off x="731520" y="1737360"/>
            <a:ext cx="5029200" cy="1828800"/>
          </a:xfrm>
          <a:prstGeom prst="rect">
            <a:avLst/>
          </a:prstGeom>
          <a:noFill/>
        </p:spPr>
        <p:txBody>
          <a:bodyPr wrap="square">
            <a:spAutoFit/>
          </a:bodyPr>
          <a:lstStyle/>
          <a:p>
            <a:pPr algn="l">
              <a:spcAft>
                <a:spcPts val="700"/>
              </a:spcAft>
              <a:defRPr sz="1300">
                <a:solidFill>
                  <a:srgbClr val="FFFFFF"/>
                </a:solidFill>
                <a:latin typeface="Calibri"/>
              </a:defRPr>
            </a:pPr>
            <a:r>
              <a:t>•  Ogni JOIN confronta una tabella con un’altra usando un indice</a:t>
            </a:r>
          </a:p>
          <a:p>
            <a:pPr algn="l">
              <a:spcAft>
                <a:spcPts val="700"/>
              </a:spcAft>
              <a:defRPr sz="1300">
                <a:solidFill>
                  <a:srgbClr val="FFFFFF"/>
                </a:solidFill>
                <a:latin typeface="Calibri"/>
              </a:defRPr>
            </a:pPr>
            <a:r>
              <a:t>•  Per navigare profondità 3 (amico dell’amico dell’amico) servono 3 JOIN</a:t>
            </a:r>
          </a:p>
          <a:p>
            <a:pPr algn="l">
              <a:spcAft>
                <a:spcPts val="700"/>
              </a:spcAft>
              <a:defRPr sz="1300">
                <a:solidFill>
                  <a:srgbClr val="FFFFFF"/>
                </a:solidFill>
                <a:latin typeface="Calibri"/>
              </a:defRPr>
            </a:pPr>
            <a:r>
              <a:t>•  Il costo cresce esponenzialmente con la profondità</a:t>
            </a:r>
          </a:p>
          <a:p>
            <a:pPr algn="l">
              <a:spcAft>
                <a:spcPts val="700"/>
              </a:spcAft>
              <a:defRPr sz="1300">
                <a:solidFill>
                  <a:srgbClr val="FFFFFF"/>
                </a:solidFill>
                <a:latin typeface="Calibri"/>
              </a:defRPr>
            </a:pPr>
            <a:r>
              <a:t>•  Esempio: "trova fornitori di prodotti acquistati da clienti in Roma"</a:t>
            </a:r>
          </a:p>
        </p:txBody>
      </p:sp>
      <p:sp>
        <p:nvSpPr>
          <p:cNvPr id="5" name="TextBox 4"/>
          <p:cNvSpPr txBox="1"/>
          <p:nvPr/>
        </p:nvSpPr>
        <p:spPr>
          <a:xfrm>
            <a:off x="5669280" y="1737360"/>
            <a:ext cx="4846320" cy="1828800"/>
          </a:xfrm>
          <a:prstGeom prst="rect">
            <a:avLst/>
          </a:prstGeom>
          <a:noFill/>
        </p:spPr>
        <p:txBody>
          <a:bodyPr wrap="square">
            <a:spAutoFit/>
          </a:bodyPr>
          <a:lstStyle/>
          <a:p>
            <a:pPr algn="l">
              <a:defRPr sz="1000" b="0">
                <a:solidFill>
                  <a:srgbClr val="7EC68E"/>
                </a:solidFill>
                <a:latin typeface="Consolas"/>
              </a:defRPr>
            </a:pPr>
            <a:r>
              <a:t>SQL: 4 JOIN per una query semplice</a:t>
            </a:r>
            <a:br/>
            <a:br/>
            <a:r>
              <a:t>SELECT c.nome, p.nome, f.nome</a:t>
            </a:r>
            <a:br/>
            <a:r>
              <a:t>FROM clienti c</a:t>
            </a:r>
            <a:br/>
            <a:r>
              <a:t>JOIN ordini o ON c.id=o.cliente_id</a:t>
            </a:r>
            <a:br/>
            <a:r>
              <a:t>JOIN ordine_dettagli d ON o.id=d.ordine_id</a:t>
            </a:r>
            <a:br/>
            <a:r>
              <a:t>JOIN prodotti p ON d.prodotto_id=p.id</a:t>
            </a:r>
            <a:br/>
            <a:r>
              <a:t>JOIN fornitori f ON p.fornitore_id=f.id</a:t>
            </a:r>
            <a:br/>
            <a:r>
              <a:t>WHERE c.citta = 'Roma';</a:t>
            </a:r>
          </a:p>
        </p:txBody>
      </p:sp>
      <p:sp>
        <p:nvSpPr>
          <p:cNvPr id="6" name="Rectangle 5"/>
          <p:cNvSpPr/>
          <p:nvPr/>
        </p:nvSpPr>
        <p:spPr>
          <a:xfrm>
            <a:off x="731520" y="39319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206240"/>
            <a:ext cx="10515600" cy="365760"/>
          </a:xfrm>
          <a:prstGeom prst="rect">
            <a:avLst/>
          </a:prstGeom>
          <a:noFill/>
        </p:spPr>
        <p:txBody>
          <a:bodyPr wrap="square">
            <a:spAutoFit/>
          </a:bodyPr>
          <a:lstStyle/>
          <a:p>
            <a:pPr algn="l">
              <a:defRPr sz="1500" b="1">
                <a:solidFill>
                  <a:srgbClr val="F08040"/>
                </a:solidFill>
                <a:latin typeface="Calibri"/>
              </a:defRPr>
            </a:pPr>
            <a:r>
              <a:t>Confronto performance (1M nodi, 10M relazioni):</a:t>
            </a:r>
          </a:p>
        </p:txBody>
      </p:sp>
      <p:sp>
        <p:nvSpPr>
          <p:cNvPr id="8" name="TextBox 7"/>
          <p:cNvSpPr txBox="1"/>
          <p:nvPr/>
        </p:nvSpPr>
        <p:spPr>
          <a:xfrm>
            <a:off x="731520" y="4663440"/>
            <a:ext cx="5029200" cy="914400"/>
          </a:xfrm>
          <a:prstGeom prst="rect">
            <a:avLst/>
          </a:prstGeom>
          <a:noFill/>
        </p:spPr>
        <p:txBody>
          <a:bodyPr wrap="square">
            <a:spAutoFit/>
          </a:bodyPr>
          <a:lstStyle/>
          <a:p>
            <a:pPr algn="l">
              <a:defRPr sz="1300" b="0">
                <a:solidFill>
                  <a:srgbClr val="FFFFFF"/>
                </a:solidFill>
                <a:latin typeface="Consolas"/>
              </a:defRPr>
            </a:pPr>
            <a:r>
              <a:t>Relazionale (PostgreSQL) per 4° grado:</a:t>
            </a:r>
            <a:br/>
            <a:r>
              <a:t>  ~28 secondi</a:t>
            </a:r>
            <a:br/>
            <a:br/>
            <a:r>
              <a:t>Grafo (Neo4j) per 4° grado:</a:t>
            </a:r>
            <a:br/>
            <a:r>
              <a:t>  ~2 millisecondi  (14.000× più veloce)</a:t>
            </a:r>
          </a:p>
        </p:txBody>
      </p:sp>
      <p:sp>
        <p:nvSpPr>
          <p:cNvPr id="9" name="TextBox 8"/>
          <p:cNvSpPr txBox="1"/>
          <p:nvPr/>
        </p:nvSpPr>
        <p:spPr>
          <a:xfrm>
            <a:off x="5669280" y="4663440"/>
            <a:ext cx="4846320" cy="914400"/>
          </a:xfrm>
          <a:prstGeom prst="rect">
            <a:avLst/>
          </a:prstGeom>
          <a:noFill/>
        </p:spPr>
        <p:txBody>
          <a:bodyPr wrap="square">
            <a:spAutoFit/>
          </a:bodyPr>
          <a:lstStyle/>
          <a:p>
            <a:pPr algn="l">
              <a:defRPr sz="1200" b="0">
                <a:solidFill>
                  <a:srgbClr val="CCCCCC"/>
                </a:solidFill>
                <a:latin typeface="Calibri"/>
              </a:defRPr>
            </a:pPr>
            <a:r>
              <a:t>Motivo: nel grafo le relazioni sono puntatori diretti,</a:t>
            </a:r>
            <a:br/>
            <a:r>
              <a:t>non serve calcolarle. Si traversa il grafo in O(1) per hop.</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Index-Free Adjacency</a:t>
            </a:r>
          </a:p>
        </p:txBody>
      </p:sp>
      <p:sp>
        <p:nvSpPr>
          <p:cNvPr id="3" name="TextBox 2"/>
          <p:cNvSpPr txBox="1"/>
          <p:nvPr/>
        </p:nvSpPr>
        <p:spPr>
          <a:xfrm>
            <a:off x="731520" y="1051560"/>
            <a:ext cx="10515600" cy="548640"/>
          </a:xfrm>
          <a:prstGeom prst="rect">
            <a:avLst/>
          </a:prstGeom>
          <a:noFill/>
        </p:spPr>
        <p:txBody>
          <a:bodyPr wrap="square">
            <a:spAutoFit/>
          </a:bodyPr>
          <a:lstStyle/>
          <a:p>
            <a:pPr algn="l">
              <a:defRPr sz="1400" b="0">
                <a:solidFill>
                  <a:srgbClr val="CCCCCC"/>
                </a:solidFill>
                <a:latin typeface="Calibri"/>
              </a:defRPr>
            </a:pPr>
            <a:r>
              <a:t>Neo4j memorizza ogni nodo con i puntatori diretti ai nodi vicini. Non serve un indice globale per trovare le connessioni.</a:t>
            </a:r>
          </a:p>
        </p:txBody>
      </p:sp>
      <p:sp>
        <p:nvSpPr>
          <p:cNvPr id="4" name="TextBox 3"/>
          <p:cNvSpPr txBox="1"/>
          <p:nvPr/>
        </p:nvSpPr>
        <p:spPr>
          <a:xfrm>
            <a:off x="731520" y="1737360"/>
            <a:ext cx="5029200" cy="1828800"/>
          </a:xfrm>
          <a:prstGeom prst="rect">
            <a:avLst/>
          </a:prstGeom>
          <a:noFill/>
        </p:spPr>
        <p:txBody>
          <a:bodyPr wrap="square">
            <a:spAutoFit/>
          </a:bodyPr>
          <a:lstStyle/>
          <a:p>
            <a:pPr algn="l">
              <a:spcAft>
                <a:spcPts val="700"/>
              </a:spcAft>
              <a:defRPr sz="1300">
                <a:solidFill>
                  <a:srgbClr val="FFFFFF"/>
                </a:solidFill>
                <a:latin typeface="Calibri"/>
              </a:defRPr>
            </a:pPr>
            <a:r>
              <a:t>•  DB relazionale: usa un indice per trovare le FK, poi JOIN, poi ripete</a:t>
            </a:r>
          </a:p>
          <a:p>
            <a:pPr algn="l">
              <a:spcAft>
                <a:spcPts val="700"/>
              </a:spcAft>
              <a:defRPr sz="1300">
                <a:solidFill>
                  <a:srgbClr val="FFFFFF"/>
                </a:solidFill>
                <a:latin typeface="Calibri"/>
              </a:defRPr>
            </a:pPr>
            <a:r>
              <a:t>•  Neo4j: il nodo Alice ha già il puntatore fisico al nodo Bob</a:t>
            </a:r>
          </a:p>
          <a:p>
            <a:pPr algn="l">
              <a:spcAft>
                <a:spcPts val="700"/>
              </a:spcAft>
              <a:defRPr sz="1300">
                <a:solidFill>
                  <a:srgbClr val="FFFFFF"/>
                </a:solidFill>
                <a:latin typeface="Calibri"/>
              </a:defRPr>
            </a:pPr>
            <a:r>
              <a:t>•  Risultato: il tempo di traversal NON dipende dalla dimensione del grafo</a:t>
            </a:r>
          </a:p>
          <a:p>
            <a:pPr algn="l">
              <a:spcAft>
                <a:spcPts val="700"/>
              </a:spcAft>
              <a:defRPr sz="1300">
                <a:solidFill>
                  <a:srgbClr val="FFFFFF"/>
                </a:solidFill>
                <a:latin typeface="Calibri"/>
              </a:defRPr>
            </a:pPr>
            <a:r>
              <a:t>•  Scala a miliardi di nodi mantenendo performance costanti</a:t>
            </a:r>
          </a:p>
        </p:txBody>
      </p:sp>
      <p:sp>
        <p:nvSpPr>
          <p:cNvPr id="5" name="TextBox 4"/>
          <p:cNvSpPr txBox="1"/>
          <p:nvPr/>
        </p:nvSpPr>
        <p:spPr>
          <a:xfrm>
            <a:off x="5669280" y="1737360"/>
            <a:ext cx="4846320" cy="1828800"/>
          </a:xfrm>
          <a:prstGeom prst="rect">
            <a:avLst/>
          </a:prstGeom>
          <a:noFill/>
        </p:spPr>
        <p:txBody>
          <a:bodyPr wrap="square">
            <a:spAutoFit/>
          </a:bodyPr>
          <a:lstStyle/>
          <a:p>
            <a:pPr algn="l">
              <a:defRPr sz="1000" b="0">
                <a:solidFill>
                  <a:srgbClr val="7EC68E"/>
                </a:solidFill>
                <a:latin typeface="Consolas"/>
              </a:defRPr>
            </a:pPr>
            <a:r>
              <a:t>DB Relazionale:</a:t>
            </a:r>
            <a:br/>
            <a:r>
              <a:t>  Clienti └── FK──➤ Indice ──➤ Ordini └── FK──➤ Indice ──➤ Prodotti</a:t>
            </a:r>
            <a:br/>
            <a:r>
              <a:t>  Ogni passo cerca in un indice separato</a:t>
            </a:r>
            <a:br/>
            <a:br/>
            <a:r>
              <a:t>Neo4j:</a:t>
            </a:r>
            <a:br/>
            <a:r>
              <a:t>  (:Person {name:'Alice'})</a:t>
            </a:r>
            <a:br/>
            <a:r>
              <a:t>     │</a:t>
            </a:r>
            <a:br/>
            <a:r>
              <a:t>     │ HAS_SKILL (puntatore diretto)</a:t>
            </a:r>
            <a:br/>
            <a:r>
              <a:t>     └──➤ (:Skill {name:'Python'})</a:t>
            </a:r>
            <a:br/>
            <a:r>
              <a:t>  Alice conosce già Python — nessuna lookup</a:t>
            </a:r>
          </a:p>
        </p:txBody>
      </p:sp>
      <p:sp>
        <p:nvSpPr>
          <p:cNvPr id="6" name="Rectangle 5"/>
          <p:cNvSpPr/>
          <p:nvPr/>
        </p:nvSpPr>
        <p:spPr>
          <a:xfrm>
            <a:off x="731520" y="39319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4206240"/>
            <a:ext cx="10515600" cy="365760"/>
          </a:xfrm>
          <a:prstGeom prst="rect">
            <a:avLst/>
          </a:prstGeom>
          <a:noFill/>
        </p:spPr>
        <p:txBody>
          <a:bodyPr wrap="square">
            <a:spAutoFit/>
          </a:bodyPr>
          <a:lstStyle/>
          <a:p>
            <a:pPr algn="l">
              <a:defRPr sz="1500" b="1">
                <a:solidFill>
                  <a:srgbClr val="F0C040"/>
                </a:solidFill>
                <a:latin typeface="Calibri"/>
              </a:defRPr>
            </a:pPr>
            <a:r>
              <a:t>Analogia:</a:t>
            </a:r>
          </a:p>
        </p:txBody>
      </p:sp>
      <p:sp>
        <p:nvSpPr>
          <p:cNvPr id="8" name="TextBox 7"/>
          <p:cNvSpPr txBox="1"/>
          <p:nvPr/>
        </p:nvSpPr>
        <p:spPr>
          <a:xfrm>
            <a:off x="731520" y="4663440"/>
            <a:ext cx="10515600" cy="1097280"/>
          </a:xfrm>
          <a:prstGeom prst="rect">
            <a:avLst/>
          </a:prstGeom>
          <a:noFill/>
        </p:spPr>
        <p:txBody>
          <a:bodyPr wrap="square">
            <a:spAutoFit/>
          </a:bodyPr>
          <a:lstStyle/>
          <a:p>
            <a:pPr algn="l">
              <a:defRPr sz="1200" b="0">
                <a:solidFill>
                  <a:srgbClr val="CCCCCC"/>
                </a:solidFill>
                <a:latin typeface="Calibri"/>
              </a:defRPr>
            </a:pPr>
            <a:r>
              <a:t>DB relazionale = rubrica telefonica: cerchi un nome, trovi il numero.</a:t>
            </a:r>
            <a:br/>
            <a:r>
              <a:t>Per trovare gli amici degli amici devi cercare nella rubrica di ogni persona.</a:t>
            </a:r>
            <a:br/>
            <a:br/>
            <a:r>
              <a:t>Grafo = ogni persona ha la propria rubrica in tasca: chiedi direttamente ad Alice chi conosce.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Property Graph Model: Nodi e Labels</a:t>
            </a:r>
          </a:p>
        </p:txBody>
      </p:sp>
      <p:sp>
        <p:nvSpPr>
          <p:cNvPr id="3" name="TextBox 2"/>
          <p:cNvSpPr txBox="1"/>
          <p:nvPr/>
        </p:nvSpPr>
        <p:spPr>
          <a:xfrm>
            <a:off x="731520" y="1051560"/>
            <a:ext cx="3840480" cy="411480"/>
          </a:xfrm>
          <a:prstGeom prst="rect">
            <a:avLst/>
          </a:prstGeom>
          <a:noFill/>
        </p:spPr>
        <p:txBody>
          <a:bodyPr wrap="square">
            <a:spAutoFit/>
          </a:bodyPr>
          <a:lstStyle/>
          <a:p>
            <a:pPr algn="l">
              <a:defRPr sz="1800" b="1">
                <a:solidFill>
                  <a:srgbClr val="F08040"/>
                </a:solidFill>
                <a:latin typeface="Calibri"/>
              </a:defRPr>
            </a:pPr>
            <a:r>
              <a:t>Nodi (Vertici)</a:t>
            </a:r>
          </a:p>
        </p:txBody>
      </p:sp>
      <p:sp>
        <p:nvSpPr>
          <p:cNvPr id="4" name="TextBox 3"/>
          <p:cNvSpPr txBox="1"/>
          <p:nvPr/>
        </p:nvSpPr>
        <p:spPr>
          <a:xfrm>
            <a:off x="731520" y="1508760"/>
            <a:ext cx="3840480" cy="1828800"/>
          </a:xfrm>
          <a:prstGeom prst="rect">
            <a:avLst/>
          </a:prstGeom>
          <a:noFill/>
        </p:spPr>
        <p:txBody>
          <a:bodyPr wrap="square">
            <a:spAutoFit/>
          </a:bodyPr>
          <a:lstStyle/>
          <a:p>
            <a:pPr algn="l">
              <a:spcAft>
                <a:spcPts val="300"/>
              </a:spcAft>
              <a:defRPr sz="1300">
                <a:solidFill>
                  <a:srgbClr val="FFFFFF"/>
                </a:solidFill>
                <a:latin typeface="Calibri"/>
              </a:defRPr>
            </a:pPr>
            <a:r>
              <a:t>•  Rappresentano entità del mondo reale</a:t>
            </a:r>
          </a:p>
          <a:p>
            <a:pPr algn="l">
              <a:spcAft>
                <a:spcPts val="300"/>
              </a:spcAft>
              <a:defRPr sz="1300">
                <a:solidFill>
                  <a:srgbClr val="FFFFFF"/>
                </a:solidFill>
                <a:latin typeface="Calibri"/>
              </a:defRPr>
            </a:pPr>
            <a:r>
              <a:t>•  Possono avere 0, 1 o più LABELS</a:t>
            </a:r>
          </a:p>
          <a:p>
            <a:pPr algn="l">
              <a:spcAft>
                <a:spcPts val="300"/>
              </a:spcAft>
              <a:defRPr sz="1300">
                <a:solidFill>
                  <a:srgbClr val="FFFFFF"/>
                </a:solidFill>
                <a:latin typeface="Calibri"/>
              </a:defRPr>
            </a:pPr>
            <a:r>
              <a:t>•  Labels: categoria/tipo del nodo (:Person, :Project, :Skill)</a:t>
            </a:r>
          </a:p>
          <a:p>
            <a:pPr algn="l">
              <a:spcAft>
                <a:spcPts val="300"/>
              </a:spcAft>
              <a:defRPr sz="1300">
                <a:solidFill>
                  <a:srgbClr val="FFFFFF"/>
                </a:solidFill>
                <a:latin typeface="Calibri"/>
              </a:defRPr>
            </a:pPr>
            <a:r>
              <a:t>•  Un nodo con più labels: (:Person:Employee:Manager)</a:t>
            </a:r>
          </a:p>
          <a:p>
            <a:pPr algn="l">
              <a:spcAft>
                <a:spcPts val="300"/>
              </a:spcAft>
              <a:defRPr sz="1300">
                <a:solidFill>
                  <a:srgbClr val="FFFFFF"/>
                </a:solidFill>
                <a:latin typeface="Calibri"/>
              </a:defRPr>
            </a:pPr>
            <a:r>
              <a:t>•  Proprietà: coppie chiave-valore su ogni nodo</a:t>
            </a:r>
          </a:p>
        </p:txBody>
      </p:sp>
      <p:sp>
        <p:nvSpPr>
          <p:cNvPr id="5" name="TextBox 4"/>
          <p:cNvSpPr txBox="1"/>
          <p:nvPr/>
        </p:nvSpPr>
        <p:spPr>
          <a:xfrm>
            <a:off x="4754880" y="1051560"/>
            <a:ext cx="3840480" cy="411480"/>
          </a:xfrm>
          <a:prstGeom prst="rect">
            <a:avLst/>
          </a:prstGeom>
          <a:noFill/>
        </p:spPr>
        <p:txBody>
          <a:bodyPr wrap="square">
            <a:spAutoFit/>
          </a:bodyPr>
          <a:lstStyle/>
          <a:p>
            <a:pPr algn="l">
              <a:defRPr sz="1800" b="1">
                <a:solidFill>
                  <a:srgbClr val="F08040"/>
                </a:solidFill>
                <a:latin typeface="Calibri"/>
              </a:defRPr>
            </a:pPr>
            <a:r>
              <a:t>Labels come tabelle flessibili</a:t>
            </a:r>
          </a:p>
        </p:txBody>
      </p:sp>
      <p:sp>
        <p:nvSpPr>
          <p:cNvPr id="6" name="TextBox 5"/>
          <p:cNvSpPr txBox="1"/>
          <p:nvPr/>
        </p:nvSpPr>
        <p:spPr>
          <a:xfrm>
            <a:off x="4754880" y="1508760"/>
            <a:ext cx="3840480" cy="1828800"/>
          </a:xfrm>
          <a:prstGeom prst="rect">
            <a:avLst/>
          </a:prstGeom>
          <a:noFill/>
        </p:spPr>
        <p:txBody>
          <a:bodyPr wrap="square">
            <a:spAutoFit/>
          </a:bodyPr>
          <a:lstStyle/>
          <a:p>
            <a:pPr algn="l">
              <a:spcAft>
                <a:spcPts val="300"/>
              </a:spcAft>
              <a:defRPr sz="1300">
                <a:solidFill>
                  <a:srgbClr val="FFFFFF"/>
                </a:solidFill>
                <a:latin typeface="Calibri"/>
              </a:defRPr>
            </a:pPr>
            <a:r>
              <a:t>•  Nel DB relazionale: tabella Person con colonne fisse</a:t>
            </a:r>
          </a:p>
          <a:p>
            <a:pPr algn="l">
              <a:spcAft>
                <a:spcPts val="300"/>
              </a:spcAft>
              <a:defRPr sz="1300">
                <a:solidFill>
                  <a:srgbClr val="FFFFFF"/>
                </a:solidFill>
                <a:latin typeface="Calibri"/>
              </a:defRPr>
            </a:pPr>
            <a:r>
              <a:t>•  In Neo4j: ogni nodo (:Person) ha le PROPRIE proprietà</a:t>
            </a:r>
          </a:p>
          <a:p>
            <a:pPr algn="l">
              <a:spcAft>
                <a:spcPts val="300"/>
              </a:spcAft>
              <a:defRPr sz="1300">
                <a:solidFill>
                  <a:srgbClr val="FFFFFF"/>
                </a:solidFill>
                <a:latin typeface="Calibri"/>
              </a:defRPr>
            </a:pPr>
            <a:r>
              <a:t>•  Labels sostituiscono i nomi di tabella nel MATCH</a:t>
            </a:r>
          </a:p>
          <a:p>
            <a:pPr algn="l">
              <a:spcAft>
                <a:spcPts val="300"/>
              </a:spcAft>
              <a:defRPr sz="1300">
                <a:solidFill>
                  <a:srgbClr val="FFFFFF"/>
                </a:solidFill>
                <a:latin typeface="Calibri"/>
              </a:defRPr>
            </a:pPr>
            <a:r>
              <a:t>•  MATCH (p:Person) = “tutti i nodi con label Person”</a:t>
            </a:r>
          </a:p>
          <a:p>
            <a:pPr algn="l">
              <a:spcAft>
                <a:spcPts val="300"/>
              </a:spcAft>
              <a:defRPr sz="1300">
                <a:solidFill>
                  <a:srgbClr val="FFFFFF"/>
                </a:solidFill>
                <a:latin typeface="Calibri"/>
              </a:defRPr>
            </a:pPr>
            <a:r>
              <a:t>•  Vincoli e indici si applicano PER LABEL</a:t>
            </a:r>
          </a:p>
        </p:txBody>
      </p:sp>
      <p:sp>
        <p:nvSpPr>
          <p:cNvPr id="7" name="Rectangle 6"/>
          <p:cNvSpPr/>
          <p:nvPr/>
        </p:nvSpPr>
        <p:spPr>
          <a:xfrm>
            <a:off x="731520" y="36576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840480"/>
            <a:ext cx="10515600" cy="365760"/>
          </a:xfrm>
          <a:prstGeom prst="rect">
            <a:avLst/>
          </a:prstGeom>
          <a:noFill/>
        </p:spPr>
        <p:txBody>
          <a:bodyPr wrap="square">
            <a:spAutoFit/>
          </a:bodyPr>
          <a:lstStyle/>
          <a:p>
            <a:pPr algn="l">
              <a:defRPr sz="1500" b="1">
                <a:solidFill>
                  <a:srgbClr val="F0C040"/>
                </a:solidFill>
                <a:latin typeface="Calibri"/>
              </a:defRPr>
            </a:pPr>
            <a:r>
              <a:t>Esempio: nodi del nostro dataset Org Graph</a:t>
            </a:r>
          </a:p>
        </p:txBody>
      </p:sp>
      <p:sp>
        <p:nvSpPr>
          <p:cNvPr id="9" name="Rectangle 8"/>
          <p:cNvSpPr/>
          <p:nvPr/>
        </p:nvSpPr>
        <p:spPr>
          <a:xfrm>
            <a:off x="731520" y="4297680"/>
            <a:ext cx="5029200" cy="16459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4370832"/>
            <a:ext cx="4809744" cy="1499616"/>
          </a:xfrm>
          <a:prstGeom prst="rect">
            <a:avLst/>
          </a:prstGeom>
          <a:noFill/>
        </p:spPr>
        <p:txBody>
          <a:bodyPr wrap="square">
            <a:spAutoFit/>
          </a:bodyPr>
          <a:lstStyle/>
          <a:p>
            <a:pPr>
              <a:spcAft>
                <a:spcPts val="100"/>
              </a:spcAft>
              <a:defRPr sz="1100">
                <a:solidFill>
                  <a:srgbClr val="7EC68E"/>
                </a:solidFill>
                <a:latin typeface="Consolas"/>
              </a:defRPr>
            </a:pPr>
            <a:r>
              <a:t>(:Person {employee_id: 1,</a:t>
            </a:r>
          </a:p>
          <a:p>
            <a:pPr>
              <a:spcAft>
                <a:spcPts val="100"/>
              </a:spcAft>
              <a:defRPr sz="1100">
                <a:solidFill>
                  <a:srgbClr val="7EC68E"/>
                </a:solidFill>
                <a:latin typeface="Consolas"/>
              </a:defRPr>
            </a:pPr>
            <a:r>
              <a:t>         name: "Mario Rossi",</a:t>
            </a:r>
          </a:p>
          <a:p>
            <a:pPr>
              <a:spcAft>
                <a:spcPts val="100"/>
              </a:spcAft>
              <a:defRPr sz="1100">
                <a:solidFill>
                  <a:srgbClr val="7EC68E"/>
                </a:solidFill>
                <a:latin typeface="Consolas"/>
              </a:defRPr>
            </a:pPr>
            <a:r>
              <a:t>         location: "Roma",</a:t>
            </a:r>
          </a:p>
          <a:p>
            <a:pPr>
              <a:spcAft>
                <a:spcPts val="100"/>
              </a:spcAft>
              <a:defRPr sz="1100">
                <a:solidFill>
                  <a:srgbClr val="7EC68E"/>
                </a:solidFill>
                <a:latin typeface="Consolas"/>
              </a:defRPr>
            </a:pPr>
            <a:r>
              <a:t>         title: "Senior Consultant",</a:t>
            </a:r>
          </a:p>
          <a:p>
            <a:pPr>
              <a:spcAft>
                <a:spcPts val="100"/>
              </a:spcAft>
              <a:defRPr sz="1100">
                <a:solidFill>
                  <a:srgbClr val="7EC68E"/>
                </a:solidFill>
                <a:latin typeface="Consolas"/>
              </a:defRPr>
            </a:pPr>
            <a:r>
              <a:t>         department: "Digital"})</a:t>
            </a:r>
          </a:p>
        </p:txBody>
      </p:sp>
      <p:sp>
        <p:nvSpPr>
          <p:cNvPr id="11" name="Rectangle 10"/>
          <p:cNvSpPr/>
          <p:nvPr/>
        </p:nvSpPr>
        <p:spPr>
          <a:xfrm>
            <a:off x="6096000" y="4297680"/>
            <a:ext cx="4846320" cy="16459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05728" y="4370832"/>
            <a:ext cx="4626864" cy="1499616"/>
          </a:xfrm>
          <a:prstGeom prst="rect">
            <a:avLst/>
          </a:prstGeom>
          <a:noFill/>
        </p:spPr>
        <p:txBody>
          <a:bodyPr wrap="square">
            <a:spAutoFit/>
          </a:bodyPr>
          <a:lstStyle/>
          <a:p>
            <a:pPr>
              <a:spcAft>
                <a:spcPts val="100"/>
              </a:spcAft>
              <a:defRPr sz="1100">
                <a:solidFill>
                  <a:srgbClr val="7EC68E"/>
                </a:solidFill>
                <a:latin typeface="Consolas"/>
              </a:defRPr>
            </a:pPr>
            <a:r>
              <a:t>(:Skill {name: "Python"})</a:t>
            </a:r>
          </a:p>
          <a:p>
            <a:pPr>
              <a:spcAft>
                <a:spcPts val="100"/>
              </a:spcAft>
              <a:defRPr sz="1100">
                <a:solidFill>
                  <a:srgbClr val="7EC68E"/>
                </a:solidFill>
                <a:latin typeface="Consolas"/>
              </a:defRPr>
            </a:pPr>
            <a:endParaRPr/>
          </a:p>
          <a:p>
            <a:pPr>
              <a:spcAft>
                <a:spcPts val="100"/>
              </a:spcAft>
              <a:defRPr sz="1100">
                <a:solidFill>
                  <a:srgbClr val="7EC68E"/>
                </a:solidFill>
                <a:latin typeface="Consolas"/>
              </a:defRPr>
            </a:pPr>
            <a:r>
              <a:t>(:Project {project_id: 10,</a:t>
            </a:r>
          </a:p>
          <a:p>
            <a:pPr>
              <a:spcAft>
                <a:spcPts val="100"/>
              </a:spcAft>
              <a:defRPr sz="1100">
                <a:solidFill>
                  <a:srgbClr val="7EC68E"/>
                </a:solidFill>
                <a:latin typeface="Consolas"/>
              </a:defRPr>
            </a:pPr>
            <a:r>
              <a:t>          name: "AI Platform"})</a:t>
            </a:r>
          </a:p>
          <a:p>
            <a:pPr>
              <a:spcAft>
                <a:spcPts val="100"/>
              </a:spcAft>
              <a:defRPr sz="1100">
                <a:solidFill>
                  <a:srgbClr val="7EC68E"/>
                </a:solidFill>
                <a:latin typeface="Consolas"/>
              </a:defRPr>
            </a:pPr>
            <a:endParaRPr/>
          </a:p>
          <a:p>
            <a:pPr>
              <a:spcAft>
                <a:spcPts val="100"/>
              </a:spcAft>
              <a:defRPr sz="1100">
                <a:solidFill>
                  <a:srgbClr val="7EC68E"/>
                </a:solidFill>
                <a:latin typeface="Consolas"/>
              </a:defRPr>
            </a:pPr>
            <a:r>
              <a:t>(:Supervisor {supervisor_id: 200,</a:t>
            </a:r>
          </a:p>
          <a:p>
            <a:pPr>
              <a:spcAft>
                <a:spcPts val="100"/>
              </a:spcAft>
              <a:defRPr sz="1100">
                <a:solidFill>
                  <a:srgbClr val="7EC68E"/>
                </a:solidFill>
                <a:latin typeface="Consolas"/>
              </a:defRPr>
            </a:pPr>
            <a:r>
              <a:t>             name: "Anna Bianchi"})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Property Graph Model: Relazioni</a:t>
            </a:r>
          </a:p>
        </p:txBody>
      </p:sp>
      <p:sp>
        <p:nvSpPr>
          <p:cNvPr id="3" name="TextBox 2"/>
          <p:cNvSpPr txBox="1"/>
          <p:nvPr/>
        </p:nvSpPr>
        <p:spPr>
          <a:xfrm>
            <a:off x="731520" y="1051560"/>
            <a:ext cx="5029200" cy="411480"/>
          </a:xfrm>
          <a:prstGeom prst="rect">
            <a:avLst/>
          </a:prstGeom>
          <a:noFill/>
        </p:spPr>
        <p:txBody>
          <a:bodyPr wrap="square">
            <a:spAutoFit/>
          </a:bodyPr>
          <a:lstStyle/>
          <a:p>
            <a:pPr algn="l">
              <a:defRPr sz="1800" b="1">
                <a:solidFill>
                  <a:srgbClr val="F08040"/>
                </a:solidFill>
                <a:latin typeface="Calibri"/>
              </a:defRPr>
            </a:pPr>
            <a:r>
              <a:t>Relazioni (Edge)</a:t>
            </a:r>
          </a:p>
        </p:txBody>
      </p:sp>
      <p:sp>
        <p:nvSpPr>
          <p:cNvPr id="4" name="TextBox 3"/>
          <p:cNvSpPr txBox="1"/>
          <p:nvPr/>
        </p:nvSpPr>
        <p:spPr>
          <a:xfrm>
            <a:off x="731520" y="1508760"/>
            <a:ext cx="5029200" cy="1463040"/>
          </a:xfrm>
          <a:prstGeom prst="rect">
            <a:avLst/>
          </a:prstGeom>
          <a:noFill/>
        </p:spPr>
        <p:txBody>
          <a:bodyPr wrap="square">
            <a:spAutoFit/>
          </a:bodyPr>
          <a:lstStyle/>
          <a:p>
            <a:pPr algn="l">
              <a:spcAft>
                <a:spcPts val="300"/>
              </a:spcAft>
              <a:defRPr sz="1300">
                <a:solidFill>
                  <a:srgbClr val="FFFFFF"/>
                </a:solidFill>
                <a:latin typeface="Calibri"/>
              </a:defRPr>
            </a:pPr>
            <a:r>
              <a:t>•  Collegano sempre DUE nodi: start node → end node</a:t>
            </a:r>
          </a:p>
          <a:p>
            <a:pPr algn="l">
              <a:spcAft>
                <a:spcPts val="300"/>
              </a:spcAft>
              <a:defRPr sz="1300">
                <a:solidFill>
                  <a:srgbClr val="FFFFFF"/>
                </a:solidFill>
                <a:latin typeface="Calibri"/>
              </a:defRPr>
            </a:pPr>
            <a:r>
              <a:t>•  Hanno un TIPO (es: HAS_SKILL, WORKED_ON, REPORTS_TO)</a:t>
            </a:r>
          </a:p>
          <a:p>
            <a:pPr algn="l">
              <a:spcAft>
                <a:spcPts val="300"/>
              </a:spcAft>
              <a:defRPr sz="1300">
                <a:solidFill>
                  <a:srgbClr val="FFFFFF"/>
                </a:solidFill>
                <a:latin typeface="Calibri"/>
              </a:defRPr>
            </a:pPr>
            <a:r>
              <a:t>•  Sono direzionali ma si possono traversare in entrambi i sensi</a:t>
            </a:r>
          </a:p>
          <a:p>
            <a:pPr algn="l">
              <a:spcAft>
                <a:spcPts val="300"/>
              </a:spcAft>
              <a:defRPr sz="1300">
                <a:solidFill>
                  <a:srgbClr val="FFFFFF"/>
                </a:solidFill>
                <a:latin typeface="Calibri"/>
              </a:defRPr>
            </a:pPr>
            <a:r>
              <a:t>•  Possono avere proprietà (es: proficiency su HAS_SKILL)</a:t>
            </a:r>
          </a:p>
          <a:p>
            <a:pPr algn="l">
              <a:spcAft>
                <a:spcPts val="300"/>
              </a:spcAft>
              <a:defRPr sz="1300">
                <a:solidFill>
                  <a:srgbClr val="FFFFFF"/>
                </a:solidFill>
                <a:latin typeface="Calibri"/>
              </a:defRPr>
            </a:pPr>
            <a:r>
              <a:t>•  A differenza delle FK, sono memorizzate fisicamente</a:t>
            </a:r>
          </a:p>
        </p:txBody>
      </p:sp>
      <p:sp>
        <p:nvSpPr>
          <p:cNvPr id="5" name="TextBox 4"/>
          <p:cNvSpPr txBox="1"/>
          <p:nvPr/>
        </p:nvSpPr>
        <p:spPr>
          <a:xfrm>
            <a:off x="5669280" y="1051560"/>
            <a:ext cx="4846320" cy="411480"/>
          </a:xfrm>
          <a:prstGeom prst="rect">
            <a:avLst/>
          </a:prstGeom>
          <a:noFill/>
        </p:spPr>
        <p:txBody>
          <a:bodyPr wrap="square">
            <a:spAutoFit/>
          </a:bodyPr>
          <a:lstStyle/>
          <a:p>
            <a:pPr algn="l">
              <a:defRPr sz="1800" b="1">
                <a:solidFill>
                  <a:srgbClr val="F08040"/>
                </a:solidFill>
                <a:latin typeface="Calibri"/>
              </a:defRPr>
            </a:pPr>
            <a:r>
              <a:t>Notazione Cypher</a:t>
            </a:r>
          </a:p>
        </p:txBody>
      </p:sp>
      <p:sp>
        <p:nvSpPr>
          <p:cNvPr id="6" name="TextBox 5"/>
          <p:cNvSpPr txBox="1"/>
          <p:nvPr/>
        </p:nvSpPr>
        <p:spPr>
          <a:xfrm>
            <a:off x="5669280" y="1508760"/>
            <a:ext cx="4846320" cy="1463040"/>
          </a:xfrm>
          <a:prstGeom prst="rect">
            <a:avLst/>
          </a:prstGeom>
          <a:noFill/>
        </p:spPr>
        <p:txBody>
          <a:bodyPr wrap="square">
            <a:spAutoFit/>
          </a:bodyPr>
          <a:lstStyle/>
          <a:p>
            <a:pPr algn="l">
              <a:defRPr sz="1100" b="0">
                <a:solidFill>
                  <a:srgbClr val="7EC68E"/>
                </a:solidFill>
                <a:latin typeface="Consolas"/>
              </a:defRPr>
            </a:pPr>
            <a:r>
              <a:t>(:Person)                    // nodo</a:t>
            </a:r>
            <a:br/>
            <a:r>
              <a:t>  |</a:t>
            </a:r>
            <a:br/>
            <a:r>
              <a:t>  [:HAS_SKILL {proficiency: 5}] // relazione</a:t>
            </a:r>
            <a:br/>
            <a:r>
              <a:t>  └─▶ (:Skill {name: "Python"}) // nodo destinazione</a:t>
            </a:r>
            <a:br/>
            <a:br/>
            <a:r>
              <a:t>Ogni freccia è un record fisico</a:t>
            </a:r>
            <a:br/>
            <a:r>
              <a:t>nel database: O(1) per traversarla.</a:t>
            </a:r>
          </a:p>
        </p:txBody>
      </p:sp>
      <p:sp>
        <p:nvSpPr>
          <p:cNvPr id="7" name="Rectangle 6"/>
          <p:cNvSpPr/>
          <p:nvPr/>
        </p:nvSpPr>
        <p:spPr>
          <a:xfrm>
            <a:off x="731520" y="32004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474720"/>
            <a:ext cx="10515600" cy="365760"/>
          </a:xfrm>
          <a:prstGeom prst="rect">
            <a:avLst/>
          </a:prstGeom>
          <a:noFill/>
        </p:spPr>
        <p:txBody>
          <a:bodyPr wrap="square">
            <a:spAutoFit/>
          </a:bodyPr>
          <a:lstStyle/>
          <a:p>
            <a:pPr algn="l">
              <a:defRPr sz="1500" b="1">
                <a:solidFill>
                  <a:srgbClr val="F0C040"/>
                </a:solidFill>
                <a:latin typeface="Calibri"/>
              </a:defRPr>
            </a:pPr>
            <a:r>
              <a:t>Relazioni del progetto Org Graph:</a:t>
            </a:r>
          </a:p>
        </p:txBody>
      </p:sp>
      <p:sp>
        <p:nvSpPr>
          <p:cNvPr id="9" name="TextBox 8"/>
          <p:cNvSpPr txBox="1"/>
          <p:nvPr/>
        </p:nvSpPr>
        <p:spPr>
          <a:xfrm>
            <a:off x="731520" y="3931920"/>
            <a:ext cx="3474720" cy="1828800"/>
          </a:xfrm>
          <a:prstGeom prst="rect">
            <a:avLst/>
          </a:prstGeom>
          <a:noFill/>
        </p:spPr>
        <p:txBody>
          <a:bodyPr wrap="square">
            <a:spAutoFit/>
          </a:bodyPr>
          <a:lstStyle/>
          <a:p>
            <a:pPr algn="l">
              <a:spcAft>
                <a:spcPts val="300"/>
              </a:spcAft>
              <a:defRPr sz="1200">
                <a:solidFill>
                  <a:srgbClr val="FFFFFF"/>
                </a:solidFill>
                <a:latin typeface="Calibri"/>
              </a:defRPr>
            </a:pPr>
            <a:r>
              <a:t>•  (p:Person)-[:HAS_SKILL {proficiency: 5}]-&gt;(s:Skill)</a:t>
            </a:r>
          </a:p>
          <a:p>
            <a:pPr algn="l">
              <a:spcAft>
                <a:spcPts val="300"/>
              </a:spcAft>
              <a:defRPr sz="1200">
                <a:solidFill>
                  <a:srgbClr val="FFFFFF"/>
                </a:solidFill>
                <a:latin typeface="Calibri"/>
              </a:defRPr>
            </a:pPr>
            <a:r>
              <a:t>  — Mario ha Python con livello 5</a:t>
            </a:r>
          </a:p>
          <a:p>
            <a:pPr algn="l">
              <a:spcAft>
                <a:spcPts val="300"/>
              </a:spcAft>
              <a:defRPr sz="1200">
                <a:solidFill>
                  <a:srgbClr val="FFFFFF"/>
                </a:solidFill>
                <a:latin typeface="Calibri"/>
              </a:defRPr>
            </a:pPr>
            <a:r>
              <a:t>•  (p:Person)-[:WORKED_ON {role: 'Developer'}]-&gt;(proj:Project)</a:t>
            </a:r>
          </a:p>
          <a:p>
            <a:pPr algn="l">
              <a:spcAft>
                <a:spcPts val="300"/>
              </a:spcAft>
              <a:defRPr sz="1200">
                <a:solidFill>
                  <a:srgbClr val="FFFFFF"/>
                </a:solidFill>
                <a:latin typeface="Calibri"/>
              </a:defRPr>
            </a:pPr>
            <a:r>
              <a:t>  — Mario ha lavorato al progetto AI Platform</a:t>
            </a:r>
          </a:p>
          <a:p>
            <a:pPr algn="l">
              <a:spcAft>
                <a:spcPts val="300"/>
              </a:spcAft>
              <a:defRPr sz="1200">
                <a:solidFill>
                  <a:srgbClr val="FFFFFF"/>
                </a:solidFill>
                <a:latin typeface="Calibri"/>
              </a:defRPr>
            </a:pPr>
            <a:r>
              <a:t>•  (p:Person)-[:REPORTS_TO]-&gt;(sup:Supervisor)</a:t>
            </a:r>
          </a:p>
          <a:p>
            <a:pPr algn="l">
              <a:spcAft>
                <a:spcPts val="300"/>
              </a:spcAft>
              <a:defRPr sz="1200">
                <a:solidFill>
                  <a:srgbClr val="FFFFFF"/>
                </a:solidFill>
                <a:latin typeface="Calibri"/>
              </a:defRPr>
            </a:pPr>
            <a:r>
              <a:t>  — Mario riporta ad Anna Bianchi</a:t>
            </a:r>
          </a:p>
        </p:txBody>
      </p:sp>
      <p:sp>
        <p:nvSpPr>
          <p:cNvPr id="10" name="TextBox 9"/>
          <p:cNvSpPr txBox="1"/>
          <p:nvPr/>
        </p:nvSpPr>
        <p:spPr>
          <a:xfrm>
            <a:off x="4114800" y="3931920"/>
            <a:ext cx="6400800" cy="1828800"/>
          </a:xfrm>
          <a:prstGeom prst="rect">
            <a:avLst/>
          </a:prstGeom>
          <a:noFill/>
        </p:spPr>
        <p:txBody>
          <a:bodyPr wrap="square">
            <a:spAutoFit/>
          </a:bodyPr>
          <a:lstStyle/>
          <a:p>
            <a:pPr algn="l">
              <a:defRPr sz="1400" b="0">
                <a:solidFill>
                  <a:srgbClr val="CCCCCC"/>
                </a:solidFill>
                <a:latin typeface="Calibri"/>
              </a:defRPr>
            </a:pPr>
            <a:r>
              <a:t>Ogni relazione è univoca nel suo significato:</a:t>
            </a:r>
            <a:br/>
            <a:r>
              <a:t>HAS_SKILL = competenza, WORKED_ON = esperienza, REPORTS_TO = gerarchia.</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Perché Neo4j?</a:t>
            </a:r>
          </a:p>
        </p:txBody>
      </p:sp>
      <p:sp>
        <p:nvSpPr>
          <p:cNvPr id="3" name="TextBox 2"/>
          <p:cNvSpPr txBox="1"/>
          <p:nvPr/>
        </p:nvSpPr>
        <p:spPr>
          <a:xfrm>
            <a:off x="731520" y="1051560"/>
            <a:ext cx="5029200" cy="3474720"/>
          </a:xfrm>
          <a:prstGeom prst="rect">
            <a:avLst/>
          </a:prstGeom>
          <a:noFill/>
        </p:spPr>
        <p:txBody>
          <a:bodyPr wrap="square">
            <a:spAutoFit/>
          </a:bodyPr>
          <a:lstStyle/>
          <a:p>
            <a:pPr algn="l">
              <a:spcAft>
                <a:spcPts val="800"/>
              </a:spcAft>
              <a:defRPr sz="1400">
                <a:solidFill>
                  <a:srgbClr val="FFFFFF"/>
                </a:solidFill>
                <a:latin typeface="Calibri"/>
              </a:defRPr>
            </a:pPr>
            <a:r>
              <a:t>•  Native graph storage — architettura ottimizzata per grafi dal kernel</a:t>
            </a:r>
          </a:p>
          <a:p>
            <a:pPr algn="l">
              <a:spcAft>
                <a:spcPts val="800"/>
              </a:spcAft>
              <a:defRPr sz="1400">
                <a:solidFill>
                  <a:srgbClr val="FFFFFF"/>
                </a:solidFill>
                <a:latin typeface="Calibri"/>
              </a:defRPr>
            </a:pPr>
            <a:r>
              <a:t>•  Index-free adjacency — traversal senza lookup, O(1) per hop</a:t>
            </a:r>
          </a:p>
          <a:p>
            <a:pPr algn="l">
              <a:spcAft>
                <a:spcPts val="800"/>
              </a:spcAft>
              <a:defRPr sz="1400">
                <a:solidFill>
                  <a:srgbClr val="FFFFFF"/>
                </a:solidFill>
                <a:latin typeface="Calibri"/>
              </a:defRPr>
            </a:pPr>
            <a:r>
              <a:t>•  ACID compliant — transazioni complete (commit/rollback)</a:t>
            </a:r>
          </a:p>
          <a:p>
            <a:pPr algn="l">
              <a:spcAft>
                <a:spcPts val="800"/>
              </a:spcAft>
              <a:defRPr sz="1400">
                <a:solidFill>
                  <a:srgbClr val="FFFFFF"/>
                </a:solidFill>
                <a:latin typeface="Calibri"/>
              </a:defRPr>
            </a:pPr>
            <a:r>
              <a:t>•  Cypher: linguaggio dichiarativo pattern-based, standard ISO (GQL)</a:t>
            </a:r>
          </a:p>
          <a:p>
            <a:pPr algn="l">
              <a:spcAft>
                <a:spcPts val="800"/>
              </a:spcAft>
              <a:defRPr sz="1400">
                <a:solidFill>
                  <a:srgbClr val="FFFFFF"/>
                </a:solidFill>
                <a:latin typeface="Calibri"/>
              </a:defRPr>
            </a:pPr>
            <a:r>
              <a:t>•  Cypher è leggibile: MATCH (a)-[:LOVES]-&gt;(b) → “a ama b”</a:t>
            </a:r>
          </a:p>
          <a:p>
            <a:pPr algn="l">
              <a:spcAft>
                <a:spcPts val="800"/>
              </a:spcAft>
              <a:defRPr sz="1400">
                <a:solidFill>
                  <a:srgbClr val="FFFFFF"/>
                </a:solidFill>
                <a:latin typeface="Calibri"/>
              </a:defRPr>
            </a:pPr>
            <a:r>
              <a:t>•  Open source (Community) + Enterprise (clustering, backup, SSO)</a:t>
            </a:r>
          </a:p>
        </p:txBody>
      </p:sp>
      <p:sp>
        <p:nvSpPr>
          <p:cNvPr id="4" name="TextBox 3"/>
          <p:cNvSpPr txBox="1"/>
          <p:nvPr/>
        </p:nvSpPr>
        <p:spPr>
          <a:xfrm>
            <a:off x="5669280" y="1051560"/>
            <a:ext cx="4846320" cy="3474720"/>
          </a:xfrm>
          <a:prstGeom prst="rect">
            <a:avLst/>
          </a:prstGeom>
          <a:noFill/>
        </p:spPr>
        <p:txBody>
          <a:bodyPr wrap="square">
            <a:spAutoFit/>
          </a:bodyPr>
          <a:lstStyle/>
          <a:p>
            <a:pPr algn="l">
              <a:defRPr sz="1100" b="0">
                <a:solidFill>
                  <a:srgbClr val="7EC68E"/>
                </a:solidFill>
                <a:latin typeface="Consolas"/>
              </a:defRPr>
            </a:pPr>
            <a:r>
              <a:t>DB relazionale:</a:t>
            </a:r>
            <a:br/>
            <a:r>
              <a:t>  SELECT * FROM persone p</a:t>
            </a:r>
            <a:br/>
            <a:r>
              <a:t>  JOIN skill s ON p.id = s.persona_id</a:t>
            </a:r>
            <a:br/>
            <a:r>
              <a:t>  WHERE p.nome = 'Mario'</a:t>
            </a:r>
            <a:br/>
            <a:r>
              <a:t>  -- JOIN = calcolato al volo</a:t>
            </a:r>
            <a:br/>
            <a:br/>
            <a:r>
              <a:t>Neo4j:</a:t>
            </a:r>
            <a:br/>
            <a:r>
              <a:t>  MATCH (p:Person {name: 'Mario'})</a:t>
            </a:r>
            <a:br/>
            <a:r>
              <a:t>        -[:HAS_SKILL]-&gt;(s:Skill)</a:t>
            </a:r>
            <a:br/>
            <a:r>
              <a:t>  RETURN p.name, s.name</a:t>
            </a:r>
            <a:br/>
            <a:r>
              <a:t>  -- relazione = puntatore diretto</a:t>
            </a:r>
            <a:br/>
            <a:br/>
            <a:r>
              <a:t>Vantaggio: il codice riflette</a:t>
            </a:r>
            <a:br/>
            <a:r>
              <a:t>il modello mentale dei dati.</a:t>
            </a:r>
          </a:p>
        </p:txBody>
      </p:sp>
      <p:sp>
        <p:nvSpPr>
          <p:cNvPr id="5" name="Rectangle 4"/>
          <p:cNvSpPr/>
          <p:nvPr/>
        </p:nvSpPr>
        <p:spPr>
          <a:xfrm>
            <a:off x="731520" y="48463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5029200"/>
            <a:ext cx="10515600" cy="365760"/>
          </a:xfrm>
          <a:prstGeom prst="rect">
            <a:avLst/>
          </a:prstGeom>
          <a:noFill/>
        </p:spPr>
        <p:txBody>
          <a:bodyPr wrap="square">
            <a:spAutoFit/>
          </a:bodyPr>
          <a:lstStyle/>
          <a:p>
            <a:pPr algn="l">
              <a:defRPr sz="1300" b="0">
                <a:solidFill>
                  <a:srgbClr val="F0C040"/>
                </a:solidFill>
                <a:latin typeface="Calibri"/>
              </a:defRPr>
            </a:pPr>
            <a:r>
              <a:t>Casi d’uso ideali: grafi della conoscenza, raccomandazioni, frodi, gerarchie, reti sociali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L’Ecosistema Neo4j</a:t>
            </a:r>
          </a:p>
        </p:txBody>
      </p:sp>
      <p:sp>
        <p:nvSpPr>
          <p:cNvPr id="3" name="TextBox 2"/>
          <p:cNvSpPr txBox="1"/>
          <p:nvPr/>
        </p:nvSpPr>
        <p:spPr>
          <a:xfrm>
            <a:off x="731520" y="1051560"/>
            <a:ext cx="5029200" cy="2286000"/>
          </a:xfrm>
          <a:prstGeom prst="rect">
            <a:avLst/>
          </a:prstGeom>
          <a:noFill/>
        </p:spPr>
        <p:txBody>
          <a:bodyPr wrap="square">
            <a:spAutoFit/>
          </a:bodyPr>
          <a:lstStyle/>
          <a:p>
            <a:pPr algn="l">
              <a:spcAft>
                <a:spcPts val="0"/>
              </a:spcAft>
              <a:defRPr sz="1200">
                <a:solidFill>
                  <a:srgbClr val="FFFFFF"/>
                </a:solidFill>
                <a:latin typeface="Calibri"/>
              </a:defRPr>
            </a:pPr>
            <a:r>
              <a:t>•  Neo4j Browser — interfaccia web per eseguire Cypher</a:t>
            </a:r>
          </a:p>
          <a:p>
            <a:pPr algn="l">
              <a:spcAft>
                <a:spcPts val="0"/>
              </a:spcAft>
              <a:defRPr sz="1200">
                <a:solidFill>
                  <a:srgbClr val="FFFFFF"/>
                </a:solidFill>
                <a:latin typeface="Calibri"/>
              </a:defRPr>
            </a:pPr>
            <a:r>
              <a:t>  http://localhost:7474 o workspace.neo4j.io</a:t>
            </a:r>
          </a:p>
          <a:p>
            <a:pPr algn="l">
              <a:spcAft>
                <a:spcPts val="0"/>
              </a:spcAft>
              <a:defRPr sz="1200">
                <a:solidFill>
                  <a:srgbClr val="FFFFFF"/>
                </a:solidFill>
                <a:latin typeface="Calibri"/>
              </a:defRPr>
            </a:pPr>
            <a:r>
              <a:t>  Editor con syntax highlighting, visualizzazione grafica</a:t>
            </a:r>
          </a:p>
          <a:p>
            <a:pPr algn="l">
              <a:spcAft>
                <a:spcPts val="0"/>
              </a:spcAft>
              <a:defRPr sz="1200">
                <a:solidFill>
                  <a:srgbClr val="FFFFFF"/>
                </a:solidFill>
                <a:latin typeface="Calibri"/>
              </a:defRPr>
            </a:pPr>
            <a:r>
              <a:t>  :play movie-graph per tutorial interattivo</a:t>
            </a:r>
          </a:p>
          <a:p>
            <a:pPr algn="l">
              <a:spcAft>
                <a:spcPts val="0"/>
              </a:spcAft>
              <a:defRPr sz="1200">
                <a:solidFill>
                  <a:srgbClr val="FFFFFF"/>
                </a:solidFill>
                <a:latin typeface="Calibri"/>
              </a:defRPr>
            </a:pPr>
            <a:r>
              <a:t>•  Neo4j AuraDB — database cloud managed</a:t>
            </a:r>
          </a:p>
          <a:p>
            <a:pPr algn="l">
              <a:spcAft>
                <a:spcPts val="0"/>
              </a:spcAft>
              <a:defRPr sz="1200">
                <a:solidFill>
                  <a:srgbClr val="FFFFFF"/>
                </a:solidFill>
                <a:latin typeface="Calibri"/>
              </a:defRPr>
            </a:pPr>
            <a:r>
              <a:t>  Free Tier: 200k nodi, 500k relazioni</a:t>
            </a:r>
          </a:p>
          <a:p>
            <a:pPr algn="l">
              <a:spcAft>
                <a:spcPts val="0"/>
              </a:spcAft>
              <a:defRPr sz="1200">
                <a:solidFill>
                  <a:srgbClr val="FFFFFF"/>
                </a:solidFill>
                <a:latin typeface="Calibri"/>
              </a:defRPr>
            </a:pPr>
            <a:r>
              <a:t>  Zero configurazione, backup automatici, scaling</a:t>
            </a:r>
          </a:p>
          <a:p>
            <a:pPr algn="l">
              <a:spcAft>
                <a:spcPts val="0"/>
              </a:spcAft>
              <a:defRPr sz="1200">
                <a:solidFill>
                  <a:srgbClr val="FFFFFF"/>
                </a:solidFill>
                <a:latin typeface="Calibri"/>
              </a:defRPr>
            </a:pPr>
            <a:r>
              <a:t>  Usiamo AuraDB per questo corso</a:t>
            </a:r>
          </a:p>
          <a:p>
            <a:pPr algn="l">
              <a:spcAft>
                <a:spcPts val="0"/>
              </a:spcAft>
              <a:defRPr sz="1200">
                <a:solidFill>
                  <a:srgbClr val="FFFFFF"/>
                </a:solidFill>
                <a:latin typeface="Calibri"/>
              </a:defRPr>
            </a:pPr>
            <a:r>
              <a:t>•  Neo4j Bloom — visualizzazione senza scrivere Cypher</a:t>
            </a:r>
          </a:p>
          <a:p>
            <a:pPr algn="l">
              <a:spcAft>
                <a:spcPts val="0"/>
              </a:spcAft>
              <a:defRPr sz="1200">
                <a:solidFill>
                  <a:srgbClr val="FFFFFF"/>
                </a:solidFill>
                <a:latin typeface="Calibri"/>
              </a:defRPr>
            </a:pPr>
            <a:r>
              <a:t>•  Neo4j Desktop — ambiente di sviluppo locale</a:t>
            </a:r>
          </a:p>
          <a:p>
            <a:pPr algn="l">
              <a:spcAft>
                <a:spcPts val="0"/>
              </a:spcAft>
              <a:defRPr sz="1200">
                <a:solidFill>
                  <a:srgbClr val="FFFFFF"/>
                </a:solidFill>
                <a:latin typeface="Calibri"/>
              </a:defRPr>
            </a:pPr>
            <a:r>
              <a:t>•  Drivers ufficiali: Python, Java, JS, Go, .NET</a:t>
            </a:r>
          </a:p>
        </p:txBody>
      </p:sp>
      <p:sp>
        <p:nvSpPr>
          <p:cNvPr id="4" name="TextBox 3"/>
          <p:cNvSpPr txBox="1"/>
          <p:nvPr/>
        </p:nvSpPr>
        <p:spPr>
          <a:xfrm>
            <a:off x="5669280" y="1051560"/>
            <a:ext cx="4846320" cy="5029200"/>
          </a:xfrm>
          <a:prstGeom prst="rect">
            <a:avLst/>
          </a:prstGeom>
          <a:noFill/>
        </p:spPr>
        <p:txBody>
          <a:bodyPr wrap="square">
            <a:spAutoFit/>
          </a:bodyPr>
          <a:lstStyle/>
          <a:p>
            <a:pPr algn="l">
              <a:defRPr sz="1200" b="0">
                <a:solidFill>
                  <a:srgbClr val="CCCCCC"/>
                </a:solidFill>
                <a:latin typeface="Calibri"/>
              </a:defRPr>
            </a:pPr>
            <a:r>
              <a:t>Architettura:</a:t>
            </a:r>
            <a:br/>
            <a:br/>
            <a:r>
              <a:t>  [Applicazione]</a:t>
            </a:r>
            <a:br/>
            <a:r>
              <a:t>       │</a:t>
            </a:r>
            <a:br/>
            <a:r>
              <a:t>  [Driver (Python/JS/Java...)]</a:t>
            </a:r>
            <a:br/>
            <a:r>
              <a:t>       │ Bolt Protocol</a:t>
            </a:r>
            <a:br/>
            <a:r>
              <a:t>  [Neo4j Database Engine]</a:t>
            </a:r>
            <a:br/>
            <a:r>
              <a:t>       │</a:t>
            </a:r>
            <a:br/>
            <a:r>
              <a:t>  [Cypher Query Engine]</a:t>
            </a:r>
            <a:br/>
            <a:r>
              <a:t>       │</a:t>
            </a:r>
            <a:br/>
            <a:r>
              <a:t>  [Native Graph Storage]</a:t>
            </a:r>
            <a:br/>
            <a:r>
              <a:t>       │</a:t>
            </a:r>
            <a:br/>
            <a:r>
              <a:t>  [File System / Cloud]</a:t>
            </a:r>
            <a:br/>
            <a:br/>
            <a:r>
              <a:t>Browser, Bloom e Workspace sono</a:t>
            </a:r>
            <a:br/>
            <a:r>
              <a:t>UI che parlano al database via Bolt.</a:t>
            </a:r>
            <a:br/>
            <a:br/>
            <a:r>
              <a:t>Noi useremo:</a:t>
            </a:r>
            <a:br/>
            <a:r>
              <a:t>  • Python Driver (codice)</a:t>
            </a:r>
            <a:br/>
            <a:r>
              <a:t>  • Neo4j Browser (esplorazione)</a:t>
            </a:r>
            <a:br/>
            <a:r>
              <a:t>  • AuraDB (cloud)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Connettersi a Neo4j con Python</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Il driver ufficiale neo4j (v6+) gestisce pool di connessioni thread-safe.</a:t>
            </a:r>
          </a:p>
        </p:txBody>
      </p:sp>
      <p:sp>
        <p:nvSpPr>
          <p:cNvPr id="4" name="TextBox 3"/>
          <p:cNvSpPr txBox="1"/>
          <p:nvPr/>
        </p:nvSpPr>
        <p:spPr>
          <a:xfrm>
            <a:off x="731520" y="1463040"/>
            <a:ext cx="5029200" cy="1371600"/>
          </a:xfrm>
          <a:prstGeom prst="rect">
            <a:avLst/>
          </a:prstGeom>
          <a:noFill/>
        </p:spPr>
        <p:txBody>
          <a:bodyPr wrap="square">
            <a:spAutoFit/>
          </a:bodyPr>
          <a:lstStyle/>
          <a:p>
            <a:pPr algn="l">
              <a:spcAft>
                <a:spcPts val="300"/>
              </a:spcAft>
              <a:defRPr sz="1300">
                <a:solidFill>
                  <a:srgbClr val="FFFFFF"/>
                </a:solidFill>
                <a:latin typeface="Calibri"/>
              </a:defRPr>
            </a:pPr>
            <a:r>
              <a:t>•  pip install neo4j</a:t>
            </a:r>
          </a:p>
          <a:p>
            <a:pPr algn="l">
              <a:spcAft>
                <a:spcPts val="300"/>
              </a:spcAft>
              <a:defRPr sz="1300">
                <a:solidFill>
                  <a:srgbClr val="FFFFFF"/>
                </a:solidFill>
                <a:latin typeface="Calibri"/>
              </a:defRPr>
            </a:pPr>
            <a:r>
              <a:t>•  GraphDatabase.driver(URI, auth=(user, password))</a:t>
            </a:r>
          </a:p>
          <a:p>
            <a:pPr algn="l">
              <a:spcAft>
                <a:spcPts val="300"/>
              </a:spcAft>
              <a:defRPr sz="1300">
                <a:solidFill>
                  <a:srgbClr val="FFFFFF"/>
                </a:solidFill>
                <a:latin typeface="Calibri"/>
              </a:defRPr>
            </a:pPr>
            <a:r>
              <a:t>•  verify_connectivity() testa la connessione</a:t>
            </a:r>
          </a:p>
          <a:p>
            <a:pPr algn="l">
              <a:spcAft>
                <a:spcPts val="300"/>
              </a:spcAft>
              <a:defRPr sz="1300">
                <a:solidFill>
                  <a:srgbClr val="FFFFFF"/>
                </a:solidFill>
                <a:latin typeface="Calibri"/>
              </a:defRPr>
            </a:pPr>
            <a:r>
              <a:t>•  execute_query() metodo rapido (v6+)</a:t>
            </a:r>
          </a:p>
          <a:p>
            <a:pPr algn="l">
              <a:spcAft>
                <a:spcPts val="300"/>
              </a:spcAft>
              <a:defRPr sz="1300">
                <a:solidFill>
                  <a:srgbClr val="FFFFFF"/>
                </a:solidFill>
                <a:latin typeface="Calibri"/>
              </a:defRPr>
            </a:pPr>
            <a:r>
              <a:t>•  Chiudere con driver.close() o context manager</a:t>
            </a:r>
          </a:p>
        </p:txBody>
      </p:sp>
      <p:sp>
        <p:nvSpPr>
          <p:cNvPr id="5" name="Rectangle 4"/>
          <p:cNvSpPr/>
          <p:nvPr/>
        </p:nvSpPr>
        <p:spPr>
          <a:xfrm>
            <a:off x="5669280" y="1463040"/>
            <a:ext cx="4846320" cy="16459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79008" y="1536192"/>
            <a:ext cx="4626864" cy="1499616"/>
          </a:xfrm>
          <a:prstGeom prst="rect">
            <a:avLst/>
          </a:prstGeom>
          <a:noFill/>
        </p:spPr>
        <p:txBody>
          <a:bodyPr wrap="square">
            <a:spAutoFit/>
          </a:bodyPr>
          <a:lstStyle/>
          <a:p>
            <a:pPr>
              <a:spcAft>
                <a:spcPts val="100"/>
              </a:spcAft>
              <a:defRPr sz="1000">
                <a:solidFill>
                  <a:srgbClr val="7EC68E"/>
                </a:solidFill>
                <a:latin typeface="Consolas"/>
              </a:defRPr>
            </a:pPr>
            <a:r>
              <a:t>from neo4j import GraphDatabase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URI  = "neo4j+s://&lt;id&gt;.databases.neo4j.io:7687"</a:t>
            </a:r>
          </a:p>
          <a:p>
            <a:pPr>
              <a:spcAft>
                <a:spcPts val="100"/>
              </a:spcAft>
              <a:defRPr sz="1000">
                <a:solidFill>
                  <a:srgbClr val="7EC68E"/>
                </a:solidFill>
                <a:latin typeface="Consolas"/>
              </a:defRPr>
            </a:pPr>
            <a:r>
              <a:t>USER = "neo4j"</a:t>
            </a:r>
          </a:p>
          <a:p>
            <a:pPr>
              <a:spcAft>
                <a:spcPts val="100"/>
              </a:spcAft>
              <a:defRPr sz="1000">
                <a:solidFill>
                  <a:srgbClr val="7EC68E"/>
                </a:solidFill>
                <a:latin typeface="Consolas"/>
              </a:defRPr>
            </a:pPr>
            <a:r>
              <a:t>PASS = "&lt;password&gt;"</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driver = GraphDatabase.driver(</a:t>
            </a:r>
          </a:p>
          <a:p>
            <a:pPr>
              <a:spcAft>
                <a:spcPts val="100"/>
              </a:spcAft>
              <a:defRPr sz="1000">
                <a:solidFill>
                  <a:srgbClr val="7EC68E"/>
                </a:solidFill>
                <a:latin typeface="Consolas"/>
              </a:defRPr>
            </a:pPr>
            <a:r>
              <a:t>    URI, auth=(USER, PASS))</a:t>
            </a:r>
          </a:p>
          <a:p>
            <a:pPr>
              <a:spcAft>
                <a:spcPts val="100"/>
              </a:spcAft>
              <a:defRPr sz="1000">
                <a:solidFill>
                  <a:srgbClr val="7EC68E"/>
                </a:solidFill>
                <a:latin typeface="Consolas"/>
              </a:defRPr>
            </a:pPr>
            <a:r>
              <a:t>driver.verify_connectivity()</a:t>
            </a:r>
          </a:p>
        </p:txBody>
      </p:sp>
      <p:sp>
        <p:nvSpPr>
          <p:cNvPr id="7" name="Rectangle 6"/>
          <p:cNvSpPr/>
          <p:nvPr/>
        </p:nvSpPr>
        <p:spPr>
          <a:xfrm>
            <a:off x="731520" y="329184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474720"/>
            <a:ext cx="10515600" cy="365760"/>
          </a:xfrm>
          <a:prstGeom prst="rect">
            <a:avLst/>
          </a:prstGeom>
          <a:noFill/>
        </p:spPr>
        <p:txBody>
          <a:bodyPr wrap="square">
            <a:spAutoFit/>
          </a:bodyPr>
          <a:lstStyle/>
          <a:p>
            <a:pPr algn="l">
              <a:defRPr sz="1500" b="1">
                <a:solidFill>
                  <a:srgbClr val="F08040"/>
                </a:solidFill>
                <a:latin typeface="Calibri"/>
              </a:defRPr>
            </a:pPr>
            <a:r>
              <a:t>Metodi principali del driver</a:t>
            </a:r>
          </a:p>
        </p:txBody>
      </p:sp>
      <p:sp>
        <p:nvSpPr>
          <p:cNvPr id="9" name="TextBox 8"/>
          <p:cNvSpPr txBox="1"/>
          <p:nvPr/>
        </p:nvSpPr>
        <p:spPr>
          <a:xfrm>
            <a:off x="731520" y="3886200"/>
            <a:ext cx="3657600" cy="2286000"/>
          </a:xfrm>
          <a:prstGeom prst="rect">
            <a:avLst/>
          </a:prstGeom>
          <a:noFill/>
        </p:spPr>
        <p:txBody>
          <a:bodyPr wrap="square">
            <a:spAutoFit/>
          </a:bodyPr>
          <a:lstStyle/>
          <a:p>
            <a:pPr algn="l">
              <a:defRPr sz="1100" b="0">
                <a:solidFill>
                  <a:srgbClr val="7EC68E"/>
                </a:solidFill>
                <a:latin typeface="Consolas"/>
              </a:defRPr>
            </a:pPr>
            <a:r>
              <a:t># Eseguire query e leggere risultati</a:t>
            </a:r>
            <a:br/>
            <a:r>
              <a:t>records, summary, keys = driver.execute_query(</a:t>
            </a:r>
            <a:br/>
            <a:r>
              <a:t>    "MATCH (p:Person) "</a:t>
            </a:r>
            <a:br/>
            <a:r>
              <a:t>    "RETURN p.name, p.location "</a:t>
            </a:r>
            <a:br/>
            <a:r>
              <a:t>    "LIMIT 5")</a:t>
            </a:r>
            <a:br/>
            <a:r>
              <a:t>for r in records:</a:t>
            </a:r>
            <a:br/>
            <a:r>
              <a:t>    print(r["p.name"], r["p.location"])</a:t>
            </a:r>
            <a:br/>
            <a:br/>
            <a:r>
              <a:t># Con parametri (sicuro, performante)</a:t>
            </a:r>
            <a:br/>
            <a:r>
              <a:t>driver.execute_query(</a:t>
            </a:r>
            <a:br/>
            <a:r>
              <a:t>    "MATCH (p:Person {location: $loc}) "</a:t>
            </a:r>
            <a:br/>
            <a:r>
              <a:t>    "RETURN p.name",</a:t>
            </a:r>
            <a:br/>
            <a:r>
              <a:t>    loc="Roma")</a:t>
            </a:r>
          </a:p>
        </p:txBody>
      </p:sp>
      <p:sp>
        <p:nvSpPr>
          <p:cNvPr id="10" name="TextBox 9"/>
          <p:cNvSpPr txBox="1"/>
          <p:nvPr/>
        </p:nvSpPr>
        <p:spPr>
          <a:xfrm>
            <a:off x="4114800" y="3886200"/>
            <a:ext cx="6400800" cy="1754326"/>
          </a:xfrm>
          <a:prstGeom prst="rect">
            <a:avLst/>
          </a:prstGeom>
          <a:noFill/>
        </p:spPr>
        <p:txBody>
          <a:bodyPr wrap="square">
            <a:spAutoFit/>
          </a:bodyPr>
          <a:lstStyle/>
          <a:p>
            <a:pPr algn="l">
              <a:defRPr sz="1200" b="0">
                <a:solidFill>
                  <a:srgbClr val="CCCCCC"/>
                </a:solidFill>
                <a:latin typeface="Calibri"/>
              </a:defRPr>
            </a:pPr>
            <a:r>
              <a:rPr dirty="0" err="1"/>
              <a:t>Perché</a:t>
            </a:r>
            <a:r>
              <a:rPr dirty="0"/>
              <a:t> </a:t>
            </a:r>
            <a:r>
              <a:rPr dirty="0" err="1"/>
              <a:t>i</a:t>
            </a:r>
            <a:r>
              <a:rPr dirty="0"/>
              <a:t> </a:t>
            </a:r>
            <a:r>
              <a:rPr dirty="0" err="1"/>
              <a:t>parametri</a:t>
            </a:r>
            <a:r>
              <a:rPr dirty="0"/>
              <a:t> ($loc) </a:t>
            </a:r>
            <a:r>
              <a:rPr dirty="0" err="1"/>
              <a:t>invece</a:t>
            </a:r>
            <a:r>
              <a:rPr lang="en-US" dirty="0"/>
              <a:t> </a:t>
            </a:r>
            <a:r>
              <a:rPr dirty="0"/>
              <a:t>di </a:t>
            </a:r>
            <a:r>
              <a:rPr dirty="0" err="1"/>
              <a:t>stringhe</a:t>
            </a:r>
            <a:r>
              <a:rPr dirty="0"/>
              <a:t> concatenate?</a:t>
            </a:r>
            <a:br>
              <a:rPr dirty="0"/>
            </a:br>
            <a:br>
              <a:rPr dirty="0"/>
            </a:br>
            <a:r>
              <a:rPr dirty="0"/>
              <a:t>1. </a:t>
            </a:r>
            <a:r>
              <a:rPr dirty="0" err="1"/>
              <a:t>Sicurezza</a:t>
            </a:r>
            <a:r>
              <a:rPr dirty="0"/>
              <a:t>: </a:t>
            </a:r>
            <a:r>
              <a:rPr dirty="0" err="1"/>
              <a:t>previene</a:t>
            </a:r>
            <a:r>
              <a:rPr dirty="0"/>
              <a:t> Cypher Injection</a:t>
            </a:r>
            <a:br>
              <a:rPr dirty="0"/>
            </a:br>
            <a:r>
              <a:rPr dirty="0"/>
              <a:t>2. Performance: il piano </a:t>
            </a:r>
            <a:r>
              <a:rPr dirty="0" err="1"/>
              <a:t>viene</a:t>
            </a:r>
            <a:r>
              <a:rPr dirty="0"/>
              <a:t> </a:t>
            </a:r>
            <a:r>
              <a:rPr dirty="0" err="1"/>
              <a:t>cacheato</a:t>
            </a:r>
            <a:br>
              <a:rPr dirty="0"/>
            </a:br>
            <a:r>
              <a:rPr dirty="0"/>
              <a:t>3. Type safety: il driver </a:t>
            </a:r>
            <a:r>
              <a:rPr dirty="0" err="1"/>
              <a:t>gestisce</a:t>
            </a:r>
            <a:r>
              <a:rPr dirty="0"/>
              <a:t> la </a:t>
            </a:r>
            <a:r>
              <a:rPr dirty="0" err="1"/>
              <a:t>conversione</a:t>
            </a:r>
            <a:r>
              <a:rPr dirty="0"/>
              <a:t> </a:t>
            </a:r>
            <a:r>
              <a:rPr dirty="0" err="1"/>
              <a:t>dei</a:t>
            </a:r>
            <a:r>
              <a:rPr dirty="0"/>
              <a:t> tipi </a:t>
            </a:r>
            <a:r>
              <a:rPr dirty="0" err="1"/>
              <a:t>automaticamente</a:t>
            </a:r>
            <a:br>
              <a:rPr dirty="0"/>
            </a:br>
            <a:br>
              <a:rPr dirty="0"/>
            </a:br>
            <a:r>
              <a:rPr dirty="0"/>
              <a:t>Injection </a:t>
            </a:r>
            <a:r>
              <a:rPr dirty="0" err="1"/>
              <a:t>esempio</a:t>
            </a:r>
            <a:r>
              <a:rPr dirty="0"/>
              <a:t> EVITARE:</a:t>
            </a:r>
            <a:br>
              <a:rPr dirty="0"/>
            </a:br>
            <a:r>
              <a:rPr dirty="0"/>
              <a:t>  f"... location = '{</a:t>
            </a:r>
            <a:r>
              <a:rPr dirty="0" err="1"/>
              <a:t>valore</a:t>
            </a:r>
            <a:r>
              <a:rPr dirty="0"/>
              <a:t>}'</a:t>
            </a:r>
            <a:r>
              <a:rPr lang="en-US" dirty="0"/>
              <a:t> </a:t>
            </a:r>
            <a:r>
              <a:rPr dirty="0"/>
              <a:t>"  ✖</a:t>
            </a:r>
            <a:br>
              <a:rPr dirty="0"/>
            </a:br>
            <a:r>
              <a:rPr dirty="0" err="1"/>
              <a:t>Usare</a:t>
            </a:r>
            <a:r>
              <a:rPr dirty="0"/>
              <a:t> </a:t>
            </a:r>
            <a:r>
              <a:rPr dirty="0" err="1"/>
              <a:t>parametri</a:t>
            </a:r>
            <a:r>
              <a:rPr dirty="0"/>
              <a:t>: location = $</a:t>
            </a:r>
            <a:r>
              <a:rPr dirty="0" err="1"/>
              <a:t>valore</a:t>
            </a:r>
            <a:r>
              <a:rPr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Cypher: Pattern Matching</a:t>
            </a:r>
          </a:p>
        </p:txBody>
      </p:sp>
      <p:sp>
        <p:nvSpPr>
          <p:cNvPr id="3" name="TextBox 2"/>
          <p:cNvSpPr txBox="1"/>
          <p:nvPr/>
        </p:nvSpPr>
        <p:spPr>
          <a:xfrm>
            <a:off x="731520" y="914400"/>
            <a:ext cx="10515600" cy="457200"/>
          </a:xfrm>
          <a:prstGeom prst="rect">
            <a:avLst/>
          </a:prstGeom>
          <a:noFill/>
        </p:spPr>
        <p:txBody>
          <a:bodyPr wrap="square">
            <a:spAutoFit/>
          </a:bodyPr>
          <a:lstStyle/>
          <a:p>
            <a:pPr algn="l">
              <a:defRPr sz="1400" b="0">
                <a:solidFill>
                  <a:srgbClr val="CCCCCC"/>
                </a:solidFill>
                <a:latin typeface="Calibri"/>
              </a:defRPr>
            </a:pPr>
            <a:r>
              <a:t>Cypher usa una sintassi ASCII-art per descrivere pattern: guardando il codice si capisce il grafo.</a:t>
            </a:r>
          </a:p>
        </p:txBody>
      </p:sp>
      <p:sp>
        <p:nvSpPr>
          <p:cNvPr id="4" name="TextBox 3"/>
          <p:cNvSpPr txBox="1"/>
          <p:nvPr/>
        </p:nvSpPr>
        <p:spPr>
          <a:xfrm>
            <a:off x="731520" y="1417320"/>
            <a:ext cx="3657600" cy="411480"/>
          </a:xfrm>
          <a:prstGeom prst="rect">
            <a:avLst/>
          </a:prstGeom>
          <a:noFill/>
        </p:spPr>
        <p:txBody>
          <a:bodyPr wrap="square">
            <a:spAutoFit/>
          </a:bodyPr>
          <a:lstStyle/>
          <a:p>
            <a:pPr algn="l">
              <a:defRPr sz="1600" b="1">
                <a:solidFill>
                  <a:srgbClr val="F08040"/>
                </a:solidFill>
                <a:latin typeface="Calibri"/>
              </a:defRPr>
            </a:pPr>
            <a:r>
              <a:t>Pattern per NODI</a:t>
            </a:r>
          </a:p>
        </p:txBody>
      </p:sp>
      <p:sp>
        <p:nvSpPr>
          <p:cNvPr id="5" name="Rectangle 4"/>
          <p:cNvSpPr/>
          <p:nvPr/>
        </p:nvSpPr>
        <p:spPr>
          <a:xfrm>
            <a:off x="731520" y="1874519"/>
            <a:ext cx="3657600" cy="11887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47671"/>
            <a:ext cx="3438144" cy="1042416"/>
          </a:xfrm>
          <a:prstGeom prst="rect">
            <a:avLst/>
          </a:prstGeom>
          <a:noFill/>
        </p:spPr>
        <p:txBody>
          <a:bodyPr wrap="square">
            <a:spAutoFit/>
          </a:bodyPr>
          <a:lstStyle/>
          <a:p>
            <a:pPr>
              <a:spcAft>
                <a:spcPts val="100"/>
              </a:spcAft>
              <a:defRPr sz="1000">
                <a:solidFill>
                  <a:srgbClr val="7EC68E"/>
                </a:solidFill>
                <a:latin typeface="Consolas"/>
              </a:defRPr>
            </a:pPr>
            <a:r>
              <a:t>()                      // nodo generico</a:t>
            </a:r>
          </a:p>
          <a:p>
            <a:pPr>
              <a:spcAft>
                <a:spcPts val="100"/>
              </a:spcAft>
              <a:defRPr sz="1000">
                <a:solidFill>
                  <a:srgbClr val="7EC68E"/>
                </a:solidFill>
                <a:latin typeface="Consolas"/>
              </a:defRPr>
            </a:pPr>
            <a:r>
              <a:t>(:Person)               // nodo con label</a:t>
            </a:r>
          </a:p>
          <a:p>
            <a:pPr>
              <a:spcAft>
                <a:spcPts val="100"/>
              </a:spcAft>
              <a:defRPr sz="1000">
                <a:solidFill>
                  <a:srgbClr val="7EC68E"/>
                </a:solidFill>
                <a:latin typeface="Consolas"/>
              </a:defRPr>
            </a:pPr>
            <a:r>
              <a:t>(p:Person)              // con variabile</a:t>
            </a:r>
          </a:p>
          <a:p>
            <a:pPr>
              <a:spcAft>
                <a:spcPts val="100"/>
              </a:spcAft>
              <a:defRPr sz="1000">
                <a:solidFill>
                  <a:srgbClr val="7EC68E"/>
                </a:solidFill>
                <a:latin typeface="Consolas"/>
              </a:defRPr>
            </a:pPr>
            <a:r>
              <a:t>(p:Person {name:"Alice"}) // con proprietà</a:t>
            </a:r>
          </a:p>
          <a:p>
            <a:pPr>
              <a:spcAft>
                <a:spcPts val="100"/>
              </a:spcAft>
              <a:defRPr sz="1000">
                <a:solidFill>
                  <a:srgbClr val="7EC68E"/>
                </a:solidFill>
                <a:latin typeface="Consolas"/>
              </a:defRPr>
            </a:pPr>
            <a:r>
              <a:t>(a:Person:Employee)     // due labels</a:t>
            </a:r>
          </a:p>
        </p:txBody>
      </p:sp>
      <p:sp>
        <p:nvSpPr>
          <p:cNvPr id="7" name="TextBox 6"/>
          <p:cNvSpPr txBox="1"/>
          <p:nvPr/>
        </p:nvSpPr>
        <p:spPr>
          <a:xfrm>
            <a:off x="4498848" y="1417320"/>
            <a:ext cx="3657600" cy="411480"/>
          </a:xfrm>
          <a:prstGeom prst="rect">
            <a:avLst/>
          </a:prstGeom>
          <a:noFill/>
        </p:spPr>
        <p:txBody>
          <a:bodyPr wrap="square">
            <a:spAutoFit/>
          </a:bodyPr>
          <a:lstStyle/>
          <a:p>
            <a:pPr algn="l">
              <a:defRPr sz="1600" b="1">
                <a:solidFill>
                  <a:srgbClr val="F08040"/>
                </a:solidFill>
                <a:latin typeface="Calibri"/>
              </a:defRPr>
            </a:pPr>
            <a:r>
              <a:t>Pattern per RELAZIONI</a:t>
            </a:r>
          </a:p>
        </p:txBody>
      </p:sp>
      <p:sp>
        <p:nvSpPr>
          <p:cNvPr id="8" name="Rectangle 7"/>
          <p:cNvSpPr/>
          <p:nvPr/>
        </p:nvSpPr>
        <p:spPr>
          <a:xfrm>
            <a:off x="4498848" y="1874519"/>
            <a:ext cx="3657600" cy="11887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08576" y="1947671"/>
            <a:ext cx="3578354" cy="913070"/>
          </a:xfrm>
          <a:prstGeom prst="rect">
            <a:avLst/>
          </a:prstGeom>
          <a:noFill/>
        </p:spPr>
        <p:txBody>
          <a:bodyPr wrap="square">
            <a:spAutoFit/>
          </a:bodyPr>
          <a:lstStyle/>
          <a:p>
            <a:pPr>
              <a:spcAft>
                <a:spcPts val="100"/>
              </a:spcAft>
              <a:defRPr sz="1000">
                <a:solidFill>
                  <a:srgbClr val="7EC68E"/>
                </a:solidFill>
                <a:latin typeface="Consolas"/>
              </a:defRPr>
            </a:pPr>
            <a:r>
              <a:rPr dirty="0"/>
              <a:t>(p)-[:HAS_SKILL]-&gt;(s)    // </a:t>
            </a:r>
            <a:r>
              <a:rPr dirty="0" err="1"/>
              <a:t>uscita</a:t>
            </a:r>
            <a:endParaRPr dirty="0"/>
          </a:p>
          <a:p>
            <a:pPr>
              <a:spcAft>
                <a:spcPts val="100"/>
              </a:spcAft>
              <a:defRPr sz="1000">
                <a:solidFill>
                  <a:srgbClr val="7EC68E"/>
                </a:solidFill>
                <a:latin typeface="Consolas"/>
              </a:defRPr>
            </a:pPr>
            <a:r>
              <a:rPr dirty="0"/>
              <a:t>(p)&lt;-[:REPORTS_TO]-(s)   // </a:t>
            </a:r>
            <a:r>
              <a:rPr dirty="0" err="1"/>
              <a:t>entrata</a:t>
            </a:r>
            <a:endParaRPr dirty="0"/>
          </a:p>
          <a:p>
            <a:pPr>
              <a:spcAft>
                <a:spcPts val="100"/>
              </a:spcAft>
              <a:defRPr sz="1000">
                <a:solidFill>
                  <a:srgbClr val="7EC68E"/>
                </a:solidFill>
                <a:latin typeface="Consolas"/>
              </a:defRPr>
            </a:pPr>
            <a:r>
              <a:rPr dirty="0"/>
              <a:t>(p)-[</a:t>
            </a:r>
            <a:r>
              <a:rPr dirty="0" err="1"/>
              <a:t>r:HAS_SKILL</a:t>
            </a:r>
            <a:r>
              <a:rPr dirty="0"/>
              <a:t>]-&gt;(s)   // con </a:t>
            </a:r>
            <a:r>
              <a:rPr dirty="0" err="1"/>
              <a:t>variabile</a:t>
            </a:r>
            <a:endParaRPr dirty="0"/>
          </a:p>
          <a:p>
            <a:pPr>
              <a:spcAft>
                <a:spcPts val="100"/>
              </a:spcAft>
              <a:defRPr sz="1000">
                <a:solidFill>
                  <a:srgbClr val="7EC68E"/>
                </a:solidFill>
                <a:latin typeface="Consolas"/>
              </a:defRPr>
            </a:pPr>
            <a:r>
              <a:rPr dirty="0"/>
              <a:t>(p)-[h {proficiency:5}]-&gt;(s) // con props</a:t>
            </a:r>
          </a:p>
          <a:p>
            <a:pPr>
              <a:spcAft>
                <a:spcPts val="100"/>
              </a:spcAft>
              <a:defRPr sz="1000">
                <a:solidFill>
                  <a:srgbClr val="7EC68E"/>
                </a:solidFill>
                <a:latin typeface="Consolas"/>
              </a:defRPr>
            </a:pPr>
            <a:r>
              <a:rPr dirty="0"/>
              <a:t>(p)-[:KNOWS*1..3]-(q)    // </a:t>
            </a:r>
            <a:r>
              <a:rPr dirty="0" err="1"/>
              <a:t>profondità</a:t>
            </a:r>
            <a:r>
              <a:rPr dirty="0"/>
              <a:t> </a:t>
            </a:r>
            <a:r>
              <a:rPr dirty="0" err="1"/>
              <a:t>variabile</a:t>
            </a:r>
            <a:endParaRPr dirty="0"/>
          </a:p>
        </p:txBody>
      </p:sp>
      <p:sp>
        <p:nvSpPr>
          <p:cNvPr id="10" name="TextBox 9"/>
          <p:cNvSpPr txBox="1"/>
          <p:nvPr/>
        </p:nvSpPr>
        <p:spPr>
          <a:xfrm>
            <a:off x="8266176" y="1417320"/>
            <a:ext cx="3657600" cy="411480"/>
          </a:xfrm>
          <a:prstGeom prst="rect">
            <a:avLst/>
          </a:prstGeom>
          <a:noFill/>
        </p:spPr>
        <p:txBody>
          <a:bodyPr wrap="square">
            <a:spAutoFit/>
          </a:bodyPr>
          <a:lstStyle/>
          <a:p>
            <a:pPr algn="l">
              <a:defRPr sz="1600" b="1">
                <a:solidFill>
                  <a:srgbClr val="F08040"/>
                </a:solidFill>
                <a:latin typeface="Calibri"/>
              </a:defRPr>
            </a:pPr>
            <a:r>
              <a:t>Struttura query</a:t>
            </a:r>
          </a:p>
        </p:txBody>
      </p:sp>
      <p:sp>
        <p:nvSpPr>
          <p:cNvPr id="11" name="Rectangle 10"/>
          <p:cNvSpPr/>
          <p:nvPr/>
        </p:nvSpPr>
        <p:spPr>
          <a:xfrm>
            <a:off x="8266176" y="1874519"/>
            <a:ext cx="2743200" cy="11887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375904" y="1947671"/>
            <a:ext cx="2523744" cy="1042416"/>
          </a:xfrm>
          <a:prstGeom prst="rect">
            <a:avLst/>
          </a:prstGeom>
          <a:noFill/>
        </p:spPr>
        <p:txBody>
          <a:bodyPr wrap="square">
            <a:spAutoFit/>
          </a:bodyPr>
          <a:lstStyle/>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WHERE  p.location = "Roma"</a:t>
            </a:r>
          </a:p>
          <a:p>
            <a:pPr>
              <a:spcAft>
                <a:spcPts val="100"/>
              </a:spcAft>
              <a:defRPr sz="1000">
                <a:solidFill>
                  <a:srgbClr val="7EC68E"/>
                </a:solidFill>
                <a:latin typeface="Consolas"/>
              </a:defRPr>
            </a:pPr>
            <a:r>
              <a:t>RETURN p.name, p.title</a:t>
            </a:r>
          </a:p>
          <a:p>
            <a:pPr>
              <a:spcAft>
                <a:spcPts val="100"/>
              </a:spcAft>
              <a:defRPr sz="1000">
                <a:solidFill>
                  <a:srgbClr val="7EC68E"/>
                </a:solidFill>
                <a:latin typeface="Consolas"/>
              </a:defRPr>
            </a:pPr>
            <a:r>
              <a:t>ORDER BY p.name</a:t>
            </a:r>
          </a:p>
          <a:p>
            <a:pPr>
              <a:spcAft>
                <a:spcPts val="100"/>
              </a:spcAft>
              <a:defRPr sz="1000">
                <a:solidFill>
                  <a:srgbClr val="7EC68E"/>
                </a:solidFill>
                <a:latin typeface="Consolas"/>
              </a:defRPr>
            </a:pPr>
            <a:r>
              <a:t>LIMIT  10;</a:t>
            </a:r>
          </a:p>
        </p:txBody>
      </p:sp>
      <p:sp>
        <p:nvSpPr>
          <p:cNvPr id="13" name="Rectangle 12"/>
          <p:cNvSpPr/>
          <p:nvPr/>
        </p:nvSpPr>
        <p:spPr>
          <a:xfrm>
            <a:off x="731520" y="329184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520440"/>
            <a:ext cx="10515600" cy="365760"/>
          </a:xfrm>
          <a:prstGeom prst="rect">
            <a:avLst/>
          </a:prstGeom>
          <a:noFill/>
        </p:spPr>
        <p:txBody>
          <a:bodyPr wrap="square">
            <a:spAutoFit/>
          </a:bodyPr>
          <a:lstStyle/>
          <a:p>
            <a:pPr algn="l">
              <a:defRPr sz="1500" b="1">
                <a:solidFill>
                  <a:srgbClr val="F0C040"/>
                </a:solidFill>
                <a:latin typeface="Calibri"/>
              </a:defRPr>
            </a:pPr>
            <a:r>
              <a:t>Regole fondamentali:</a:t>
            </a:r>
          </a:p>
        </p:txBody>
      </p:sp>
      <p:sp>
        <p:nvSpPr>
          <p:cNvPr id="15" name="TextBox 14"/>
          <p:cNvSpPr txBox="1"/>
          <p:nvPr/>
        </p:nvSpPr>
        <p:spPr>
          <a:xfrm>
            <a:off x="731520" y="3931920"/>
            <a:ext cx="10515600" cy="1828800"/>
          </a:xfrm>
          <a:prstGeom prst="rect">
            <a:avLst/>
          </a:prstGeom>
          <a:noFill/>
        </p:spPr>
        <p:txBody>
          <a:bodyPr wrap="square">
            <a:spAutoFit/>
          </a:bodyPr>
          <a:lstStyle/>
          <a:p>
            <a:pPr algn="l">
              <a:spcAft>
                <a:spcPts val="300"/>
              </a:spcAft>
              <a:defRPr sz="1200">
                <a:solidFill>
                  <a:srgbClr val="FFFFFF"/>
                </a:solidFill>
                <a:latin typeface="Calibri"/>
              </a:defRPr>
            </a:pPr>
            <a:r>
              <a:rPr dirty="0"/>
              <a:t>•  MATCH </a:t>
            </a:r>
            <a:r>
              <a:rPr dirty="0" err="1"/>
              <a:t>cerca</a:t>
            </a:r>
            <a:r>
              <a:rPr dirty="0"/>
              <a:t> il pattern </a:t>
            </a:r>
            <a:r>
              <a:rPr dirty="0" err="1"/>
              <a:t>nel</a:t>
            </a:r>
            <a:r>
              <a:rPr dirty="0"/>
              <a:t> </a:t>
            </a:r>
            <a:r>
              <a:rPr dirty="0" err="1"/>
              <a:t>grafo</a:t>
            </a:r>
            <a:r>
              <a:rPr dirty="0"/>
              <a:t> — se non trova </a:t>
            </a:r>
            <a:r>
              <a:rPr dirty="0" err="1"/>
              <a:t>corrispondenza</a:t>
            </a:r>
            <a:r>
              <a:rPr dirty="0"/>
              <a:t>, </a:t>
            </a:r>
            <a:r>
              <a:rPr dirty="0" err="1"/>
              <a:t>righe</a:t>
            </a:r>
            <a:r>
              <a:rPr dirty="0"/>
              <a:t> </a:t>
            </a:r>
            <a:r>
              <a:rPr dirty="0" err="1"/>
              <a:t>vuote</a:t>
            </a:r>
            <a:endParaRPr dirty="0"/>
          </a:p>
          <a:p>
            <a:pPr algn="l">
              <a:spcAft>
                <a:spcPts val="300"/>
              </a:spcAft>
              <a:defRPr sz="1200">
                <a:solidFill>
                  <a:srgbClr val="FFFFFF"/>
                </a:solidFill>
                <a:latin typeface="Calibri"/>
              </a:defRPr>
            </a:pPr>
            <a:r>
              <a:rPr dirty="0"/>
              <a:t>•  La </a:t>
            </a:r>
            <a:r>
              <a:rPr dirty="0" err="1"/>
              <a:t>variabile</a:t>
            </a:r>
            <a:r>
              <a:rPr dirty="0"/>
              <a:t> (es: p) serve per </a:t>
            </a:r>
            <a:r>
              <a:rPr dirty="0" err="1"/>
              <a:t>riferirsi</a:t>
            </a:r>
            <a:r>
              <a:rPr dirty="0"/>
              <a:t> al </a:t>
            </a:r>
            <a:r>
              <a:rPr dirty="0" err="1"/>
              <a:t>nodo</a:t>
            </a:r>
            <a:r>
              <a:rPr dirty="0"/>
              <a:t> in RETURN, WHERE e </a:t>
            </a:r>
            <a:r>
              <a:rPr dirty="0" err="1"/>
              <a:t>altre</a:t>
            </a:r>
            <a:r>
              <a:rPr dirty="0"/>
              <a:t> </a:t>
            </a:r>
            <a:r>
              <a:rPr dirty="0" err="1"/>
              <a:t>clausole</a:t>
            </a:r>
            <a:endParaRPr dirty="0"/>
          </a:p>
          <a:p>
            <a:pPr algn="l">
              <a:spcAft>
                <a:spcPts val="300"/>
              </a:spcAft>
              <a:defRPr sz="1200">
                <a:solidFill>
                  <a:srgbClr val="FFFFFF"/>
                </a:solidFill>
                <a:latin typeface="Calibri"/>
              </a:defRPr>
            </a:pPr>
            <a:r>
              <a:rPr dirty="0"/>
              <a:t>•  Le </a:t>
            </a:r>
            <a:r>
              <a:rPr dirty="0" err="1"/>
              <a:t>proprietà</a:t>
            </a:r>
            <a:r>
              <a:rPr dirty="0"/>
              <a:t> in MATCH </a:t>
            </a:r>
            <a:r>
              <a:rPr dirty="0" err="1"/>
              <a:t>filtrano</a:t>
            </a:r>
            <a:r>
              <a:rPr dirty="0"/>
              <a:t>: MATCH (</a:t>
            </a:r>
            <a:r>
              <a:rPr dirty="0" err="1"/>
              <a:t>p:Person</a:t>
            </a:r>
            <a:r>
              <a:rPr dirty="0"/>
              <a:t> {name: 'Alice'}) </a:t>
            </a:r>
            <a:r>
              <a:rPr dirty="0" err="1"/>
              <a:t>cerca</a:t>
            </a:r>
            <a:r>
              <a:rPr dirty="0"/>
              <a:t> </a:t>
            </a:r>
            <a:r>
              <a:rPr dirty="0" err="1"/>
              <a:t>quel</a:t>
            </a:r>
            <a:r>
              <a:rPr dirty="0"/>
              <a:t> </a:t>
            </a:r>
            <a:r>
              <a:rPr dirty="0" err="1"/>
              <a:t>nodo</a:t>
            </a:r>
            <a:r>
              <a:rPr dirty="0"/>
              <a:t> </a:t>
            </a:r>
            <a:r>
              <a:rPr dirty="0" err="1"/>
              <a:t>specifico</a:t>
            </a:r>
            <a:endParaRPr dirty="0"/>
          </a:p>
          <a:p>
            <a:pPr algn="l">
              <a:spcAft>
                <a:spcPts val="300"/>
              </a:spcAft>
              <a:defRPr sz="1200">
                <a:solidFill>
                  <a:srgbClr val="FFFFFF"/>
                </a:solidFill>
                <a:latin typeface="Calibri"/>
              </a:defRPr>
            </a:pPr>
            <a:r>
              <a:rPr dirty="0"/>
              <a:t>•  La </a:t>
            </a:r>
            <a:r>
              <a:rPr dirty="0" err="1"/>
              <a:t>freccia</a:t>
            </a:r>
            <a:r>
              <a:rPr dirty="0"/>
              <a:t> indica la </a:t>
            </a:r>
            <a:r>
              <a:rPr dirty="0" err="1"/>
              <a:t>direzione</a:t>
            </a:r>
            <a:r>
              <a:rPr dirty="0"/>
              <a:t> della </a:t>
            </a:r>
            <a:r>
              <a:rPr dirty="0" err="1"/>
              <a:t>relazione</a:t>
            </a:r>
            <a:r>
              <a:rPr dirty="0"/>
              <a:t>: → </a:t>
            </a:r>
            <a:r>
              <a:rPr dirty="0" err="1"/>
              <a:t>uscita</a:t>
            </a:r>
            <a:r>
              <a:rPr dirty="0"/>
              <a:t>, ← </a:t>
            </a:r>
            <a:r>
              <a:rPr dirty="0" err="1"/>
              <a:t>entrata</a:t>
            </a:r>
            <a:r>
              <a:rPr dirty="0"/>
              <a:t>, — </a:t>
            </a:r>
            <a:r>
              <a:rPr dirty="0" err="1"/>
              <a:t>bidirezionale</a:t>
            </a:r>
            <a:endParaRPr dirty="0"/>
          </a:p>
          <a:p>
            <a:pPr algn="l">
              <a:spcAft>
                <a:spcPts val="300"/>
              </a:spcAft>
              <a:defRPr sz="1200">
                <a:solidFill>
                  <a:srgbClr val="FFFFFF"/>
                </a:solidFill>
                <a:latin typeface="Calibri"/>
              </a:defRPr>
            </a:pPr>
            <a:r>
              <a:rPr dirty="0"/>
              <a:t>•  I </a:t>
            </a:r>
            <a:r>
              <a:rPr dirty="0" err="1"/>
              <a:t>commenti</a:t>
            </a:r>
            <a:r>
              <a:rPr dirty="0"/>
              <a:t> in Cypher </a:t>
            </a:r>
            <a:r>
              <a:rPr dirty="0" err="1"/>
              <a:t>usano</a:t>
            </a:r>
            <a:r>
              <a:rPr dirty="0"/>
              <a:t> // (non -- </a:t>
            </a:r>
            <a:r>
              <a:rPr dirty="0" err="1"/>
              <a:t>che</a:t>
            </a:r>
            <a:r>
              <a:rPr dirty="0"/>
              <a:t> è SQL)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Pattern MATCH: Percorsi Multipli</a:t>
            </a:r>
          </a:p>
        </p:txBody>
      </p:sp>
      <p:sp>
        <p:nvSpPr>
          <p:cNvPr id="3" name="TextBox 2"/>
          <p:cNvSpPr txBox="1"/>
          <p:nvPr/>
        </p:nvSpPr>
        <p:spPr>
          <a:xfrm>
            <a:off x="731520" y="960120"/>
            <a:ext cx="10515600" cy="365760"/>
          </a:xfrm>
          <a:prstGeom prst="rect">
            <a:avLst/>
          </a:prstGeom>
          <a:noFill/>
        </p:spPr>
        <p:txBody>
          <a:bodyPr wrap="square">
            <a:spAutoFit/>
          </a:bodyPr>
          <a:lstStyle/>
          <a:p>
            <a:pPr algn="l">
              <a:defRPr sz="1400" b="0">
                <a:solidFill>
                  <a:srgbClr val="CCCCCC"/>
                </a:solidFill>
                <a:latin typeface="Calibri"/>
              </a:defRPr>
            </a:pPr>
            <a:r>
              <a:t>Si possono concatenare più relazioni e nodi in un unico MATCH.</a:t>
            </a:r>
          </a:p>
        </p:txBody>
      </p:sp>
      <p:sp>
        <p:nvSpPr>
          <p:cNvPr id="4" name="Rectangle 3"/>
          <p:cNvSpPr/>
          <p:nvPr/>
        </p:nvSpPr>
        <p:spPr>
          <a:xfrm>
            <a:off x="731520" y="1376172"/>
            <a:ext cx="5029200" cy="2359152"/>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449324"/>
            <a:ext cx="4809744" cy="2048256"/>
          </a:xfrm>
          <a:prstGeom prst="rect">
            <a:avLst/>
          </a:prstGeom>
          <a:noFill/>
        </p:spPr>
        <p:txBody>
          <a:bodyPr wrap="square">
            <a:spAutoFit/>
          </a:bodyPr>
          <a:lstStyle/>
          <a:p>
            <a:pPr>
              <a:spcAft>
                <a:spcPts val="100"/>
              </a:spcAft>
              <a:defRPr sz="1000">
                <a:solidFill>
                  <a:srgbClr val="7EC68E"/>
                </a:solidFill>
                <a:latin typeface="Consolas"/>
              </a:defRPr>
            </a:pPr>
            <a:r>
              <a:rPr dirty="0"/>
              <a:t>// </a:t>
            </a:r>
            <a:r>
              <a:rPr dirty="0" err="1"/>
              <a:t>Persone</a:t>
            </a:r>
            <a:r>
              <a:rPr dirty="0"/>
              <a:t> </a:t>
            </a:r>
            <a:r>
              <a:rPr dirty="0" err="1"/>
              <a:t>che</a:t>
            </a:r>
            <a:r>
              <a:rPr dirty="0"/>
              <a:t> </a:t>
            </a:r>
            <a:r>
              <a:rPr dirty="0" err="1"/>
              <a:t>lavorano</a:t>
            </a:r>
            <a:r>
              <a:rPr dirty="0"/>
              <a:t> INSIEME </a:t>
            </a:r>
            <a:r>
              <a:rPr dirty="0" err="1"/>
              <a:t>su</a:t>
            </a:r>
            <a:r>
              <a:rPr dirty="0"/>
              <a:t> un </a:t>
            </a:r>
            <a:r>
              <a:rPr dirty="0" err="1"/>
              <a:t>progetto</a:t>
            </a:r>
            <a:r>
              <a:rPr dirty="0"/>
              <a:t>:</a:t>
            </a:r>
          </a:p>
          <a:p>
            <a:pPr>
              <a:spcAft>
                <a:spcPts val="100"/>
              </a:spcAft>
              <a:defRPr sz="1000">
                <a:solidFill>
                  <a:srgbClr val="7EC68E"/>
                </a:solidFill>
                <a:latin typeface="Consolas"/>
              </a:defRPr>
            </a:pPr>
            <a:r>
              <a:rPr dirty="0"/>
              <a:t>MATCH (p1:Person)-[:WORKED_ON]-&gt;(</a:t>
            </a:r>
            <a:r>
              <a:rPr dirty="0" err="1"/>
              <a:t>proj:Project</a:t>
            </a:r>
            <a:r>
              <a:rPr dirty="0"/>
              <a:t>)</a:t>
            </a:r>
          </a:p>
          <a:p>
            <a:pPr>
              <a:spcAft>
                <a:spcPts val="100"/>
              </a:spcAft>
              <a:defRPr sz="1000">
                <a:solidFill>
                  <a:srgbClr val="7EC68E"/>
                </a:solidFill>
                <a:latin typeface="Consolas"/>
              </a:defRPr>
            </a:pPr>
            <a:r>
              <a:rPr dirty="0"/>
              <a:t>      &lt;-[:WORKED_ON]-(p2:Person)</a:t>
            </a:r>
          </a:p>
          <a:p>
            <a:pPr>
              <a:spcAft>
                <a:spcPts val="100"/>
              </a:spcAft>
              <a:defRPr sz="1000">
                <a:solidFill>
                  <a:srgbClr val="7EC68E"/>
                </a:solidFill>
                <a:latin typeface="Consolas"/>
              </a:defRPr>
            </a:pPr>
            <a:r>
              <a:rPr dirty="0"/>
              <a:t>RETURN p1.name, p2.name, proj.name</a:t>
            </a:r>
          </a:p>
          <a:p>
            <a:pPr>
              <a:spcAft>
                <a:spcPts val="100"/>
              </a:spcAft>
              <a:defRPr sz="1000">
                <a:solidFill>
                  <a:srgbClr val="7EC68E"/>
                </a:solidFill>
                <a:latin typeface="Consolas"/>
              </a:defRPr>
            </a:pPr>
            <a:r>
              <a:rPr dirty="0"/>
              <a:t>LIMIT 10;</a:t>
            </a:r>
          </a:p>
          <a:p>
            <a:pPr>
              <a:spcAft>
                <a:spcPts val="100"/>
              </a:spcAft>
              <a:defRPr sz="1000">
                <a:solidFill>
                  <a:srgbClr val="7EC68E"/>
                </a:solidFill>
                <a:latin typeface="Consolas"/>
              </a:defRPr>
            </a:pPr>
            <a:endParaRPr dirty="0"/>
          </a:p>
          <a:p>
            <a:pPr>
              <a:spcAft>
                <a:spcPts val="100"/>
              </a:spcAft>
              <a:defRPr sz="1000">
                <a:solidFill>
                  <a:srgbClr val="7EC68E"/>
                </a:solidFill>
                <a:latin typeface="Consolas"/>
              </a:defRPr>
            </a:pPr>
            <a:r>
              <a:rPr dirty="0"/>
              <a:t>// Output:</a:t>
            </a:r>
          </a:p>
          <a:p>
            <a:pPr>
              <a:spcAft>
                <a:spcPts val="100"/>
              </a:spcAft>
              <a:defRPr sz="1000">
                <a:solidFill>
                  <a:srgbClr val="7EC68E"/>
                </a:solidFill>
                <a:latin typeface="Consolas"/>
              </a:defRPr>
            </a:pPr>
            <a:r>
              <a:rPr dirty="0"/>
              <a:t>// Alice | Bob | AI Platform</a:t>
            </a:r>
          </a:p>
          <a:p>
            <a:pPr>
              <a:spcAft>
                <a:spcPts val="100"/>
              </a:spcAft>
              <a:defRPr sz="1000">
                <a:solidFill>
                  <a:srgbClr val="7EC68E"/>
                </a:solidFill>
                <a:latin typeface="Consolas"/>
              </a:defRPr>
            </a:pPr>
            <a:r>
              <a:rPr dirty="0"/>
              <a:t>// Carlo | Diana | Data Lake</a:t>
            </a:r>
          </a:p>
          <a:p>
            <a:pPr>
              <a:spcAft>
                <a:spcPts val="100"/>
              </a:spcAft>
              <a:defRPr sz="1000">
                <a:solidFill>
                  <a:srgbClr val="7EC68E"/>
                </a:solidFill>
                <a:latin typeface="Consolas"/>
              </a:defRPr>
            </a:pPr>
            <a:endParaRPr dirty="0"/>
          </a:p>
          <a:p>
            <a:pPr>
              <a:spcAft>
                <a:spcPts val="100"/>
              </a:spcAft>
              <a:defRPr sz="1000">
                <a:solidFill>
                  <a:srgbClr val="7EC68E"/>
                </a:solidFill>
                <a:latin typeface="Consolas"/>
              </a:defRPr>
            </a:pPr>
            <a:r>
              <a:rPr dirty="0"/>
              <a:t>// Pattern: P1 ha </a:t>
            </a:r>
            <a:r>
              <a:rPr dirty="0" err="1"/>
              <a:t>lavorato</a:t>
            </a:r>
            <a:r>
              <a:rPr dirty="0"/>
              <a:t> a un </a:t>
            </a:r>
            <a:r>
              <a:rPr dirty="0" err="1"/>
              <a:t>progetto</a:t>
            </a:r>
            <a:endParaRPr dirty="0"/>
          </a:p>
          <a:p>
            <a:pPr>
              <a:spcAft>
                <a:spcPts val="100"/>
              </a:spcAft>
              <a:defRPr sz="1000">
                <a:solidFill>
                  <a:srgbClr val="7EC68E"/>
                </a:solidFill>
                <a:latin typeface="Consolas"/>
              </a:defRPr>
            </a:pPr>
            <a:r>
              <a:rPr dirty="0"/>
              <a:t>// a cui ha </a:t>
            </a:r>
            <a:r>
              <a:rPr dirty="0" err="1"/>
              <a:t>lavorato</a:t>
            </a:r>
            <a:r>
              <a:rPr dirty="0"/>
              <a:t> </a:t>
            </a:r>
            <a:r>
              <a:rPr dirty="0" err="1"/>
              <a:t>anche</a:t>
            </a:r>
            <a:r>
              <a:rPr dirty="0"/>
              <a:t> P2.</a:t>
            </a:r>
          </a:p>
          <a:p>
            <a:pPr>
              <a:spcAft>
                <a:spcPts val="100"/>
              </a:spcAft>
              <a:defRPr sz="1000">
                <a:solidFill>
                  <a:srgbClr val="7EC68E"/>
                </a:solidFill>
                <a:latin typeface="Consolas"/>
              </a:defRPr>
            </a:pPr>
            <a:r>
              <a:rPr dirty="0"/>
              <a:t>// </a:t>
            </a:r>
            <a:r>
              <a:rPr dirty="0" err="1"/>
              <a:t>proj</a:t>
            </a:r>
            <a:r>
              <a:rPr dirty="0"/>
              <a:t> è il </a:t>
            </a:r>
            <a:r>
              <a:rPr dirty="0" err="1"/>
              <a:t>nodo</a:t>
            </a:r>
            <a:r>
              <a:rPr dirty="0"/>
              <a:t> PROJECT </a:t>
            </a:r>
            <a:r>
              <a:rPr dirty="0" err="1"/>
              <a:t>condiviso</a:t>
            </a:r>
            <a:r>
              <a:rPr dirty="0"/>
              <a:t>.</a:t>
            </a:r>
          </a:p>
        </p:txBody>
      </p:sp>
      <p:sp>
        <p:nvSpPr>
          <p:cNvPr id="6" name="Rectangle 5"/>
          <p:cNvSpPr/>
          <p:nvPr/>
        </p:nvSpPr>
        <p:spPr>
          <a:xfrm>
            <a:off x="6096000" y="1376172"/>
            <a:ext cx="4846320" cy="2359152"/>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05728" y="1449324"/>
            <a:ext cx="4626864" cy="2048256"/>
          </a:xfrm>
          <a:prstGeom prst="rect">
            <a:avLst/>
          </a:prstGeom>
          <a:noFill/>
        </p:spPr>
        <p:txBody>
          <a:bodyPr wrap="square">
            <a:spAutoFit/>
          </a:bodyPr>
          <a:lstStyle/>
          <a:p>
            <a:pPr>
              <a:spcAft>
                <a:spcPts val="100"/>
              </a:spcAft>
              <a:defRPr sz="1000">
                <a:solidFill>
                  <a:srgbClr val="7EC68E"/>
                </a:solidFill>
                <a:latin typeface="Consolas"/>
              </a:defRPr>
            </a:pPr>
            <a:r>
              <a:t>// Path a profondità variabile:</a:t>
            </a:r>
          </a:p>
          <a:p>
            <a:pPr>
              <a:spcAft>
                <a:spcPts val="100"/>
              </a:spcAft>
              <a:defRPr sz="1000">
                <a:solidFill>
                  <a:srgbClr val="7EC68E"/>
                </a:solidFill>
                <a:latin typeface="Consolas"/>
              </a:defRPr>
            </a:pPr>
            <a:r>
              <a:t>// Cerchiamo persone raggiungibili via</a:t>
            </a:r>
          </a:p>
          <a:p>
            <a:pPr>
              <a:spcAft>
                <a:spcPts val="100"/>
              </a:spcAft>
              <a:defRPr sz="1000">
                <a:solidFill>
                  <a:srgbClr val="7EC68E"/>
                </a:solidFill>
                <a:latin typeface="Consolas"/>
              </a:defRPr>
            </a:pPr>
            <a:r>
              <a:t>// WORKED_ON in al massimo 3 salti:</a:t>
            </a:r>
          </a:p>
          <a:p>
            <a:pPr>
              <a:spcAft>
                <a:spcPts val="100"/>
              </a:spcAft>
              <a:defRPr sz="1000">
                <a:solidFill>
                  <a:srgbClr val="7EC68E"/>
                </a:solidFill>
                <a:latin typeface="Consolas"/>
              </a:defRPr>
            </a:pPr>
            <a:r>
              <a:t>MATCH path = (a:Person {employee_id: 1})</a:t>
            </a:r>
          </a:p>
          <a:p>
            <a:pPr>
              <a:spcAft>
                <a:spcPts val="100"/>
              </a:spcAft>
              <a:defRPr sz="1000">
                <a:solidFill>
                  <a:srgbClr val="7EC68E"/>
                </a:solidFill>
                <a:latin typeface="Consolas"/>
              </a:defRPr>
            </a:pPr>
            <a:r>
              <a:t>      -[:WORKED_ON*1..3]-(b:Person)</a:t>
            </a:r>
          </a:p>
          <a:p>
            <a:pPr>
              <a:spcAft>
                <a:spcPts val="100"/>
              </a:spcAft>
              <a:defRPr sz="1000">
                <a:solidFill>
                  <a:srgbClr val="7EC68E"/>
                </a:solidFill>
                <a:latin typeface="Consolas"/>
              </a:defRPr>
            </a:pPr>
            <a:r>
              <a:t>RETURN [n IN nodes(path) | n.name] AS percorso,</a:t>
            </a:r>
          </a:p>
          <a:p>
            <a:pPr>
              <a:spcAft>
                <a:spcPts val="100"/>
              </a:spcAft>
              <a:defRPr sz="1000">
                <a:solidFill>
                  <a:srgbClr val="7EC68E"/>
                </a:solidFill>
                <a:latin typeface="Consolas"/>
              </a:defRPr>
            </a:pPr>
            <a:r>
              <a:t>       length(path) AS salti</a:t>
            </a:r>
          </a:p>
          <a:p>
            <a:pPr>
              <a:spcAft>
                <a:spcPts val="100"/>
              </a:spcAft>
              <a:defRPr sz="1000">
                <a:solidFill>
                  <a:srgbClr val="7EC68E"/>
                </a:solidFill>
                <a:latin typeface="Consolas"/>
              </a:defRPr>
            </a:pPr>
            <a:r>
              <a:t>LIMIT 5;</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[*1..3] = da 1 a 3 relazioni WORKED_ON</a:t>
            </a:r>
          </a:p>
          <a:p>
            <a:pPr>
              <a:spcAft>
                <a:spcPts val="100"/>
              </a:spcAft>
              <a:defRPr sz="1000">
                <a:solidFill>
                  <a:srgbClr val="7EC68E"/>
                </a:solidFill>
                <a:latin typeface="Consolas"/>
              </a:defRPr>
            </a:pPr>
            <a:r>
              <a:t>// path = variabile per l'intero percorso</a:t>
            </a:r>
          </a:p>
          <a:p>
            <a:pPr>
              <a:spcAft>
                <a:spcPts val="100"/>
              </a:spcAft>
              <a:defRPr sz="1000">
                <a:solidFill>
                  <a:srgbClr val="7EC68E"/>
                </a:solidFill>
                <a:latin typeface="Consolas"/>
              </a:defRPr>
            </a:pPr>
            <a:r>
              <a:t>// nodes(path) = lista nodi del percorso</a:t>
            </a:r>
          </a:p>
        </p:txBody>
      </p:sp>
      <p:sp>
        <p:nvSpPr>
          <p:cNvPr id="8" name="Rectangle 7"/>
          <p:cNvSpPr/>
          <p:nvPr/>
        </p:nvSpPr>
        <p:spPr>
          <a:xfrm>
            <a:off x="731520" y="3995928"/>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178808"/>
            <a:ext cx="10515600" cy="365760"/>
          </a:xfrm>
          <a:prstGeom prst="rect">
            <a:avLst/>
          </a:prstGeom>
          <a:noFill/>
        </p:spPr>
        <p:txBody>
          <a:bodyPr wrap="square">
            <a:spAutoFit/>
          </a:bodyPr>
          <a:lstStyle/>
          <a:p>
            <a:pPr algn="l">
              <a:defRPr sz="1500" b="1">
                <a:solidFill>
                  <a:srgbClr val="F08040"/>
                </a:solidFill>
                <a:latin typeface="Calibri"/>
              </a:defRPr>
            </a:pPr>
            <a:r>
              <a:t>Optional Match: come LEFT JOIN</a:t>
            </a:r>
          </a:p>
        </p:txBody>
      </p:sp>
      <p:sp>
        <p:nvSpPr>
          <p:cNvPr id="10" name="TextBox 9"/>
          <p:cNvSpPr txBox="1"/>
          <p:nvPr/>
        </p:nvSpPr>
        <p:spPr>
          <a:xfrm>
            <a:off x="731520" y="4636008"/>
            <a:ext cx="10515600" cy="1097280"/>
          </a:xfrm>
          <a:prstGeom prst="rect">
            <a:avLst/>
          </a:prstGeom>
          <a:noFill/>
        </p:spPr>
        <p:txBody>
          <a:bodyPr wrap="square">
            <a:spAutoFit/>
          </a:bodyPr>
          <a:lstStyle/>
          <a:p>
            <a:pPr algn="l">
              <a:spcAft>
                <a:spcPts val="300"/>
              </a:spcAft>
              <a:defRPr sz="1200">
                <a:solidFill>
                  <a:srgbClr val="FFFFFF"/>
                </a:solidFill>
                <a:latin typeface="Calibri"/>
              </a:defRPr>
            </a:pPr>
            <a:r>
              <a:t>•  OPTIONAL MATCH — cerca il pattern, se non trovato restituisce NULL (non scarta la riga)</a:t>
            </a:r>
          </a:p>
          <a:p>
            <a:pPr algn="l">
              <a:spcAft>
                <a:spcPts val="300"/>
              </a:spcAft>
              <a:defRPr sz="1200">
                <a:solidFill>
                  <a:srgbClr val="FFFFFF"/>
                </a:solidFill>
                <a:latin typeface="Calibri"/>
              </a:defRPr>
            </a:pPr>
            <a:r>
              <a:t>•  Utile per: "trova tutte le persone e le loro skill (incluse quelle senza skill)"</a:t>
            </a:r>
          </a:p>
          <a:p>
            <a:pPr algn="l">
              <a:spcAft>
                <a:spcPts val="300"/>
              </a:spcAft>
              <a:defRPr sz="1200">
                <a:solidFill>
                  <a:srgbClr val="FFFFFF"/>
                </a:solidFill>
                <a:latin typeface="Calibri"/>
              </a:defRPr>
            </a:pPr>
            <a:r>
              <a:t>•  MATCH normale scarta le righe che non corrispondono al pattern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Cypher: Leggere Dati con MATCH + WHERE</a:t>
            </a:r>
          </a:p>
        </p:txBody>
      </p:sp>
      <p:sp>
        <p:nvSpPr>
          <p:cNvPr id="3" name="TextBox 2"/>
          <p:cNvSpPr txBox="1"/>
          <p:nvPr/>
        </p:nvSpPr>
        <p:spPr>
          <a:xfrm>
            <a:off x="731520" y="960120"/>
            <a:ext cx="10515600" cy="457200"/>
          </a:xfrm>
          <a:prstGeom prst="rect">
            <a:avLst/>
          </a:prstGeom>
          <a:noFill/>
        </p:spPr>
        <p:txBody>
          <a:bodyPr wrap="square">
            <a:spAutoFit/>
          </a:bodyPr>
          <a:lstStyle/>
          <a:p>
            <a:pPr algn="l">
              <a:defRPr sz="1400" b="0">
                <a:solidFill>
                  <a:srgbClr val="CCCCCC"/>
                </a:solidFill>
                <a:latin typeface="Calibri"/>
              </a:defRPr>
            </a:pPr>
            <a:r>
              <a:t>WHERE filtra i risultati. Supporta operatori logici, confronti, testo e liste.</a:t>
            </a:r>
          </a:p>
        </p:txBody>
      </p:sp>
      <p:sp>
        <p:nvSpPr>
          <p:cNvPr id="4" name="TextBox 3"/>
          <p:cNvSpPr txBox="1"/>
          <p:nvPr/>
        </p:nvSpPr>
        <p:spPr>
          <a:xfrm>
            <a:off x="731520" y="1417320"/>
            <a:ext cx="5029200" cy="411480"/>
          </a:xfrm>
          <a:prstGeom prst="rect">
            <a:avLst/>
          </a:prstGeom>
          <a:noFill/>
        </p:spPr>
        <p:txBody>
          <a:bodyPr wrap="square">
            <a:spAutoFit/>
          </a:bodyPr>
          <a:lstStyle/>
          <a:p>
            <a:pPr algn="l">
              <a:defRPr sz="1600" b="1">
                <a:solidFill>
                  <a:srgbClr val="F08040"/>
                </a:solidFill>
                <a:latin typeface="Calibri"/>
              </a:defRPr>
            </a:pPr>
            <a:r>
              <a:t>Filtri con WHERE</a:t>
            </a:r>
          </a:p>
        </p:txBody>
      </p:sp>
      <p:sp>
        <p:nvSpPr>
          <p:cNvPr id="5" name="Rectangle 4"/>
          <p:cNvSpPr/>
          <p:nvPr/>
        </p:nvSpPr>
        <p:spPr>
          <a:xfrm>
            <a:off x="731520" y="1828800"/>
            <a:ext cx="5029200" cy="1993392"/>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901952"/>
            <a:ext cx="4809744" cy="1773936"/>
          </a:xfrm>
          <a:prstGeom prst="rect">
            <a:avLst/>
          </a:prstGeom>
          <a:noFill/>
        </p:spPr>
        <p:txBody>
          <a:bodyPr wrap="square">
            <a:spAutoFit/>
          </a:bodyPr>
          <a:lstStyle/>
          <a:p>
            <a:pPr>
              <a:spcAft>
                <a:spcPts val="100"/>
              </a:spcAft>
              <a:defRPr sz="1000">
                <a:solidFill>
                  <a:srgbClr val="7EC68E"/>
                </a:solidFill>
                <a:latin typeface="Consolas"/>
              </a:defRPr>
            </a:pPr>
            <a:r>
              <a:t>// AND / OR con parentesi:</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WHERE (p.location = "Roma"</a:t>
            </a:r>
          </a:p>
          <a:p>
            <a:pPr>
              <a:spcAft>
                <a:spcPts val="100"/>
              </a:spcAft>
              <a:defRPr sz="1000">
                <a:solidFill>
                  <a:srgbClr val="7EC68E"/>
                </a:solidFill>
                <a:latin typeface="Consolas"/>
              </a:defRPr>
            </a:pPr>
            <a:r>
              <a:t>   OR  p.location = "Milano")</a:t>
            </a:r>
          </a:p>
          <a:p>
            <a:pPr>
              <a:spcAft>
                <a:spcPts val="100"/>
              </a:spcAft>
              <a:defRPr sz="1000">
                <a:solidFill>
                  <a:srgbClr val="7EC68E"/>
                </a:solidFill>
                <a:latin typeface="Consolas"/>
              </a:defRPr>
            </a:pPr>
            <a:r>
              <a:t>  AND p.title CONTAINS "Senior"</a:t>
            </a:r>
          </a:p>
          <a:p>
            <a:pPr>
              <a:spcAft>
                <a:spcPts val="100"/>
              </a:spcAft>
              <a:defRPr sz="1000">
                <a:solidFill>
                  <a:srgbClr val="7EC68E"/>
                </a:solidFill>
                <a:latin typeface="Consolas"/>
              </a:defRPr>
            </a:pPr>
            <a:r>
              <a:t>RETURN p.name, p.location, p.title;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IN per liste:</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WHERE p.location IN ("Roma", "Milano")</a:t>
            </a:r>
          </a:p>
          <a:p>
            <a:pPr>
              <a:spcAft>
                <a:spcPts val="100"/>
              </a:spcAft>
              <a:defRPr sz="1000">
                <a:solidFill>
                  <a:srgbClr val="7EC68E"/>
                </a:solidFill>
                <a:latin typeface="Consolas"/>
              </a:defRPr>
            </a:pPr>
            <a:r>
              <a:t>RETURN p.name, p.location;</a:t>
            </a:r>
          </a:p>
        </p:txBody>
      </p:sp>
      <p:sp>
        <p:nvSpPr>
          <p:cNvPr id="7" name="TextBox 6"/>
          <p:cNvSpPr txBox="1"/>
          <p:nvPr/>
        </p:nvSpPr>
        <p:spPr>
          <a:xfrm>
            <a:off x="6096000" y="1417320"/>
            <a:ext cx="4846320" cy="411480"/>
          </a:xfrm>
          <a:prstGeom prst="rect">
            <a:avLst/>
          </a:prstGeom>
          <a:noFill/>
        </p:spPr>
        <p:txBody>
          <a:bodyPr wrap="square">
            <a:spAutoFit/>
          </a:bodyPr>
          <a:lstStyle/>
          <a:p>
            <a:pPr algn="l">
              <a:defRPr sz="1600" b="1">
                <a:solidFill>
                  <a:srgbClr val="F08040"/>
                </a:solidFill>
                <a:latin typeface="Calibri"/>
              </a:defRPr>
            </a:pPr>
            <a:r>
              <a:t>Testo e valori NULL</a:t>
            </a:r>
          </a:p>
        </p:txBody>
      </p:sp>
      <p:sp>
        <p:nvSpPr>
          <p:cNvPr id="8" name="Rectangle 7"/>
          <p:cNvSpPr/>
          <p:nvPr/>
        </p:nvSpPr>
        <p:spPr>
          <a:xfrm>
            <a:off x="6096000" y="1828800"/>
            <a:ext cx="4846320" cy="219456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05728" y="1901952"/>
            <a:ext cx="4626864" cy="1956816"/>
          </a:xfrm>
          <a:prstGeom prst="rect">
            <a:avLst/>
          </a:prstGeom>
          <a:noFill/>
        </p:spPr>
        <p:txBody>
          <a:bodyPr wrap="square">
            <a:spAutoFit/>
          </a:bodyPr>
          <a:lstStyle/>
          <a:p>
            <a:pPr>
              <a:spcAft>
                <a:spcPts val="100"/>
              </a:spcAft>
              <a:defRPr sz="1000">
                <a:solidFill>
                  <a:srgbClr val="7EC68E"/>
                </a:solidFill>
                <a:latin typeface="Consolas"/>
              </a:defRPr>
            </a:pPr>
            <a:r>
              <a:rPr dirty="0"/>
              <a:t>// CONTAINS, STARTS WITH, ENDS WITH:</a:t>
            </a:r>
          </a:p>
          <a:p>
            <a:pPr>
              <a:spcAft>
                <a:spcPts val="100"/>
              </a:spcAft>
              <a:defRPr sz="1000">
                <a:solidFill>
                  <a:srgbClr val="7EC68E"/>
                </a:solidFill>
                <a:latin typeface="Consolas"/>
              </a:defRPr>
            </a:pPr>
            <a:r>
              <a:rPr dirty="0"/>
              <a:t>MATCH (</a:t>
            </a:r>
            <a:r>
              <a:rPr dirty="0" err="1"/>
              <a:t>s:Skill</a:t>
            </a:r>
            <a:r>
              <a:rPr dirty="0"/>
              <a:t>)</a:t>
            </a:r>
          </a:p>
          <a:p>
            <a:pPr>
              <a:spcAft>
                <a:spcPts val="100"/>
              </a:spcAft>
              <a:defRPr sz="1000">
                <a:solidFill>
                  <a:srgbClr val="7EC68E"/>
                </a:solidFill>
                <a:latin typeface="Consolas"/>
              </a:defRPr>
            </a:pPr>
            <a:r>
              <a:rPr dirty="0"/>
              <a:t>WHERE s.name STARTS WITH "Py"</a:t>
            </a:r>
          </a:p>
          <a:p>
            <a:pPr>
              <a:spcAft>
                <a:spcPts val="100"/>
              </a:spcAft>
              <a:defRPr sz="1000">
                <a:solidFill>
                  <a:srgbClr val="7EC68E"/>
                </a:solidFill>
                <a:latin typeface="Consolas"/>
              </a:defRPr>
            </a:pPr>
            <a:r>
              <a:rPr dirty="0"/>
              <a:t>RETURN s.name UNION</a:t>
            </a:r>
          </a:p>
          <a:p>
            <a:pPr>
              <a:spcAft>
                <a:spcPts val="100"/>
              </a:spcAft>
              <a:defRPr sz="1000">
                <a:solidFill>
                  <a:srgbClr val="7EC68E"/>
                </a:solidFill>
                <a:latin typeface="Consolas"/>
              </a:defRPr>
            </a:pPr>
            <a:r>
              <a:rPr dirty="0"/>
              <a:t>MATCH (</a:t>
            </a:r>
            <a:r>
              <a:rPr dirty="0" err="1"/>
              <a:t>s:Skill</a:t>
            </a:r>
            <a:r>
              <a:rPr dirty="0"/>
              <a:t>)</a:t>
            </a:r>
          </a:p>
          <a:p>
            <a:pPr>
              <a:spcAft>
                <a:spcPts val="100"/>
              </a:spcAft>
              <a:defRPr sz="1000">
                <a:solidFill>
                  <a:srgbClr val="7EC68E"/>
                </a:solidFill>
                <a:latin typeface="Consolas"/>
              </a:defRPr>
            </a:pPr>
            <a:r>
              <a:rPr dirty="0"/>
              <a:t>WHERE s.name CONTAINS "cloud"</a:t>
            </a:r>
          </a:p>
          <a:p>
            <a:pPr>
              <a:spcAft>
                <a:spcPts val="100"/>
              </a:spcAft>
              <a:defRPr sz="1000">
                <a:solidFill>
                  <a:srgbClr val="7EC68E"/>
                </a:solidFill>
                <a:latin typeface="Consolas"/>
              </a:defRPr>
            </a:pPr>
            <a:r>
              <a:rPr dirty="0"/>
              <a:t>RETURN s.name;</a:t>
            </a:r>
          </a:p>
          <a:p>
            <a:pPr>
              <a:spcAft>
                <a:spcPts val="100"/>
              </a:spcAft>
              <a:defRPr sz="1000">
                <a:solidFill>
                  <a:srgbClr val="7EC68E"/>
                </a:solidFill>
                <a:latin typeface="Consolas"/>
              </a:defRPr>
            </a:pPr>
            <a:endParaRPr dirty="0"/>
          </a:p>
          <a:p>
            <a:pPr>
              <a:spcAft>
                <a:spcPts val="100"/>
              </a:spcAft>
              <a:defRPr sz="1000">
                <a:solidFill>
                  <a:srgbClr val="7EC68E"/>
                </a:solidFill>
                <a:latin typeface="Consolas"/>
              </a:defRPr>
            </a:pPr>
            <a:r>
              <a:rPr dirty="0"/>
              <a:t>// IS NULL / IS NOT NULL:</a:t>
            </a:r>
          </a:p>
          <a:p>
            <a:pPr>
              <a:spcAft>
                <a:spcPts val="100"/>
              </a:spcAft>
              <a:defRPr sz="1000">
                <a:solidFill>
                  <a:srgbClr val="7EC68E"/>
                </a:solidFill>
                <a:latin typeface="Consolas"/>
              </a:defRPr>
            </a:pPr>
            <a:r>
              <a:rPr dirty="0"/>
              <a:t>MATCH (</a:t>
            </a:r>
            <a:r>
              <a:rPr dirty="0" err="1"/>
              <a:t>p:Person</a:t>
            </a:r>
            <a:r>
              <a:rPr dirty="0"/>
              <a:t>)</a:t>
            </a:r>
          </a:p>
          <a:p>
            <a:pPr>
              <a:spcAft>
                <a:spcPts val="100"/>
              </a:spcAft>
              <a:defRPr sz="1000">
                <a:solidFill>
                  <a:srgbClr val="7EC68E"/>
                </a:solidFill>
                <a:latin typeface="Consolas"/>
              </a:defRPr>
            </a:pPr>
            <a:r>
              <a:rPr dirty="0"/>
              <a:t>WHERE </a:t>
            </a:r>
            <a:r>
              <a:rPr dirty="0" err="1"/>
              <a:t>p.location</a:t>
            </a:r>
            <a:r>
              <a:rPr dirty="0"/>
              <a:t> IS NULL</a:t>
            </a:r>
          </a:p>
          <a:p>
            <a:pPr>
              <a:spcAft>
                <a:spcPts val="100"/>
              </a:spcAft>
              <a:defRPr sz="1000">
                <a:solidFill>
                  <a:srgbClr val="7EC68E"/>
                </a:solidFill>
                <a:latin typeface="Consolas"/>
              </a:defRPr>
            </a:pPr>
            <a:r>
              <a:rPr dirty="0"/>
              <a:t>RETURN p.name;</a:t>
            </a:r>
          </a:p>
        </p:txBody>
      </p:sp>
      <p:sp>
        <p:nvSpPr>
          <p:cNvPr id="10" name="Rectangle 9"/>
          <p:cNvSpPr/>
          <p:nvPr/>
        </p:nvSpPr>
        <p:spPr>
          <a:xfrm>
            <a:off x="731520" y="420624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4389120"/>
            <a:ext cx="10515600" cy="365760"/>
          </a:xfrm>
          <a:prstGeom prst="rect">
            <a:avLst/>
          </a:prstGeom>
          <a:noFill/>
        </p:spPr>
        <p:txBody>
          <a:bodyPr wrap="square">
            <a:spAutoFit/>
          </a:bodyPr>
          <a:lstStyle/>
          <a:p>
            <a:pPr algn="l">
              <a:defRPr sz="1500" b="1">
                <a:solidFill>
                  <a:srgbClr val="F08040"/>
                </a:solidFill>
                <a:latin typeface="Calibri"/>
              </a:defRPr>
            </a:pPr>
            <a:r>
              <a:t>Ordinamento e Paginazione</a:t>
            </a:r>
          </a:p>
        </p:txBody>
      </p:sp>
      <p:sp>
        <p:nvSpPr>
          <p:cNvPr id="12" name="Rectangle 11"/>
          <p:cNvSpPr/>
          <p:nvPr/>
        </p:nvSpPr>
        <p:spPr>
          <a:xfrm>
            <a:off x="731520" y="4800600"/>
            <a:ext cx="10515600" cy="16459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41248" y="4873752"/>
            <a:ext cx="10296144" cy="1499616"/>
          </a:xfrm>
          <a:prstGeom prst="rect">
            <a:avLst/>
          </a:prstGeom>
          <a:noFill/>
        </p:spPr>
        <p:txBody>
          <a:bodyPr wrap="square">
            <a:spAutoFit/>
          </a:bodyPr>
          <a:lstStyle/>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RETURN p.name, p.location AS nome, p.title AS ruolo</a:t>
            </a:r>
          </a:p>
          <a:p>
            <a:pPr>
              <a:spcAft>
                <a:spcPts val="100"/>
              </a:spcAft>
              <a:defRPr sz="1000">
                <a:solidFill>
                  <a:srgbClr val="7EC68E"/>
                </a:solidFill>
                <a:latin typeface="Consolas"/>
              </a:defRPr>
            </a:pPr>
            <a:r>
              <a:t>ORDER BY nome ASC</a:t>
            </a:r>
          </a:p>
          <a:p>
            <a:pPr>
              <a:spcAft>
                <a:spcPts val="100"/>
              </a:spcAft>
              <a:defRPr sz="1000">
                <a:solidFill>
                  <a:srgbClr val="7EC68E"/>
                </a:solidFill>
                <a:latin typeface="Consolas"/>
              </a:defRPr>
            </a:pPr>
            <a:r>
              <a:t>SKIP 10 LIMIT 10;  // pagina 2</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MATCH (p:Person)-[:WORKED_ON]-&gt;(proj:Project)</a:t>
            </a:r>
          </a:p>
          <a:p>
            <a:pPr>
              <a:spcAft>
                <a:spcPts val="100"/>
              </a:spcAft>
              <a:defRPr sz="1000">
                <a:solidFill>
                  <a:srgbClr val="7EC68E"/>
                </a:solidFill>
                <a:latin typeface="Consolas"/>
              </a:defRPr>
            </a:pPr>
            <a:r>
              <a:t>RETURN DISTINCT p.location AS sedi</a:t>
            </a:r>
          </a:p>
          <a:p>
            <a:pPr>
              <a:spcAft>
                <a:spcPts val="100"/>
              </a:spcAft>
              <a:defRPr sz="1000">
                <a:solidFill>
                  <a:srgbClr val="7EC68E"/>
                </a:solidFill>
                <a:latin typeface="Consolas"/>
              </a:defRPr>
            </a:pPr>
            <a:r>
              <a:t>ORDER BY sedi;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Cypher: Aggregazioni</a:t>
            </a:r>
          </a:p>
        </p:txBody>
      </p:sp>
      <p:sp>
        <p:nvSpPr>
          <p:cNvPr id="3" name="TextBox 2"/>
          <p:cNvSpPr txBox="1"/>
          <p:nvPr/>
        </p:nvSpPr>
        <p:spPr>
          <a:xfrm>
            <a:off x="731520" y="914400"/>
            <a:ext cx="10515600" cy="457200"/>
          </a:xfrm>
          <a:prstGeom prst="rect">
            <a:avLst/>
          </a:prstGeom>
          <a:noFill/>
        </p:spPr>
        <p:txBody>
          <a:bodyPr wrap="square">
            <a:spAutoFit/>
          </a:bodyPr>
          <a:lstStyle/>
          <a:p>
            <a:pPr algn="l">
              <a:defRPr sz="1400" b="0">
                <a:solidFill>
                  <a:srgbClr val="CCCCCC"/>
                </a:solidFill>
                <a:latin typeface="Calibri"/>
              </a:defRPr>
            </a:pPr>
            <a:r>
              <a:t>COUNT, COLLECT, AVG, SUM, MIN, MAX — come SQL ma senza GROUP BY esplicito. Le colonne non aggregate sono automaticamente chiavi di raggruppamento.</a:t>
            </a:r>
          </a:p>
        </p:txBody>
      </p:sp>
      <p:sp>
        <p:nvSpPr>
          <p:cNvPr id="4" name="Rectangle 3"/>
          <p:cNvSpPr/>
          <p:nvPr/>
        </p:nvSpPr>
        <p:spPr>
          <a:xfrm>
            <a:off x="731520" y="1554480"/>
            <a:ext cx="5029200" cy="237744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627632"/>
            <a:ext cx="4809744" cy="2231136"/>
          </a:xfrm>
          <a:prstGeom prst="rect">
            <a:avLst/>
          </a:prstGeom>
          <a:noFill/>
        </p:spPr>
        <p:txBody>
          <a:bodyPr wrap="square">
            <a:spAutoFit/>
          </a:bodyPr>
          <a:lstStyle/>
          <a:p>
            <a:pPr>
              <a:spcAft>
                <a:spcPts val="100"/>
              </a:spcAft>
              <a:defRPr sz="1000">
                <a:solidFill>
                  <a:srgbClr val="7EC68E"/>
                </a:solidFill>
                <a:latin typeface="Consolas"/>
              </a:defRPr>
            </a:pPr>
            <a:r>
              <a:t>// COUNT: quante persone per location?</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RETURN p.location AS sede,</a:t>
            </a:r>
          </a:p>
          <a:p>
            <a:pPr>
              <a:spcAft>
                <a:spcPts val="100"/>
              </a:spcAft>
              <a:defRPr sz="1000">
                <a:solidFill>
                  <a:srgbClr val="7EC68E"/>
                </a:solidFill>
                <a:latin typeface="Consolas"/>
              </a:defRPr>
            </a:pPr>
            <a:r>
              <a:t>       count(*) AS persone</a:t>
            </a:r>
          </a:p>
          <a:p>
            <a:pPr>
              <a:spcAft>
                <a:spcPts val="100"/>
              </a:spcAft>
              <a:defRPr sz="1000">
                <a:solidFill>
                  <a:srgbClr val="7EC68E"/>
                </a:solidFill>
                <a:latin typeface="Consolas"/>
              </a:defRPr>
            </a:pPr>
            <a:r>
              <a:t>ORDER BY persone DESC;</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COLLECT: lista skill per persona:</a:t>
            </a:r>
          </a:p>
          <a:p>
            <a:pPr>
              <a:spcAft>
                <a:spcPts val="100"/>
              </a:spcAft>
              <a:defRPr sz="1000">
                <a:solidFill>
                  <a:srgbClr val="7EC68E"/>
                </a:solidFill>
                <a:latin typeface="Consolas"/>
              </a:defRPr>
            </a:pPr>
            <a:r>
              <a:t>MATCH (p:Person)-[:HAS_SKILL]-&gt;(s:Skill)</a:t>
            </a:r>
          </a:p>
          <a:p>
            <a:pPr>
              <a:spcAft>
                <a:spcPts val="100"/>
              </a:spcAft>
              <a:defRPr sz="1000">
                <a:solidFill>
                  <a:srgbClr val="7EC68E"/>
                </a:solidFill>
                <a:latin typeface="Consolas"/>
              </a:defRPr>
            </a:pPr>
            <a:r>
              <a:t>RETURN p.name AS persona,</a:t>
            </a:r>
          </a:p>
          <a:p>
            <a:pPr>
              <a:spcAft>
                <a:spcPts val="100"/>
              </a:spcAft>
              <a:defRPr sz="1000">
                <a:solidFill>
                  <a:srgbClr val="7EC68E"/>
                </a:solidFill>
                <a:latin typeface="Consolas"/>
              </a:defRPr>
            </a:pPr>
            <a:r>
              <a:t>       collect(s.name) AS skill,</a:t>
            </a:r>
          </a:p>
          <a:p>
            <a:pPr>
              <a:spcAft>
                <a:spcPts val="100"/>
              </a:spcAft>
              <a:defRPr sz="1000">
                <a:solidFill>
                  <a:srgbClr val="7EC68E"/>
                </a:solidFill>
                <a:latin typeface="Consolas"/>
              </a:defRPr>
            </a:pPr>
            <a:r>
              <a:t>       count(s) AS totale_skill</a:t>
            </a:r>
          </a:p>
          <a:p>
            <a:pPr>
              <a:spcAft>
                <a:spcPts val="100"/>
              </a:spcAft>
              <a:defRPr sz="1000">
                <a:solidFill>
                  <a:srgbClr val="7EC68E"/>
                </a:solidFill>
                <a:latin typeface="Consolas"/>
              </a:defRPr>
            </a:pPr>
            <a:r>
              <a:t>ORDER BY totale_skill DESC LIMIT 5;</a:t>
            </a:r>
          </a:p>
        </p:txBody>
      </p:sp>
      <p:sp>
        <p:nvSpPr>
          <p:cNvPr id="6" name="TextBox 5"/>
          <p:cNvSpPr txBox="1"/>
          <p:nvPr/>
        </p:nvSpPr>
        <p:spPr>
          <a:xfrm>
            <a:off x="6096000" y="1554480"/>
            <a:ext cx="4846320" cy="2377440"/>
          </a:xfrm>
          <a:prstGeom prst="rect">
            <a:avLst/>
          </a:prstGeom>
          <a:noFill/>
        </p:spPr>
        <p:txBody>
          <a:bodyPr wrap="square">
            <a:spAutoFit/>
          </a:bodyPr>
          <a:lstStyle/>
          <a:p>
            <a:pPr algn="l">
              <a:defRPr sz="1100" b="0">
                <a:solidFill>
                  <a:srgbClr val="CCCCCC"/>
                </a:solidFill>
                <a:latin typeface="Calibri"/>
              </a:defRPr>
            </a:pPr>
            <a:r>
              <a:rPr dirty="0" err="1"/>
              <a:t>Dettaglio</a:t>
            </a:r>
            <a:r>
              <a:rPr dirty="0"/>
              <a:t> </a:t>
            </a:r>
            <a:r>
              <a:rPr dirty="0" err="1"/>
              <a:t>funzioni</a:t>
            </a:r>
            <a:r>
              <a:rPr dirty="0"/>
              <a:t> di </a:t>
            </a:r>
            <a:r>
              <a:rPr dirty="0" err="1"/>
              <a:t>aggregazione</a:t>
            </a:r>
            <a:r>
              <a:rPr dirty="0"/>
              <a:t>:</a:t>
            </a:r>
            <a:br>
              <a:rPr dirty="0"/>
            </a:br>
            <a:br>
              <a:rPr dirty="0"/>
            </a:br>
            <a:r>
              <a:rPr dirty="0"/>
              <a:t>count(*)     = </a:t>
            </a:r>
            <a:r>
              <a:rPr dirty="0" err="1"/>
              <a:t>conta</a:t>
            </a:r>
            <a:r>
              <a:rPr dirty="0"/>
              <a:t> tutte le </a:t>
            </a:r>
            <a:r>
              <a:rPr dirty="0" err="1"/>
              <a:t>righe</a:t>
            </a:r>
            <a:br>
              <a:rPr dirty="0"/>
            </a:br>
            <a:r>
              <a:rPr dirty="0"/>
              <a:t>count(expr)  = </a:t>
            </a:r>
            <a:r>
              <a:rPr dirty="0" err="1"/>
              <a:t>conta</a:t>
            </a:r>
            <a:r>
              <a:rPr dirty="0"/>
              <a:t> </a:t>
            </a:r>
            <a:r>
              <a:rPr dirty="0" err="1"/>
              <a:t>i</a:t>
            </a:r>
            <a:r>
              <a:rPr dirty="0"/>
              <a:t> </a:t>
            </a:r>
            <a:r>
              <a:rPr dirty="0" err="1"/>
              <a:t>valori</a:t>
            </a:r>
            <a:r>
              <a:rPr dirty="0"/>
              <a:t> non-NULL</a:t>
            </a:r>
            <a:br>
              <a:rPr dirty="0"/>
            </a:br>
            <a:r>
              <a:rPr dirty="0"/>
              <a:t>count(DISTINCT expr) = </a:t>
            </a:r>
            <a:r>
              <a:rPr dirty="0" err="1"/>
              <a:t>conta</a:t>
            </a:r>
            <a:r>
              <a:rPr dirty="0"/>
              <a:t> </a:t>
            </a:r>
            <a:r>
              <a:rPr dirty="0" err="1"/>
              <a:t>valori</a:t>
            </a:r>
            <a:r>
              <a:rPr dirty="0"/>
              <a:t> </a:t>
            </a:r>
            <a:r>
              <a:rPr dirty="0" err="1"/>
              <a:t>unici</a:t>
            </a:r>
            <a:br>
              <a:rPr dirty="0"/>
            </a:br>
            <a:br>
              <a:rPr dirty="0"/>
            </a:br>
            <a:r>
              <a:rPr dirty="0"/>
              <a:t>collect(expr)      = </a:t>
            </a:r>
            <a:r>
              <a:rPr dirty="0" err="1"/>
              <a:t>lista</a:t>
            </a:r>
            <a:r>
              <a:rPr dirty="0"/>
              <a:t> di tutti </a:t>
            </a:r>
            <a:r>
              <a:rPr dirty="0" err="1"/>
              <a:t>i</a:t>
            </a:r>
            <a:r>
              <a:rPr dirty="0"/>
              <a:t> </a:t>
            </a:r>
            <a:r>
              <a:rPr dirty="0" err="1"/>
              <a:t>valori</a:t>
            </a:r>
            <a:br>
              <a:rPr dirty="0"/>
            </a:br>
            <a:r>
              <a:rPr dirty="0"/>
              <a:t>collect(DISTINCT)  = </a:t>
            </a:r>
            <a:r>
              <a:rPr dirty="0" err="1"/>
              <a:t>lista</a:t>
            </a:r>
            <a:r>
              <a:rPr dirty="0"/>
              <a:t> senza </a:t>
            </a:r>
            <a:r>
              <a:rPr dirty="0" err="1"/>
              <a:t>duplicati</a:t>
            </a:r>
            <a:br>
              <a:rPr dirty="0"/>
            </a:br>
            <a:br>
              <a:rPr dirty="0"/>
            </a:br>
            <a:r>
              <a:rPr dirty="0"/>
              <a:t>avg(expr)  = media </a:t>
            </a:r>
            <a:r>
              <a:rPr dirty="0" err="1"/>
              <a:t>aritmetica</a:t>
            </a:r>
            <a:br>
              <a:rPr dirty="0"/>
            </a:br>
            <a:r>
              <a:rPr dirty="0"/>
              <a:t>sum(expr)  = somma</a:t>
            </a:r>
            <a:br>
              <a:rPr dirty="0"/>
            </a:br>
            <a:r>
              <a:rPr dirty="0"/>
              <a:t>min(expr)  = </a:t>
            </a:r>
            <a:r>
              <a:rPr dirty="0" err="1"/>
              <a:t>valore</a:t>
            </a:r>
            <a:r>
              <a:rPr dirty="0"/>
              <a:t> </a:t>
            </a:r>
            <a:r>
              <a:rPr dirty="0" err="1"/>
              <a:t>minimo</a:t>
            </a:r>
            <a:br>
              <a:rPr dirty="0"/>
            </a:br>
            <a:r>
              <a:rPr dirty="0"/>
              <a:t>max(expr)  = </a:t>
            </a:r>
            <a:r>
              <a:rPr dirty="0" err="1"/>
              <a:t>valore</a:t>
            </a:r>
            <a:r>
              <a:rPr dirty="0"/>
              <a:t> </a:t>
            </a:r>
            <a:r>
              <a:rPr dirty="0" err="1"/>
              <a:t>massimo</a:t>
            </a:r>
            <a:br>
              <a:rPr dirty="0"/>
            </a:br>
            <a:br>
              <a:rPr dirty="0"/>
            </a:br>
            <a:r>
              <a:rPr dirty="0" err="1"/>
              <a:t>Attenzione</a:t>
            </a:r>
            <a:r>
              <a:rPr dirty="0"/>
              <a:t>: count() è </a:t>
            </a:r>
            <a:r>
              <a:rPr dirty="0" err="1"/>
              <a:t>più</a:t>
            </a:r>
            <a:r>
              <a:rPr dirty="0"/>
              <a:t> veloce</a:t>
            </a:r>
            <a:br>
              <a:rPr dirty="0"/>
            </a:br>
            <a:r>
              <a:rPr dirty="0"/>
              <a:t>di size(collect()) </a:t>
            </a:r>
            <a:r>
              <a:rPr dirty="0" err="1"/>
              <a:t>perché</a:t>
            </a:r>
            <a:r>
              <a:rPr dirty="0"/>
              <a:t> non</a:t>
            </a:r>
            <a:br>
              <a:rPr dirty="0"/>
            </a:br>
            <a:r>
              <a:rPr dirty="0" err="1"/>
              <a:t>costruisce</a:t>
            </a:r>
            <a:r>
              <a:rPr dirty="0"/>
              <a:t> la </a:t>
            </a:r>
            <a:r>
              <a:rPr dirty="0" err="1"/>
              <a:t>lista</a:t>
            </a:r>
            <a:r>
              <a:rPr dirty="0"/>
              <a:t> intermedia.</a:t>
            </a:r>
          </a:p>
        </p:txBody>
      </p:sp>
      <p:sp>
        <p:nvSpPr>
          <p:cNvPr id="7" name="Rectangle 6"/>
          <p:cNvSpPr/>
          <p:nvPr/>
        </p:nvSpPr>
        <p:spPr>
          <a:xfrm>
            <a:off x="731520" y="475488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4937760"/>
            <a:ext cx="10515600" cy="365760"/>
          </a:xfrm>
          <a:prstGeom prst="rect">
            <a:avLst/>
          </a:prstGeom>
          <a:noFill/>
        </p:spPr>
        <p:txBody>
          <a:bodyPr wrap="square">
            <a:spAutoFit/>
          </a:bodyPr>
          <a:lstStyle/>
          <a:p>
            <a:pPr algn="l">
              <a:defRPr sz="1300" b="0">
                <a:solidFill>
                  <a:srgbClr val="F0C040"/>
                </a:solidFill>
                <a:latin typeface="Calibri"/>
              </a:defRPr>
            </a:pPr>
            <a:r>
              <a:t>Ogni RETURN o WITH può mescolare colonne aggregate e non aggregate.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Cypher: Scrivere Dati</a:t>
            </a:r>
          </a:p>
        </p:txBody>
      </p:sp>
      <p:sp>
        <p:nvSpPr>
          <p:cNvPr id="3" name="TextBox 2"/>
          <p:cNvSpPr txBox="1"/>
          <p:nvPr/>
        </p:nvSpPr>
        <p:spPr>
          <a:xfrm>
            <a:off x="731520" y="914400"/>
            <a:ext cx="10515600" cy="457200"/>
          </a:xfrm>
          <a:prstGeom prst="rect">
            <a:avLst/>
          </a:prstGeom>
          <a:noFill/>
        </p:spPr>
        <p:txBody>
          <a:bodyPr wrap="square">
            <a:spAutoFit/>
          </a:bodyPr>
          <a:lstStyle/>
          <a:p>
            <a:pPr algn="l">
              <a:defRPr sz="1400" b="0">
                <a:solidFill>
                  <a:srgbClr val="CCCCCC"/>
                </a:solidFill>
                <a:latin typeface="Calibri"/>
              </a:defRPr>
            </a:pPr>
            <a:r>
              <a:t>CREATE, MERGE, SET, DELETE — le operazioni di scrittura in Cypher.</a:t>
            </a:r>
          </a:p>
        </p:txBody>
      </p:sp>
      <p:sp>
        <p:nvSpPr>
          <p:cNvPr id="4" name="TextBox 3"/>
          <p:cNvSpPr txBox="1"/>
          <p:nvPr/>
        </p:nvSpPr>
        <p:spPr>
          <a:xfrm>
            <a:off x="731520" y="1417320"/>
            <a:ext cx="5029200" cy="411480"/>
          </a:xfrm>
          <a:prstGeom prst="rect">
            <a:avLst/>
          </a:prstGeom>
          <a:noFill/>
        </p:spPr>
        <p:txBody>
          <a:bodyPr wrap="square">
            <a:spAutoFit/>
          </a:bodyPr>
          <a:lstStyle/>
          <a:p>
            <a:pPr algn="l">
              <a:defRPr sz="1600" b="1">
                <a:solidFill>
                  <a:srgbClr val="F08040"/>
                </a:solidFill>
                <a:latin typeface="Calibri"/>
              </a:defRPr>
            </a:pPr>
            <a:r>
              <a:t>CREATE vs MERGE</a:t>
            </a:r>
          </a:p>
        </p:txBody>
      </p:sp>
      <p:sp>
        <p:nvSpPr>
          <p:cNvPr id="5" name="TextBox 4"/>
          <p:cNvSpPr txBox="1"/>
          <p:nvPr/>
        </p:nvSpPr>
        <p:spPr>
          <a:xfrm>
            <a:off x="731520" y="1828800"/>
            <a:ext cx="5029200" cy="2286000"/>
          </a:xfrm>
          <a:prstGeom prst="rect">
            <a:avLst/>
          </a:prstGeom>
          <a:noFill/>
        </p:spPr>
        <p:txBody>
          <a:bodyPr wrap="square">
            <a:spAutoFit/>
          </a:bodyPr>
          <a:lstStyle/>
          <a:p>
            <a:pPr algn="l">
              <a:spcAft>
                <a:spcPts val="300"/>
              </a:spcAft>
              <a:defRPr sz="1200">
                <a:solidFill>
                  <a:srgbClr val="FFFFFF"/>
                </a:solidFill>
                <a:latin typeface="Calibri"/>
              </a:defRPr>
            </a:pPr>
            <a:r>
              <a:t>•  CREATE — inserisce sempre. Se il nodo già esiste, lo duplica o fallisce</a:t>
            </a:r>
          </a:p>
          <a:p>
            <a:pPr algn="l">
              <a:spcAft>
                <a:spcPts val="300"/>
              </a:spcAft>
              <a:defRPr sz="1200">
                <a:solidFill>
                  <a:srgbClr val="FFFFFF"/>
                </a:solidFill>
                <a:latin typeface="Calibri"/>
              </a:defRPr>
            </a:pPr>
            <a:r>
              <a:t>•  MERGE — match-or-create: cerca il pattern, se non esiste lo crea</a:t>
            </a:r>
          </a:p>
          <a:p>
            <a:pPr algn="l">
              <a:spcAft>
                <a:spcPts val="300"/>
              </a:spcAft>
              <a:defRPr sz="1200">
                <a:solidFill>
                  <a:srgbClr val="FFFFFF"/>
                </a:solidFill>
                <a:latin typeface="Calibri"/>
              </a:defRPr>
            </a:pPr>
            <a:r>
              <a:t>•  MERGE è IDEMPOTENTE — eseguirlo N volte produce lo stesso risultato</a:t>
            </a:r>
          </a:p>
          <a:p>
            <a:pPr algn="l">
              <a:spcAft>
                <a:spcPts val="300"/>
              </a:spcAft>
              <a:defRPr sz="1200">
                <a:solidFill>
                  <a:srgbClr val="FFFFFF"/>
                </a:solidFill>
                <a:latin typeface="Calibri"/>
              </a:defRPr>
            </a:pPr>
            <a:r>
              <a:t>•  Preferire MERGE su chiave univoca + constraint UNIQUE</a:t>
            </a:r>
          </a:p>
        </p:txBody>
      </p:sp>
      <p:sp>
        <p:nvSpPr>
          <p:cNvPr id="6" name="Rectangle 5"/>
          <p:cNvSpPr/>
          <p:nvPr/>
        </p:nvSpPr>
        <p:spPr>
          <a:xfrm>
            <a:off x="731520" y="4206240"/>
            <a:ext cx="5029200" cy="18288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4279392"/>
            <a:ext cx="4809744" cy="1682496"/>
          </a:xfrm>
          <a:prstGeom prst="rect">
            <a:avLst/>
          </a:prstGeom>
          <a:noFill/>
        </p:spPr>
        <p:txBody>
          <a:bodyPr wrap="square">
            <a:spAutoFit/>
          </a:bodyPr>
          <a:lstStyle/>
          <a:p>
            <a:pPr>
              <a:spcAft>
                <a:spcPts val="100"/>
              </a:spcAft>
              <a:defRPr sz="1000">
                <a:solidFill>
                  <a:srgbClr val="7EC68E"/>
                </a:solidFill>
                <a:latin typeface="Consolas"/>
              </a:defRPr>
            </a:pPr>
            <a:r>
              <a:t>// CREATE: crea sempre un nuovo nodo</a:t>
            </a:r>
          </a:p>
          <a:p>
            <a:pPr>
              <a:spcAft>
                <a:spcPts val="100"/>
              </a:spcAft>
              <a:defRPr sz="1000">
                <a:solidFill>
                  <a:srgbClr val="7EC68E"/>
                </a:solidFill>
                <a:latin typeface="Consolas"/>
              </a:defRPr>
            </a:pPr>
            <a:r>
              <a:t>CREATE (p:Person {</a:t>
            </a:r>
          </a:p>
          <a:p>
            <a:pPr>
              <a:spcAft>
                <a:spcPts val="100"/>
              </a:spcAft>
              <a:defRPr sz="1000">
                <a:solidFill>
                  <a:srgbClr val="7EC68E"/>
                </a:solidFill>
                <a:latin typeface="Consolas"/>
              </a:defRPr>
            </a:pPr>
            <a:r>
              <a:t>  employee_id: 999,</a:t>
            </a:r>
          </a:p>
          <a:p>
            <a:pPr>
              <a:spcAft>
                <a:spcPts val="100"/>
              </a:spcAft>
              <a:defRPr sz="1000">
                <a:solidFill>
                  <a:srgbClr val="7EC68E"/>
                </a:solidFill>
                <a:latin typeface="Consolas"/>
              </a:defRPr>
            </a:pPr>
            <a:r>
              <a:t>  name: "Test User",</a:t>
            </a:r>
          </a:p>
          <a:p>
            <a:pPr>
              <a:spcAft>
                <a:spcPts val="100"/>
              </a:spcAft>
              <a:defRPr sz="1000">
                <a:solidFill>
                  <a:srgbClr val="7EC68E"/>
                </a:solidFill>
                <a:latin typeface="Consolas"/>
              </a:defRPr>
            </a:pPr>
            <a:r>
              <a:t>  location: "Test"});</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MERGE: cerca per chiave, imposta props</a:t>
            </a:r>
          </a:p>
          <a:p>
            <a:pPr>
              <a:spcAft>
                <a:spcPts val="100"/>
              </a:spcAft>
              <a:defRPr sz="1000">
                <a:solidFill>
                  <a:srgbClr val="7EC68E"/>
                </a:solidFill>
                <a:latin typeface="Consolas"/>
              </a:defRPr>
            </a:pPr>
            <a:r>
              <a:t>MERGE (p:Person {employee_id: 999})</a:t>
            </a:r>
          </a:p>
          <a:p>
            <a:pPr>
              <a:spcAft>
                <a:spcPts val="100"/>
              </a:spcAft>
              <a:defRPr sz="1000">
                <a:solidFill>
                  <a:srgbClr val="7EC68E"/>
                </a:solidFill>
                <a:latin typeface="Consolas"/>
              </a:defRPr>
            </a:pPr>
            <a:r>
              <a:t>  SET p.name = "Test User",</a:t>
            </a:r>
          </a:p>
          <a:p>
            <a:pPr>
              <a:spcAft>
                <a:spcPts val="100"/>
              </a:spcAft>
              <a:defRPr sz="1000">
                <a:solidFill>
                  <a:srgbClr val="7EC68E"/>
                </a:solidFill>
                <a:latin typeface="Consolas"/>
              </a:defRPr>
            </a:pPr>
            <a:r>
              <a:t>      p.location = "Test";</a:t>
            </a:r>
          </a:p>
        </p:txBody>
      </p:sp>
      <p:sp>
        <p:nvSpPr>
          <p:cNvPr id="8" name="TextBox 7"/>
          <p:cNvSpPr txBox="1"/>
          <p:nvPr/>
        </p:nvSpPr>
        <p:spPr>
          <a:xfrm>
            <a:off x="6096000" y="1417320"/>
            <a:ext cx="4846320" cy="411480"/>
          </a:xfrm>
          <a:prstGeom prst="rect">
            <a:avLst/>
          </a:prstGeom>
          <a:noFill/>
        </p:spPr>
        <p:txBody>
          <a:bodyPr wrap="square">
            <a:spAutoFit/>
          </a:bodyPr>
          <a:lstStyle/>
          <a:p>
            <a:pPr algn="l">
              <a:defRPr sz="1600" b="1">
                <a:solidFill>
                  <a:srgbClr val="F08040"/>
                </a:solidFill>
                <a:latin typeface="Calibri"/>
              </a:defRPr>
            </a:pPr>
            <a:r>
              <a:t>SET, DELETE, ON CREATE/MATCH</a:t>
            </a:r>
          </a:p>
        </p:txBody>
      </p:sp>
      <p:sp>
        <p:nvSpPr>
          <p:cNvPr id="9" name="Rectangle 8"/>
          <p:cNvSpPr/>
          <p:nvPr/>
        </p:nvSpPr>
        <p:spPr>
          <a:xfrm>
            <a:off x="6096000" y="1828800"/>
            <a:ext cx="4846320" cy="32004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205728" y="1901952"/>
            <a:ext cx="4626864" cy="3054096"/>
          </a:xfrm>
          <a:prstGeom prst="rect">
            <a:avLst/>
          </a:prstGeom>
          <a:noFill/>
        </p:spPr>
        <p:txBody>
          <a:bodyPr wrap="square">
            <a:spAutoFit/>
          </a:bodyPr>
          <a:lstStyle/>
          <a:p>
            <a:pPr>
              <a:spcAft>
                <a:spcPts val="100"/>
              </a:spcAft>
              <a:defRPr sz="1000">
                <a:solidFill>
                  <a:srgbClr val="7EC68E"/>
                </a:solidFill>
                <a:latin typeface="Consolas"/>
              </a:defRPr>
            </a:pPr>
            <a:r>
              <a:t>// SET = aggiorna proprietà esistenti</a:t>
            </a:r>
          </a:p>
          <a:p>
            <a:pPr>
              <a:spcAft>
                <a:spcPts val="100"/>
              </a:spcAft>
              <a:defRPr sz="1000">
                <a:solidFill>
                  <a:srgbClr val="7EC68E"/>
                </a:solidFill>
                <a:latin typeface="Consolas"/>
              </a:defRPr>
            </a:pPr>
            <a:r>
              <a:t>MATCH (p:Person {employee_id: 1})</a:t>
            </a:r>
          </a:p>
          <a:p>
            <a:pPr>
              <a:spcAft>
                <a:spcPts val="100"/>
              </a:spcAft>
              <a:defRPr sz="1000">
                <a:solidFill>
                  <a:srgbClr val="7EC68E"/>
                </a:solidFill>
                <a:latin typeface="Consolas"/>
              </a:defRPr>
            </a:pPr>
            <a:r>
              <a:t>SET p.email = "mario.rossi@azienda.com";</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SET += unisce props (merge safe):</a:t>
            </a:r>
          </a:p>
          <a:p>
            <a:pPr>
              <a:spcAft>
                <a:spcPts val="100"/>
              </a:spcAft>
              <a:defRPr sz="1000">
                <a:solidFill>
                  <a:srgbClr val="7EC68E"/>
                </a:solidFill>
                <a:latin typeface="Consolas"/>
              </a:defRPr>
            </a:pPr>
            <a:r>
              <a:t>SET p += {email: "mario@co.com",</a:t>
            </a:r>
          </a:p>
          <a:p>
            <a:pPr>
              <a:spcAft>
                <a:spcPts val="100"/>
              </a:spcAft>
              <a:defRPr sz="1000">
                <a:solidFill>
                  <a:srgbClr val="7EC68E"/>
                </a:solidFill>
                <a:latin typeface="Consolas"/>
              </a:defRPr>
            </a:pPr>
            <a:r>
              <a:t>         phone: "+39 333 1234567"};</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ON CREATE / ON MATCH con MERGE:</a:t>
            </a:r>
          </a:p>
          <a:p>
            <a:pPr>
              <a:spcAft>
                <a:spcPts val="100"/>
              </a:spcAft>
              <a:defRPr sz="1000">
                <a:solidFill>
                  <a:srgbClr val="7EC68E"/>
                </a:solidFill>
                <a:latin typeface="Consolas"/>
              </a:defRPr>
            </a:pPr>
            <a:r>
              <a:t>MERGE (p:Person {employee_id: 999})</a:t>
            </a:r>
          </a:p>
          <a:p>
            <a:pPr>
              <a:spcAft>
                <a:spcPts val="100"/>
              </a:spcAft>
              <a:defRPr sz="1000">
                <a:solidFill>
                  <a:srgbClr val="7EC68E"/>
                </a:solidFill>
                <a:latin typeface="Consolas"/>
              </a:defRPr>
            </a:pPr>
            <a:r>
              <a:t>  ON CREATE SET p.created = date()</a:t>
            </a:r>
          </a:p>
          <a:p>
            <a:pPr>
              <a:spcAft>
                <a:spcPts val="100"/>
              </a:spcAft>
              <a:defRPr sz="1000">
                <a:solidFill>
                  <a:srgbClr val="7EC68E"/>
                </a:solidFill>
                <a:latin typeface="Consolas"/>
              </a:defRPr>
            </a:pPr>
            <a:r>
              <a:t>  ON MATCH  SET p.updated = date();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DELETE (DETACH per nodi con relazioni):</a:t>
            </a:r>
          </a:p>
          <a:p>
            <a:pPr>
              <a:spcAft>
                <a:spcPts val="100"/>
              </a:spcAft>
              <a:defRPr sz="1000">
                <a:solidFill>
                  <a:srgbClr val="7EC68E"/>
                </a:solidFill>
                <a:latin typeface="Consolas"/>
              </a:defRPr>
            </a:pPr>
            <a:r>
              <a:t>MATCH (p:Person {employee_id: 999})</a:t>
            </a:r>
          </a:p>
          <a:p>
            <a:pPr>
              <a:spcAft>
                <a:spcPts val="100"/>
              </a:spcAft>
              <a:defRPr sz="1000">
                <a:solidFill>
                  <a:srgbClr val="7EC68E"/>
                </a:solidFill>
                <a:latin typeface="Consolas"/>
              </a:defRPr>
            </a:pPr>
            <a:r>
              <a:t>DETACH DELETE p;</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Vincoli (Constraints)</a:t>
            </a:r>
          </a:p>
        </p:txBody>
      </p:sp>
      <p:sp>
        <p:nvSpPr>
          <p:cNvPr id="3" name="TextBox 2"/>
          <p:cNvSpPr txBox="1"/>
          <p:nvPr/>
        </p:nvSpPr>
        <p:spPr>
          <a:xfrm>
            <a:off x="731520" y="914400"/>
            <a:ext cx="10515600" cy="365760"/>
          </a:xfrm>
          <a:prstGeom prst="rect">
            <a:avLst/>
          </a:prstGeom>
          <a:noFill/>
        </p:spPr>
        <p:txBody>
          <a:bodyPr wrap="square">
            <a:spAutoFit/>
          </a:bodyPr>
          <a:lstStyle/>
          <a:p>
            <a:pPr algn="l">
              <a:defRPr sz="1400" b="0">
                <a:solidFill>
                  <a:srgbClr val="CCCCCC"/>
                </a:solidFill>
                <a:latin typeface="Calibri"/>
              </a:defRPr>
            </a:pPr>
            <a:r>
              <a:t>I constraint garantiscono l'integrità dei dati. Vanno creati PRIMA del caricamento.</a:t>
            </a:r>
          </a:p>
        </p:txBody>
      </p:sp>
      <p:sp>
        <p:nvSpPr>
          <p:cNvPr id="4" name="TextBox 3"/>
          <p:cNvSpPr txBox="1"/>
          <p:nvPr/>
        </p:nvSpPr>
        <p:spPr>
          <a:xfrm>
            <a:off x="731520" y="1371600"/>
            <a:ext cx="5029200" cy="1828800"/>
          </a:xfrm>
          <a:prstGeom prst="rect">
            <a:avLst/>
          </a:prstGeom>
          <a:noFill/>
        </p:spPr>
        <p:txBody>
          <a:bodyPr wrap="square">
            <a:spAutoFit/>
          </a:bodyPr>
          <a:lstStyle/>
          <a:p>
            <a:pPr algn="l">
              <a:spcAft>
                <a:spcPts val="300"/>
              </a:spcAft>
              <a:defRPr sz="1200">
                <a:solidFill>
                  <a:srgbClr val="FFFFFF"/>
                </a:solidFill>
                <a:latin typeface="Calibri"/>
              </a:defRPr>
            </a:pPr>
            <a:r>
              <a:t>•  UNIQUE — unicità su una proprietà (es: Person.employee_id)</a:t>
            </a:r>
          </a:p>
          <a:p>
            <a:pPr algn="l">
              <a:spcAft>
                <a:spcPts val="300"/>
              </a:spcAft>
              <a:defRPr sz="1200">
                <a:solidFill>
                  <a:srgbClr val="FFFFFF"/>
                </a:solidFill>
                <a:latin typeface="Calibri"/>
              </a:defRPr>
            </a:pPr>
            <a:r>
              <a:t>  Crea automaticamente un indice RANGE</a:t>
            </a:r>
          </a:p>
          <a:p>
            <a:pPr algn="l">
              <a:spcAft>
                <a:spcPts val="300"/>
              </a:spcAft>
              <a:defRPr sz="1200">
                <a:solidFill>
                  <a:srgbClr val="FFFFFF"/>
                </a:solidFill>
                <a:latin typeface="Calibri"/>
              </a:defRPr>
            </a:pPr>
            <a:r>
              <a:t>  Rilevante per MERGE: senza constraint, MERGE concorrente può duplicare</a:t>
            </a:r>
          </a:p>
          <a:p>
            <a:pPr algn="l">
              <a:spcAft>
                <a:spcPts val="300"/>
              </a:spcAft>
              <a:defRPr sz="1200">
                <a:solidFill>
                  <a:srgbClr val="FFFFFF"/>
                </a:solidFill>
                <a:latin typeface="Calibri"/>
              </a:defRPr>
            </a:pPr>
            <a:r>
              <a:t>•  EXISTS — proprietà obbligatoria (es: Person.name non può essere null)</a:t>
            </a:r>
          </a:p>
          <a:p>
            <a:pPr algn="l">
              <a:spcAft>
                <a:spcPts val="300"/>
              </a:spcAft>
              <a:defRPr sz="1200">
                <a:solidFill>
                  <a:srgbClr val="FFFFFF"/>
                </a:solidFill>
                <a:latin typeface="Calibri"/>
              </a:defRPr>
            </a:pPr>
            <a:r>
              <a:t>•  NODE KEY — unicità + exists combinati su una o più proprietà</a:t>
            </a:r>
          </a:p>
        </p:txBody>
      </p:sp>
      <p:sp>
        <p:nvSpPr>
          <p:cNvPr id="5" name="Rectangle 4"/>
          <p:cNvSpPr/>
          <p:nvPr/>
        </p:nvSpPr>
        <p:spPr>
          <a:xfrm>
            <a:off x="6096000" y="1280160"/>
            <a:ext cx="4846320" cy="2139696"/>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05728" y="1353312"/>
            <a:ext cx="4626864" cy="1865376"/>
          </a:xfrm>
          <a:prstGeom prst="rect">
            <a:avLst/>
          </a:prstGeom>
          <a:noFill/>
        </p:spPr>
        <p:txBody>
          <a:bodyPr wrap="square">
            <a:spAutoFit/>
          </a:bodyPr>
          <a:lstStyle/>
          <a:p>
            <a:pPr>
              <a:spcAft>
                <a:spcPts val="100"/>
              </a:spcAft>
              <a:defRPr sz="1000">
                <a:solidFill>
                  <a:srgbClr val="7EC68E"/>
                </a:solidFill>
                <a:latin typeface="Consolas"/>
              </a:defRPr>
            </a:pPr>
            <a:r>
              <a:rPr dirty="0"/>
              <a:t>CREATE CONSTRAINT </a:t>
            </a:r>
            <a:r>
              <a:rPr dirty="0" err="1"/>
              <a:t>person_id</a:t>
            </a:r>
            <a:r>
              <a:rPr dirty="0"/>
              <a:t> IF NOT EXISTS</a:t>
            </a:r>
          </a:p>
          <a:p>
            <a:pPr>
              <a:spcAft>
                <a:spcPts val="100"/>
              </a:spcAft>
              <a:defRPr sz="1000">
                <a:solidFill>
                  <a:srgbClr val="7EC68E"/>
                </a:solidFill>
                <a:latin typeface="Consolas"/>
              </a:defRPr>
            </a:pPr>
            <a:r>
              <a:rPr dirty="0"/>
              <a:t>  FOR (</a:t>
            </a:r>
            <a:r>
              <a:rPr dirty="0" err="1"/>
              <a:t>p:Person</a:t>
            </a:r>
            <a:r>
              <a:rPr dirty="0"/>
              <a:t>)</a:t>
            </a:r>
          </a:p>
          <a:p>
            <a:pPr>
              <a:spcAft>
                <a:spcPts val="100"/>
              </a:spcAft>
              <a:defRPr sz="1000">
                <a:solidFill>
                  <a:srgbClr val="7EC68E"/>
                </a:solidFill>
                <a:latin typeface="Consolas"/>
              </a:defRPr>
            </a:pPr>
            <a:r>
              <a:rPr dirty="0"/>
              <a:t>  REQUIRE </a:t>
            </a:r>
            <a:r>
              <a:rPr dirty="0" err="1"/>
              <a:t>p.employee_id</a:t>
            </a:r>
            <a:r>
              <a:rPr dirty="0"/>
              <a:t> IS UNIQUE;</a:t>
            </a:r>
          </a:p>
          <a:p>
            <a:pPr>
              <a:spcAft>
                <a:spcPts val="100"/>
              </a:spcAft>
              <a:defRPr sz="1000">
                <a:solidFill>
                  <a:srgbClr val="7EC68E"/>
                </a:solidFill>
                <a:latin typeface="Consolas"/>
              </a:defRPr>
            </a:pPr>
            <a:endParaRPr dirty="0"/>
          </a:p>
          <a:p>
            <a:pPr>
              <a:spcAft>
                <a:spcPts val="100"/>
              </a:spcAft>
              <a:defRPr sz="1000">
                <a:solidFill>
                  <a:srgbClr val="7EC68E"/>
                </a:solidFill>
                <a:latin typeface="Consolas"/>
              </a:defRPr>
            </a:pPr>
            <a:r>
              <a:rPr dirty="0"/>
              <a:t>CREATE CONSTRAINT </a:t>
            </a:r>
            <a:r>
              <a:rPr dirty="0" err="1"/>
              <a:t>person_name</a:t>
            </a:r>
            <a:r>
              <a:rPr dirty="0"/>
              <a:t> IF NOT EXISTS</a:t>
            </a:r>
          </a:p>
          <a:p>
            <a:pPr>
              <a:spcAft>
                <a:spcPts val="100"/>
              </a:spcAft>
              <a:defRPr sz="1000">
                <a:solidFill>
                  <a:srgbClr val="7EC68E"/>
                </a:solidFill>
                <a:latin typeface="Consolas"/>
              </a:defRPr>
            </a:pPr>
            <a:r>
              <a:rPr dirty="0"/>
              <a:t>  FOR (</a:t>
            </a:r>
            <a:r>
              <a:rPr dirty="0" err="1"/>
              <a:t>p:Person</a:t>
            </a:r>
            <a:r>
              <a:rPr dirty="0"/>
              <a:t>)</a:t>
            </a:r>
          </a:p>
          <a:p>
            <a:pPr>
              <a:spcAft>
                <a:spcPts val="100"/>
              </a:spcAft>
              <a:defRPr sz="1000">
                <a:solidFill>
                  <a:srgbClr val="7EC68E"/>
                </a:solidFill>
                <a:latin typeface="Consolas"/>
              </a:defRPr>
            </a:pPr>
            <a:r>
              <a:rPr dirty="0"/>
              <a:t>  REQUIRE p.name IS NOT NULL;</a:t>
            </a:r>
          </a:p>
          <a:p>
            <a:pPr>
              <a:spcAft>
                <a:spcPts val="100"/>
              </a:spcAft>
              <a:defRPr sz="1000">
                <a:solidFill>
                  <a:srgbClr val="7EC68E"/>
                </a:solidFill>
                <a:latin typeface="Consolas"/>
              </a:defRPr>
            </a:pPr>
            <a:endParaRPr dirty="0"/>
          </a:p>
          <a:p>
            <a:pPr>
              <a:spcAft>
                <a:spcPts val="100"/>
              </a:spcAft>
              <a:defRPr sz="1000">
                <a:solidFill>
                  <a:srgbClr val="7EC68E"/>
                </a:solidFill>
                <a:latin typeface="Consolas"/>
              </a:defRPr>
            </a:pPr>
            <a:r>
              <a:rPr dirty="0"/>
              <a:t>// Node Key </a:t>
            </a:r>
            <a:r>
              <a:rPr dirty="0" err="1"/>
              <a:t>composto</a:t>
            </a:r>
            <a:r>
              <a:rPr dirty="0"/>
              <a:t>:</a:t>
            </a:r>
          </a:p>
          <a:p>
            <a:pPr>
              <a:spcAft>
                <a:spcPts val="100"/>
              </a:spcAft>
              <a:defRPr sz="1000">
                <a:solidFill>
                  <a:srgbClr val="7EC68E"/>
                </a:solidFill>
                <a:latin typeface="Consolas"/>
              </a:defRPr>
            </a:pPr>
            <a:r>
              <a:rPr dirty="0"/>
              <a:t>CREATE CONSTRAINT </a:t>
            </a:r>
            <a:r>
              <a:rPr dirty="0" err="1"/>
              <a:t>project_key</a:t>
            </a:r>
            <a:r>
              <a:rPr dirty="0"/>
              <a:t> IF NOT EXISTS</a:t>
            </a:r>
          </a:p>
          <a:p>
            <a:pPr>
              <a:spcAft>
                <a:spcPts val="100"/>
              </a:spcAft>
              <a:defRPr sz="1000">
                <a:solidFill>
                  <a:srgbClr val="7EC68E"/>
                </a:solidFill>
                <a:latin typeface="Consolas"/>
              </a:defRPr>
            </a:pPr>
            <a:r>
              <a:rPr dirty="0"/>
              <a:t>  FOR (</a:t>
            </a:r>
            <a:r>
              <a:rPr dirty="0" err="1"/>
              <a:t>p:Project</a:t>
            </a:r>
            <a:r>
              <a:rPr dirty="0"/>
              <a:t>)</a:t>
            </a:r>
          </a:p>
          <a:p>
            <a:pPr>
              <a:spcAft>
                <a:spcPts val="100"/>
              </a:spcAft>
              <a:defRPr sz="1000">
                <a:solidFill>
                  <a:srgbClr val="7EC68E"/>
                </a:solidFill>
                <a:latin typeface="Consolas"/>
              </a:defRPr>
            </a:pPr>
            <a:r>
              <a:rPr dirty="0"/>
              <a:t>  REQUIRE (</a:t>
            </a:r>
            <a:r>
              <a:rPr dirty="0" err="1"/>
              <a:t>p.project_id</a:t>
            </a:r>
            <a:r>
              <a:rPr dirty="0"/>
              <a:t>, p.name) IS NODE KEY;</a:t>
            </a:r>
          </a:p>
        </p:txBody>
      </p:sp>
      <p:sp>
        <p:nvSpPr>
          <p:cNvPr id="7" name="Rectangle 6"/>
          <p:cNvSpPr/>
          <p:nvPr/>
        </p:nvSpPr>
        <p:spPr>
          <a:xfrm>
            <a:off x="731520" y="365760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840480"/>
            <a:ext cx="10515600" cy="365760"/>
          </a:xfrm>
          <a:prstGeom prst="rect">
            <a:avLst/>
          </a:prstGeom>
          <a:noFill/>
        </p:spPr>
        <p:txBody>
          <a:bodyPr wrap="square">
            <a:spAutoFit/>
          </a:bodyPr>
          <a:lstStyle/>
          <a:p>
            <a:pPr algn="l">
              <a:defRPr sz="1500" b="1">
                <a:solidFill>
                  <a:srgbClr val="F08040"/>
                </a:solidFill>
                <a:latin typeface="Calibri"/>
              </a:defRPr>
            </a:pPr>
            <a:r>
              <a:t>Verificare i constraint esistenti:</a:t>
            </a:r>
          </a:p>
        </p:txBody>
      </p:sp>
      <p:sp>
        <p:nvSpPr>
          <p:cNvPr id="9" name="Rectangle 8"/>
          <p:cNvSpPr/>
          <p:nvPr/>
        </p:nvSpPr>
        <p:spPr>
          <a:xfrm>
            <a:off x="731520" y="4297680"/>
            <a:ext cx="5029200" cy="16459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4370832"/>
            <a:ext cx="4809744" cy="1499616"/>
          </a:xfrm>
          <a:prstGeom prst="rect">
            <a:avLst/>
          </a:prstGeom>
          <a:noFill/>
        </p:spPr>
        <p:txBody>
          <a:bodyPr wrap="square">
            <a:spAutoFit/>
          </a:bodyPr>
          <a:lstStyle/>
          <a:p>
            <a:pPr>
              <a:spcAft>
                <a:spcPts val="100"/>
              </a:spcAft>
              <a:defRPr sz="1000">
                <a:solidFill>
                  <a:srgbClr val="7EC68E"/>
                </a:solidFill>
                <a:latin typeface="Consolas"/>
              </a:defRPr>
            </a:pPr>
            <a:r>
              <a:t>SHOW CONSTRAINTS;</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Output esempio:</a:t>
            </a:r>
          </a:p>
          <a:p>
            <a:pPr>
              <a:spcAft>
                <a:spcPts val="100"/>
              </a:spcAft>
              <a:defRPr sz="1000">
                <a:solidFill>
                  <a:srgbClr val="7EC68E"/>
                </a:solidFill>
                <a:latin typeface="Consolas"/>
              </a:defRPr>
            </a:pPr>
            <a:r>
              <a:t>// name          | type   | label    | properties</a:t>
            </a:r>
          </a:p>
          <a:p>
            <a:pPr>
              <a:spcAft>
                <a:spcPts val="100"/>
              </a:spcAft>
              <a:defRPr sz="1000">
                <a:solidFill>
                  <a:srgbClr val="7EC68E"/>
                </a:solidFill>
                <a:latin typeface="Consolas"/>
              </a:defRPr>
            </a:pPr>
            <a:r>
              <a:t>// person_id     | UNIQUE | Person   | employee_id</a:t>
            </a:r>
          </a:p>
          <a:p>
            <a:pPr>
              <a:spcAft>
                <a:spcPts val="100"/>
              </a:spcAft>
              <a:defRPr sz="1000">
                <a:solidFill>
                  <a:srgbClr val="7EC68E"/>
                </a:solidFill>
                <a:latin typeface="Consolas"/>
              </a:defRPr>
            </a:pPr>
            <a:r>
              <a:t>// person_name   | EXISTS | Person   | name</a:t>
            </a:r>
          </a:p>
          <a:p>
            <a:pPr>
              <a:spcAft>
                <a:spcPts val="100"/>
              </a:spcAft>
              <a:defRPr sz="1000">
                <a:solidFill>
                  <a:srgbClr val="7EC68E"/>
                </a:solidFill>
                <a:latin typeface="Consolas"/>
              </a:defRPr>
            </a:pPr>
            <a:r>
              <a:t>// project_key   | NODE KEY | Project | project_id, name</a:t>
            </a:r>
          </a:p>
        </p:txBody>
      </p:sp>
      <p:sp>
        <p:nvSpPr>
          <p:cNvPr id="11" name="TextBox 10"/>
          <p:cNvSpPr txBox="1"/>
          <p:nvPr/>
        </p:nvSpPr>
        <p:spPr>
          <a:xfrm>
            <a:off x="6096000" y="4297680"/>
            <a:ext cx="4846320" cy="1569660"/>
          </a:xfrm>
          <a:prstGeom prst="rect">
            <a:avLst/>
          </a:prstGeom>
          <a:noFill/>
        </p:spPr>
        <p:txBody>
          <a:bodyPr wrap="square">
            <a:spAutoFit/>
          </a:bodyPr>
          <a:lstStyle/>
          <a:p>
            <a:pPr algn="l">
              <a:defRPr sz="1200" b="0">
                <a:solidFill>
                  <a:srgbClr val="CCCCCC"/>
                </a:solidFill>
                <a:latin typeface="Calibri"/>
              </a:defRPr>
            </a:pPr>
            <a:r>
              <a:rPr dirty="0" err="1"/>
              <a:t>Perché</a:t>
            </a:r>
            <a:r>
              <a:rPr dirty="0"/>
              <a:t> </a:t>
            </a:r>
            <a:r>
              <a:rPr dirty="0" err="1"/>
              <a:t>creare</a:t>
            </a:r>
            <a:r>
              <a:rPr dirty="0"/>
              <a:t> constraint PRIMA?</a:t>
            </a:r>
            <a:br>
              <a:rPr dirty="0"/>
            </a:br>
            <a:br>
              <a:rPr dirty="0"/>
            </a:br>
            <a:r>
              <a:rPr dirty="0"/>
              <a:t>1. Il </a:t>
            </a:r>
            <a:r>
              <a:rPr dirty="0" err="1"/>
              <a:t>caricamento</a:t>
            </a:r>
            <a:r>
              <a:rPr dirty="0"/>
              <a:t> </a:t>
            </a:r>
            <a:r>
              <a:rPr dirty="0" err="1"/>
              <a:t>fallisce</a:t>
            </a:r>
            <a:r>
              <a:rPr dirty="0"/>
              <a:t> subito se</a:t>
            </a:r>
            <a:r>
              <a:rPr lang="en-US" dirty="0"/>
              <a:t> </a:t>
            </a:r>
            <a:r>
              <a:rPr dirty="0" err="1"/>
              <a:t>i</a:t>
            </a:r>
            <a:r>
              <a:rPr dirty="0"/>
              <a:t> </a:t>
            </a:r>
            <a:r>
              <a:rPr dirty="0" err="1"/>
              <a:t>dati</a:t>
            </a:r>
            <a:r>
              <a:rPr dirty="0"/>
              <a:t> </a:t>
            </a:r>
            <a:r>
              <a:rPr dirty="0" err="1"/>
              <a:t>violano</a:t>
            </a:r>
            <a:r>
              <a:rPr dirty="0"/>
              <a:t> </a:t>
            </a:r>
            <a:r>
              <a:rPr dirty="0" err="1"/>
              <a:t>i</a:t>
            </a:r>
            <a:r>
              <a:rPr dirty="0"/>
              <a:t> </a:t>
            </a:r>
            <a:r>
              <a:rPr dirty="0" err="1"/>
              <a:t>vincoli</a:t>
            </a:r>
            <a:br>
              <a:rPr dirty="0"/>
            </a:br>
            <a:r>
              <a:rPr dirty="0"/>
              <a:t>2. MERGE </a:t>
            </a:r>
            <a:r>
              <a:rPr dirty="0" err="1"/>
              <a:t>su</a:t>
            </a:r>
            <a:r>
              <a:rPr dirty="0"/>
              <a:t> </a:t>
            </a:r>
            <a:r>
              <a:rPr dirty="0" err="1"/>
              <a:t>proprietà</a:t>
            </a:r>
            <a:r>
              <a:rPr dirty="0"/>
              <a:t> UNIQUE è </a:t>
            </a:r>
            <a:r>
              <a:rPr dirty="0" err="1"/>
              <a:t>atomicamente</a:t>
            </a:r>
            <a:r>
              <a:rPr dirty="0"/>
              <a:t> </a:t>
            </a:r>
            <a:r>
              <a:rPr dirty="0" err="1"/>
              <a:t>sicuro</a:t>
            </a:r>
            <a:br>
              <a:rPr dirty="0"/>
            </a:br>
            <a:r>
              <a:rPr dirty="0"/>
              <a:t>3. </a:t>
            </a:r>
            <a:r>
              <a:rPr dirty="0" err="1"/>
              <a:t>L’indice</a:t>
            </a:r>
            <a:r>
              <a:rPr dirty="0"/>
              <a:t> </a:t>
            </a:r>
            <a:r>
              <a:rPr dirty="0" err="1"/>
              <a:t>sottostante</a:t>
            </a:r>
            <a:r>
              <a:rPr dirty="0"/>
              <a:t> </a:t>
            </a:r>
            <a:r>
              <a:rPr dirty="0" err="1"/>
              <a:t>accelera</a:t>
            </a:r>
            <a:r>
              <a:rPr dirty="0"/>
              <a:t> il </a:t>
            </a:r>
            <a:r>
              <a:rPr dirty="0" err="1"/>
              <a:t>caricamento</a:t>
            </a:r>
            <a:r>
              <a:rPr dirty="0"/>
              <a:t> (</a:t>
            </a:r>
            <a:r>
              <a:rPr dirty="0" err="1"/>
              <a:t>nessuna</a:t>
            </a:r>
            <a:r>
              <a:rPr dirty="0"/>
              <a:t> </a:t>
            </a:r>
            <a:r>
              <a:rPr dirty="0" err="1"/>
              <a:t>scansione</a:t>
            </a:r>
            <a:r>
              <a:rPr dirty="0"/>
              <a:t>)</a:t>
            </a:r>
            <a:br>
              <a:rPr dirty="0"/>
            </a:br>
            <a:br>
              <a:rPr dirty="0"/>
            </a:br>
            <a:r>
              <a:rPr dirty="0" err="1"/>
              <a:t>Regola</a:t>
            </a:r>
            <a:r>
              <a:rPr dirty="0"/>
              <a:t>: CREATE CONSTRAINT ... →</a:t>
            </a:r>
            <a:r>
              <a:rPr lang="en-US" dirty="0"/>
              <a:t> </a:t>
            </a:r>
            <a:r>
              <a:rPr dirty="0"/>
              <a:t>LOAD DATA → SHOW CONSTRAINTS</a:t>
            </a:r>
            <a:r>
              <a:rPr lang="en-US" dirty="0"/>
              <a:t> </a:t>
            </a:r>
            <a:r>
              <a:rPr dirty="0"/>
              <a:t>per </a:t>
            </a:r>
            <a:r>
              <a:rPr dirty="0" err="1"/>
              <a:t>verificare</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Indici e Performance</a:t>
            </a:r>
          </a:p>
        </p:txBody>
      </p:sp>
      <p:sp>
        <p:nvSpPr>
          <p:cNvPr id="3" name="TextBox 2"/>
          <p:cNvSpPr txBox="1"/>
          <p:nvPr/>
        </p:nvSpPr>
        <p:spPr>
          <a:xfrm>
            <a:off x="731520" y="914400"/>
            <a:ext cx="10515600" cy="457200"/>
          </a:xfrm>
          <a:prstGeom prst="rect">
            <a:avLst/>
          </a:prstGeom>
          <a:noFill/>
        </p:spPr>
        <p:txBody>
          <a:bodyPr wrap="square">
            <a:spAutoFit/>
          </a:bodyPr>
          <a:lstStyle/>
          <a:p>
            <a:pPr algn="l">
              <a:defRPr sz="1400" b="0">
                <a:solidFill>
                  <a:srgbClr val="CCCCCC"/>
                </a:solidFill>
                <a:latin typeface="Calibri"/>
              </a:defRPr>
            </a:pPr>
            <a:r>
              <a:t>Gli indici accelerano la lettura. Senza indice, Neo4j esegue NodeByLabelScan (legge tutti i nodi).</a:t>
            </a:r>
          </a:p>
        </p:txBody>
      </p:sp>
      <p:sp>
        <p:nvSpPr>
          <p:cNvPr id="4" name="TextBox 3"/>
          <p:cNvSpPr txBox="1"/>
          <p:nvPr/>
        </p:nvSpPr>
        <p:spPr>
          <a:xfrm>
            <a:off x="731520" y="1463040"/>
            <a:ext cx="5029200" cy="1828800"/>
          </a:xfrm>
          <a:prstGeom prst="rect">
            <a:avLst/>
          </a:prstGeom>
          <a:noFill/>
        </p:spPr>
        <p:txBody>
          <a:bodyPr wrap="square">
            <a:spAutoFit/>
          </a:bodyPr>
          <a:lstStyle/>
          <a:p>
            <a:pPr algn="l">
              <a:spcAft>
                <a:spcPts val="300"/>
              </a:spcAft>
              <a:defRPr sz="1200">
                <a:solidFill>
                  <a:srgbClr val="FFFFFF"/>
                </a:solidFill>
                <a:latin typeface="Calibri"/>
              </a:defRPr>
            </a:pPr>
            <a:r>
              <a:t>•  RANGE (default) — per confronti esatti, range, ORDER BY</a:t>
            </a:r>
          </a:p>
          <a:p>
            <a:pPr algn="l">
              <a:spcAft>
                <a:spcPts val="300"/>
              </a:spcAft>
              <a:defRPr sz="1200">
                <a:solidFill>
                  <a:srgbClr val="FFFFFF"/>
                </a:solidFill>
                <a:latin typeface="Calibri"/>
              </a:defRPr>
            </a:pPr>
            <a:r>
              <a:t>•  TEXT — per CONTAINS, STARTS WITH, ENDS WITH</a:t>
            </a:r>
          </a:p>
          <a:p>
            <a:pPr algn="l">
              <a:spcAft>
                <a:spcPts val="300"/>
              </a:spcAft>
              <a:defRPr sz="1200">
                <a:solidFill>
                  <a:srgbClr val="FFFFFF"/>
                </a:solidFill>
                <a:latin typeface="Calibri"/>
              </a:defRPr>
            </a:pPr>
            <a:r>
              <a:t>•  POINT — per ricerche geospaziali</a:t>
            </a:r>
          </a:p>
          <a:p>
            <a:pPr algn="l">
              <a:spcAft>
                <a:spcPts val="300"/>
              </a:spcAft>
              <a:defRPr sz="1200">
                <a:solidFill>
                  <a:srgbClr val="FFFFFF"/>
                </a:solidFill>
                <a:latin typeface="Calibri"/>
              </a:defRPr>
            </a:pPr>
            <a:r>
              <a:t>•  FULLTEXT — per ricerca testuale avanzata (tokenizzazione)</a:t>
            </a:r>
          </a:p>
          <a:p>
            <a:pPr algn="l">
              <a:spcAft>
                <a:spcPts val="300"/>
              </a:spcAft>
              <a:defRPr sz="1200">
                <a:solidFill>
                  <a:srgbClr val="FFFFFF"/>
                </a:solidFill>
                <a:latin typeface="Calibri"/>
              </a:defRPr>
            </a:pPr>
            <a:r>
              <a:t>•  I constraint UNIQUE creano automaticamente un indice RANGE</a:t>
            </a:r>
          </a:p>
          <a:p>
            <a:pPr algn="l">
              <a:spcAft>
                <a:spcPts val="300"/>
              </a:spcAft>
              <a:defRPr sz="1200">
                <a:solidFill>
                  <a:srgbClr val="FFFFFF"/>
                </a:solidFill>
                <a:latin typeface="Calibri"/>
              </a:defRPr>
            </a:pPr>
            <a:r>
              <a:t>•  Gli indici migliorano la LETTURA ma rallentano leggermente la SCRITTURA</a:t>
            </a:r>
          </a:p>
        </p:txBody>
      </p:sp>
      <p:sp>
        <p:nvSpPr>
          <p:cNvPr id="5" name="Rectangle 4"/>
          <p:cNvSpPr/>
          <p:nvPr/>
        </p:nvSpPr>
        <p:spPr>
          <a:xfrm>
            <a:off x="6096000" y="1371600"/>
            <a:ext cx="4846320" cy="214884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05728" y="1444752"/>
            <a:ext cx="4626864" cy="1865376"/>
          </a:xfrm>
          <a:prstGeom prst="rect">
            <a:avLst/>
          </a:prstGeom>
          <a:noFill/>
        </p:spPr>
        <p:txBody>
          <a:bodyPr wrap="square">
            <a:spAutoFit/>
          </a:bodyPr>
          <a:lstStyle/>
          <a:p>
            <a:pPr>
              <a:spcAft>
                <a:spcPts val="100"/>
              </a:spcAft>
              <a:defRPr sz="1000">
                <a:solidFill>
                  <a:srgbClr val="7EC68E"/>
                </a:solidFill>
                <a:latin typeface="Consolas"/>
              </a:defRPr>
            </a:pPr>
            <a:r>
              <a:t>CREATE INDEX person_location IF NOT EXISTS</a:t>
            </a:r>
          </a:p>
          <a:p>
            <a:pPr>
              <a:spcAft>
                <a:spcPts val="100"/>
              </a:spcAft>
              <a:defRPr sz="1000">
                <a:solidFill>
                  <a:srgbClr val="7EC68E"/>
                </a:solidFill>
                <a:latin typeface="Consolas"/>
              </a:defRPr>
            </a:pPr>
            <a:r>
              <a:t>  FOR (p:Person) ON (p.location);</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CREATE TEXT INDEX skill_name IF NOT EXISTS</a:t>
            </a:r>
          </a:p>
          <a:p>
            <a:pPr>
              <a:spcAft>
                <a:spcPts val="100"/>
              </a:spcAft>
              <a:defRPr sz="1000">
                <a:solidFill>
                  <a:srgbClr val="7EC68E"/>
                </a:solidFill>
                <a:latin typeface="Consolas"/>
              </a:defRPr>
            </a:pPr>
            <a:r>
              <a:t>  FOR (s:Skill) ON (s.name);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Indice composito:</a:t>
            </a:r>
          </a:p>
          <a:p>
            <a:pPr>
              <a:spcAft>
                <a:spcPts val="100"/>
              </a:spcAft>
              <a:defRPr sz="1000">
                <a:solidFill>
                  <a:srgbClr val="7EC68E"/>
                </a:solidFill>
                <a:latin typeface="Consolas"/>
              </a:defRPr>
            </a:pPr>
            <a:r>
              <a:t>CREATE INDEX person_dept_role IF NOT EXISTS</a:t>
            </a:r>
          </a:p>
          <a:p>
            <a:pPr>
              <a:spcAft>
                <a:spcPts val="100"/>
              </a:spcAft>
              <a:defRPr sz="1000">
                <a:solidFill>
                  <a:srgbClr val="7EC68E"/>
                </a:solidFill>
                <a:latin typeface="Consolas"/>
              </a:defRPr>
            </a:pPr>
            <a:r>
              <a:t>  FOR (p:Person)</a:t>
            </a:r>
          </a:p>
          <a:p>
            <a:pPr>
              <a:spcAft>
                <a:spcPts val="100"/>
              </a:spcAft>
              <a:defRPr sz="1000">
                <a:solidFill>
                  <a:srgbClr val="7EC68E"/>
                </a:solidFill>
                <a:latin typeface="Consolas"/>
              </a:defRPr>
            </a:pPr>
            <a:r>
              <a:t>  ON (p.department, p.title);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SHOW INDEXES;</a:t>
            </a:r>
          </a:p>
        </p:txBody>
      </p:sp>
      <p:sp>
        <p:nvSpPr>
          <p:cNvPr id="7" name="Rectangle 6"/>
          <p:cNvSpPr/>
          <p:nvPr/>
        </p:nvSpPr>
        <p:spPr>
          <a:xfrm>
            <a:off x="731520" y="379476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977640"/>
            <a:ext cx="10515600" cy="365760"/>
          </a:xfrm>
          <a:prstGeom prst="rect">
            <a:avLst/>
          </a:prstGeom>
          <a:noFill/>
        </p:spPr>
        <p:txBody>
          <a:bodyPr wrap="square">
            <a:spAutoFit/>
          </a:bodyPr>
          <a:lstStyle/>
          <a:p>
            <a:pPr algn="l">
              <a:defRPr sz="1500" b="1">
                <a:solidFill>
                  <a:srgbClr val="F08040"/>
                </a:solidFill>
                <a:latin typeface="Calibri"/>
              </a:defRPr>
            </a:pPr>
            <a:r>
              <a:t>PROFILE: vedere se la query usa l’indice</a:t>
            </a:r>
          </a:p>
        </p:txBody>
      </p:sp>
      <p:sp>
        <p:nvSpPr>
          <p:cNvPr id="9" name="Rectangle 8"/>
          <p:cNvSpPr/>
          <p:nvPr/>
        </p:nvSpPr>
        <p:spPr>
          <a:xfrm>
            <a:off x="731520" y="4434840"/>
            <a:ext cx="5029200" cy="18288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4507992"/>
            <a:ext cx="4809744" cy="1682496"/>
          </a:xfrm>
          <a:prstGeom prst="rect">
            <a:avLst/>
          </a:prstGeom>
          <a:noFill/>
        </p:spPr>
        <p:txBody>
          <a:bodyPr wrap="square">
            <a:spAutoFit/>
          </a:bodyPr>
          <a:lstStyle/>
          <a:p>
            <a:pPr>
              <a:spcAft>
                <a:spcPts val="100"/>
              </a:spcAft>
              <a:defRPr sz="1000">
                <a:solidFill>
                  <a:srgbClr val="7EC68E"/>
                </a:solidFill>
                <a:latin typeface="Consolas"/>
              </a:defRPr>
            </a:pPr>
            <a:r>
              <a:t>PROFILE</a:t>
            </a:r>
          </a:p>
          <a:p>
            <a:pPr>
              <a:spcAft>
                <a:spcPts val="100"/>
              </a:spcAft>
              <a:defRPr sz="1000">
                <a:solidFill>
                  <a:srgbClr val="7EC68E"/>
                </a:solidFill>
                <a:latin typeface="Consolas"/>
              </a:defRPr>
            </a:pPr>
            <a:r>
              <a:t>MATCH (p:Person)</a:t>
            </a:r>
          </a:p>
          <a:p>
            <a:pPr>
              <a:spcAft>
                <a:spcPts val="100"/>
              </a:spcAft>
              <a:defRPr sz="1000">
                <a:solidFill>
                  <a:srgbClr val="7EC68E"/>
                </a:solidFill>
                <a:latin typeface="Consolas"/>
              </a:defRPr>
            </a:pPr>
            <a:r>
              <a:t>WHERE p.location = "Roma"</a:t>
            </a:r>
          </a:p>
          <a:p>
            <a:pPr>
              <a:spcAft>
                <a:spcPts val="100"/>
              </a:spcAft>
              <a:defRPr sz="1000">
                <a:solidFill>
                  <a:srgbClr val="7EC68E"/>
                </a:solidFill>
                <a:latin typeface="Consolas"/>
              </a:defRPr>
            </a:pPr>
            <a:r>
              <a:t>RETURN p.name;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Operatori nel piano:</a:t>
            </a:r>
          </a:p>
          <a:p>
            <a:pPr>
              <a:spcAft>
                <a:spcPts val="100"/>
              </a:spcAft>
              <a:defRPr sz="1000">
                <a:solidFill>
                  <a:srgbClr val="7EC68E"/>
                </a:solidFill>
                <a:latin typeface="Consolas"/>
              </a:defRPr>
            </a:pPr>
            <a:r>
              <a:t>// NodeIndexSeek    = BUONO (usa indice)</a:t>
            </a:r>
          </a:p>
          <a:p>
            <a:pPr>
              <a:spcAft>
                <a:spcPts val="100"/>
              </a:spcAft>
              <a:defRPr sz="1000">
                <a:solidFill>
                  <a:srgbClr val="7EC68E"/>
                </a:solidFill>
                <a:latin typeface="Consolas"/>
              </a:defRPr>
            </a:pPr>
            <a:r>
              <a:t>// NodeByLabelScan  = se legge TUTTI i nodi</a:t>
            </a:r>
          </a:p>
          <a:p>
            <a:pPr>
              <a:spcAft>
                <a:spcPts val="100"/>
              </a:spcAft>
              <a:defRPr sz="1000">
                <a:solidFill>
                  <a:srgbClr val="7EC68E"/>
                </a:solidFill>
                <a:latin typeface="Consolas"/>
              </a:defRPr>
            </a:pPr>
            <a:r>
              <a:t>// AllNodesScan     = MALE (nessun filtro)</a:t>
            </a:r>
          </a:p>
          <a:p>
            <a:pPr>
              <a:spcAft>
                <a:spcPts val="100"/>
              </a:spcAft>
              <a:defRPr sz="1000">
                <a:solidFill>
                  <a:srgbClr val="7EC68E"/>
                </a:solidFill>
                <a:latin typeface="Consolas"/>
              </a:defRPr>
            </a:pPr>
            <a:r>
              <a:t>// CartesianProduct = MALE (pattern errato)</a:t>
            </a:r>
          </a:p>
        </p:txBody>
      </p:sp>
      <p:sp>
        <p:nvSpPr>
          <p:cNvPr id="11" name="Rectangle 10"/>
          <p:cNvSpPr/>
          <p:nvPr/>
        </p:nvSpPr>
        <p:spPr>
          <a:xfrm>
            <a:off x="6096000" y="4434840"/>
            <a:ext cx="4846320" cy="2029968"/>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205728" y="4507992"/>
            <a:ext cx="4626864" cy="1956816"/>
          </a:xfrm>
          <a:prstGeom prst="rect">
            <a:avLst/>
          </a:prstGeom>
          <a:noFill/>
        </p:spPr>
        <p:txBody>
          <a:bodyPr wrap="square">
            <a:spAutoFit/>
          </a:bodyPr>
          <a:lstStyle/>
          <a:p>
            <a:pPr>
              <a:spcAft>
                <a:spcPts val="100"/>
              </a:spcAft>
              <a:defRPr sz="1000">
                <a:solidFill>
                  <a:srgbClr val="7EC68E"/>
                </a:solidFill>
                <a:latin typeface="Consolas"/>
              </a:defRPr>
            </a:pPr>
            <a:r>
              <a:t>// Confronto: con e senza indice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SENZA indice (NodeByLabelScan):</a:t>
            </a:r>
          </a:p>
          <a:p>
            <a:pPr>
              <a:spcAft>
                <a:spcPts val="100"/>
              </a:spcAft>
              <a:defRPr sz="1000">
                <a:solidFill>
                  <a:srgbClr val="7EC68E"/>
                </a:solidFill>
                <a:latin typeface="Consolas"/>
              </a:defRPr>
            </a:pPr>
            <a:r>
              <a:t>// dbHits: 238 (legge tutte le persone)</a:t>
            </a:r>
          </a:p>
          <a:p>
            <a:pPr>
              <a:spcAft>
                <a:spcPts val="100"/>
              </a:spcAft>
              <a:defRPr sz="1000">
                <a:solidFill>
                  <a:srgbClr val="7EC68E"/>
                </a:solidFill>
                <a:latin typeface="Consolas"/>
              </a:defRPr>
            </a:pPr>
            <a:r>
              <a:t>//  Poi filtra una per una in memoria</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CON indice (NodeIndexSeek):</a:t>
            </a:r>
          </a:p>
          <a:p>
            <a:pPr>
              <a:spcAft>
                <a:spcPts val="100"/>
              </a:spcAft>
              <a:defRPr sz="1000">
                <a:solidFill>
                  <a:srgbClr val="7EC68E"/>
                </a:solidFill>
                <a:latin typeface="Consolas"/>
              </a:defRPr>
            </a:pPr>
            <a:r>
              <a:t>// dbHits: ~3 (indice + recupero nodo)</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EXPLAIN = piano stimato (non esegue)</a:t>
            </a:r>
          </a:p>
          <a:p>
            <a:pPr>
              <a:spcAft>
                <a:spcPts val="100"/>
              </a:spcAft>
              <a:defRPr sz="1000">
                <a:solidFill>
                  <a:srgbClr val="7EC68E"/>
                </a:solidFill>
                <a:latin typeface="Consolas"/>
              </a:defRPr>
            </a:pPr>
            <a:r>
              <a:t>PROFILE = esegue + metriche reali</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Strategie di Caricamento</a:t>
            </a:r>
          </a:p>
        </p:txBody>
      </p:sp>
      <p:sp>
        <p:nvSpPr>
          <p:cNvPr id="3" name="TextBox 2"/>
          <p:cNvSpPr txBox="1"/>
          <p:nvPr/>
        </p:nvSpPr>
        <p:spPr>
          <a:xfrm>
            <a:off x="731520" y="914400"/>
            <a:ext cx="10515600" cy="365760"/>
          </a:xfrm>
          <a:prstGeom prst="rect">
            <a:avLst/>
          </a:prstGeom>
          <a:noFill/>
        </p:spPr>
        <p:txBody>
          <a:bodyPr wrap="square">
            <a:spAutoFit/>
          </a:bodyPr>
          <a:lstStyle/>
          <a:p>
            <a:pPr algn="l">
              <a:defRPr sz="1400" b="0">
                <a:solidFill>
                  <a:srgbClr val="CCCCCC"/>
                </a:solidFill>
                <a:latin typeface="Calibri"/>
              </a:defRPr>
            </a:pPr>
            <a:r>
              <a:t>Caricare 238 persone uno alla volta vs in batch: la differenza è di 300x.</a:t>
            </a:r>
          </a:p>
        </p:txBody>
      </p:sp>
      <p:sp>
        <p:nvSpPr>
          <p:cNvPr id="4" name="TextBox 3"/>
          <p:cNvSpPr txBox="1"/>
          <p:nvPr/>
        </p:nvSpPr>
        <p:spPr>
          <a:xfrm>
            <a:off x="731520" y="1417320"/>
            <a:ext cx="5029200" cy="1828800"/>
          </a:xfrm>
          <a:prstGeom prst="rect">
            <a:avLst/>
          </a:prstGeom>
          <a:noFill/>
        </p:spPr>
        <p:txBody>
          <a:bodyPr wrap="square">
            <a:spAutoFit/>
          </a:bodyPr>
          <a:lstStyle/>
          <a:p>
            <a:pPr algn="l">
              <a:spcAft>
                <a:spcPts val="300"/>
              </a:spcAft>
              <a:defRPr sz="1200">
                <a:solidFill>
                  <a:srgbClr val="FFFFFF"/>
                </a:solidFill>
                <a:latin typeface="Calibri"/>
              </a:defRPr>
            </a:pPr>
            <a:r>
              <a:rPr dirty="0"/>
              <a:t>•  Row-by-row: </a:t>
            </a:r>
            <a:r>
              <a:rPr dirty="0" err="1"/>
              <a:t>una</a:t>
            </a:r>
            <a:r>
              <a:rPr dirty="0"/>
              <a:t> query per ogni </a:t>
            </a:r>
            <a:r>
              <a:rPr dirty="0" err="1"/>
              <a:t>riga</a:t>
            </a:r>
            <a:r>
              <a:rPr dirty="0"/>
              <a:t> → N </a:t>
            </a:r>
            <a:r>
              <a:rPr dirty="0" err="1"/>
              <a:t>chiamate</a:t>
            </a:r>
            <a:r>
              <a:rPr dirty="0"/>
              <a:t> al database</a:t>
            </a:r>
          </a:p>
          <a:p>
            <a:pPr algn="l">
              <a:spcAft>
                <a:spcPts val="300"/>
              </a:spcAft>
              <a:defRPr sz="1200">
                <a:solidFill>
                  <a:srgbClr val="FFFFFF"/>
                </a:solidFill>
                <a:latin typeface="Calibri"/>
              </a:defRPr>
            </a:pPr>
            <a:r>
              <a:rPr dirty="0"/>
              <a:t>  Costo: </a:t>
            </a:r>
            <a:r>
              <a:rPr dirty="0" err="1"/>
              <a:t>latenza</a:t>
            </a:r>
            <a:r>
              <a:rPr dirty="0"/>
              <a:t> di rete N volte + N </a:t>
            </a:r>
            <a:r>
              <a:rPr dirty="0" err="1"/>
              <a:t>transazioni</a:t>
            </a:r>
            <a:endParaRPr dirty="0"/>
          </a:p>
          <a:p>
            <a:pPr algn="l">
              <a:spcAft>
                <a:spcPts val="300"/>
              </a:spcAft>
              <a:defRPr sz="1200">
                <a:solidFill>
                  <a:srgbClr val="FFFFFF"/>
                </a:solidFill>
                <a:latin typeface="Calibri"/>
              </a:defRPr>
            </a:pPr>
            <a:r>
              <a:rPr dirty="0"/>
              <a:t>•  UNWIND batch: </a:t>
            </a:r>
            <a:r>
              <a:rPr dirty="0" err="1"/>
              <a:t>colleziona</a:t>
            </a:r>
            <a:r>
              <a:rPr dirty="0"/>
              <a:t> </a:t>
            </a:r>
            <a:r>
              <a:rPr dirty="0" err="1"/>
              <a:t>i</a:t>
            </a:r>
            <a:r>
              <a:rPr dirty="0"/>
              <a:t> </a:t>
            </a:r>
            <a:r>
              <a:rPr dirty="0" err="1"/>
              <a:t>dati</a:t>
            </a:r>
            <a:r>
              <a:rPr dirty="0"/>
              <a:t> in </a:t>
            </a:r>
            <a:r>
              <a:rPr dirty="0" err="1"/>
              <a:t>lista</a:t>
            </a:r>
            <a:r>
              <a:rPr dirty="0"/>
              <a:t>, </a:t>
            </a:r>
            <a:r>
              <a:rPr dirty="0" err="1"/>
              <a:t>invia</a:t>
            </a:r>
            <a:r>
              <a:rPr dirty="0"/>
              <a:t> in </a:t>
            </a:r>
            <a:r>
              <a:rPr dirty="0" err="1"/>
              <a:t>un’unica</a:t>
            </a:r>
            <a:r>
              <a:rPr dirty="0"/>
              <a:t> </a:t>
            </a:r>
            <a:r>
              <a:rPr dirty="0" err="1"/>
              <a:t>transazione</a:t>
            </a:r>
            <a:endParaRPr dirty="0"/>
          </a:p>
          <a:p>
            <a:pPr algn="l">
              <a:spcAft>
                <a:spcPts val="300"/>
              </a:spcAft>
              <a:defRPr sz="1200">
                <a:solidFill>
                  <a:srgbClr val="FFFFFF"/>
                </a:solidFill>
                <a:latin typeface="Calibri"/>
              </a:defRPr>
            </a:pPr>
            <a:r>
              <a:rPr dirty="0"/>
              <a:t>  Costo: 1 </a:t>
            </a:r>
            <a:r>
              <a:rPr dirty="0" err="1"/>
              <a:t>chiamata</a:t>
            </a:r>
            <a:r>
              <a:rPr dirty="0"/>
              <a:t> + 1 </a:t>
            </a:r>
            <a:r>
              <a:rPr dirty="0" err="1"/>
              <a:t>transazione</a:t>
            </a:r>
            <a:r>
              <a:rPr dirty="0"/>
              <a:t> + </a:t>
            </a:r>
            <a:r>
              <a:rPr dirty="0" err="1"/>
              <a:t>ciclo</a:t>
            </a:r>
            <a:r>
              <a:rPr dirty="0"/>
              <a:t> </a:t>
            </a:r>
            <a:r>
              <a:rPr dirty="0" err="1"/>
              <a:t>nel</a:t>
            </a:r>
            <a:r>
              <a:rPr dirty="0"/>
              <a:t> database</a:t>
            </a:r>
          </a:p>
          <a:p>
            <a:pPr algn="l">
              <a:spcAft>
                <a:spcPts val="300"/>
              </a:spcAft>
              <a:defRPr sz="1200">
                <a:solidFill>
                  <a:srgbClr val="FFFFFF"/>
                </a:solidFill>
                <a:latin typeface="Calibri"/>
              </a:defRPr>
            </a:pPr>
            <a:r>
              <a:rPr dirty="0"/>
              <a:t>•  MERGE è </a:t>
            </a:r>
            <a:r>
              <a:rPr dirty="0" err="1"/>
              <a:t>idempotente</a:t>
            </a:r>
            <a:r>
              <a:rPr dirty="0"/>
              <a:t> — </a:t>
            </a:r>
            <a:r>
              <a:rPr dirty="0" err="1"/>
              <a:t>si</a:t>
            </a:r>
            <a:r>
              <a:rPr dirty="0"/>
              <a:t> </a:t>
            </a:r>
            <a:r>
              <a:rPr dirty="0" err="1"/>
              <a:t>può</a:t>
            </a:r>
            <a:r>
              <a:rPr dirty="0"/>
              <a:t> </a:t>
            </a:r>
            <a:r>
              <a:rPr dirty="0" err="1"/>
              <a:t>rieseguire</a:t>
            </a:r>
            <a:r>
              <a:rPr dirty="0"/>
              <a:t> senza </a:t>
            </a:r>
            <a:r>
              <a:rPr dirty="0" err="1"/>
              <a:t>rischi</a:t>
            </a:r>
            <a:endParaRPr dirty="0"/>
          </a:p>
          <a:p>
            <a:pPr algn="l">
              <a:spcAft>
                <a:spcPts val="300"/>
              </a:spcAft>
              <a:defRPr sz="1200">
                <a:solidFill>
                  <a:srgbClr val="FFFFFF"/>
                </a:solidFill>
                <a:latin typeface="Calibri"/>
              </a:defRPr>
            </a:pPr>
            <a:r>
              <a:rPr dirty="0"/>
              <a:t>•  CREATE è </a:t>
            </a:r>
            <a:r>
              <a:rPr dirty="0" err="1"/>
              <a:t>più</a:t>
            </a:r>
            <a:r>
              <a:rPr dirty="0"/>
              <a:t> veloce ma non </a:t>
            </a:r>
            <a:r>
              <a:rPr dirty="0" err="1"/>
              <a:t>tollera</a:t>
            </a:r>
            <a:r>
              <a:rPr dirty="0"/>
              <a:t> </a:t>
            </a:r>
            <a:r>
              <a:rPr dirty="0" err="1"/>
              <a:t>duplicati</a:t>
            </a:r>
            <a:endParaRPr dirty="0"/>
          </a:p>
        </p:txBody>
      </p:sp>
      <p:sp>
        <p:nvSpPr>
          <p:cNvPr id="5" name="Rectangle 4"/>
          <p:cNvSpPr/>
          <p:nvPr/>
        </p:nvSpPr>
        <p:spPr>
          <a:xfrm>
            <a:off x="6096000" y="1417320"/>
            <a:ext cx="4846320" cy="182880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205728" y="1490472"/>
            <a:ext cx="4626864" cy="1682496"/>
          </a:xfrm>
          <a:prstGeom prst="rect">
            <a:avLst/>
          </a:prstGeom>
          <a:noFill/>
        </p:spPr>
        <p:txBody>
          <a:bodyPr wrap="square">
            <a:spAutoFit/>
          </a:bodyPr>
          <a:lstStyle/>
          <a:p>
            <a:pPr>
              <a:spcAft>
                <a:spcPts val="100"/>
              </a:spcAft>
              <a:defRPr sz="1000">
                <a:solidFill>
                  <a:srgbClr val="7EC68E"/>
                </a:solidFill>
                <a:latin typeface="Consolas"/>
              </a:defRPr>
            </a:pPr>
            <a:r>
              <a:t># UNWIND con MERGE (pattern sicuro):</a:t>
            </a:r>
          </a:p>
          <a:p>
            <a:pPr>
              <a:spcAft>
                <a:spcPts val="100"/>
              </a:spcAft>
              <a:defRPr sz="1000">
                <a:solidFill>
                  <a:srgbClr val="7EC68E"/>
                </a:solidFill>
                <a:latin typeface="Consolas"/>
              </a:defRPr>
            </a:pPr>
            <a:r>
              <a:t>batch = df.to_dict("records")</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driver.execute_query("""</a:t>
            </a:r>
          </a:p>
          <a:p>
            <a:pPr>
              <a:spcAft>
                <a:spcPts val="100"/>
              </a:spcAft>
              <a:defRPr sz="1000">
                <a:solidFill>
                  <a:srgbClr val="7EC68E"/>
                </a:solidFill>
                <a:latin typeface="Consolas"/>
              </a:defRPr>
            </a:pPr>
            <a:r>
              <a:t>UNWIND $batch AS row</a:t>
            </a:r>
          </a:p>
          <a:p>
            <a:pPr>
              <a:spcAft>
                <a:spcPts val="100"/>
              </a:spcAft>
              <a:defRPr sz="1000">
                <a:solidFill>
                  <a:srgbClr val="7EC68E"/>
                </a:solidFill>
                <a:latin typeface="Consolas"/>
              </a:defRPr>
            </a:pPr>
            <a:r>
              <a:t>MERGE (p:Person {employee_id: row.employee_id})</a:t>
            </a:r>
          </a:p>
          <a:p>
            <a:pPr>
              <a:spcAft>
                <a:spcPts val="100"/>
              </a:spcAft>
              <a:defRPr sz="1000">
                <a:solidFill>
                  <a:srgbClr val="7EC68E"/>
                </a:solidFill>
                <a:latin typeface="Consolas"/>
              </a:defRPr>
            </a:pPr>
            <a:r>
              <a:t>  SET p.name = row.name,</a:t>
            </a:r>
          </a:p>
          <a:p>
            <a:pPr>
              <a:spcAft>
                <a:spcPts val="100"/>
              </a:spcAft>
              <a:defRPr sz="1000">
                <a:solidFill>
                  <a:srgbClr val="7EC68E"/>
                </a:solidFill>
                <a:latin typeface="Consolas"/>
              </a:defRPr>
            </a:pPr>
            <a:r>
              <a:t>      p.location = row.location,</a:t>
            </a:r>
          </a:p>
          <a:p>
            <a:pPr>
              <a:spcAft>
                <a:spcPts val="100"/>
              </a:spcAft>
              <a:defRPr sz="1000">
                <a:solidFill>
                  <a:srgbClr val="7EC68E"/>
                </a:solidFill>
                <a:latin typeface="Consolas"/>
              </a:defRPr>
            </a:pPr>
            <a:r>
              <a:t>      p.title = row.title</a:t>
            </a:r>
          </a:p>
          <a:p>
            <a:pPr>
              <a:spcAft>
                <a:spcPts val="100"/>
              </a:spcAft>
              <a:defRPr sz="1000">
                <a:solidFill>
                  <a:srgbClr val="7EC68E"/>
                </a:solidFill>
                <a:latin typeface="Consolas"/>
              </a:defRPr>
            </a:pPr>
            <a:r>
              <a:t>""", batch=batch)</a:t>
            </a:r>
          </a:p>
        </p:txBody>
      </p:sp>
      <p:sp>
        <p:nvSpPr>
          <p:cNvPr id="7" name="Rectangle 6"/>
          <p:cNvSpPr/>
          <p:nvPr/>
        </p:nvSpPr>
        <p:spPr>
          <a:xfrm>
            <a:off x="731520" y="3547872"/>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3730752"/>
            <a:ext cx="10515600" cy="365760"/>
          </a:xfrm>
          <a:prstGeom prst="rect">
            <a:avLst/>
          </a:prstGeom>
          <a:noFill/>
        </p:spPr>
        <p:txBody>
          <a:bodyPr wrap="square">
            <a:spAutoFit/>
          </a:bodyPr>
          <a:lstStyle/>
          <a:p>
            <a:pPr algn="l">
              <a:defRPr sz="1500" b="1">
                <a:solidFill>
                  <a:srgbClr val="F08040"/>
                </a:solidFill>
                <a:latin typeface="Calibri"/>
              </a:defRPr>
            </a:pPr>
            <a:r>
              <a:t>Benchmark sul dataset Org Graph:</a:t>
            </a:r>
          </a:p>
        </p:txBody>
      </p:sp>
      <p:sp>
        <p:nvSpPr>
          <p:cNvPr id="9" name="TextBox 8"/>
          <p:cNvSpPr txBox="1"/>
          <p:nvPr/>
        </p:nvSpPr>
        <p:spPr>
          <a:xfrm>
            <a:off x="731520" y="4096512"/>
            <a:ext cx="5029200" cy="1828800"/>
          </a:xfrm>
          <a:prstGeom prst="rect">
            <a:avLst/>
          </a:prstGeom>
          <a:noFill/>
        </p:spPr>
        <p:txBody>
          <a:bodyPr wrap="square">
            <a:spAutoFit/>
          </a:bodyPr>
          <a:lstStyle/>
          <a:p>
            <a:pPr algn="l">
              <a:defRPr sz="1100" b="0">
                <a:solidFill>
                  <a:srgbClr val="7EC68E"/>
                </a:solidFill>
                <a:latin typeface="Consolas"/>
              </a:defRPr>
            </a:pPr>
            <a:r>
              <a:t>Metodo          Query    Tempo</a:t>
            </a:r>
            <a:br/>
            <a:r>
              <a:t>───────────────  ───────  ──────</a:t>
            </a:r>
            <a:br/>
            <a:r>
              <a:t>Row-by-row      31.500   440 sec</a:t>
            </a:r>
            <a:br/>
            <a:r>
              <a:t>UNWIND batch        7     1.4 sec</a:t>
            </a:r>
            <a:br/>
            <a:r>
              <a:t>                                ↑ 300x</a:t>
            </a:r>
            <a:br/>
            <a:br/>
            <a:r>
              <a:t>Perché tanto? La latenza di rete</a:t>
            </a:r>
            <a:br/>
            <a:r>
              <a:t>è il collo di bottiglia, non il DB.</a:t>
            </a:r>
            <a:br/>
            <a:r>
              <a:t>Con UNWIND paghiamo una latenza</a:t>
            </a:r>
            <a:br/>
            <a:r>
              <a:t>per 7 batch invece che 31.500 query.</a:t>
            </a:r>
          </a:p>
        </p:txBody>
      </p:sp>
      <p:sp>
        <p:nvSpPr>
          <p:cNvPr id="10" name="TextBox 9"/>
          <p:cNvSpPr txBox="1"/>
          <p:nvPr/>
        </p:nvSpPr>
        <p:spPr>
          <a:xfrm>
            <a:off x="6096000" y="4096512"/>
            <a:ext cx="5443728" cy="1938992"/>
          </a:xfrm>
          <a:prstGeom prst="rect">
            <a:avLst/>
          </a:prstGeom>
          <a:noFill/>
        </p:spPr>
        <p:txBody>
          <a:bodyPr wrap="square">
            <a:spAutoFit/>
          </a:bodyPr>
          <a:lstStyle/>
          <a:p>
            <a:pPr algn="l">
              <a:defRPr sz="1200" b="0">
                <a:solidFill>
                  <a:srgbClr val="CCCCCC"/>
                </a:solidFill>
                <a:latin typeface="Calibri"/>
              </a:defRPr>
            </a:pPr>
            <a:r>
              <a:rPr dirty="0"/>
              <a:t>Best practice per il </a:t>
            </a:r>
            <a:r>
              <a:rPr dirty="0" err="1"/>
              <a:t>caricamento</a:t>
            </a:r>
            <a:r>
              <a:rPr dirty="0"/>
              <a:t>:</a:t>
            </a:r>
            <a:br>
              <a:rPr dirty="0"/>
            </a:br>
            <a:br>
              <a:rPr dirty="0"/>
            </a:br>
            <a:r>
              <a:rPr dirty="0"/>
              <a:t>1. Crea constraint e </a:t>
            </a:r>
            <a:r>
              <a:rPr dirty="0" err="1"/>
              <a:t>indici</a:t>
            </a:r>
            <a:r>
              <a:rPr dirty="0"/>
              <a:t> PRIMA</a:t>
            </a:r>
            <a:br>
              <a:rPr dirty="0"/>
            </a:br>
            <a:r>
              <a:rPr dirty="0"/>
              <a:t>2. Usa UNWIND + MERGE</a:t>
            </a:r>
            <a:br>
              <a:rPr dirty="0"/>
            </a:br>
            <a:r>
              <a:rPr dirty="0"/>
              <a:t>3. Batch da 500-5000 </a:t>
            </a:r>
            <a:r>
              <a:rPr dirty="0" err="1"/>
              <a:t>righe</a:t>
            </a:r>
            <a:br>
              <a:rPr dirty="0"/>
            </a:br>
            <a:r>
              <a:rPr dirty="0"/>
              <a:t>4. Usa ON CREATE SET / ON MATCH SET per </a:t>
            </a:r>
            <a:r>
              <a:rPr dirty="0" err="1"/>
              <a:t>separare</a:t>
            </a:r>
            <a:r>
              <a:rPr dirty="0"/>
              <a:t> </a:t>
            </a:r>
            <a:r>
              <a:rPr dirty="0" err="1"/>
              <a:t>inserimento</a:t>
            </a:r>
            <a:r>
              <a:rPr dirty="0"/>
              <a:t> da</a:t>
            </a:r>
            <a:r>
              <a:rPr lang="en-US" dirty="0"/>
              <a:t> </a:t>
            </a:r>
            <a:r>
              <a:rPr dirty="0"/>
              <a:t>aggiornamento</a:t>
            </a:r>
            <a:br>
              <a:rPr dirty="0"/>
            </a:br>
            <a:r>
              <a:rPr dirty="0"/>
              <a:t>5. </a:t>
            </a:r>
            <a:r>
              <a:rPr dirty="0" err="1"/>
              <a:t>Verifica</a:t>
            </a:r>
            <a:r>
              <a:rPr dirty="0"/>
              <a:t> con MATCH ... RETURN count()</a:t>
            </a:r>
            <a:br>
              <a:rPr dirty="0"/>
            </a:br>
            <a:br>
              <a:rPr dirty="0"/>
            </a:br>
            <a:r>
              <a:rPr dirty="0"/>
              <a:t>Lo script di </a:t>
            </a:r>
            <a:r>
              <a:rPr dirty="0" err="1"/>
              <a:t>caricamento</a:t>
            </a:r>
            <a:r>
              <a:rPr dirty="0"/>
              <a:t> del </a:t>
            </a:r>
            <a:r>
              <a:rPr lang="en-US" dirty="0" err="1"/>
              <a:t>c</a:t>
            </a:r>
            <a:r>
              <a:rPr dirty="0" err="1"/>
              <a:t>orso</a:t>
            </a:r>
            <a:r>
              <a:rPr lang="en-US" dirty="0"/>
              <a:t> </a:t>
            </a:r>
            <a:r>
              <a:rPr dirty="0"/>
              <a:t>carica in ~1 secondo </a:t>
            </a:r>
            <a:r>
              <a:rPr dirty="0" err="1"/>
              <a:t>tutto</a:t>
            </a:r>
            <a:r>
              <a:rPr dirty="0"/>
              <a:t> </a:t>
            </a:r>
            <a:r>
              <a:rPr dirty="0" err="1"/>
              <a:t>l’Org</a:t>
            </a:r>
            <a:r>
              <a:rPr dirty="0"/>
              <a:t> Graph</a:t>
            </a:r>
            <a:br>
              <a:rPr dirty="0"/>
            </a:br>
            <a:r>
              <a:rPr dirty="0"/>
              <a:t>(238 </a:t>
            </a:r>
            <a:r>
              <a:rPr dirty="0" err="1"/>
              <a:t>persone</a:t>
            </a:r>
            <a:r>
              <a:rPr dirty="0"/>
              <a:t>, 93 </a:t>
            </a:r>
            <a:r>
              <a:rPr dirty="0" err="1"/>
              <a:t>progetti</a:t>
            </a:r>
            <a:r>
              <a:rPr dirty="0"/>
              <a:t>, 55 skill,</a:t>
            </a:r>
            <a:r>
              <a:rPr lang="en-US" dirty="0"/>
              <a:t> </a:t>
            </a:r>
            <a:r>
              <a:rPr dirty="0"/>
              <a:t>2 supervisor) con 7 query UNWIND.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Visualizzare il Grafo: Browser &amp; Bloom</a:t>
            </a:r>
          </a:p>
        </p:txBody>
      </p:sp>
      <p:sp>
        <p:nvSpPr>
          <p:cNvPr id="3" name="TextBox 2"/>
          <p:cNvSpPr txBox="1"/>
          <p:nvPr/>
        </p:nvSpPr>
        <p:spPr>
          <a:xfrm>
            <a:off x="731520" y="1051560"/>
            <a:ext cx="5029200" cy="2286000"/>
          </a:xfrm>
          <a:prstGeom prst="rect">
            <a:avLst/>
          </a:prstGeom>
          <a:noFill/>
        </p:spPr>
        <p:txBody>
          <a:bodyPr wrap="square">
            <a:spAutoFit/>
          </a:bodyPr>
          <a:lstStyle/>
          <a:p>
            <a:pPr algn="l">
              <a:spcAft>
                <a:spcPts val="0"/>
              </a:spcAft>
              <a:defRPr sz="1200">
                <a:solidFill>
                  <a:srgbClr val="FFFFFF"/>
                </a:solidFill>
                <a:latin typeface="Calibri"/>
              </a:defRPr>
            </a:pPr>
            <a:r>
              <a:rPr dirty="0"/>
              <a:t>•  Neo4j Browser — </a:t>
            </a:r>
            <a:r>
              <a:rPr dirty="0" err="1"/>
              <a:t>interfaccia</a:t>
            </a:r>
            <a:r>
              <a:rPr dirty="0"/>
              <a:t> web </a:t>
            </a:r>
            <a:r>
              <a:rPr dirty="0" err="1"/>
              <a:t>integrata</a:t>
            </a:r>
            <a:endParaRPr dirty="0"/>
          </a:p>
          <a:p>
            <a:pPr algn="l">
              <a:spcAft>
                <a:spcPts val="0"/>
              </a:spcAft>
              <a:defRPr sz="1200">
                <a:solidFill>
                  <a:srgbClr val="FFFFFF"/>
                </a:solidFill>
                <a:latin typeface="Calibri"/>
              </a:defRPr>
            </a:pPr>
            <a:r>
              <a:rPr dirty="0"/>
              <a:t>  • :play movie-graph per tutorial </a:t>
            </a:r>
            <a:r>
              <a:rPr dirty="0" err="1"/>
              <a:t>interattivo</a:t>
            </a:r>
            <a:endParaRPr dirty="0"/>
          </a:p>
          <a:p>
            <a:pPr algn="l">
              <a:spcAft>
                <a:spcPts val="0"/>
              </a:spcAft>
              <a:defRPr sz="1200">
                <a:solidFill>
                  <a:srgbClr val="FFFFFF"/>
                </a:solidFill>
                <a:latin typeface="Calibri"/>
              </a:defRPr>
            </a:pPr>
            <a:r>
              <a:rPr dirty="0"/>
              <a:t>  • </a:t>
            </a:r>
            <a:r>
              <a:rPr dirty="0" err="1"/>
              <a:t>Visualizzazione</a:t>
            </a:r>
            <a:r>
              <a:rPr dirty="0"/>
              <a:t> </a:t>
            </a:r>
            <a:r>
              <a:rPr dirty="0" err="1"/>
              <a:t>grafica</a:t>
            </a:r>
            <a:r>
              <a:rPr dirty="0"/>
              <a:t> a </a:t>
            </a:r>
            <a:r>
              <a:rPr dirty="0" err="1"/>
              <a:t>cerchi</a:t>
            </a:r>
            <a:r>
              <a:rPr dirty="0"/>
              <a:t> e </a:t>
            </a:r>
            <a:r>
              <a:rPr dirty="0" err="1"/>
              <a:t>frecce</a:t>
            </a:r>
            <a:endParaRPr dirty="0"/>
          </a:p>
          <a:p>
            <a:pPr algn="l">
              <a:spcAft>
                <a:spcPts val="0"/>
              </a:spcAft>
              <a:defRPr sz="1200">
                <a:solidFill>
                  <a:srgbClr val="FFFFFF"/>
                </a:solidFill>
                <a:latin typeface="Calibri"/>
              </a:defRPr>
            </a:pPr>
            <a:r>
              <a:rPr dirty="0"/>
              <a:t>  • </a:t>
            </a:r>
            <a:r>
              <a:rPr dirty="0" err="1"/>
              <a:t>Esportazione</a:t>
            </a:r>
            <a:r>
              <a:rPr dirty="0"/>
              <a:t> PNG, CSV, JSON</a:t>
            </a:r>
          </a:p>
          <a:p>
            <a:pPr algn="l">
              <a:spcAft>
                <a:spcPts val="0"/>
              </a:spcAft>
              <a:defRPr sz="1200">
                <a:solidFill>
                  <a:srgbClr val="FFFFFF"/>
                </a:solidFill>
                <a:latin typeface="Calibri"/>
              </a:defRPr>
            </a:pPr>
            <a:r>
              <a:rPr dirty="0"/>
              <a:t>•  Neo4j Bloom — drag &amp; drop, storytelling </a:t>
            </a:r>
            <a:r>
              <a:rPr dirty="0" err="1"/>
              <a:t>visuale</a:t>
            </a:r>
            <a:endParaRPr dirty="0"/>
          </a:p>
          <a:p>
            <a:pPr algn="l">
              <a:spcAft>
                <a:spcPts val="0"/>
              </a:spcAft>
              <a:defRPr sz="1200">
                <a:solidFill>
                  <a:srgbClr val="FFFFFF"/>
                </a:solidFill>
                <a:latin typeface="Calibri"/>
              </a:defRPr>
            </a:pPr>
            <a:r>
              <a:rPr dirty="0"/>
              <a:t>  • </a:t>
            </a:r>
            <a:r>
              <a:rPr dirty="0" err="1"/>
              <a:t>Ricerca</a:t>
            </a:r>
            <a:r>
              <a:rPr dirty="0"/>
              <a:t> in </a:t>
            </a:r>
            <a:r>
              <a:rPr dirty="0" err="1"/>
              <a:t>linguaggio</a:t>
            </a:r>
            <a:r>
              <a:rPr dirty="0"/>
              <a:t> </a:t>
            </a:r>
            <a:r>
              <a:rPr dirty="0" err="1"/>
              <a:t>naturale</a:t>
            </a:r>
            <a:endParaRPr dirty="0"/>
          </a:p>
          <a:p>
            <a:pPr algn="l">
              <a:spcAft>
                <a:spcPts val="0"/>
              </a:spcAft>
              <a:defRPr sz="1200">
                <a:solidFill>
                  <a:srgbClr val="FFFFFF"/>
                </a:solidFill>
                <a:latin typeface="Calibri"/>
              </a:defRPr>
            </a:pPr>
            <a:r>
              <a:rPr dirty="0"/>
              <a:t>  • Grafi </a:t>
            </a:r>
            <a:r>
              <a:rPr dirty="0" err="1"/>
              <a:t>animati</a:t>
            </a:r>
            <a:r>
              <a:rPr dirty="0"/>
              <a:t>, </a:t>
            </a:r>
            <a:r>
              <a:rPr dirty="0" err="1"/>
              <a:t>filtri</a:t>
            </a:r>
            <a:r>
              <a:rPr dirty="0"/>
              <a:t> </a:t>
            </a:r>
            <a:r>
              <a:rPr dirty="0" err="1"/>
              <a:t>visuali</a:t>
            </a:r>
            <a:endParaRPr dirty="0"/>
          </a:p>
          <a:p>
            <a:pPr algn="l">
              <a:spcAft>
                <a:spcPts val="0"/>
              </a:spcAft>
              <a:defRPr sz="1200">
                <a:solidFill>
                  <a:srgbClr val="FFFFFF"/>
                </a:solidFill>
                <a:latin typeface="Calibri"/>
              </a:defRPr>
            </a:pPr>
            <a:r>
              <a:rPr dirty="0"/>
              <a:t>•  Neo4j Workspace — </a:t>
            </a:r>
            <a:r>
              <a:rPr dirty="0" err="1"/>
              <a:t>modellazione</a:t>
            </a:r>
            <a:r>
              <a:rPr dirty="0"/>
              <a:t> </a:t>
            </a:r>
            <a:r>
              <a:rPr dirty="0" err="1"/>
              <a:t>grafica</a:t>
            </a:r>
            <a:r>
              <a:rPr dirty="0"/>
              <a:t> </a:t>
            </a:r>
            <a:r>
              <a:rPr dirty="0" err="1"/>
              <a:t>collaborativa</a:t>
            </a:r>
            <a:endParaRPr dirty="0"/>
          </a:p>
        </p:txBody>
      </p:sp>
      <p:sp>
        <p:nvSpPr>
          <p:cNvPr id="4" name="TextBox 3"/>
          <p:cNvSpPr txBox="1"/>
          <p:nvPr/>
        </p:nvSpPr>
        <p:spPr>
          <a:xfrm>
            <a:off x="6096000" y="1051560"/>
            <a:ext cx="4846320" cy="411480"/>
          </a:xfrm>
          <a:prstGeom prst="rect">
            <a:avLst/>
          </a:prstGeom>
          <a:noFill/>
        </p:spPr>
        <p:txBody>
          <a:bodyPr wrap="square">
            <a:spAutoFit/>
          </a:bodyPr>
          <a:lstStyle/>
          <a:p>
            <a:pPr algn="l">
              <a:defRPr sz="1600" b="1">
                <a:solidFill>
                  <a:srgbClr val="F08040"/>
                </a:solidFill>
                <a:latin typeface="Calibri"/>
              </a:defRPr>
            </a:pPr>
            <a:r>
              <a:t>Suggerimenti Browser</a:t>
            </a:r>
          </a:p>
        </p:txBody>
      </p:sp>
      <p:sp>
        <p:nvSpPr>
          <p:cNvPr id="5" name="TextBox 4"/>
          <p:cNvSpPr txBox="1"/>
          <p:nvPr/>
        </p:nvSpPr>
        <p:spPr>
          <a:xfrm>
            <a:off x="6096000" y="1508760"/>
            <a:ext cx="4846320" cy="2194560"/>
          </a:xfrm>
          <a:prstGeom prst="rect">
            <a:avLst/>
          </a:prstGeom>
          <a:noFill/>
        </p:spPr>
        <p:txBody>
          <a:bodyPr wrap="square">
            <a:spAutoFit/>
          </a:bodyPr>
          <a:lstStyle/>
          <a:p>
            <a:pPr algn="l">
              <a:defRPr sz="1200" b="0">
                <a:solidFill>
                  <a:srgbClr val="CCCCCC"/>
                </a:solidFill>
                <a:latin typeface="Calibri"/>
              </a:defRPr>
            </a:pPr>
            <a:r>
              <a:t>• I nodi sono cerchi colorati per label</a:t>
            </a:r>
            <a:br/>
            <a:r>
              <a:t>• Le frecce sono le relazioni</a:t>
            </a:r>
            <a:br/>
            <a:r>
              <a:t>• Clicca su un nodo per vedere le props</a:t>
            </a:r>
            <a:br/>
            <a:r>
              <a:t>• Trascina i nodi per riorganizzare</a:t>
            </a:r>
            <a:br/>
            <a:r>
              <a:t>• Usa la lente di ingrandimento</a:t>
            </a:r>
            <a:br/>
            <a:r>
              <a:t>• Il pulsante full-screen è in alto</a:t>
            </a:r>
            <a:br/>
            <a:r>
              <a:t>• Esporta come PNG con la fotocamera</a:t>
            </a:r>
            <a:br/>
            <a:br/>
            <a:r>
              <a:t>Per dataset grandi usare LIMIT:</a:t>
            </a:r>
            <a:br/>
            <a:r>
              <a:t>MATCH (n) RETURN n LIMIT 100</a:t>
            </a:r>
            <a:br/>
            <a:r>
              <a:t>altrimenti il Browser si blocca.</a:t>
            </a:r>
          </a:p>
        </p:txBody>
      </p:sp>
      <p:sp>
        <p:nvSpPr>
          <p:cNvPr id="6" name="TextBox 5"/>
          <p:cNvSpPr txBox="1"/>
          <p:nvPr/>
        </p:nvSpPr>
        <p:spPr>
          <a:xfrm>
            <a:off x="731520" y="3108960"/>
            <a:ext cx="10515600" cy="411480"/>
          </a:xfrm>
          <a:prstGeom prst="rect">
            <a:avLst/>
          </a:prstGeom>
          <a:noFill/>
        </p:spPr>
        <p:txBody>
          <a:bodyPr wrap="square">
            <a:spAutoFit/>
          </a:bodyPr>
          <a:lstStyle/>
          <a:p>
            <a:pPr algn="l">
              <a:defRPr sz="1600" b="1">
                <a:solidFill>
                  <a:srgbClr val="F08040"/>
                </a:solidFill>
                <a:latin typeface="Calibri"/>
              </a:defRPr>
            </a:pPr>
            <a:r>
              <a:t>Comandi utili nel Browser</a:t>
            </a:r>
          </a:p>
        </p:txBody>
      </p:sp>
      <p:sp>
        <p:nvSpPr>
          <p:cNvPr id="7" name="Rectangle 6"/>
          <p:cNvSpPr/>
          <p:nvPr/>
        </p:nvSpPr>
        <p:spPr>
          <a:xfrm>
            <a:off x="731520" y="3566160"/>
            <a:ext cx="5029200" cy="25603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 y="3639312"/>
            <a:ext cx="4809744" cy="2414016"/>
          </a:xfrm>
          <a:prstGeom prst="rect">
            <a:avLst/>
          </a:prstGeom>
          <a:noFill/>
        </p:spPr>
        <p:txBody>
          <a:bodyPr wrap="square">
            <a:spAutoFit/>
          </a:bodyPr>
          <a:lstStyle/>
          <a:p>
            <a:pPr>
              <a:spcAft>
                <a:spcPts val="100"/>
              </a:spcAft>
              <a:defRPr sz="1000">
                <a:solidFill>
                  <a:srgbClr val="7EC68E"/>
                </a:solidFill>
                <a:latin typeface="Consolas"/>
              </a:defRPr>
            </a:pPr>
            <a:r>
              <a:t>:help cypher   // guida Cypher</a:t>
            </a:r>
          </a:p>
          <a:p>
            <a:pPr>
              <a:spcAft>
                <a:spcPts val="100"/>
              </a:spcAft>
              <a:defRPr sz="1000">
                <a:solidFill>
                  <a:srgbClr val="7EC68E"/>
                </a:solidFill>
                <a:latin typeface="Consolas"/>
              </a:defRPr>
            </a:pPr>
            <a:r>
              <a:t>:play movie-graph  // tutorial</a:t>
            </a:r>
          </a:p>
          <a:p>
            <a:pPr>
              <a:spcAft>
                <a:spcPts val="100"/>
              </a:spcAft>
              <a:defRPr sz="1000">
                <a:solidFill>
                  <a:srgbClr val="7EC68E"/>
                </a:solidFill>
                <a:latin typeface="Consolas"/>
              </a:defRPr>
            </a:pPr>
            <a:r>
              <a:t>:schema        // mostra il modello</a:t>
            </a:r>
          </a:p>
          <a:p>
            <a:pPr>
              <a:spcAft>
                <a:spcPts val="100"/>
              </a:spcAft>
              <a:defRPr sz="1000">
                <a:solidFill>
                  <a:srgbClr val="7EC68E"/>
                </a:solidFill>
                <a:latin typeface="Consolas"/>
              </a:defRPr>
            </a:pPr>
            <a:r>
              <a:t>SHOW CONSTRAINTS;  // vincoli attivi</a:t>
            </a:r>
          </a:p>
          <a:p>
            <a:pPr>
              <a:spcAft>
                <a:spcPts val="100"/>
              </a:spcAft>
              <a:defRPr sz="1000">
                <a:solidFill>
                  <a:srgbClr val="7EC68E"/>
                </a:solidFill>
                <a:latin typeface="Consolas"/>
              </a:defRPr>
            </a:pPr>
            <a:r>
              <a:t>SHOW INDEXES;      // indici</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Aprire Browser:</a:t>
            </a:r>
          </a:p>
          <a:p>
            <a:pPr>
              <a:spcAft>
                <a:spcPts val="100"/>
              </a:spcAft>
              <a:defRPr sz="1000">
                <a:solidFill>
                  <a:srgbClr val="7EC68E"/>
                </a:solidFill>
                <a:latin typeface="Consolas"/>
              </a:defRPr>
            </a:pPr>
            <a:r>
              <a:t>// Locale: http://localhost:7474</a:t>
            </a:r>
          </a:p>
          <a:p>
            <a:pPr>
              <a:spcAft>
                <a:spcPts val="100"/>
              </a:spcAft>
              <a:defRPr sz="1000">
                <a:solidFill>
                  <a:srgbClr val="7EC68E"/>
                </a:solidFill>
                <a:latin typeface="Consolas"/>
              </a:defRPr>
            </a:pPr>
            <a:r>
              <a:t>// Cloud: workspace.neo4j.io</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Eseguire query:</a:t>
            </a:r>
          </a:p>
          <a:p>
            <a:pPr>
              <a:spcAft>
                <a:spcPts val="100"/>
              </a:spcAft>
              <a:defRPr sz="1000">
                <a:solidFill>
                  <a:srgbClr val="7EC68E"/>
                </a:solidFill>
                <a:latin typeface="Consolas"/>
              </a:defRPr>
            </a:pPr>
            <a:r>
              <a:t>MATCH (n) RETURN n LIMIT 25</a:t>
            </a:r>
          </a:p>
          <a:p>
            <a:pPr>
              <a:spcAft>
                <a:spcPts val="100"/>
              </a:spcAft>
              <a:defRPr sz="1000">
                <a:solidFill>
                  <a:srgbClr val="7EC68E"/>
                </a:solidFill>
                <a:latin typeface="Consolas"/>
              </a:defRPr>
            </a:pPr>
            <a:r>
              <a:t>// Cliccare su "Graph" per vedere il grafo</a:t>
            </a:r>
          </a:p>
        </p:txBody>
      </p:sp>
      <p:sp>
        <p:nvSpPr>
          <p:cNvPr id="9" name="TextBox 8"/>
          <p:cNvSpPr txBox="1"/>
          <p:nvPr/>
        </p:nvSpPr>
        <p:spPr>
          <a:xfrm>
            <a:off x="6096000" y="3566160"/>
            <a:ext cx="4846320" cy="1371600"/>
          </a:xfrm>
          <a:prstGeom prst="rect">
            <a:avLst/>
          </a:prstGeom>
          <a:noFill/>
        </p:spPr>
        <p:txBody>
          <a:bodyPr wrap="square">
            <a:spAutoFit/>
          </a:bodyPr>
          <a:lstStyle/>
          <a:p>
            <a:pPr algn="l">
              <a:defRPr sz="1200" b="0">
                <a:solidFill>
                  <a:srgbClr val="CCCCCC"/>
                </a:solidFill>
                <a:latin typeface="Calibri"/>
              </a:defRPr>
            </a:pPr>
            <a:r>
              <a:t>Il Browser è lo strumento principale per esplorare</a:t>
            </a:r>
            <a:br/>
            <a:r>
              <a:t>il grafo e testare query Cypher durante il corso.</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Visualizzare il Grafo: Python</a:t>
            </a:r>
          </a:p>
        </p:txBody>
      </p:sp>
      <p:sp>
        <p:nvSpPr>
          <p:cNvPr id="3" name="TextBox 2"/>
          <p:cNvSpPr txBox="1"/>
          <p:nvPr/>
        </p:nvSpPr>
        <p:spPr>
          <a:xfrm>
            <a:off x="731520" y="1051560"/>
            <a:ext cx="5029200" cy="1371600"/>
          </a:xfrm>
          <a:prstGeom prst="rect">
            <a:avLst/>
          </a:prstGeom>
          <a:noFill/>
        </p:spPr>
        <p:txBody>
          <a:bodyPr wrap="square">
            <a:spAutoFit/>
          </a:bodyPr>
          <a:lstStyle/>
          <a:p>
            <a:pPr algn="l">
              <a:spcAft>
                <a:spcPts val="700"/>
              </a:spcAft>
              <a:defRPr sz="1300">
                <a:solidFill>
                  <a:srgbClr val="FFFFFF"/>
                </a:solidFill>
                <a:latin typeface="Calibri"/>
              </a:defRPr>
            </a:pPr>
            <a:r>
              <a:t>•  networkx + matplotlib — grafi statici (buono per analisi)</a:t>
            </a:r>
          </a:p>
          <a:p>
            <a:pPr algn="l">
              <a:spcAft>
                <a:spcPts val="700"/>
              </a:spcAft>
              <a:defRPr sz="1300">
                <a:solidFill>
                  <a:srgbClr val="FFFFFF"/>
                </a:solidFill>
                <a:latin typeface="Calibri"/>
              </a:defRPr>
            </a:pPr>
            <a:r>
              <a:t>•  pyvis — grafi interattivi HTML (buono per presentazioni)</a:t>
            </a:r>
          </a:p>
          <a:p>
            <a:pPr algn="l">
              <a:spcAft>
                <a:spcPts val="700"/>
              </a:spcAft>
              <a:defRPr sz="1300">
                <a:solidFill>
                  <a:srgbClr val="FFFFFF"/>
                </a:solidFill>
                <a:latin typeface="Calibri"/>
              </a:defRPr>
            </a:pPr>
            <a:r>
              <a:t>•  Entrambi leggono i dati dal driver Neo4j</a:t>
            </a:r>
          </a:p>
        </p:txBody>
      </p:sp>
      <p:sp>
        <p:nvSpPr>
          <p:cNvPr id="4" name="Rectangle 3"/>
          <p:cNvSpPr/>
          <p:nvPr/>
        </p:nvSpPr>
        <p:spPr>
          <a:xfrm>
            <a:off x="731520" y="2350008"/>
            <a:ext cx="5029200" cy="30175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2423160"/>
            <a:ext cx="4809744" cy="2871216"/>
          </a:xfrm>
          <a:prstGeom prst="rect">
            <a:avLst/>
          </a:prstGeom>
          <a:noFill/>
        </p:spPr>
        <p:txBody>
          <a:bodyPr wrap="square">
            <a:spAutoFit/>
          </a:bodyPr>
          <a:lstStyle/>
          <a:p>
            <a:pPr>
              <a:spcAft>
                <a:spcPts val="100"/>
              </a:spcAft>
              <a:defRPr sz="1000">
                <a:solidFill>
                  <a:srgbClr val="7EC68E"/>
                </a:solidFill>
                <a:latin typeface="Consolas"/>
              </a:defRPr>
            </a:pPr>
            <a:r>
              <a:t># Grafo statico con networkx + matplotlib:</a:t>
            </a:r>
          </a:p>
          <a:p>
            <a:pPr>
              <a:spcAft>
                <a:spcPts val="100"/>
              </a:spcAft>
              <a:defRPr sz="1000">
                <a:solidFill>
                  <a:srgbClr val="7EC68E"/>
                </a:solidFill>
                <a:latin typeface="Consolas"/>
              </a:defRPr>
            </a:pPr>
            <a:r>
              <a:t>import networkx as nx</a:t>
            </a:r>
          </a:p>
          <a:p>
            <a:pPr>
              <a:spcAft>
                <a:spcPts val="100"/>
              </a:spcAft>
              <a:defRPr sz="1000">
                <a:solidFill>
                  <a:srgbClr val="7EC68E"/>
                </a:solidFill>
                <a:latin typeface="Consolas"/>
              </a:defRPr>
            </a:pPr>
            <a:r>
              <a:t>import matplotlib.pyplot as plt</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G = nx.Graph()</a:t>
            </a:r>
          </a:p>
          <a:p>
            <a:pPr>
              <a:spcAft>
                <a:spcPts val="100"/>
              </a:spcAft>
              <a:defRPr sz="1000">
                <a:solidFill>
                  <a:srgbClr val="7EC68E"/>
                </a:solidFill>
                <a:latin typeface="Consolas"/>
              </a:defRPr>
            </a:pPr>
            <a:r>
              <a:t>G.add_edge("Alice", "Python",</a:t>
            </a:r>
          </a:p>
          <a:p>
            <a:pPr>
              <a:spcAft>
                <a:spcPts val="100"/>
              </a:spcAft>
              <a:defRPr sz="1000">
                <a:solidFill>
                  <a:srgbClr val="7EC68E"/>
                </a:solidFill>
                <a:latin typeface="Consolas"/>
              </a:defRPr>
            </a:pPr>
            <a:r>
              <a:t>           relation="HAS_SKILL")</a:t>
            </a:r>
          </a:p>
          <a:p>
            <a:pPr>
              <a:spcAft>
                <a:spcPts val="100"/>
              </a:spcAft>
              <a:defRPr sz="1000">
                <a:solidFill>
                  <a:srgbClr val="7EC68E"/>
                </a:solidFill>
                <a:latin typeface="Consolas"/>
              </a:defRPr>
            </a:pPr>
            <a:r>
              <a:t>G.add_edge("Bob", "Python",</a:t>
            </a:r>
          </a:p>
          <a:p>
            <a:pPr>
              <a:spcAft>
                <a:spcPts val="100"/>
              </a:spcAft>
              <a:defRPr sz="1000">
                <a:solidFill>
                  <a:srgbClr val="7EC68E"/>
                </a:solidFill>
                <a:latin typeface="Consolas"/>
              </a:defRPr>
            </a:pPr>
            <a:r>
              <a:t>           relation="HAS_SKILL")</a:t>
            </a:r>
          </a:p>
          <a:p>
            <a:pPr>
              <a:spcAft>
                <a:spcPts val="100"/>
              </a:spcAft>
              <a:defRPr sz="1000">
                <a:solidFill>
                  <a:srgbClr val="7EC68E"/>
                </a:solidFill>
                <a:latin typeface="Consolas"/>
              </a:defRPr>
            </a:pPr>
            <a:r>
              <a:t>G.add_edge("Bob", "Java",</a:t>
            </a:r>
          </a:p>
          <a:p>
            <a:pPr>
              <a:spcAft>
                <a:spcPts val="100"/>
              </a:spcAft>
              <a:defRPr sz="1000">
                <a:solidFill>
                  <a:srgbClr val="7EC68E"/>
                </a:solidFill>
                <a:latin typeface="Consolas"/>
              </a:defRPr>
            </a:pPr>
            <a:r>
              <a:t>           relation="HAS_SKILL")</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nx.draw(G, with_labels=True,</a:t>
            </a:r>
          </a:p>
          <a:p>
            <a:pPr>
              <a:spcAft>
                <a:spcPts val="100"/>
              </a:spcAft>
              <a:defRPr sz="1000">
                <a:solidFill>
                  <a:srgbClr val="7EC68E"/>
                </a:solidFill>
                <a:latin typeface="Consolas"/>
              </a:defRPr>
            </a:pPr>
            <a:r>
              <a:t>        node_color="lightblue",</a:t>
            </a:r>
          </a:p>
          <a:p>
            <a:pPr>
              <a:spcAft>
                <a:spcPts val="100"/>
              </a:spcAft>
              <a:defRPr sz="1000">
                <a:solidFill>
                  <a:srgbClr val="7EC68E"/>
                </a:solidFill>
                <a:latin typeface="Consolas"/>
              </a:defRPr>
            </a:pPr>
            <a:r>
              <a:t>        node_size=2000)</a:t>
            </a:r>
          </a:p>
          <a:p>
            <a:pPr>
              <a:spcAft>
                <a:spcPts val="100"/>
              </a:spcAft>
              <a:defRPr sz="1000">
                <a:solidFill>
                  <a:srgbClr val="7EC68E"/>
                </a:solidFill>
                <a:latin typeface="Consolas"/>
              </a:defRPr>
            </a:pPr>
            <a:r>
              <a:t>plt.title("Skill Graph")</a:t>
            </a:r>
          </a:p>
          <a:p>
            <a:pPr>
              <a:spcAft>
                <a:spcPts val="100"/>
              </a:spcAft>
              <a:defRPr sz="1000">
                <a:solidFill>
                  <a:srgbClr val="7EC68E"/>
                </a:solidFill>
                <a:latin typeface="Consolas"/>
              </a:defRPr>
            </a:pPr>
            <a:r>
              <a:t>plt.show()</a:t>
            </a:r>
          </a:p>
        </p:txBody>
      </p:sp>
      <p:sp>
        <p:nvSpPr>
          <p:cNvPr id="6" name="Rectangle 5"/>
          <p:cNvSpPr/>
          <p:nvPr/>
        </p:nvSpPr>
        <p:spPr>
          <a:xfrm>
            <a:off x="6096000" y="2350008"/>
            <a:ext cx="4846320" cy="30175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05728" y="2423160"/>
            <a:ext cx="4626864" cy="2871216"/>
          </a:xfrm>
          <a:prstGeom prst="rect">
            <a:avLst/>
          </a:prstGeom>
          <a:noFill/>
        </p:spPr>
        <p:txBody>
          <a:bodyPr wrap="square">
            <a:spAutoFit/>
          </a:bodyPr>
          <a:lstStyle/>
          <a:p>
            <a:pPr>
              <a:spcAft>
                <a:spcPts val="100"/>
              </a:spcAft>
              <a:defRPr sz="1000">
                <a:solidFill>
                  <a:srgbClr val="7EC68E"/>
                </a:solidFill>
                <a:latin typeface="Consolas"/>
              </a:defRPr>
            </a:pPr>
            <a:r>
              <a:t># pyvis per grafo interattivo HTML:</a:t>
            </a:r>
          </a:p>
          <a:p>
            <a:pPr>
              <a:spcAft>
                <a:spcPts val="100"/>
              </a:spcAft>
              <a:defRPr sz="1000">
                <a:solidFill>
                  <a:srgbClr val="7EC68E"/>
                </a:solidFill>
                <a:latin typeface="Consolas"/>
              </a:defRPr>
            </a:pPr>
            <a:r>
              <a:t>from pyvis.network import Network</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net = Network(height="500px", width="100%")</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Aggiungi nodi con etichette:</a:t>
            </a:r>
          </a:p>
          <a:p>
            <a:pPr>
              <a:spcAft>
                <a:spcPts val="100"/>
              </a:spcAft>
              <a:defRPr sz="1000">
                <a:solidFill>
                  <a:srgbClr val="7EC68E"/>
                </a:solidFill>
                <a:latin typeface="Consolas"/>
              </a:defRPr>
            </a:pPr>
            <a:r>
              <a:t>net.add_node("Alice", label="Alice")</a:t>
            </a:r>
          </a:p>
          <a:p>
            <a:pPr>
              <a:spcAft>
                <a:spcPts val="100"/>
              </a:spcAft>
              <a:defRPr sz="1000">
                <a:solidFill>
                  <a:srgbClr val="7EC68E"/>
                </a:solidFill>
                <a:latin typeface="Consolas"/>
              </a:defRPr>
            </a:pPr>
            <a:r>
              <a:t>net.add_node("Python", label="Python")</a:t>
            </a:r>
          </a:p>
          <a:p>
            <a:pPr>
              <a:spcAft>
                <a:spcPts val="100"/>
              </a:spcAft>
              <a:defRPr sz="1000">
                <a:solidFill>
                  <a:srgbClr val="7EC68E"/>
                </a:solidFill>
                <a:latin typeface="Consolas"/>
              </a:defRPr>
            </a:pPr>
            <a:r>
              <a:t>net.add_node("Bob", label="Bob")</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Aggiungi relazioni:</a:t>
            </a:r>
          </a:p>
          <a:p>
            <a:pPr>
              <a:spcAft>
                <a:spcPts val="100"/>
              </a:spcAft>
              <a:defRPr sz="1000">
                <a:solidFill>
                  <a:srgbClr val="7EC68E"/>
                </a:solidFill>
                <a:latin typeface="Consolas"/>
              </a:defRPr>
            </a:pPr>
            <a:r>
              <a:t>net.add_edge("Alice", "Python")</a:t>
            </a:r>
          </a:p>
          <a:p>
            <a:pPr>
              <a:spcAft>
                <a:spcPts val="100"/>
              </a:spcAft>
              <a:defRPr sz="1000">
                <a:solidFill>
                  <a:srgbClr val="7EC68E"/>
                </a:solidFill>
                <a:latin typeface="Consolas"/>
              </a:defRPr>
            </a:pPr>
            <a:r>
              <a:t>net.add_edge("Bob", "Python")</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Salva come HTML e apri nel browser:</a:t>
            </a:r>
          </a:p>
          <a:p>
            <a:pPr>
              <a:spcAft>
                <a:spcPts val="100"/>
              </a:spcAft>
              <a:defRPr sz="1000">
                <a:solidFill>
                  <a:srgbClr val="7EC68E"/>
                </a:solidFill>
                <a:latin typeface="Consolas"/>
              </a:defRPr>
            </a:pPr>
            <a:r>
              <a:t>net.show("grafo.html")</a:t>
            </a:r>
          </a:p>
        </p:txBody>
      </p:sp>
      <p:sp>
        <p:nvSpPr>
          <p:cNvPr id="8" name="Rectangle 7"/>
          <p:cNvSpPr/>
          <p:nvPr/>
        </p:nvSpPr>
        <p:spPr>
          <a:xfrm>
            <a:off x="731520" y="57607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5943600"/>
            <a:ext cx="10515600" cy="365760"/>
          </a:xfrm>
          <a:prstGeom prst="rect">
            <a:avLst/>
          </a:prstGeom>
          <a:noFill/>
        </p:spPr>
        <p:txBody>
          <a:bodyPr wrap="square">
            <a:spAutoFit/>
          </a:bodyPr>
          <a:lstStyle/>
          <a:p>
            <a:pPr algn="l">
              <a:defRPr sz="1300" b="0">
                <a:solidFill>
                  <a:srgbClr val="F0C040"/>
                </a:solidFill>
                <a:latin typeface="Calibri"/>
              </a:defRPr>
            </a:pPr>
            <a:r>
              <a:t>Entrambi gli strumenti leggono i dati dal driver Neo4j e li trasformano in un grafo visuale.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Org Graph: Il Nostro Dataset</a:t>
            </a:r>
          </a:p>
        </p:txBody>
      </p:sp>
      <p:sp>
        <p:nvSpPr>
          <p:cNvPr id="3" name="TextBox 2"/>
          <p:cNvSpPr txBox="1"/>
          <p:nvPr/>
        </p:nvSpPr>
        <p:spPr>
          <a:xfrm>
            <a:off x="731520" y="914400"/>
            <a:ext cx="10515600" cy="457200"/>
          </a:xfrm>
          <a:prstGeom prst="rect">
            <a:avLst/>
          </a:prstGeom>
          <a:noFill/>
        </p:spPr>
        <p:txBody>
          <a:bodyPr wrap="square">
            <a:spAutoFit/>
          </a:bodyPr>
          <a:lstStyle/>
          <a:p>
            <a:pPr algn="l">
              <a:defRPr sz="1500" b="0">
                <a:solidFill>
                  <a:srgbClr val="CCCCCC"/>
                </a:solidFill>
                <a:latin typeface="Calibri"/>
              </a:defRPr>
            </a:pPr>
            <a:r>
              <a:t>Un grafo aziendale reale che useremo per tutto il corso. Anonimizzato da dati HR reali.</a:t>
            </a:r>
          </a:p>
        </p:txBody>
      </p:sp>
      <p:sp>
        <p:nvSpPr>
          <p:cNvPr id="4" name="TextBox 3"/>
          <p:cNvSpPr txBox="1"/>
          <p:nvPr/>
        </p:nvSpPr>
        <p:spPr>
          <a:xfrm>
            <a:off x="731520" y="1463040"/>
            <a:ext cx="5029200" cy="2308324"/>
          </a:xfrm>
          <a:prstGeom prst="rect">
            <a:avLst/>
          </a:prstGeom>
          <a:noFill/>
        </p:spPr>
        <p:txBody>
          <a:bodyPr wrap="square">
            <a:spAutoFit/>
          </a:bodyPr>
          <a:lstStyle/>
          <a:p>
            <a:pPr algn="l">
              <a:spcAft>
                <a:spcPts val="0"/>
              </a:spcAft>
              <a:defRPr sz="1200">
                <a:solidFill>
                  <a:srgbClr val="FFFFFF"/>
                </a:solidFill>
                <a:latin typeface="Calibri"/>
              </a:defRPr>
            </a:pPr>
            <a:r>
              <a:rPr dirty="0"/>
              <a:t>238 </a:t>
            </a:r>
            <a:r>
              <a:rPr dirty="0" err="1"/>
              <a:t>persone</a:t>
            </a:r>
            <a:r>
              <a:rPr dirty="0"/>
              <a:t> (</a:t>
            </a:r>
            <a:r>
              <a:rPr dirty="0" err="1"/>
              <a:t>consulenti</a:t>
            </a:r>
            <a:r>
              <a:rPr dirty="0"/>
              <a:t>, manager, </a:t>
            </a:r>
            <a:r>
              <a:rPr dirty="0" err="1"/>
              <a:t>tecnici</a:t>
            </a:r>
            <a:r>
              <a:rPr dirty="0"/>
              <a:t>)</a:t>
            </a:r>
          </a:p>
          <a:p>
            <a:pPr algn="l">
              <a:spcAft>
                <a:spcPts val="0"/>
              </a:spcAft>
              <a:defRPr sz="1200">
                <a:solidFill>
                  <a:srgbClr val="FFFFFF"/>
                </a:solidFill>
                <a:latin typeface="Calibri"/>
              </a:defRPr>
            </a:pPr>
            <a:r>
              <a:rPr dirty="0"/>
              <a:t>93 </a:t>
            </a:r>
            <a:r>
              <a:rPr dirty="0" err="1"/>
              <a:t>progetti</a:t>
            </a:r>
            <a:r>
              <a:rPr dirty="0"/>
              <a:t> </a:t>
            </a:r>
            <a:r>
              <a:rPr dirty="0" err="1"/>
              <a:t>seguiti</a:t>
            </a:r>
            <a:r>
              <a:rPr dirty="0"/>
              <a:t> </a:t>
            </a:r>
            <a:r>
              <a:rPr dirty="0" err="1"/>
              <a:t>dalle</a:t>
            </a:r>
            <a:r>
              <a:rPr dirty="0"/>
              <a:t> </a:t>
            </a:r>
            <a:r>
              <a:rPr dirty="0" err="1"/>
              <a:t>persone</a:t>
            </a:r>
            <a:endParaRPr dirty="0"/>
          </a:p>
          <a:p>
            <a:pPr algn="l">
              <a:spcAft>
                <a:spcPts val="0"/>
              </a:spcAft>
              <a:defRPr sz="1200">
                <a:solidFill>
                  <a:srgbClr val="FFFFFF"/>
                </a:solidFill>
                <a:latin typeface="Calibri"/>
              </a:defRPr>
            </a:pPr>
            <a:r>
              <a:rPr dirty="0"/>
              <a:t>55 skill certificate (</a:t>
            </a:r>
            <a:r>
              <a:rPr dirty="0" err="1"/>
              <a:t>tecnologiche</a:t>
            </a:r>
            <a:r>
              <a:rPr dirty="0"/>
              <a:t> e </a:t>
            </a:r>
            <a:r>
              <a:rPr dirty="0" err="1"/>
              <a:t>trasversali</a:t>
            </a:r>
            <a:r>
              <a:rPr dirty="0"/>
              <a:t>)</a:t>
            </a:r>
          </a:p>
          <a:p>
            <a:pPr algn="l">
              <a:spcAft>
                <a:spcPts val="0"/>
              </a:spcAft>
              <a:defRPr sz="1200">
                <a:solidFill>
                  <a:srgbClr val="FFFFFF"/>
                </a:solidFill>
                <a:latin typeface="Calibri"/>
              </a:defRPr>
            </a:pPr>
            <a:r>
              <a:rPr dirty="0"/>
              <a:t>2 supervisor (</a:t>
            </a:r>
            <a:r>
              <a:rPr dirty="0" err="1"/>
              <a:t>direttori</a:t>
            </a:r>
            <a:r>
              <a:rPr dirty="0"/>
              <a:t> di area)</a:t>
            </a:r>
          </a:p>
          <a:p>
            <a:pPr algn="l">
              <a:spcAft>
                <a:spcPts val="0"/>
              </a:spcAft>
              <a:defRPr sz="1200">
                <a:solidFill>
                  <a:srgbClr val="FFFFFF"/>
                </a:solidFill>
                <a:latin typeface="Calibri"/>
              </a:defRPr>
            </a:pPr>
            <a:endParaRPr lang="en-US" dirty="0"/>
          </a:p>
          <a:p>
            <a:pPr algn="l">
              <a:spcAft>
                <a:spcPts val="0"/>
              </a:spcAft>
              <a:defRPr sz="1200">
                <a:solidFill>
                  <a:srgbClr val="FFFFFF"/>
                </a:solidFill>
                <a:latin typeface="Calibri"/>
              </a:defRPr>
            </a:pPr>
            <a:r>
              <a:rPr dirty="0" err="1"/>
              <a:t>Relazioni</a:t>
            </a:r>
            <a:r>
              <a:rPr dirty="0"/>
              <a:t>:</a:t>
            </a:r>
          </a:p>
          <a:p>
            <a:pPr algn="l">
              <a:spcAft>
                <a:spcPts val="0"/>
              </a:spcAft>
              <a:defRPr sz="1200">
                <a:solidFill>
                  <a:srgbClr val="FFFFFF"/>
                </a:solidFill>
                <a:latin typeface="Calibri"/>
              </a:defRPr>
            </a:pPr>
            <a:r>
              <a:rPr dirty="0"/>
              <a:t>  • HAS_SKILL {proficiency: 1-5}</a:t>
            </a:r>
          </a:p>
          <a:p>
            <a:pPr algn="l">
              <a:spcAft>
                <a:spcPts val="0"/>
              </a:spcAft>
              <a:defRPr sz="1200">
                <a:solidFill>
                  <a:srgbClr val="FFFFFF"/>
                </a:solidFill>
                <a:latin typeface="Calibri"/>
              </a:defRPr>
            </a:pPr>
            <a:r>
              <a:rPr dirty="0"/>
              <a:t>  • WORKED_ON {role: Developer/Architect/etc.}</a:t>
            </a:r>
          </a:p>
          <a:p>
            <a:pPr algn="l">
              <a:spcAft>
                <a:spcPts val="0"/>
              </a:spcAft>
              <a:defRPr sz="1200">
                <a:solidFill>
                  <a:srgbClr val="FFFFFF"/>
                </a:solidFill>
                <a:latin typeface="Calibri"/>
              </a:defRPr>
            </a:pPr>
            <a:r>
              <a:rPr dirty="0"/>
              <a:t>  • REPORTS_TO (Person → Supervisor)</a:t>
            </a:r>
            <a:endParaRPr lang="en-US" dirty="0"/>
          </a:p>
          <a:p>
            <a:pPr algn="l">
              <a:spcAft>
                <a:spcPts val="0"/>
              </a:spcAft>
              <a:defRPr sz="1200">
                <a:solidFill>
                  <a:srgbClr val="FFFFFF"/>
                </a:solidFill>
                <a:latin typeface="Calibri"/>
              </a:defRPr>
            </a:pPr>
            <a:endParaRPr dirty="0"/>
          </a:p>
          <a:p>
            <a:pPr algn="l">
              <a:spcAft>
                <a:spcPts val="0"/>
              </a:spcAft>
              <a:defRPr sz="1200">
                <a:solidFill>
                  <a:srgbClr val="FFFFFF"/>
                </a:solidFill>
                <a:latin typeface="Calibri"/>
              </a:defRPr>
            </a:pPr>
            <a:r>
              <a:rPr dirty="0"/>
              <a:t>Dati </a:t>
            </a:r>
            <a:r>
              <a:rPr dirty="0" err="1"/>
              <a:t>anonimizzati</a:t>
            </a:r>
            <a:r>
              <a:rPr dirty="0"/>
              <a:t> da </a:t>
            </a:r>
            <a:r>
              <a:rPr dirty="0" err="1"/>
              <a:t>foglio</a:t>
            </a:r>
            <a:r>
              <a:rPr dirty="0"/>
              <a:t> Excel </a:t>
            </a:r>
            <a:r>
              <a:rPr dirty="0" err="1"/>
              <a:t>aziendale</a:t>
            </a:r>
            <a:r>
              <a:rPr dirty="0"/>
              <a:t> </a:t>
            </a:r>
            <a:r>
              <a:rPr dirty="0" err="1"/>
              <a:t>reale</a:t>
            </a:r>
            <a:endParaRPr dirty="0"/>
          </a:p>
          <a:p>
            <a:pPr algn="l">
              <a:spcAft>
                <a:spcPts val="0"/>
              </a:spcAft>
              <a:defRPr sz="1200">
                <a:solidFill>
                  <a:srgbClr val="FFFFFF"/>
                </a:solidFill>
                <a:latin typeface="Calibri"/>
              </a:defRPr>
            </a:pPr>
            <a:r>
              <a:rPr dirty="0" err="1"/>
              <a:t>Ospitato</a:t>
            </a:r>
            <a:r>
              <a:rPr dirty="0"/>
              <a:t> </a:t>
            </a:r>
            <a:r>
              <a:rPr dirty="0" err="1"/>
              <a:t>su</a:t>
            </a:r>
            <a:r>
              <a:rPr dirty="0"/>
              <a:t> </a:t>
            </a:r>
            <a:r>
              <a:rPr dirty="0" err="1"/>
              <a:t>AuraDB</a:t>
            </a:r>
            <a:r>
              <a:rPr dirty="0"/>
              <a:t> Free Tier</a:t>
            </a:r>
          </a:p>
        </p:txBody>
      </p:sp>
      <p:sp>
        <p:nvSpPr>
          <p:cNvPr id="5" name="TextBox 4"/>
          <p:cNvSpPr txBox="1"/>
          <p:nvPr/>
        </p:nvSpPr>
        <p:spPr>
          <a:xfrm>
            <a:off x="6096000" y="1463040"/>
            <a:ext cx="4846320" cy="2377440"/>
          </a:xfrm>
          <a:prstGeom prst="rect">
            <a:avLst/>
          </a:prstGeom>
          <a:noFill/>
        </p:spPr>
        <p:txBody>
          <a:bodyPr wrap="square">
            <a:spAutoFit/>
          </a:bodyPr>
          <a:lstStyle/>
          <a:p>
            <a:pPr algn="l">
              <a:defRPr sz="1000" b="0">
                <a:solidFill>
                  <a:srgbClr val="7EC68E"/>
                </a:solidFill>
                <a:latin typeface="Consolas"/>
              </a:defRPr>
            </a:pPr>
            <a:r>
              <a:t>Esempio di riga CSV:</a:t>
            </a:r>
            <a:br/>
            <a:br/>
            <a:r>
              <a:t>employee_id | 1</a:t>
            </a:r>
            <a:br/>
            <a:r>
              <a:t>name        | Mario Rossi</a:t>
            </a:r>
            <a:br/>
            <a:r>
              <a:t>gender      | M</a:t>
            </a:r>
            <a:br/>
            <a:r>
              <a:t>discipline  | Technology</a:t>
            </a:r>
            <a:br/>
            <a:r>
              <a:t>department  | Digital</a:t>
            </a:r>
            <a:br/>
            <a:r>
              <a:t>code        | ITA-001</a:t>
            </a:r>
            <a:br/>
            <a:r>
              <a:t>location    | Roma</a:t>
            </a:r>
            <a:br/>
            <a:r>
              <a:t>title       | Senior Consultant</a:t>
            </a:r>
            <a:br/>
            <a:r>
              <a:t>supervisor_id | 200</a:t>
            </a:r>
            <a:br/>
            <a:r>
              <a:t>supervisor_name | Anna Bianchi</a:t>
            </a:r>
            <a:br/>
            <a:r>
              <a:t>project_id  | 10</a:t>
            </a:r>
            <a:br/>
            <a:r>
              <a:t>project_name | AI Platform</a:t>
            </a:r>
            <a:br/>
            <a:r>
              <a:t>role        | Developer</a:t>
            </a:r>
          </a:p>
        </p:txBody>
      </p:sp>
      <p:sp>
        <p:nvSpPr>
          <p:cNvPr id="6" name="TextBox 5"/>
          <p:cNvSpPr txBox="1"/>
          <p:nvPr/>
        </p:nvSpPr>
        <p:spPr>
          <a:xfrm>
            <a:off x="6096000" y="4142232"/>
            <a:ext cx="4846320" cy="1384995"/>
          </a:xfrm>
          <a:prstGeom prst="rect">
            <a:avLst/>
          </a:prstGeom>
          <a:noFill/>
        </p:spPr>
        <p:txBody>
          <a:bodyPr wrap="square">
            <a:spAutoFit/>
          </a:bodyPr>
          <a:lstStyle/>
          <a:p>
            <a:pPr algn="l">
              <a:defRPr sz="1200" b="0">
                <a:solidFill>
                  <a:srgbClr val="CCCCCC"/>
                </a:solidFill>
                <a:latin typeface="Calibri"/>
              </a:defRPr>
            </a:pPr>
            <a:r>
              <a:rPr dirty="0" err="1"/>
              <a:t>Struttura</a:t>
            </a:r>
            <a:r>
              <a:rPr dirty="0"/>
              <a:t> </a:t>
            </a:r>
            <a:r>
              <a:rPr dirty="0" err="1"/>
              <a:t>dati</a:t>
            </a:r>
            <a:r>
              <a:rPr dirty="0"/>
              <a:t>:</a:t>
            </a:r>
            <a:br>
              <a:rPr dirty="0"/>
            </a:br>
            <a:br>
              <a:rPr dirty="0"/>
            </a:br>
            <a:r>
              <a:rPr dirty="0"/>
              <a:t>Ogni </a:t>
            </a:r>
            <a:r>
              <a:rPr dirty="0" err="1"/>
              <a:t>riga</a:t>
            </a:r>
            <a:r>
              <a:rPr dirty="0"/>
              <a:t> CSV = </a:t>
            </a:r>
            <a:r>
              <a:rPr dirty="0" err="1"/>
              <a:t>una</a:t>
            </a:r>
            <a:r>
              <a:rPr dirty="0"/>
              <a:t> persona</a:t>
            </a:r>
            <a:r>
              <a:rPr lang="en-US" dirty="0"/>
              <a:t> </a:t>
            </a:r>
            <a:r>
              <a:rPr dirty="0"/>
              <a:t>con le skill in </a:t>
            </a:r>
            <a:r>
              <a:rPr dirty="0" err="1"/>
              <a:t>colonne</a:t>
            </a:r>
            <a:r>
              <a:rPr dirty="0"/>
              <a:t> separate.</a:t>
            </a:r>
            <a:br>
              <a:rPr dirty="0"/>
            </a:br>
            <a:r>
              <a:rPr dirty="0"/>
              <a:t>Il </a:t>
            </a:r>
            <a:r>
              <a:rPr dirty="0" err="1"/>
              <a:t>caricamento</a:t>
            </a:r>
            <a:r>
              <a:rPr dirty="0"/>
              <a:t> UNWIND </a:t>
            </a:r>
            <a:r>
              <a:rPr dirty="0" err="1"/>
              <a:t>trasforma</a:t>
            </a:r>
            <a:r>
              <a:rPr lang="en-US" dirty="0"/>
              <a:t> </a:t>
            </a:r>
            <a:r>
              <a:rPr dirty="0"/>
              <a:t>le </a:t>
            </a:r>
            <a:r>
              <a:rPr dirty="0" err="1"/>
              <a:t>righe</a:t>
            </a:r>
            <a:r>
              <a:rPr dirty="0"/>
              <a:t> in nodi e </a:t>
            </a:r>
            <a:r>
              <a:rPr dirty="0" err="1"/>
              <a:t>relazioni</a:t>
            </a:r>
            <a:r>
              <a:rPr dirty="0"/>
              <a:t>.</a:t>
            </a:r>
            <a:br>
              <a:rPr dirty="0"/>
            </a:br>
            <a:br>
              <a:rPr dirty="0"/>
            </a:br>
            <a:r>
              <a:rPr dirty="0"/>
              <a:t>Nei </a:t>
            </a:r>
            <a:r>
              <a:rPr dirty="0" err="1"/>
              <a:t>prossimi</a:t>
            </a:r>
            <a:r>
              <a:rPr dirty="0"/>
              <a:t> </a:t>
            </a:r>
            <a:r>
              <a:rPr dirty="0" err="1"/>
              <a:t>esercizi</a:t>
            </a:r>
            <a:r>
              <a:rPr dirty="0"/>
              <a:t> </a:t>
            </a:r>
            <a:r>
              <a:rPr dirty="0" err="1"/>
              <a:t>esploreremo</a:t>
            </a:r>
            <a:r>
              <a:rPr lang="en-US" dirty="0"/>
              <a:t> </a:t>
            </a:r>
            <a:r>
              <a:rPr dirty="0"/>
              <a:t>il dataset con Cypher dal Browser</a:t>
            </a:r>
            <a:r>
              <a:rPr lang="en-US" dirty="0"/>
              <a:t> </a:t>
            </a:r>
            <a:r>
              <a:rPr dirty="0"/>
              <a:t>e dal notebook Python.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Schema del Org Graph</a:t>
            </a:r>
          </a:p>
        </p:txBody>
      </p:sp>
      <p:sp>
        <p:nvSpPr>
          <p:cNvPr id="3" name="TextBox 2"/>
          <p:cNvSpPr txBox="1"/>
          <p:nvPr/>
        </p:nvSpPr>
        <p:spPr>
          <a:xfrm>
            <a:off x="731520" y="914400"/>
            <a:ext cx="10515600" cy="365760"/>
          </a:xfrm>
          <a:prstGeom prst="rect">
            <a:avLst/>
          </a:prstGeom>
          <a:noFill/>
        </p:spPr>
        <p:txBody>
          <a:bodyPr wrap="square">
            <a:spAutoFit/>
          </a:bodyPr>
          <a:lstStyle/>
          <a:p>
            <a:pPr algn="l">
              <a:defRPr sz="1400" b="0">
                <a:solidFill>
                  <a:srgbClr val="CCCCCC"/>
                </a:solidFill>
                <a:latin typeface="Calibri"/>
              </a:defRPr>
            </a:pPr>
            <a:r>
              <a:t>Il modello a grafo del nostro progetto: nodi, labels, relazioni e proprietà.</a:t>
            </a:r>
          </a:p>
        </p:txBody>
      </p:sp>
      <p:sp>
        <p:nvSpPr>
          <p:cNvPr id="4" name="TextBox 3"/>
          <p:cNvSpPr txBox="1"/>
          <p:nvPr/>
        </p:nvSpPr>
        <p:spPr>
          <a:xfrm>
            <a:off x="731520" y="1371600"/>
            <a:ext cx="5029200" cy="365760"/>
          </a:xfrm>
          <a:prstGeom prst="rect">
            <a:avLst/>
          </a:prstGeom>
          <a:noFill/>
        </p:spPr>
        <p:txBody>
          <a:bodyPr wrap="square">
            <a:spAutoFit/>
          </a:bodyPr>
          <a:lstStyle/>
          <a:p>
            <a:pPr algn="l">
              <a:defRPr sz="1600" b="1">
                <a:solidFill>
                  <a:srgbClr val="F08040"/>
                </a:solidFill>
                <a:latin typeface="Calibri"/>
              </a:defRPr>
            </a:pPr>
            <a:r>
              <a:t>(:Person)</a:t>
            </a:r>
          </a:p>
        </p:txBody>
      </p:sp>
      <p:sp>
        <p:nvSpPr>
          <p:cNvPr id="5" name="TextBox 4"/>
          <p:cNvSpPr txBox="1"/>
          <p:nvPr/>
        </p:nvSpPr>
        <p:spPr>
          <a:xfrm>
            <a:off x="731520" y="1783080"/>
            <a:ext cx="5029200" cy="731520"/>
          </a:xfrm>
          <a:prstGeom prst="rect">
            <a:avLst/>
          </a:prstGeom>
          <a:noFill/>
        </p:spPr>
        <p:txBody>
          <a:bodyPr wrap="square">
            <a:spAutoFit/>
          </a:bodyPr>
          <a:lstStyle/>
          <a:p>
            <a:pPr algn="l">
              <a:defRPr sz="1100" b="0">
                <a:solidFill>
                  <a:srgbClr val="7EC68E"/>
                </a:solidFill>
                <a:latin typeface="Consolas"/>
              </a:defRPr>
            </a:pPr>
            <a:r>
              <a:rPr dirty="0" err="1"/>
              <a:t>employee_id</a:t>
            </a:r>
            <a:r>
              <a:rPr dirty="0"/>
              <a:t>  name  gender  discipline</a:t>
            </a:r>
          </a:p>
        </p:txBody>
      </p:sp>
      <p:sp>
        <p:nvSpPr>
          <p:cNvPr id="6" name="TextBox 5"/>
          <p:cNvSpPr txBox="1"/>
          <p:nvPr/>
        </p:nvSpPr>
        <p:spPr>
          <a:xfrm>
            <a:off x="731520" y="2103120"/>
            <a:ext cx="5029200" cy="731520"/>
          </a:xfrm>
          <a:prstGeom prst="rect">
            <a:avLst/>
          </a:prstGeom>
          <a:noFill/>
        </p:spPr>
        <p:txBody>
          <a:bodyPr wrap="square">
            <a:spAutoFit/>
          </a:bodyPr>
          <a:lstStyle/>
          <a:p>
            <a:pPr algn="l">
              <a:defRPr sz="1100" b="0">
                <a:solidFill>
                  <a:srgbClr val="7EC68E"/>
                </a:solidFill>
                <a:latin typeface="Consolas"/>
              </a:defRPr>
            </a:pPr>
            <a:r>
              <a:t>department  code  location  title       </a:t>
            </a:r>
          </a:p>
        </p:txBody>
      </p:sp>
      <p:sp>
        <p:nvSpPr>
          <p:cNvPr id="7" name="TextBox 6"/>
          <p:cNvSpPr txBox="1"/>
          <p:nvPr/>
        </p:nvSpPr>
        <p:spPr>
          <a:xfrm>
            <a:off x="5669280" y="1371600"/>
            <a:ext cx="5029200" cy="365760"/>
          </a:xfrm>
          <a:prstGeom prst="rect">
            <a:avLst/>
          </a:prstGeom>
          <a:noFill/>
        </p:spPr>
        <p:txBody>
          <a:bodyPr wrap="square">
            <a:spAutoFit/>
          </a:bodyPr>
          <a:lstStyle/>
          <a:p>
            <a:pPr algn="l">
              <a:defRPr sz="1600" b="1">
                <a:solidFill>
                  <a:srgbClr val="F08040"/>
                </a:solidFill>
                <a:latin typeface="Calibri"/>
              </a:defRPr>
            </a:pPr>
            <a:r>
              <a:t>(:Skill)  e  (:Project)  e  (:Supervisor)</a:t>
            </a:r>
          </a:p>
        </p:txBody>
      </p:sp>
      <p:sp>
        <p:nvSpPr>
          <p:cNvPr id="8" name="TextBox 7"/>
          <p:cNvSpPr txBox="1"/>
          <p:nvPr/>
        </p:nvSpPr>
        <p:spPr>
          <a:xfrm>
            <a:off x="5669280" y="1783080"/>
            <a:ext cx="5029200" cy="731520"/>
          </a:xfrm>
          <a:prstGeom prst="rect">
            <a:avLst/>
          </a:prstGeom>
          <a:noFill/>
        </p:spPr>
        <p:txBody>
          <a:bodyPr wrap="square">
            <a:spAutoFit/>
          </a:bodyPr>
          <a:lstStyle/>
          <a:p>
            <a:pPr algn="l">
              <a:defRPr sz="1100" b="0">
                <a:solidFill>
                  <a:srgbClr val="7EC68E"/>
                </a:solidFill>
                <a:latin typeface="Consolas"/>
              </a:defRPr>
            </a:pPr>
            <a:r>
              <a:t>Skill: name</a:t>
            </a:r>
          </a:p>
        </p:txBody>
      </p:sp>
      <p:sp>
        <p:nvSpPr>
          <p:cNvPr id="9" name="TextBox 8"/>
          <p:cNvSpPr txBox="1"/>
          <p:nvPr/>
        </p:nvSpPr>
        <p:spPr>
          <a:xfrm>
            <a:off x="5669280" y="2103120"/>
            <a:ext cx="5029200" cy="731520"/>
          </a:xfrm>
          <a:prstGeom prst="rect">
            <a:avLst/>
          </a:prstGeom>
          <a:noFill/>
        </p:spPr>
        <p:txBody>
          <a:bodyPr wrap="square">
            <a:spAutoFit/>
          </a:bodyPr>
          <a:lstStyle/>
          <a:p>
            <a:pPr algn="l">
              <a:defRPr sz="1100" b="0">
                <a:solidFill>
                  <a:srgbClr val="7EC68E"/>
                </a:solidFill>
                <a:latin typeface="Consolas"/>
              </a:defRPr>
            </a:pPr>
            <a:r>
              <a:t>Project: project_id, name</a:t>
            </a:r>
          </a:p>
        </p:txBody>
      </p:sp>
      <p:sp>
        <p:nvSpPr>
          <p:cNvPr id="10" name="TextBox 9"/>
          <p:cNvSpPr txBox="1"/>
          <p:nvPr/>
        </p:nvSpPr>
        <p:spPr>
          <a:xfrm>
            <a:off x="5669280" y="2423160"/>
            <a:ext cx="5029200" cy="731520"/>
          </a:xfrm>
          <a:prstGeom prst="rect">
            <a:avLst/>
          </a:prstGeom>
          <a:noFill/>
        </p:spPr>
        <p:txBody>
          <a:bodyPr wrap="square">
            <a:spAutoFit/>
          </a:bodyPr>
          <a:lstStyle/>
          <a:p>
            <a:pPr algn="l">
              <a:defRPr sz="1100" b="0">
                <a:solidFill>
                  <a:srgbClr val="7EC68E"/>
                </a:solidFill>
                <a:latin typeface="Consolas"/>
              </a:defRPr>
            </a:pPr>
            <a:r>
              <a:t>Supervisor: supervisor_id, name</a:t>
            </a:r>
          </a:p>
        </p:txBody>
      </p:sp>
      <p:sp>
        <p:nvSpPr>
          <p:cNvPr id="11" name="Rectangle 10"/>
          <p:cNvSpPr/>
          <p:nvPr/>
        </p:nvSpPr>
        <p:spPr>
          <a:xfrm>
            <a:off x="731520" y="329184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520440"/>
            <a:ext cx="10515600" cy="365760"/>
          </a:xfrm>
          <a:prstGeom prst="rect">
            <a:avLst/>
          </a:prstGeom>
          <a:noFill/>
        </p:spPr>
        <p:txBody>
          <a:bodyPr wrap="square">
            <a:spAutoFit/>
          </a:bodyPr>
          <a:lstStyle/>
          <a:p>
            <a:pPr algn="l">
              <a:defRPr sz="1500" b="1">
                <a:solidFill>
                  <a:srgbClr val="F0C040"/>
                </a:solidFill>
                <a:latin typeface="Calibri"/>
              </a:defRPr>
            </a:pPr>
            <a:r>
              <a:t>Relazioni:</a:t>
            </a:r>
          </a:p>
        </p:txBody>
      </p:sp>
      <p:sp>
        <p:nvSpPr>
          <p:cNvPr id="13" name="Rectangle 12"/>
          <p:cNvSpPr/>
          <p:nvPr/>
        </p:nvSpPr>
        <p:spPr>
          <a:xfrm>
            <a:off x="731520" y="3931920"/>
            <a:ext cx="10515600" cy="16459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8" y="4005072"/>
            <a:ext cx="10296144" cy="1499616"/>
          </a:xfrm>
          <a:prstGeom prst="rect">
            <a:avLst/>
          </a:prstGeom>
          <a:noFill/>
        </p:spPr>
        <p:txBody>
          <a:bodyPr wrap="square">
            <a:spAutoFit/>
          </a:bodyPr>
          <a:lstStyle/>
          <a:p>
            <a:pPr>
              <a:spcAft>
                <a:spcPts val="100"/>
              </a:spcAft>
              <a:defRPr sz="1000">
                <a:solidFill>
                  <a:srgbClr val="7EC68E"/>
                </a:solidFill>
                <a:latin typeface="Consolas"/>
              </a:defRPr>
            </a:pPr>
            <a:r>
              <a:t>// HAS_SKILL: competenza di una persona</a:t>
            </a:r>
          </a:p>
          <a:p>
            <a:pPr>
              <a:spcAft>
                <a:spcPts val="100"/>
              </a:spcAft>
              <a:defRPr sz="1000">
                <a:solidFill>
                  <a:srgbClr val="7EC68E"/>
                </a:solidFill>
                <a:latin typeface="Consolas"/>
              </a:defRPr>
            </a:pPr>
            <a:r>
              <a:t>(p:Person)-[h:HAS_SKILL {proficiency: 1-5}]-&gt;(s:Skill)</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WORKED_ON: esperienza lavorativa su progetto</a:t>
            </a:r>
          </a:p>
          <a:p>
            <a:pPr>
              <a:spcAft>
                <a:spcPts val="100"/>
              </a:spcAft>
              <a:defRPr sz="1000">
                <a:solidFill>
                  <a:srgbClr val="7EC68E"/>
                </a:solidFill>
                <a:latin typeface="Consolas"/>
              </a:defRPr>
            </a:pPr>
            <a:r>
              <a:t>(p:Person)-[w:WORKED_ON {role: "Developer"}]-&gt;(proj:Project)</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REPORTS_TO: gerarchia organizzativa</a:t>
            </a:r>
          </a:p>
          <a:p>
            <a:pPr>
              <a:spcAft>
                <a:spcPts val="100"/>
              </a:spcAft>
              <a:defRPr sz="1000">
                <a:solidFill>
                  <a:srgbClr val="7EC68E"/>
                </a:solidFill>
                <a:latin typeface="Consolas"/>
              </a:defRPr>
            </a:pPr>
            <a:r>
              <a:t>(p:Person)-[:REPORTS_TO]-&gt;(sup:Supervisor)</a:t>
            </a:r>
          </a:p>
        </p:txBody>
      </p:sp>
      <p:sp>
        <p:nvSpPr>
          <p:cNvPr id="15" name="TextBox 14"/>
          <p:cNvSpPr txBox="1"/>
          <p:nvPr/>
        </p:nvSpPr>
        <p:spPr>
          <a:xfrm>
            <a:off x="731520" y="5760720"/>
            <a:ext cx="10515600" cy="365760"/>
          </a:xfrm>
          <a:prstGeom prst="rect">
            <a:avLst/>
          </a:prstGeom>
          <a:noFill/>
        </p:spPr>
        <p:txBody>
          <a:bodyPr wrap="square">
            <a:spAutoFit/>
          </a:bodyPr>
          <a:lstStyle/>
          <a:p>
            <a:pPr algn="l">
              <a:defRPr sz="1100" b="0">
                <a:solidFill>
                  <a:srgbClr val="CCCCCC"/>
                </a:solidFill>
                <a:latin typeface="Calibri"/>
              </a:defRPr>
            </a:pPr>
            <a:r>
              <a:t>Una persona PUÒ non avere skill, non avere progetti, o non riportare a nessuno. Tutte le proprietà sono in INGLESE (name, non nome).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Esempio Completo: Movie Graph</a:t>
            </a:r>
          </a:p>
        </p:txBody>
      </p:sp>
      <p:sp>
        <p:nvSpPr>
          <p:cNvPr id="3" name="TextBox 2"/>
          <p:cNvSpPr txBox="1"/>
          <p:nvPr/>
        </p:nvSpPr>
        <p:spPr>
          <a:xfrm>
            <a:off x="731520" y="914400"/>
            <a:ext cx="10515600" cy="365760"/>
          </a:xfrm>
          <a:prstGeom prst="rect">
            <a:avLst/>
          </a:prstGeom>
          <a:noFill/>
        </p:spPr>
        <p:txBody>
          <a:bodyPr wrap="square">
            <a:spAutoFit/>
          </a:bodyPr>
          <a:lstStyle/>
          <a:p>
            <a:pPr algn="l">
              <a:defRPr sz="1400" b="0">
                <a:solidFill>
                  <a:srgbClr val="CCCCCC"/>
                </a:solidFill>
                <a:latin typeface="Calibri"/>
              </a:defRPr>
            </a:pPr>
            <a:r>
              <a:t>Dataset incluso in Neo4j Browser con nodi Movie e Person (attori/registi). Attivare con :play movie-graph.</a:t>
            </a:r>
          </a:p>
        </p:txBody>
      </p:sp>
      <p:sp>
        <p:nvSpPr>
          <p:cNvPr id="4" name="Rectangle 3"/>
          <p:cNvSpPr/>
          <p:nvPr/>
        </p:nvSpPr>
        <p:spPr>
          <a:xfrm>
            <a:off x="731520" y="1371600"/>
            <a:ext cx="5029200" cy="256032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41248" y="1444752"/>
            <a:ext cx="4809744" cy="2414016"/>
          </a:xfrm>
          <a:prstGeom prst="rect">
            <a:avLst/>
          </a:prstGeom>
          <a:noFill/>
        </p:spPr>
        <p:txBody>
          <a:bodyPr wrap="square">
            <a:spAutoFit/>
          </a:bodyPr>
          <a:lstStyle/>
          <a:p>
            <a:pPr>
              <a:spcAft>
                <a:spcPts val="100"/>
              </a:spcAft>
              <a:defRPr sz="1000">
                <a:solidFill>
                  <a:srgbClr val="7EC68E"/>
                </a:solidFill>
                <a:latin typeface="Consolas"/>
              </a:defRPr>
            </a:pPr>
            <a:r>
              <a:t>// Attori di film usciti dopo il 2000:</a:t>
            </a:r>
          </a:p>
          <a:p>
            <a:pPr>
              <a:spcAft>
                <a:spcPts val="100"/>
              </a:spcAft>
              <a:defRPr sz="1000">
                <a:solidFill>
                  <a:srgbClr val="7EC68E"/>
                </a:solidFill>
                <a:latin typeface="Consolas"/>
              </a:defRPr>
            </a:pPr>
            <a:r>
              <a:t>MATCH (p:Person)-[:ACTED_IN]-&gt;(m:Movie)</a:t>
            </a:r>
          </a:p>
          <a:p>
            <a:pPr>
              <a:spcAft>
                <a:spcPts val="100"/>
              </a:spcAft>
              <a:defRPr sz="1000">
                <a:solidFill>
                  <a:srgbClr val="7EC68E"/>
                </a:solidFill>
                <a:latin typeface="Consolas"/>
              </a:defRPr>
            </a:pPr>
            <a:r>
              <a:t>WHERE m.released &gt; 2000</a:t>
            </a:r>
          </a:p>
          <a:p>
            <a:pPr>
              <a:spcAft>
                <a:spcPts val="100"/>
              </a:spcAft>
              <a:defRPr sz="1000">
                <a:solidFill>
                  <a:srgbClr val="7EC68E"/>
                </a:solidFill>
                <a:latin typeface="Consolas"/>
              </a:defRPr>
            </a:pPr>
            <a:r>
              <a:t>RETURN p.name, m.title, m.released</a:t>
            </a:r>
          </a:p>
          <a:p>
            <a:pPr>
              <a:spcAft>
                <a:spcPts val="100"/>
              </a:spcAft>
              <a:defRPr sz="1000">
                <a:solidFill>
                  <a:srgbClr val="7EC68E"/>
                </a:solidFill>
                <a:latin typeface="Consolas"/>
              </a:defRPr>
            </a:pPr>
            <a:r>
              <a:t>ORDER BY m.released DESC;</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Co-protagonisti di Tom Hanks:</a:t>
            </a:r>
          </a:p>
          <a:p>
            <a:pPr>
              <a:spcAft>
                <a:spcPts val="100"/>
              </a:spcAft>
              <a:defRPr sz="1000">
                <a:solidFill>
                  <a:srgbClr val="7EC68E"/>
                </a:solidFill>
                <a:latin typeface="Consolas"/>
              </a:defRPr>
            </a:pPr>
            <a:r>
              <a:t>MATCH (tom:Person {name: "Tom Hanks"})</a:t>
            </a:r>
          </a:p>
          <a:p>
            <a:pPr>
              <a:spcAft>
                <a:spcPts val="100"/>
              </a:spcAft>
              <a:defRPr sz="1000">
                <a:solidFill>
                  <a:srgbClr val="7EC68E"/>
                </a:solidFill>
                <a:latin typeface="Consolas"/>
              </a:defRPr>
            </a:pPr>
            <a:r>
              <a:t>  -[:ACTED_IN]-&gt;(m:Movie)&lt;-[:ACTED_IN]-(co:Person)</a:t>
            </a:r>
          </a:p>
          <a:p>
            <a:pPr>
              <a:spcAft>
                <a:spcPts val="100"/>
              </a:spcAft>
              <a:defRPr sz="1000">
                <a:solidFill>
                  <a:srgbClr val="7EC68E"/>
                </a:solidFill>
                <a:latin typeface="Consolas"/>
              </a:defRPr>
            </a:pPr>
            <a:r>
              <a:t>RETURN co.name, m.title ORDER BY m.title;</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Output: Meg Ryan | Sleepless in Seattle</a:t>
            </a:r>
          </a:p>
          <a:p>
            <a:pPr>
              <a:spcAft>
                <a:spcPts val="100"/>
              </a:spcAft>
              <a:defRPr sz="1000">
                <a:solidFill>
                  <a:srgbClr val="7EC68E"/>
                </a:solidFill>
                <a:latin typeface="Consolas"/>
              </a:defRPr>
            </a:pPr>
            <a:r>
              <a:t>//         Bill Paxton | Apollo 13</a:t>
            </a:r>
          </a:p>
        </p:txBody>
      </p:sp>
      <p:sp>
        <p:nvSpPr>
          <p:cNvPr id="6" name="Rectangle 5"/>
          <p:cNvSpPr/>
          <p:nvPr/>
        </p:nvSpPr>
        <p:spPr>
          <a:xfrm>
            <a:off x="6096000" y="1371600"/>
            <a:ext cx="4846320" cy="2651760"/>
          </a:xfrm>
          <a:prstGeom prst="rect">
            <a:avLst/>
          </a:prstGeom>
          <a:solidFill>
            <a:srgbClr val="1B2A4A"/>
          </a:solidFill>
          <a:ln w="12700">
            <a:solidFill>
              <a:srgbClr val="2D4F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205728" y="1444752"/>
            <a:ext cx="4626864" cy="2505456"/>
          </a:xfrm>
          <a:prstGeom prst="rect">
            <a:avLst/>
          </a:prstGeom>
          <a:noFill/>
        </p:spPr>
        <p:txBody>
          <a:bodyPr wrap="square">
            <a:spAutoFit/>
          </a:bodyPr>
          <a:lstStyle/>
          <a:p>
            <a:pPr>
              <a:spcAft>
                <a:spcPts val="100"/>
              </a:spcAft>
              <a:defRPr sz="1000">
                <a:solidFill>
                  <a:srgbClr val="7EC68E"/>
                </a:solidFill>
                <a:latin typeface="Consolas"/>
              </a:defRPr>
            </a:pPr>
            <a:r>
              <a:t>// Numero di film per attore:</a:t>
            </a:r>
          </a:p>
          <a:p>
            <a:pPr>
              <a:spcAft>
                <a:spcPts val="100"/>
              </a:spcAft>
              <a:defRPr sz="1000">
                <a:solidFill>
                  <a:srgbClr val="7EC68E"/>
                </a:solidFill>
                <a:latin typeface="Consolas"/>
              </a:defRPr>
            </a:pPr>
            <a:r>
              <a:t>MATCH (p:Person)-[:ACTED_IN]-&gt;(m:Movie)</a:t>
            </a:r>
          </a:p>
          <a:p>
            <a:pPr>
              <a:spcAft>
                <a:spcPts val="100"/>
              </a:spcAft>
              <a:defRPr sz="1000">
                <a:solidFill>
                  <a:srgbClr val="7EC68E"/>
                </a:solidFill>
                <a:latin typeface="Consolas"/>
              </a:defRPr>
            </a:pPr>
            <a:r>
              <a:t>RETURN p.name, count(m) AS film</a:t>
            </a:r>
          </a:p>
          <a:p>
            <a:pPr>
              <a:spcAft>
                <a:spcPts val="100"/>
              </a:spcAft>
              <a:defRPr sz="1000">
                <a:solidFill>
                  <a:srgbClr val="7EC68E"/>
                </a:solidFill>
                <a:latin typeface="Consolas"/>
              </a:defRPr>
            </a:pPr>
            <a:r>
              <a:t>ORDER BY film DESC LIMIT 10;</a:t>
            </a:r>
          </a:p>
          <a:p>
            <a:pPr>
              <a:spcAft>
                <a:spcPts val="100"/>
              </a:spcAft>
              <a:defRPr sz="1000">
                <a:solidFill>
                  <a:srgbClr val="7EC68E"/>
                </a:solidFill>
                <a:latin typeface="Consolas"/>
              </a:defRPr>
            </a:pPr>
            <a:endParaRPr/>
          </a:p>
          <a:p>
            <a:pPr>
              <a:spcAft>
                <a:spcPts val="100"/>
              </a:spcAft>
              <a:defRPr sz="1000">
                <a:solidFill>
                  <a:srgbClr val="7EC68E"/>
                </a:solidFill>
                <a:latin typeface="Consolas"/>
              </a:defRPr>
            </a:pPr>
            <a:r>
              <a:t>// Registi e i loro attori:</a:t>
            </a:r>
          </a:p>
          <a:p>
            <a:pPr>
              <a:spcAft>
                <a:spcPts val="100"/>
              </a:spcAft>
              <a:defRPr sz="1000">
                <a:solidFill>
                  <a:srgbClr val="7EC68E"/>
                </a:solidFill>
                <a:latin typeface="Consolas"/>
              </a:defRPr>
            </a:pPr>
            <a:r>
              <a:t>MATCH (d:Person)-[:DIRECTED]-&gt;(m:Movie)</a:t>
            </a:r>
          </a:p>
          <a:p>
            <a:pPr>
              <a:spcAft>
                <a:spcPts val="100"/>
              </a:spcAft>
              <a:defRPr sz="1000">
                <a:solidFill>
                  <a:srgbClr val="7EC68E"/>
                </a:solidFill>
                <a:latin typeface="Consolas"/>
              </a:defRPr>
            </a:pPr>
            <a:r>
              <a:t>  &lt;-[:ACTED_IN]-(a:Person)</a:t>
            </a:r>
          </a:p>
          <a:p>
            <a:pPr>
              <a:spcAft>
                <a:spcPts val="100"/>
              </a:spcAft>
              <a:defRPr sz="1000">
                <a:solidFill>
                  <a:srgbClr val="7EC68E"/>
                </a:solidFill>
                <a:latin typeface="Consolas"/>
              </a:defRPr>
            </a:pPr>
            <a:r>
              <a:t>RETURN d.name AS regista,</a:t>
            </a:r>
          </a:p>
          <a:p>
            <a:pPr>
              <a:spcAft>
                <a:spcPts val="100"/>
              </a:spcAft>
              <a:defRPr sz="1000">
                <a:solidFill>
                  <a:srgbClr val="7EC68E"/>
                </a:solidFill>
                <a:latin typeface="Consolas"/>
              </a:defRPr>
            </a:pPr>
            <a:r>
              <a:t>       collect(DISTINCT a.name) AS attori,</a:t>
            </a:r>
          </a:p>
          <a:p>
            <a:pPr>
              <a:spcAft>
                <a:spcPts val="100"/>
              </a:spcAft>
              <a:defRPr sz="1000">
                <a:solidFill>
                  <a:srgbClr val="7EC68E"/>
                </a:solidFill>
                <a:latin typeface="Consolas"/>
              </a:defRPr>
            </a:pPr>
            <a:r>
              <a:t>       count(DISTINCT a.name) AS num</a:t>
            </a:r>
          </a:p>
          <a:p>
            <a:pPr>
              <a:spcAft>
                <a:spcPts val="100"/>
              </a:spcAft>
              <a:defRPr sz="1000">
                <a:solidFill>
                  <a:srgbClr val="7EC68E"/>
                </a:solidFill>
                <a:latin typeface="Consolas"/>
              </a:defRPr>
            </a:pPr>
            <a:r>
              <a:t>ORDER BY num DESC LIMIT 5;</a:t>
            </a:r>
          </a:p>
        </p:txBody>
      </p:sp>
      <p:sp>
        <p:nvSpPr>
          <p:cNvPr id="8" name="Rectangle 7"/>
          <p:cNvSpPr/>
          <p:nvPr/>
        </p:nvSpPr>
        <p:spPr>
          <a:xfrm>
            <a:off x="731520" y="416052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4343400"/>
            <a:ext cx="10515600" cy="365760"/>
          </a:xfrm>
          <a:prstGeom prst="rect">
            <a:avLst/>
          </a:prstGeom>
          <a:noFill/>
        </p:spPr>
        <p:txBody>
          <a:bodyPr wrap="square">
            <a:spAutoFit/>
          </a:bodyPr>
          <a:lstStyle/>
          <a:p>
            <a:pPr algn="l">
              <a:defRPr sz="1500" b="1">
                <a:solidFill>
                  <a:srgbClr val="F08040"/>
                </a:solidFill>
                <a:latin typeface="Calibri"/>
              </a:defRPr>
            </a:pPr>
            <a:r>
              <a:t>Perché Movie Graph è un buon esempio didattico:</a:t>
            </a:r>
          </a:p>
        </p:txBody>
      </p:sp>
      <p:sp>
        <p:nvSpPr>
          <p:cNvPr id="10" name="TextBox 9"/>
          <p:cNvSpPr txBox="1"/>
          <p:nvPr/>
        </p:nvSpPr>
        <p:spPr>
          <a:xfrm>
            <a:off x="731520" y="4800600"/>
            <a:ext cx="10515600" cy="1371600"/>
          </a:xfrm>
          <a:prstGeom prst="rect">
            <a:avLst/>
          </a:prstGeom>
          <a:noFill/>
        </p:spPr>
        <p:txBody>
          <a:bodyPr wrap="square">
            <a:spAutoFit/>
          </a:bodyPr>
          <a:lstStyle/>
          <a:p>
            <a:pPr algn="l">
              <a:spcAft>
                <a:spcPts val="300"/>
              </a:spcAft>
              <a:defRPr sz="1200">
                <a:solidFill>
                  <a:srgbClr val="FFFFFF"/>
                </a:solidFill>
                <a:latin typeface="Calibri"/>
              </a:defRPr>
            </a:pPr>
            <a:r>
              <a:t>•  Modello semplice: 2 labels (Movie, Person), 3 relazioni (ACTED_IN, DIRECTED, REVIEWED)</a:t>
            </a:r>
          </a:p>
          <a:p>
            <a:pPr algn="l">
              <a:spcAft>
                <a:spcPts val="300"/>
              </a:spcAft>
              <a:defRPr sz="1200">
                <a:solidFill>
                  <a:srgbClr val="FFFFFF"/>
                </a:solidFill>
                <a:latin typeface="Calibri"/>
              </a:defRPr>
            </a:pPr>
            <a:r>
              <a:t>•  Pattern matching immediato: "attori che hanno recitato con X"</a:t>
            </a:r>
          </a:p>
          <a:p>
            <a:pPr algn="l">
              <a:spcAft>
                <a:spcPts val="300"/>
              </a:spcAft>
              <a:defRPr sz="1200">
                <a:solidFill>
                  <a:srgbClr val="FFFFFF"/>
                </a:solidFill>
                <a:latin typeface="Calibri"/>
              </a:defRPr>
            </a:pPr>
            <a:r>
              <a:t>•  Aggregazioni naturali: film per attore, attori per regista</a:t>
            </a:r>
          </a:p>
          <a:p>
            <a:pPr algn="l">
              <a:spcAft>
                <a:spcPts val="300"/>
              </a:spcAft>
              <a:defRPr sz="1200">
                <a:solidFill>
                  <a:srgbClr val="FFFFFF"/>
                </a:solidFill>
                <a:latin typeface="Calibri"/>
              </a:defRPr>
            </a:pPr>
            <a:r>
              <a:t>•  ShortestPath: Bacon number (cammino minimo tra due attori)</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Esercizi (1/2)</a:t>
            </a:r>
          </a:p>
        </p:txBody>
      </p:sp>
      <p:sp>
        <p:nvSpPr>
          <p:cNvPr id="3" name="TextBox 2"/>
          <p:cNvSpPr txBox="1"/>
          <p:nvPr/>
        </p:nvSpPr>
        <p:spPr>
          <a:xfrm>
            <a:off x="731520" y="914400"/>
            <a:ext cx="10515600" cy="365760"/>
          </a:xfrm>
          <a:prstGeom prst="rect">
            <a:avLst/>
          </a:prstGeom>
          <a:noFill/>
        </p:spPr>
        <p:txBody>
          <a:bodyPr wrap="square">
            <a:spAutoFit/>
          </a:bodyPr>
          <a:lstStyle/>
          <a:p>
            <a:pPr algn="l">
              <a:defRPr sz="1400" b="0">
                <a:solidFill>
                  <a:srgbClr val="CCCCCC"/>
                </a:solidFill>
                <a:latin typeface="Calibri"/>
              </a:defRPr>
            </a:pPr>
            <a:r>
              <a:t>Esercizi sul dataset Org Graph. Le soluzioni sono nel notebook della Sessione 1.</a:t>
            </a:r>
          </a:p>
        </p:txBody>
      </p:sp>
      <p:sp>
        <p:nvSpPr>
          <p:cNvPr id="4" name="TextBox 3"/>
          <p:cNvSpPr txBox="1"/>
          <p:nvPr/>
        </p:nvSpPr>
        <p:spPr>
          <a:xfrm>
            <a:off x="731520" y="1371600"/>
            <a:ext cx="5029200" cy="4847481"/>
          </a:xfrm>
          <a:prstGeom prst="rect">
            <a:avLst/>
          </a:prstGeom>
          <a:noFill/>
        </p:spPr>
        <p:txBody>
          <a:bodyPr wrap="square">
            <a:spAutoFit/>
          </a:bodyPr>
          <a:lstStyle/>
          <a:p>
            <a:pPr algn="l">
              <a:spcAft>
                <a:spcPts val="0"/>
              </a:spcAft>
              <a:defRPr sz="1200">
                <a:solidFill>
                  <a:srgbClr val="FFFFFF"/>
                </a:solidFill>
                <a:latin typeface="Calibri"/>
              </a:defRPr>
            </a:pPr>
            <a:r>
              <a:rPr sz="1100" b="1" dirty="0"/>
              <a:t>1. </a:t>
            </a:r>
            <a:r>
              <a:rPr sz="1100" b="1" u="sng" dirty="0" err="1"/>
              <a:t>Connettiti</a:t>
            </a:r>
            <a:r>
              <a:rPr sz="1100" b="1" u="sng" dirty="0"/>
              <a:t> a Neo4j via Python driver</a:t>
            </a:r>
          </a:p>
          <a:p>
            <a:pPr algn="l">
              <a:spcAft>
                <a:spcPts val="0"/>
              </a:spcAft>
              <a:defRPr sz="1200">
                <a:solidFill>
                  <a:srgbClr val="FFFFFF"/>
                </a:solidFill>
                <a:latin typeface="Calibri"/>
              </a:defRPr>
            </a:pPr>
            <a:endParaRPr lang="en-US" sz="1100" dirty="0"/>
          </a:p>
          <a:p>
            <a:pPr algn="l">
              <a:spcAft>
                <a:spcPts val="0"/>
              </a:spcAft>
              <a:defRPr sz="1200">
                <a:solidFill>
                  <a:srgbClr val="FFFFFF"/>
                </a:solidFill>
                <a:latin typeface="Calibri"/>
              </a:defRPr>
            </a:pPr>
            <a:r>
              <a:rPr sz="1100" dirty="0"/>
              <a:t>  driver = </a:t>
            </a:r>
            <a:r>
              <a:rPr sz="1100" dirty="0" err="1"/>
              <a:t>GraphDatabase.driver</a:t>
            </a:r>
            <a:r>
              <a:rPr sz="1100" dirty="0"/>
              <a:t>(URI, auth=(USER, PASS))</a:t>
            </a:r>
          </a:p>
          <a:p>
            <a:pPr algn="l">
              <a:spcAft>
                <a:spcPts val="0"/>
              </a:spcAft>
              <a:defRPr sz="1200">
                <a:solidFill>
                  <a:srgbClr val="FFFFFF"/>
                </a:solidFill>
                <a:latin typeface="Calibri"/>
              </a:defRPr>
            </a:pPr>
            <a:r>
              <a:rPr sz="1100" dirty="0"/>
              <a:t>  </a:t>
            </a:r>
            <a:r>
              <a:rPr sz="1100" dirty="0" err="1"/>
              <a:t>Esegui</a:t>
            </a:r>
            <a:r>
              <a:rPr sz="1100" dirty="0"/>
              <a:t>: MATCH (n) RETURN n LIMIT 25</a:t>
            </a:r>
          </a:p>
          <a:p>
            <a:pPr algn="l">
              <a:spcAft>
                <a:spcPts val="0"/>
              </a:spcAft>
              <a:defRPr sz="1200">
                <a:solidFill>
                  <a:srgbClr val="FFFFFF"/>
                </a:solidFill>
                <a:latin typeface="Calibri"/>
              </a:defRPr>
            </a:pPr>
            <a:endParaRPr lang="en-US" sz="1100" dirty="0"/>
          </a:p>
          <a:p>
            <a:pPr algn="l">
              <a:spcAft>
                <a:spcPts val="0"/>
              </a:spcAft>
              <a:defRPr sz="1200">
                <a:solidFill>
                  <a:srgbClr val="FFFFFF"/>
                </a:solidFill>
                <a:latin typeface="Calibri"/>
              </a:defRPr>
            </a:pPr>
            <a:endParaRPr sz="1100" dirty="0"/>
          </a:p>
          <a:p>
            <a:pPr algn="l">
              <a:spcAft>
                <a:spcPts val="0"/>
              </a:spcAft>
              <a:defRPr sz="1200">
                <a:solidFill>
                  <a:srgbClr val="FFFFFF"/>
                </a:solidFill>
                <a:latin typeface="Calibri"/>
              </a:defRPr>
            </a:pPr>
            <a:r>
              <a:rPr sz="1100" b="1" dirty="0"/>
              <a:t>2. </a:t>
            </a:r>
            <a:r>
              <a:rPr sz="1100" b="1" u="sng" dirty="0"/>
              <a:t>Trova tutte le </a:t>
            </a:r>
            <a:r>
              <a:rPr sz="1100" b="1" u="sng" dirty="0" err="1"/>
              <a:t>persone</a:t>
            </a:r>
            <a:r>
              <a:rPr sz="1100" b="1" u="sng" dirty="0"/>
              <a:t> di Roma</a:t>
            </a:r>
          </a:p>
          <a:p>
            <a:pPr algn="l">
              <a:spcAft>
                <a:spcPts val="0"/>
              </a:spcAft>
              <a:defRPr sz="1200">
                <a:solidFill>
                  <a:srgbClr val="FFFFFF"/>
                </a:solidFill>
                <a:latin typeface="Calibri"/>
              </a:defRPr>
            </a:pPr>
            <a:endParaRPr lang="en-US" sz="1100" dirty="0"/>
          </a:p>
          <a:p>
            <a:pPr algn="l">
              <a:spcAft>
                <a:spcPts val="0"/>
              </a:spcAft>
              <a:defRPr sz="1200">
                <a:solidFill>
                  <a:srgbClr val="FFFFFF"/>
                </a:solidFill>
                <a:latin typeface="Calibri"/>
              </a:defRPr>
            </a:pPr>
            <a:r>
              <a:rPr sz="1100" dirty="0"/>
              <a:t>  MATCH (</a:t>
            </a:r>
            <a:r>
              <a:rPr sz="1100" dirty="0" err="1"/>
              <a:t>p:Person</a:t>
            </a:r>
            <a:r>
              <a:rPr sz="1100" dirty="0"/>
              <a:t>) WHERE </a:t>
            </a:r>
            <a:r>
              <a:rPr sz="1100" dirty="0" err="1"/>
              <a:t>p.location</a:t>
            </a:r>
            <a:r>
              <a:rPr sz="1100" dirty="0"/>
              <a:t> = "Roma"</a:t>
            </a:r>
          </a:p>
          <a:p>
            <a:pPr algn="l">
              <a:spcAft>
                <a:spcPts val="0"/>
              </a:spcAft>
              <a:defRPr sz="1200">
                <a:solidFill>
                  <a:srgbClr val="FFFFFF"/>
                </a:solidFill>
                <a:latin typeface="Calibri"/>
              </a:defRPr>
            </a:pPr>
            <a:r>
              <a:rPr sz="1100" dirty="0"/>
              <a:t>  RETURN p.name, </a:t>
            </a:r>
            <a:r>
              <a:rPr sz="1100" dirty="0" err="1"/>
              <a:t>p.title</a:t>
            </a:r>
            <a:endParaRPr sz="1100" dirty="0"/>
          </a:p>
          <a:p>
            <a:pPr algn="l">
              <a:spcAft>
                <a:spcPts val="0"/>
              </a:spcAft>
              <a:defRPr sz="1200">
                <a:solidFill>
                  <a:srgbClr val="FFFFFF"/>
                </a:solidFill>
                <a:latin typeface="Calibri"/>
              </a:defRPr>
            </a:pPr>
            <a:endParaRPr lang="en-US" sz="1100" dirty="0"/>
          </a:p>
          <a:p>
            <a:pPr algn="l">
              <a:spcAft>
                <a:spcPts val="0"/>
              </a:spcAft>
              <a:defRPr sz="1200">
                <a:solidFill>
                  <a:srgbClr val="FFFFFF"/>
                </a:solidFill>
                <a:latin typeface="Calibri"/>
              </a:defRPr>
            </a:pPr>
            <a:r>
              <a:rPr sz="1100" dirty="0"/>
              <a:t> </a:t>
            </a:r>
          </a:p>
          <a:p>
            <a:pPr algn="l">
              <a:spcAft>
                <a:spcPts val="0"/>
              </a:spcAft>
              <a:defRPr sz="1200">
                <a:solidFill>
                  <a:srgbClr val="FFFFFF"/>
                </a:solidFill>
                <a:latin typeface="Calibri"/>
              </a:defRPr>
            </a:pPr>
            <a:r>
              <a:rPr sz="1100" b="1" dirty="0"/>
              <a:t>3. </a:t>
            </a:r>
            <a:r>
              <a:rPr sz="1100" b="1" u="sng" dirty="0"/>
              <a:t>Quante </a:t>
            </a:r>
            <a:r>
              <a:rPr sz="1100" b="1" u="sng" dirty="0" err="1"/>
              <a:t>persone</a:t>
            </a:r>
            <a:r>
              <a:rPr sz="1100" b="1" u="sng" dirty="0"/>
              <a:t> per ogni location?</a:t>
            </a:r>
          </a:p>
          <a:p>
            <a:pPr algn="l">
              <a:spcAft>
                <a:spcPts val="0"/>
              </a:spcAft>
              <a:defRPr sz="1200">
                <a:solidFill>
                  <a:srgbClr val="FFFFFF"/>
                </a:solidFill>
                <a:latin typeface="Calibri"/>
              </a:defRPr>
            </a:pPr>
            <a:endParaRPr lang="en-US" sz="1100" dirty="0"/>
          </a:p>
          <a:p>
            <a:pPr algn="l">
              <a:spcAft>
                <a:spcPts val="0"/>
              </a:spcAft>
              <a:defRPr sz="1200">
                <a:solidFill>
                  <a:srgbClr val="FFFFFF"/>
                </a:solidFill>
                <a:latin typeface="Calibri"/>
              </a:defRPr>
            </a:pPr>
            <a:r>
              <a:rPr sz="1100" dirty="0"/>
              <a:t>  MATCH (</a:t>
            </a:r>
            <a:r>
              <a:rPr sz="1100" dirty="0" err="1"/>
              <a:t>p:Person</a:t>
            </a:r>
            <a:r>
              <a:rPr sz="1100" dirty="0"/>
              <a:t>) RETURN </a:t>
            </a:r>
            <a:r>
              <a:rPr sz="1100" dirty="0" err="1"/>
              <a:t>p.location</a:t>
            </a:r>
            <a:r>
              <a:rPr sz="1100" dirty="0"/>
              <a:t>, count(*)</a:t>
            </a:r>
          </a:p>
          <a:p>
            <a:pPr algn="l">
              <a:spcAft>
                <a:spcPts val="0"/>
              </a:spcAft>
              <a:defRPr sz="1200">
                <a:solidFill>
                  <a:srgbClr val="FFFFFF"/>
                </a:solidFill>
                <a:latin typeface="Calibri"/>
              </a:defRPr>
            </a:pPr>
            <a:r>
              <a:rPr sz="1100" dirty="0"/>
              <a:t>  ORDER BY count(*) DESC</a:t>
            </a:r>
          </a:p>
          <a:p>
            <a:pPr algn="l">
              <a:spcAft>
                <a:spcPts val="0"/>
              </a:spcAft>
              <a:defRPr sz="1200">
                <a:solidFill>
                  <a:srgbClr val="FFFFFF"/>
                </a:solidFill>
                <a:latin typeface="Calibri"/>
              </a:defRPr>
            </a:pPr>
            <a:endParaRPr lang="en-US" sz="1100" dirty="0"/>
          </a:p>
          <a:p>
            <a:pPr algn="l">
              <a:spcAft>
                <a:spcPts val="0"/>
              </a:spcAft>
              <a:defRPr sz="1200">
                <a:solidFill>
                  <a:srgbClr val="FFFFFF"/>
                </a:solidFill>
                <a:latin typeface="Calibri"/>
              </a:defRPr>
            </a:pPr>
            <a:r>
              <a:rPr sz="1100" dirty="0"/>
              <a:t>  </a:t>
            </a:r>
          </a:p>
          <a:p>
            <a:pPr algn="l">
              <a:spcAft>
                <a:spcPts val="0"/>
              </a:spcAft>
              <a:defRPr sz="1200">
                <a:solidFill>
                  <a:srgbClr val="FFFFFF"/>
                </a:solidFill>
                <a:latin typeface="Calibri"/>
              </a:defRPr>
            </a:pPr>
            <a:r>
              <a:rPr sz="1100" b="1" dirty="0"/>
              <a:t>4. </a:t>
            </a:r>
            <a:r>
              <a:rPr sz="1100" b="1" u="sng" dirty="0"/>
              <a:t>Trova tutte le skill di </a:t>
            </a:r>
            <a:r>
              <a:rPr sz="1100" b="1" u="sng" dirty="0" err="1"/>
              <a:t>una</a:t>
            </a:r>
            <a:r>
              <a:rPr sz="1100" b="1" u="sng" dirty="0"/>
              <a:t> persona </a:t>
            </a:r>
            <a:r>
              <a:rPr sz="1100" b="1" u="sng" dirty="0" err="1"/>
              <a:t>specifica</a:t>
            </a:r>
            <a:endParaRPr sz="1100" b="1" u="sng" dirty="0"/>
          </a:p>
          <a:p>
            <a:pPr algn="l">
              <a:spcAft>
                <a:spcPts val="0"/>
              </a:spcAft>
              <a:defRPr sz="1200">
                <a:solidFill>
                  <a:srgbClr val="FFFFFF"/>
                </a:solidFill>
                <a:latin typeface="Calibri"/>
              </a:defRPr>
            </a:pPr>
            <a:endParaRPr lang="en-US" sz="1100" dirty="0"/>
          </a:p>
          <a:p>
            <a:pPr algn="l">
              <a:spcAft>
                <a:spcPts val="0"/>
              </a:spcAft>
              <a:defRPr sz="1200">
                <a:solidFill>
                  <a:srgbClr val="FFFFFF"/>
                </a:solidFill>
                <a:latin typeface="Calibri"/>
              </a:defRPr>
            </a:pPr>
            <a:r>
              <a:rPr sz="1100" dirty="0"/>
              <a:t>  MATCH (</a:t>
            </a:r>
            <a:r>
              <a:rPr sz="1100" dirty="0" err="1"/>
              <a:t>p:Person</a:t>
            </a:r>
            <a:r>
              <a:rPr sz="1100" dirty="0"/>
              <a:t> {name: 'Mario Rossi'})</a:t>
            </a:r>
          </a:p>
          <a:p>
            <a:pPr algn="l">
              <a:spcAft>
                <a:spcPts val="0"/>
              </a:spcAft>
              <a:defRPr sz="1200">
                <a:solidFill>
                  <a:srgbClr val="FFFFFF"/>
                </a:solidFill>
                <a:latin typeface="Calibri"/>
              </a:defRPr>
            </a:pPr>
            <a:r>
              <a:rPr sz="1100" dirty="0"/>
              <a:t>  -[:HAS_SKILL]-&gt;(</a:t>
            </a:r>
            <a:r>
              <a:rPr sz="1100" dirty="0" err="1"/>
              <a:t>s:Skill</a:t>
            </a:r>
            <a:r>
              <a:rPr sz="1100" dirty="0"/>
              <a:t>) RETURN s.name</a:t>
            </a:r>
          </a:p>
          <a:p>
            <a:pPr algn="l">
              <a:spcAft>
                <a:spcPts val="0"/>
              </a:spcAft>
              <a:defRPr sz="1200">
                <a:solidFill>
                  <a:srgbClr val="FFFFFF"/>
                </a:solidFill>
                <a:latin typeface="Calibri"/>
              </a:defRPr>
            </a:pPr>
            <a:endParaRPr lang="en-US" sz="1100" dirty="0"/>
          </a:p>
          <a:p>
            <a:pPr algn="l">
              <a:spcAft>
                <a:spcPts val="0"/>
              </a:spcAft>
              <a:defRPr sz="1200">
                <a:solidFill>
                  <a:srgbClr val="FFFFFF"/>
                </a:solidFill>
                <a:latin typeface="Calibri"/>
              </a:defRPr>
            </a:pPr>
            <a:r>
              <a:rPr sz="1100" dirty="0"/>
              <a:t>  </a:t>
            </a:r>
          </a:p>
          <a:p>
            <a:pPr algn="l">
              <a:spcAft>
                <a:spcPts val="0"/>
              </a:spcAft>
              <a:defRPr sz="1200">
                <a:solidFill>
                  <a:srgbClr val="FFFFFF"/>
                </a:solidFill>
                <a:latin typeface="Calibri"/>
              </a:defRPr>
            </a:pPr>
            <a:r>
              <a:rPr sz="1100" b="1" dirty="0"/>
              <a:t>5. </a:t>
            </a:r>
            <a:r>
              <a:rPr sz="1100" b="1" u="sng" dirty="0" err="1"/>
              <a:t>Persone</a:t>
            </a:r>
            <a:r>
              <a:rPr sz="1100" b="1" u="sng" dirty="0"/>
              <a:t> </a:t>
            </a:r>
            <a:r>
              <a:rPr sz="1100" b="1" u="sng" dirty="0" err="1"/>
              <a:t>che</a:t>
            </a:r>
            <a:r>
              <a:rPr sz="1100" b="1" u="sng" dirty="0"/>
              <a:t> </a:t>
            </a:r>
            <a:r>
              <a:rPr sz="1100" b="1" u="sng" dirty="0" err="1"/>
              <a:t>hanno</a:t>
            </a:r>
            <a:r>
              <a:rPr sz="1100" b="1" u="sng" dirty="0"/>
              <a:t> Python come skill</a:t>
            </a:r>
          </a:p>
          <a:p>
            <a:pPr algn="l">
              <a:spcAft>
                <a:spcPts val="0"/>
              </a:spcAft>
              <a:defRPr sz="1200">
                <a:solidFill>
                  <a:srgbClr val="FFFFFF"/>
                </a:solidFill>
                <a:latin typeface="Calibri"/>
              </a:defRPr>
            </a:pPr>
            <a:endParaRPr lang="en-US" sz="1100" dirty="0"/>
          </a:p>
          <a:p>
            <a:pPr algn="l">
              <a:spcAft>
                <a:spcPts val="0"/>
              </a:spcAft>
              <a:defRPr sz="1200">
                <a:solidFill>
                  <a:srgbClr val="FFFFFF"/>
                </a:solidFill>
                <a:latin typeface="Calibri"/>
              </a:defRPr>
            </a:pPr>
            <a:r>
              <a:rPr sz="1100" dirty="0"/>
              <a:t>  MATCH (</a:t>
            </a:r>
            <a:r>
              <a:rPr sz="1100" dirty="0" err="1"/>
              <a:t>p:Person</a:t>
            </a:r>
            <a:r>
              <a:rPr sz="1100" dirty="0"/>
              <a:t>)-[:HAS_SKILL]-&gt;(</a:t>
            </a:r>
            <a:r>
              <a:rPr sz="1100" dirty="0" err="1"/>
              <a:t>s:Skill</a:t>
            </a:r>
            <a:r>
              <a:rPr sz="1100" dirty="0"/>
              <a:t> {name: 'Python'})</a:t>
            </a:r>
          </a:p>
          <a:p>
            <a:pPr algn="l">
              <a:spcAft>
                <a:spcPts val="0"/>
              </a:spcAft>
              <a:defRPr sz="1200">
                <a:solidFill>
                  <a:srgbClr val="FFFFFF"/>
                </a:solidFill>
                <a:latin typeface="Calibri"/>
              </a:defRPr>
            </a:pPr>
            <a:r>
              <a:rPr sz="1100" dirty="0"/>
              <a:t>  RETURN p.name ORDER BY p.name</a:t>
            </a:r>
          </a:p>
        </p:txBody>
      </p:sp>
      <p:sp>
        <p:nvSpPr>
          <p:cNvPr id="5" name="TextBox 4"/>
          <p:cNvSpPr txBox="1"/>
          <p:nvPr/>
        </p:nvSpPr>
        <p:spPr>
          <a:xfrm>
            <a:off x="5669280" y="1371600"/>
            <a:ext cx="4846320" cy="2462213"/>
          </a:xfrm>
          <a:prstGeom prst="rect">
            <a:avLst/>
          </a:prstGeom>
          <a:noFill/>
        </p:spPr>
        <p:txBody>
          <a:bodyPr wrap="square">
            <a:spAutoFit/>
          </a:bodyPr>
          <a:lstStyle/>
          <a:p>
            <a:pPr algn="l">
              <a:defRPr sz="1100" b="0">
                <a:solidFill>
                  <a:srgbClr val="7EC68E"/>
                </a:solidFill>
                <a:latin typeface="Consolas"/>
              </a:defRPr>
            </a:pPr>
            <a:r>
              <a:rPr dirty="0" err="1"/>
              <a:t>Suggerimenti</a:t>
            </a:r>
            <a:r>
              <a:rPr dirty="0"/>
              <a:t>:</a:t>
            </a:r>
            <a:br>
              <a:rPr dirty="0"/>
            </a:br>
            <a:br>
              <a:rPr dirty="0"/>
            </a:br>
            <a:r>
              <a:rPr dirty="0"/>
              <a:t>Usa il notebook per </a:t>
            </a:r>
            <a:r>
              <a:rPr dirty="0" err="1"/>
              <a:t>eseguire</a:t>
            </a:r>
            <a:r>
              <a:rPr dirty="0"/>
              <a:t> le</a:t>
            </a:r>
            <a:r>
              <a:rPr lang="en-US" dirty="0"/>
              <a:t> </a:t>
            </a:r>
            <a:r>
              <a:rPr dirty="0"/>
              <a:t>query con </a:t>
            </a:r>
            <a:r>
              <a:rPr dirty="0" err="1"/>
              <a:t>driver.execute_query</a:t>
            </a:r>
            <a:r>
              <a:rPr dirty="0"/>
              <a:t>()</a:t>
            </a:r>
            <a:br>
              <a:rPr dirty="0"/>
            </a:br>
            <a:br>
              <a:rPr dirty="0"/>
            </a:br>
            <a:r>
              <a:rPr dirty="0" err="1"/>
              <a:t>Oppure</a:t>
            </a:r>
            <a:r>
              <a:rPr dirty="0"/>
              <a:t> </a:t>
            </a:r>
            <a:r>
              <a:rPr dirty="0" err="1"/>
              <a:t>apri</a:t>
            </a:r>
            <a:r>
              <a:rPr dirty="0"/>
              <a:t> Neo4j Browser e </a:t>
            </a:r>
            <a:r>
              <a:rPr dirty="0" err="1"/>
              <a:t>incolla</a:t>
            </a:r>
            <a:r>
              <a:rPr lang="en-US" dirty="0"/>
              <a:t> </a:t>
            </a:r>
            <a:r>
              <a:rPr dirty="0" err="1"/>
              <a:t>direttamente</a:t>
            </a:r>
            <a:r>
              <a:rPr dirty="0"/>
              <a:t> il Cypher.</a:t>
            </a:r>
            <a:br>
              <a:rPr dirty="0"/>
            </a:br>
            <a:br>
              <a:rPr dirty="0"/>
            </a:br>
            <a:r>
              <a:rPr dirty="0"/>
              <a:t>Tutte le </a:t>
            </a:r>
            <a:r>
              <a:rPr dirty="0" err="1"/>
              <a:t>proprietà</a:t>
            </a:r>
            <a:r>
              <a:rPr dirty="0"/>
              <a:t> </a:t>
            </a:r>
            <a:r>
              <a:rPr dirty="0" err="1"/>
              <a:t>sono</a:t>
            </a:r>
            <a:r>
              <a:rPr dirty="0"/>
              <a:t> in inglese:</a:t>
            </a:r>
            <a:br>
              <a:rPr dirty="0"/>
            </a:br>
            <a:r>
              <a:rPr dirty="0"/>
              <a:t>  name, </a:t>
            </a:r>
            <a:r>
              <a:rPr dirty="0" err="1"/>
              <a:t>employee_id</a:t>
            </a:r>
            <a:r>
              <a:rPr dirty="0"/>
              <a:t>, location,</a:t>
            </a:r>
            <a:br>
              <a:rPr dirty="0"/>
            </a:br>
            <a:r>
              <a:rPr dirty="0"/>
              <a:t>  title, department, gender.</a:t>
            </a:r>
            <a:br>
              <a:rPr dirty="0"/>
            </a:br>
            <a:br>
              <a:rPr dirty="0"/>
            </a:br>
            <a:r>
              <a:rPr dirty="0"/>
              <a:t>Skill: HAS_SKILL {proficiency}</a:t>
            </a:r>
            <a:br>
              <a:rPr dirty="0"/>
            </a:br>
            <a:r>
              <a:rPr dirty="0" err="1"/>
              <a:t>Progetti</a:t>
            </a:r>
            <a:r>
              <a:rPr dirty="0"/>
              <a:t>: WORKED_ON {role}</a:t>
            </a:r>
            <a:br>
              <a:rPr dirty="0"/>
            </a:br>
            <a:r>
              <a:rPr dirty="0" err="1"/>
              <a:t>Riporti</a:t>
            </a:r>
            <a:r>
              <a:rPr dirty="0"/>
              <a:t>: REPORTS_TO</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Esercizi (2/2)</a:t>
            </a:r>
          </a:p>
        </p:txBody>
      </p:sp>
      <p:sp>
        <p:nvSpPr>
          <p:cNvPr id="3" name="TextBox 2"/>
          <p:cNvSpPr txBox="1"/>
          <p:nvPr/>
        </p:nvSpPr>
        <p:spPr>
          <a:xfrm>
            <a:off x="731520" y="1097280"/>
            <a:ext cx="5029200" cy="4493538"/>
          </a:xfrm>
          <a:prstGeom prst="rect">
            <a:avLst/>
          </a:prstGeom>
          <a:noFill/>
        </p:spPr>
        <p:txBody>
          <a:bodyPr wrap="square">
            <a:spAutoFit/>
          </a:bodyPr>
          <a:lstStyle/>
          <a:p>
            <a:pPr algn="l">
              <a:spcAft>
                <a:spcPts val="0"/>
              </a:spcAft>
              <a:defRPr sz="1100">
                <a:solidFill>
                  <a:srgbClr val="FFFFFF"/>
                </a:solidFill>
                <a:latin typeface="Calibri"/>
              </a:defRPr>
            </a:pPr>
            <a:r>
              <a:rPr b="1" dirty="0"/>
              <a:t>6. </a:t>
            </a:r>
            <a:r>
              <a:rPr b="1" u="sng" dirty="0"/>
              <a:t>Skill </a:t>
            </a:r>
            <a:r>
              <a:rPr b="1" u="sng" dirty="0" err="1"/>
              <a:t>più</a:t>
            </a:r>
            <a:r>
              <a:rPr b="1" u="sng" dirty="0"/>
              <a:t> diffuse (top 5)</a:t>
            </a:r>
          </a:p>
          <a:p>
            <a:pPr algn="l">
              <a:spcAft>
                <a:spcPts val="0"/>
              </a:spcAft>
              <a:defRPr sz="1100">
                <a:solidFill>
                  <a:srgbClr val="FFFFFF"/>
                </a:solidFill>
                <a:latin typeface="Calibri"/>
              </a:defRPr>
            </a:pPr>
            <a:endParaRPr lang="en-US" dirty="0"/>
          </a:p>
          <a:p>
            <a:pPr algn="l">
              <a:spcAft>
                <a:spcPts val="0"/>
              </a:spcAft>
              <a:defRPr sz="1100">
                <a:solidFill>
                  <a:srgbClr val="FFFFFF"/>
                </a:solidFill>
                <a:latin typeface="Calibri"/>
              </a:defRPr>
            </a:pPr>
            <a:r>
              <a:rPr dirty="0"/>
              <a:t>  MATCH (</a:t>
            </a:r>
            <a:r>
              <a:rPr dirty="0" err="1"/>
              <a:t>p:Person</a:t>
            </a:r>
            <a:r>
              <a:rPr dirty="0"/>
              <a:t>)-[:HAS_SKILL]-&gt;(</a:t>
            </a:r>
            <a:r>
              <a:rPr dirty="0" err="1"/>
              <a:t>s:Skill</a:t>
            </a:r>
            <a:r>
              <a:rPr dirty="0"/>
              <a:t>)</a:t>
            </a:r>
          </a:p>
          <a:p>
            <a:pPr algn="l">
              <a:spcAft>
                <a:spcPts val="0"/>
              </a:spcAft>
              <a:defRPr sz="1100">
                <a:solidFill>
                  <a:srgbClr val="FFFFFF"/>
                </a:solidFill>
                <a:latin typeface="Calibri"/>
              </a:defRPr>
            </a:pPr>
            <a:r>
              <a:rPr dirty="0"/>
              <a:t>  RETURN s.name, count(*) AS </a:t>
            </a:r>
            <a:r>
              <a:rPr dirty="0" err="1"/>
              <a:t>persone</a:t>
            </a:r>
            <a:endParaRPr dirty="0"/>
          </a:p>
          <a:p>
            <a:pPr algn="l">
              <a:spcAft>
                <a:spcPts val="0"/>
              </a:spcAft>
              <a:defRPr sz="1100">
                <a:solidFill>
                  <a:srgbClr val="FFFFFF"/>
                </a:solidFill>
                <a:latin typeface="Calibri"/>
              </a:defRPr>
            </a:pPr>
            <a:r>
              <a:rPr dirty="0"/>
              <a:t>  ORDER BY </a:t>
            </a:r>
            <a:r>
              <a:rPr dirty="0" err="1"/>
              <a:t>persone</a:t>
            </a:r>
            <a:r>
              <a:rPr dirty="0"/>
              <a:t> DESC LIMIT 5</a:t>
            </a:r>
          </a:p>
          <a:p>
            <a:pPr algn="l">
              <a:spcAft>
                <a:spcPts val="0"/>
              </a:spcAft>
              <a:defRPr sz="1100">
                <a:solidFill>
                  <a:srgbClr val="FFFFFF"/>
                </a:solidFill>
                <a:latin typeface="Calibri"/>
              </a:defRPr>
            </a:pPr>
            <a:endParaRPr lang="en-US" dirty="0"/>
          </a:p>
          <a:p>
            <a:pPr algn="l">
              <a:spcAft>
                <a:spcPts val="0"/>
              </a:spcAft>
              <a:defRPr sz="1100">
                <a:solidFill>
                  <a:srgbClr val="FFFFFF"/>
                </a:solidFill>
                <a:latin typeface="Calibri"/>
              </a:defRPr>
            </a:pPr>
            <a:endParaRPr dirty="0"/>
          </a:p>
          <a:p>
            <a:pPr algn="l">
              <a:spcAft>
                <a:spcPts val="0"/>
              </a:spcAft>
              <a:defRPr sz="1100">
                <a:solidFill>
                  <a:srgbClr val="FFFFFF"/>
                </a:solidFill>
                <a:latin typeface="Calibri"/>
              </a:defRPr>
            </a:pPr>
            <a:r>
              <a:rPr b="1" dirty="0"/>
              <a:t>7. </a:t>
            </a:r>
            <a:r>
              <a:rPr b="1" u="sng" dirty="0"/>
              <a:t>Media proficiency per skill</a:t>
            </a:r>
          </a:p>
          <a:p>
            <a:pPr algn="l">
              <a:spcAft>
                <a:spcPts val="0"/>
              </a:spcAft>
              <a:defRPr sz="1100">
                <a:solidFill>
                  <a:srgbClr val="FFFFFF"/>
                </a:solidFill>
                <a:latin typeface="Calibri"/>
              </a:defRPr>
            </a:pPr>
            <a:endParaRPr lang="en-US" dirty="0"/>
          </a:p>
          <a:p>
            <a:pPr algn="l">
              <a:spcAft>
                <a:spcPts val="0"/>
              </a:spcAft>
              <a:defRPr sz="1100">
                <a:solidFill>
                  <a:srgbClr val="FFFFFF"/>
                </a:solidFill>
                <a:latin typeface="Calibri"/>
              </a:defRPr>
            </a:pPr>
            <a:r>
              <a:rPr dirty="0"/>
              <a:t>  MATCH (</a:t>
            </a:r>
            <a:r>
              <a:rPr dirty="0" err="1"/>
              <a:t>p:Person</a:t>
            </a:r>
            <a:r>
              <a:rPr dirty="0"/>
              <a:t>)-[</a:t>
            </a:r>
            <a:r>
              <a:rPr dirty="0" err="1"/>
              <a:t>h:HAS_SKILL</a:t>
            </a:r>
            <a:r>
              <a:rPr dirty="0"/>
              <a:t>]-&gt;(</a:t>
            </a:r>
            <a:r>
              <a:rPr dirty="0" err="1"/>
              <a:t>s:Skill</a:t>
            </a:r>
            <a:r>
              <a:rPr dirty="0"/>
              <a:t>)</a:t>
            </a:r>
          </a:p>
          <a:p>
            <a:pPr algn="l">
              <a:spcAft>
                <a:spcPts val="0"/>
              </a:spcAft>
              <a:defRPr sz="1100">
                <a:solidFill>
                  <a:srgbClr val="FFFFFF"/>
                </a:solidFill>
                <a:latin typeface="Calibri"/>
              </a:defRPr>
            </a:pPr>
            <a:r>
              <a:rPr dirty="0"/>
              <a:t>  RETURN s.name, avg(</a:t>
            </a:r>
            <a:r>
              <a:rPr dirty="0" err="1"/>
              <a:t>h.proficiency</a:t>
            </a:r>
            <a:r>
              <a:rPr dirty="0"/>
              <a:t>), count(p)</a:t>
            </a:r>
          </a:p>
          <a:p>
            <a:pPr algn="l">
              <a:spcAft>
                <a:spcPts val="0"/>
              </a:spcAft>
              <a:defRPr sz="1100">
                <a:solidFill>
                  <a:srgbClr val="FFFFFF"/>
                </a:solidFill>
                <a:latin typeface="Calibri"/>
              </a:defRPr>
            </a:pPr>
            <a:r>
              <a:rPr dirty="0"/>
              <a:t>  ORDER BY avg(</a:t>
            </a:r>
            <a:r>
              <a:rPr dirty="0" err="1"/>
              <a:t>h.proficiency</a:t>
            </a:r>
            <a:r>
              <a:rPr dirty="0"/>
              <a:t>) DESC LIMIT 10</a:t>
            </a:r>
          </a:p>
          <a:p>
            <a:pPr algn="l">
              <a:spcAft>
                <a:spcPts val="0"/>
              </a:spcAft>
              <a:defRPr sz="1100">
                <a:solidFill>
                  <a:srgbClr val="FFFFFF"/>
                </a:solidFill>
                <a:latin typeface="Calibri"/>
              </a:defRPr>
            </a:pPr>
            <a:r>
              <a:rPr dirty="0"/>
              <a:t>  </a:t>
            </a:r>
          </a:p>
          <a:p>
            <a:pPr algn="l">
              <a:spcAft>
                <a:spcPts val="0"/>
              </a:spcAft>
              <a:defRPr sz="1100">
                <a:solidFill>
                  <a:srgbClr val="FFFFFF"/>
                </a:solidFill>
                <a:latin typeface="Calibri"/>
              </a:defRPr>
            </a:pPr>
            <a:r>
              <a:rPr b="1" dirty="0"/>
              <a:t>8. </a:t>
            </a:r>
            <a:r>
              <a:rPr b="1" u="sng" dirty="0" err="1"/>
              <a:t>Persone</a:t>
            </a:r>
            <a:r>
              <a:rPr b="1" u="sng" dirty="0"/>
              <a:t> </a:t>
            </a:r>
            <a:r>
              <a:rPr b="1" u="sng" dirty="0" err="1"/>
              <a:t>che</a:t>
            </a:r>
            <a:r>
              <a:rPr b="1" u="sng" dirty="0"/>
              <a:t> </a:t>
            </a:r>
            <a:r>
              <a:rPr b="1" u="sng" dirty="0" err="1"/>
              <a:t>condividono</a:t>
            </a:r>
            <a:r>
              <a:rPr b="1" u="sng" dirty="0"/>
              <a:t> un </a:t>
            </a:r>
            <a:r>
              <a:rPr b="1" u="sng" dirty="0" err="1"/>
              <a:t>progetto</a:t>
            </a:r>
            <a:endParaRPr b="1" u="sng" dirty="0"/>
          </a:p>
          <a:p>
            <a:pPr algn="l">
              <a:spcAft>
                <a:spcPts val="0"/>
              </a:spcAft>
              <a:defRPr sz="1100">
                <a:solidFill>
                  <a:srgbClr val="FFFFFF"/>
                </a:solidFill>
                <a:latin typeface="Calibri"/>
              </a:defRPr>
            </a:pPr>
            <a:endParaRPr lang="en-US" dirty="0"/>
          </a:p>
          <a:p>
            <a:pPr algn="l">
              <a:spcAft>
                <a:spcPts val="0"/>
              </a:spcAft>
              <a:defRPr sz="1100">
                <a:solidFill>
                  <a:srgbClr val="FFFFFF"/>
                </a:solidFill>
                <a:latin typeface="Calibri"/>
              </a:defRPr>
            </a:pPr>
            <a:r>
              <a:rPr dirty="0"/>
              <a:t>  MATCH (p1:Person)-[:WORKED_ON]-&gt;(</a:t>
            </a:r>
            <a:r>
              <a:rPr dirty="0" err="1"/>
              <a:t>proj:Project</a:t>
            </a:r>
            <a:r>
              <a:rPr dirty="0"/>
              <a:t>)</a:t>
            </a:r>
          </a:p>
          <a:p>
            <a:pPr algn="l">
              <a:spcAft>
                <a:spcPts val="0"/>
              </a:spcAft>
              <a:defRPr sz="1100">
                <a:solidFill>
                  <a:srgbClr val="FFFFFF"/>
                </a:solidFill>
                <a:latin typeface="Calibri"/>
              </a:defRPr>
            </a:pPr>
            <a:r>
              <a:rPr dirty="0"/>
              <a:t>    &lt;-[:WORKED_ON]-(p2:Person)</a:t>
            </a:r>
          </a:p>
          <a:p>
            <a:pPr algn="l">
              <a:spcAft>
                <a:spcPts val="0"/>
              </a:spcAft>
              <a:defRPr sz="1100">
                <a:solidFill>
                  <a:srgbClr val="FFFFFF"/>
                </a:solidFill>
                <a:latin typeface="Calibri"/>
              </a:defRPr>
            </a:pPr>
            <a:r>
              <a:rPr dirty="0"/>
              <a:t>  RETURN p1.name, p2.name, proj.name LIMIT 10</a:t>
            </a:r>
          </a:p>
          <a:p>
            <a:pPr algn="l">
              <a:spcAft>
                <a:spcPts val="0"/>
              </a:spcAft>
              <a:defRPr sz="1100">
                <a:solidFill>
                  <a:srgbClr val="FFFFFF"/>
                </a:solidFill>
                <a:latin typeface="Calibri"/>
              </a:defRPr>
            </a:pPr>
            <a:endParaRPr lang="en-US" dirty="0"/>
          </a:p>
          <a:p>
            <a:pPr algn="l">
              <a:spcAft>
                <a:spcPts val="0"/>
              </a:spcAft>
              <a:defRPr sz="1100">
                <a:solidFill>
                  <a:srgbClr val="FFFFFF"/>
                </a:solidFill>
                <a:latin typeface="Calibri"/>
              </a:defRPr>
            </a:pPr>
            <a:r>
              <a:rPr dirty="0"/>
              <a:t>  </a:t>
            </a:r>
          </a:p>
          <a:p>
            <a:pPr algn="l">
              <a:spcAft>
                <a:spcPts val="0"/>
              </a:spcAft>
              <a:defRPr sz="1100">
                <a:solidFill>
                  <a:srgbClr val="FFFFFF"/>
                </a:solidFill>
                <a:latin typeface="Calibri"/>
              </a:defRPr>
            </a:pPr>
            <a:r>
              <a:rPr lang="en-US" b="1" dirty="0"/>
              <a:t>9</a:t>
            </a:r>
            <a:r>
              <a:rPr b="1" dirty="0"/>
              <a:t>. </a:t>
            </a:r>
            <a:r>
              <a:rPr b="1" u="sng" dirty="0"/>
              <a:t>Crea un nuovo </a:t>
            </a:r>
            <a:r>
              <a:rPr b="1" u="sng" dirty="0" err="1"/>
              <a:t>nodo</a:t>
            </a:r>
            <a:r>
              <a:rPr b="1" u="sng" dirty="0"/>
              <a:t> Person e </a:t>
            </a:r>
            <a:r>
              <a:rPr b="1" u="sng" dirty="0" err="1"/>
              <a:t>dagli</a:t>
            </a:r>
            <a:r>
              <a:rPr b="1" u="sng" dirty="0"/>
              <a:t> </a:t>
            </a:r>
            <a:r>
              <a:rPr b="1" u="sng" dirty="0" err="1"/>
              <a:t>una</a:t>
            </a:r>
            <a:r>
              <a:rPr b="1" u="sng" dirty="0"/>
              <a:t> skill</a:t>
            </a:r>
          </a:p>
          <a:p>
            <a:pPr algn="l">
              <a:spcAft>
                <a:spcPts val="0"/>
              </a:spcAft>
              <a:defRPr sz="1100">
                <a:solidFill>
                  <a:srgbClr val="FFFFFF"/>
                </a:solidFill>
                <a:latin typeface="Calibri"/>
              </a:defRPr>
            </a:pPr>
            <a:endParaRPr lang="en-US" dirty="0"/>
          </a:p>
          <a:p>
            <a:pPr algn="l">
              <a:spcAft>
                <a:spcPts val="0"/>
              </a:spcAft>
              <a:defRPr sz="1100">
                <a:solidFill>
                  <a:srgbClr val="FFFFFF"/>
                </a:solidFill>
                <a:latin typeface="Calibri"/>
              </a:defRPr>
            </a:pPr>
            <a:r>
              <a:rPr dirty="0"/>
              <a:t>  MERGE (</a:t>
            </a:r>
            <a:r>
              <a:rPr dirty="0" err="1"/>
              <a:t>p:Person</a:t>
            </a:r>
            <a:r>
              <a:rPr dirty="0"/>
              <a:t> {</a:t>
            </a:r>
            <a:r>
              <a:rPr dirty="0" err="1"/>
              <a:t>employee_id</a:t>
            </a:r>
            <a:r>
              <a:rPr dirty="0"/>
              <a:t>: 999})</a:t>
            </a:r>
          </a:p>
          <a:p>
            <a:pPr algn="l">
              <a:spcAft>
                <a:spcPts val="0"/>
              </a:spcAft>
              <a:defRPr sz="1100">
                <a:solidFill>
                  <a:srgbClr val="FFFFFF"/>
                </a:solidFill>
                <a:latin typeface="Calibri"/>
              </a:defRPr>
            </a:pPr>
            <a:r>
              <a:rPr dirty="0"/>
              <a:t>  SET p.name = "Test"</a:t>
            </a:r>
          </a:p>
          <a:p>
            <a:pPr algn="l">
              <a:spcAft>
                <a:spcPts val="0"/>
              </a:spcAft>
              <a:defRPr sz="1100">
                <a:solidFill>
                  <a:srgbClr val="FFFFFF"/>
                </a:solidFill>
                <a:latin typeface="Calibri"/>
              </a:defRPr>
            </a:pPr>
            <a:r>
              <a:rPr dirty="0"/>
              <a:t>  MATCH (</a:t>
            </a:r>
            <a:r>
              <a:rPr dirty="0" err="1"/>
              <a:t>s:Skill</a:t>
            </a:r>
            <a:r>
              <a:rPr dirty="0"/>
              <a:t> {name: 'Python'})</a:t>
            </a:r>
          </a:p>
          <a:p>
            <a:pPr algn="l">
              <a:spcAft>
                <a:spcPts val="0"/>
              </a:spcAft>
              <a:defRPr sz="1100">
                <a:solidFill>
                  <a:srgbClr val="FFFFFF"/>
                </a:solidFill>
                <a:latin typeface="Calibri"/>
              </a:defRPr>
            </a:pPr>
            <a:r>
              <a:rPr dirty="0"/>
              <a:t>  MERGE (p)-[:HAS_SKILL {proficiency: 3}]-&gt;(s)</a:t>
            </a:r>
          </a:p>
        </p:txBody>
      </p:sp>
      <p:sp>
        <p:nvSpPr>
          <p:cNvPr id="4" name="TextBox 3"/>
          <p:cNvSpPr txBox="1"/>
          <p:nvPr/>
        </p:nvSpPr>
        <p:spPr>
          <a:xfrm>
            <a:off x="5669280" y="1097280"/>
            <a:ext cx="4846320" cy="2677656"/>
          </a:xfrm>
          <a:prstGeom prst="rect">
            <a:avLst/>
          </a:prstGeom>
          <a:noFill/>
        </p:spPr>
        <p:txBody>
          <a:bodyPr wrap="square">
            <a:spAutoFit/>
          </a:bodyPr>
          <a:lstStyle/>
          <a:p>
            <a:pPr algn="l">
              <a:defRPr sz="1200" b="0">
                <a:solidFill>
                  <a:srgbClr val="CCCCCC"/>
                </a:solidFill>
                <a:latin typeface="Calibri"/>
              </a:defRPr>
            </a:pPr>
            <a:r>
              <a:rPr dirty="0" err="1"/>
              <a:t>Obiettivi</a:t>
            </a:r>
            <a:r>
              <a:rPr dirty="0"/>
              <a:t> degli </a:t>
            </a:r>
            <a:r>
              <a:rPr dirty="0" err="1"/>
              <a:t>esercizi</a:t>
            </a:r>
            <a:r>
              <a:rPr dirty="0"/>
              <a:t>:</a:t>
            </a:r>
            <a:br>
              <a:rPr dirty="0"/>
            </a:br>
            <a:br>
              <a:rPr dirty="0"/>
            </a:br>
            <a:r>
              <a:rPr dirty="0"/>
              <a:t>1. </a:t>
            </a:r>
            <a:r>
              <a:rPr dirty="0" err="1"/>
              <a:t>Verificare</a:t>
            </a:r>
            <a:r>
              <a:rPr dirty="0"/>
              <a:t> la </a:t>
            </a:r>
            <a:r>
              <a:rPr dirty="0" err="1"/>
              <a:t>connessione</a:t>
            </a:r>
            <a:r>
              <a:rPr dirty="0"/>
              <a:t> al DB</a:t>
            </a:r>
            <a:br>
              <a:rPr dirty="0"/>
            </a:br>
            <a:r>
              <a:rPr dirty="0"/>
              <a:t>2. </a:t>
            </a:r>
            <a:r>
              <a:rPr dirty="0" err="1"/>
              <a:t>Filtrare</a:t>
            </a:r>
            <a:r>
              <a:rPr dirty="0"/>
              <a:t> con WHERE =, IN</a:t>
            </a:r>
            <a:br>
              <a:rPr dirty="0"/>
            </a:br>
            <a:r>
              <a:rPr dirty="0"/>
              <a:t>3. </a:t>
            </a:r>
            <a:r>
              <a:rPr dirty="0" err="1"/>
              <a:t>Raggruppare</a:t>
            </a:r>
            <a:r>
              <a:rPr dirty="0"/>
              <a:t> con count()</a:t>
            </a:r>
            <a:br>
              <a:rPr dirty="0"/>
            </a:br>
            <a:r>
              <a:rPr dirty="0"/>
              <a:t>4. </a:t>
            </a:r>
            <a:r>
              <a:rPr dirty="0" err="1"/>
              <a:t>Navigare</a:t>
            </a:r>
            <a:r>
              <a:rPr dirty="0"/>
              <a:t> </a:t>
            </a:r>
            <a:r>
              <a:rPr dirty="0" err="1"/>
              <a:t>relazioni</a:t>
            </a:r>
            <a:r>
              <a:rPr dirty="0"/>
              <a:t> HAS_SKILL</a:t>
            </a:r>
            <a:br>
              <a:rPr dirty="0"/>
            </a:br>
            <a:r>
              <a:rPr dirty="0"/>
              <a:t>5. </a:t>
            </a:r>
            <a:r>
              <a:rPr dirty="0" err="1"/>
              <a:t>Filtrare</a:t>
            </a:r>
            <a:r>
              <a:rPr dirty="0"/>
              <a:t> </a:t>
            </a:r>
            <a:r>
              <a:rPr dirty="0" err="1"/>
              <a:t>su</a:t>
            </a:r>
            <a:r>
              <a:rPr dirty="0"/>
              <a:t> nodi </a:t>
            </a:r>
            <a:r>
              <a:rPr dirty="0" err="1"/>
              <a:t>specifici</a:t>
            </a:r>
            <a:br>
              <a:rPr dirty="0"/>
            </a:br>
            <a:r>
              <a:rPr dirty="0"/>
              <a:t>6. </a:t>
            </a:r>
            <a:r>
              <a:rPr dirty="0" err="1"/>
              <a:t>Aggregare</a:t>
            </a:r>
            <a:r>
              <a:rPr dirty="0"/>
              <a:t> con ORDER BY + LIMIT</a:t>
            </a:r>
            <a:br>
              <a:rPr dirty="0"/>
            </a:br>
            <a:r>
              <a:rPr dirty="0"/>
              <a:t>7. Media </a:t>
            </a:r>
            <a:r>
              <a:rPr dirty="0" err="1"/>
              <a:t>su</a:t>
            </a:r>
            <a:r>
              <a:rPr dirty="0"/>
              <a:t> </a:t>
            </a:r>
            <a:r>
              <a:rPr dirty="0" err="1"/>
              <a:t>proprietà</a:t>
            </a:r>
            <a:r>
              <a:rPr dirty="0"/>
              <a:t> </a:t>
            </a:r>
            <a:r>
              <a:rPr dirty="0" err="1"/>
              <a:t>relazione</a:t>
            </a:r>
            <a:br>
              <a:rPr dirty="0"/>
            </a:br>
            <a:r>
              <a:rPr dirty="0"/>
              <a:t>8. Pattern multi-hop con </a:t>
            </a:r>
            <a:r>
              <a:rPr dirty="0" err="1"/>
              <a:t>progetto</a:t>
            </a:r>
            <a:r>
              <a:rPr dirty="0"/>
              <a:t> </a:t>
            </a:r>
            <a:r>
              <a:rPr dirty="0" err="1"/>
              <a:t>condiviso</a:t>
            </a:r>
            <a:br>
              <a:rPr dirty="0"/>
            </a:br>
            <a:r>
              <a:rPr dirty="0"/>
              <a:t>9. </a:t>
            </a:r>
            <a:r>
              <a:rPr dirty="0" err="1"/>
              <a:t>Scrivere</a:t>
            </a:r>
            <a:r>
              <a:rPr dirty="0"/>
              <a:t> </a:t>
            </a:r>
            <a:r>
              <a:rPr dirty="0" err="1"/>
              <a:t>dati</a:t>
            </a:r>
            <a:r>
              <a:rPr dirty="0"/>
              <a:t> con MERGE</a:t>
            </a:r>
            <a:br>
              <a:rPr dirty="0"/>
            </a:br>
            <a:br>
              <a:rPr dirty="0"/>
            </a:br>
            <a:r>
              <a:rPr dirty="0"/>
              <a:t>Tempo </a:t>
            </a:r>
            <a:r>
              <a:rPr dirty="0" err="1"/>
              <a:t>stimato</a:t>
            </a:r>
            <a:r>
              <a:rPr dirty="0"/>
              <a:t>: 20-30 </a:t>
            </a:r>
            <a:r>
              <a:rPr dirty="0" err="1"/>
              <a:t>minuti</a:t>
            </a:r>
            <a:r>
              <a:rPr dirty="0"/>
              <a:t>.</a:t>
            </a:r>
            <a:br>
              <a:rPr dirty="0"/>
            </a:br>
            <a:r>
              <a:rPr dirty="0"/>
              <a:t>Le </a:t>
            </a:r>
            <a:r>
              <a:rPr dirty="0" err="1"/>
              <a:t>soluzioni</a:t>
            </a:r>
            <a:r>
              <a:rPr dirty="0"/>
              <a:t> complete </a:t>
            </a:r>
            <a:r>
              <a:rPr dirty="0" err="1"/>
              <a:t>sono</a:t>
            </a:r>
            <a:r>
              <a:rPr dirty="0"/>
              <a:t> </a:t>
            </a:r>
            <a:r>
              <a:rPr dirty="0" err="1"/>
              <a:t>nel</a:t>
            </a:r>
            <a:r>
              <a:rPr lang="en-US" dirty="0"/>
              <a:t> </a:t>
            </a:r>
            <a:r>
              <a:rPr dirty="0"/>
              <a:t>notebook della </a:t>
            </a:r>
            <a:r>
              <a:rPr dirty="0" err="1"/>
              <a:t>Sessione</a:t>
            </a:r>
            <a:r>
              <a:rPr dirty="0"/>
              <a:t> 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TextBox 1"/>
          <p:cNvSpPr txBox="1"/>
          <p:nvPr/>
        </p:nvSpPr>
        <p:spPr>
          <a:xfrm>
            <a:off x="731520" y="320040"/>
            <a:ext cx="10515600" cy="594360"/>
          </a:xfrm>
          <a:prstGeom prst="rect">
            <a:avLst/>
          </a:prstGeom>
          <a:noFill/>
        </p:spPr>
        <p:txBody>
          <a:bodyPr wrap="square">
            <a:spAutoFit/>
          </a:bodyPr>
          <a:lstStyle/>
          <a:p>
            <a:pPr algn="l">
              <a:defRPr sz="3300" b="1">
                <a:solidFill>
                  <a:srgbClr val="F0C040"/>
                </a:solidFill>
                <a:latin typeface="Calibri"/>
              </a:defRPr>
            </a:pPr>
            <a:r>
              <a:t>Punti Chiave</a:t>
            </a:r>
          </a:p>
        </p:txBody>
      </p:sp>
      <p:sp>
        <p:nvSpPr>
          <p:cNvPr id="3" name="TextBox 2"/>
          <p:cNvSpPr txBox="1"/>
          <p:nvPr/>
        </p:nvSpPr>
        <p:spPr>
          <a:xfrm>
            <a:off x="731520" y="1051560"/>
            <a:ext cx="10515600" cy="5029200"/>
          </a:xfrm>
          <a:prstGeom prst="rect">
            <a:avLst/>
          </a:prstGeom>
          <a:noFill/>
        </p:spPr>
        <p:txBody>
          <a:bodyPr wrap="square">
            <a:spAutoFit/>
          </a:bodyPr>
          <a:lstStyle/>
          <a:p>
            <a:pPr algn="l">
              <a:spcAft>
                <a:spcPts val="800"/>
              </a:spcAft>
              <a:defRPr sz="1400">
                <a:solidFill>
                  <a:srgbClr val="FFFFFF"/>
                </a:solidFill>
                <a:latin typeface="Calibri"/>
              </a:defRPr>
            </a:pPr>
            <a:r>
              <a:rPr dirty="0"/>
              <a:t>•  DB a </a:t>
            </a:r>
            <a:r>
              <a:rPr dirty="0" err="1"/>
              <a:t>grafo</a:t>
            </a:r>
            <a:r>
              <a:rPr dirty="0"/>
              <a:t> </a:t>
            </a:r>
            <a:r>
              <a:rPr dirty="0" err="1"/>
              <a:t>eccellono</a:t>
            </a:r>
            <a:r>
              <a:rPr dirty="0"/>
              <a:t> con DATI CONNESSI — </a:t>
            </a:r>
            <a:r>
              <a:rPr dirty="0" err="1"/>
              <a:t>nessun</a:t>
            </a:r>
            <a:r>
              <a:rPr dirty="0"/>
              <a:t> JOIN </a:t>
            </a:r>
            <a:r>
              <a:rPr dirty="0" err="1"/>
              <a:t>costoso</a:t>
            </a:r>
            <a:r>
              <a:rPr dirty="0"/>
              <a:t>, traversal O(1) per hop</a:t>
            </a:r>
          </a:p>
          <a:p>
            <a:pPr algn="l">
              <a:spcAft>
                <a:spcPts val="800"/>
              </a:spcAft>
              <a:defRPr sz="1400">
                <a:solidFill>
                  <a:srgbClr val="FFFFFF"/>
                </a:solidFill>
                <a:latin typeface="Calibri"/>
              </a:defRPr>
            </a:pPr>
            <a:r>
              <a:rPr dirty="0"/>
              <a:t>•  Neo4j è un Property Graph: nodi + labels + </a:t>
            </a:r>
            <a:r>
              <a:rPr dirty="0" err="1"/>
              <a:t>relazioni</a:t>
            </a:r>
            <a:r>
              <a:rPr dirty="0"/>
              <a:t> + </a:t>
            </a:r>
            <a:r>
              <a:rPr dirty="0" err="1"/>
              <a:t>proprietà</a:t>
            </a:r>
            <a:r>
              <a:rPr dirty="0"/>
              <a:t> = </a:t>
            </a:r>
            <a:r>
              <a:rPr dirty="0" err="1"/>
              <a:t>tutto</a:t>
            </a:r>
            <a:r>
              <a:rPr dirty="0"/>
              <a:t> è </a:t>
            </a:r>
            <a:r>
              <a:rPr dirty="0" err="1"/>
              <a:t>dati</a:t>
            </a:r>
            <a:endParaRPr dirty="0"/>
          </a:p>
          <a:p>
            <a:pPr algn="l">
              <a:spcAft>
                <a:spcPts val="800"/>
              </a:spcAft>
              <a:defRPr sz="1400">
                <a:solidFill>
                  <a:srgbClr val="FFFFFF"/>
                </a:solidFill>
                <a:latin typeface="Calibri"/>
              </a:defRPr>
            </a:pPr>
            <a:r>
              <a:rPr dirty="0"/>
              <a:t>•  Le </a:t>
            </a:r>
            <a:r>
              <a:rPr dirty="0" err="1"/>
              <a:t>relazioni</a:t>
            </a:r>
            <a:r>
              <a:rPr dirty="0"/>
              <a:t> </a:t>
            </a:r>
            <a:r>
              <a:rPr dirty="0" err="1"/>
              <a:t>sono</a:t>
            </a:r>
            <a:r>
              <a:rPr dirty="0"/>
              <a:t> </a:t>
            </a:r>
            <a:r>
              <a:rPr dirty="0" err="1"/>
              <a:t>cittadini</a:t>
            </a:r>
            <a:r>
              <a:rPr dirty="0"/>
              <a:t> di prima </a:t>
            </a:r>
            <a:r>
              <a:rPr dirty="0" err="1"/>
              <a:t>classe</a:t>
            </a:r>
            <a:r>
              <a:rPr dirty="0"/>
              <a:t> — </a:t>
            </a:r>
            <a:r>
              <a:rPr dirty="0" err="1"/>
              <a:t>memorizzate</a:t>
            </a:r>
            <a:r>
              <a:rPr dirty="0"/>
              <a:t> </a:t>
            </a:r>
            <a:r>
              <a:rPr dirty="0" err="1"/>
              <a:t>fisicamente</a:t>
            </a:r>
            <a:r>
              <a:rPr dirty="0"/>
              <a:t>, non </a:t>
            </a:r>
            <a:r>
              <a:rPr dirty="0" err="1"/>
              <a:t>calcolate</a:t>
            </a:r>
            <a:endParaRPr dirty="0"/>
          </a:p>
          <a:p>
            <a:pPr algn="l">
              <a:spcAft>
                <a:spcPts val="800"/>
              </a:spcAft>
              <a:defRPr sz="1400">
                <a:solidFill>
                  <a:srgbClr val="FFFFFF"/>
                </a:solidFill>
                <a:latin typeface="Calibri"/>
              </a:defRPr>
            </a:pPr>
            <a:r>
              <a:rPr dirty="0"/>
              <a:t>•  Cypher è </a:t>
            </a:r>
            <a:r>
              <a:rPr dirty="0" err="1"/>
              <a:t>dichiarativo</a:t>
            </a:r>
            <a:r>
              <a:rPr dirty="0"/>
              <a:t>: </a:t>
            </a:r>
            <a:r>
              <a:rPr dirty="0" err="1"/>
              <a:t>descrivi</a:t>
            </a:r>
            <a:r>
              <a:rPr dirty="0"/>
              <a:t> il PATTERN, non il PERCORSO (MATCH (a)-[:R]-&gt;(b))</a:t>
            </a:r>
          </a:p>
          <a:p>
            <a:pPr algn="l">
              <a:spcAft>
                <a:spcPts val="800"/>
              </a:spcAft>
              <a:defRPr sz="1400">
                <a:solidFill>
                  <a:srgbClr val="FFFFFF"/>
                </a:solidFill>
                <a:latin typeface="Calibri"/>
              </a:defRPr>
            </a:pPr>
            <a:r>
              <a:rPr dirty="0"/>
              <a:t>•  MERGE è </a:t>
            </a:r>
            <a:r>
              <a:rPr dirty="0" err="1"/>
              <a:t>idempotente</a:t>
            </a:r>
            <a:r>
              <a:rPr dirty="0"/>
              <a:t> — </a:t>
            </a:r>
            <a:r>
              <a:rPr dirty="0" err="1"/>
              <a:t>preferiscilo</a:t>
            </a:r>
            <a:r>
              <a:rPr dirty="0"/>
              <a:t> a CREATE per </a:t>
            </a:r>
            <a:r>
              <a:rPr dirty="0" err="1"/>
              <a:t>caricamenti</a:t>
            </a:r>
            <a:r>
              <a:rPr dirty="0"/>
              <a:t> </a:t>
            </a:r>
            <a:r>
              <a:rPr dirty="0" err="1"/>
              <a:t>ripetuti</a:t>
            </a:r>
            <a:endParaRPr dirty="0"/>
          </a:p>
          <a:p>
            <a:pPr algn="l">
              <a:spcAft>
                <a:spcPts val="800"/>
              </a:spcAft>
              <a:defRPr sz="1400">
                <a:solidFill>
                  <a:srgbClr val="FFFFFF"/>
                </a:solidFill>
                <a:latin typeface="Calibri"/>
              </a:defRPr>
            </a:pPr>
            <a:r>
              <a:rPr dirty="0"/>
              <a:t>•  Constraint UNIQUE = </a:t>
            </a:r>
            <a:r>
              <a:rPr dirty="0" err="1"/>
              <a:t>indice</a:t>
            </a:r>
            <a:r>
              <a:rPr dirty="0"/>
              <a:t> </a:t>
            </a:r>
            <a:r>
              <a:rPr dirty="0" err="1"/>
              <a:t>automatico</a:t>
            </a:r>
            <a:r>
              <a:rPr dirty="0"/>
              <a:t> + </a:t>
            </a:r>
            <a:r>
              <a:rPr dirty="0" err="1"/>
              <a:t>protezione</a:t>
            </a:r>
            <a:r>
              <a:rPr dirty="0"/>
              <a:t> da </a:t>
            </a:r>
            <a:r>
              <a:rPr dirty="0" err="1"/>
              <a:t>duplicati</a:t>
            </a:r>
            <a:endParaRPr dirty="0"/>
          </a:p>
          <a:p>
            <a:pPr algn="l">
              <a:spcAft>
                <a:spcPts val="800"/>
              </a:spcAft>
              <a:defRPr sz="1400">
                <a:solidFill>
                  <a:srgbClr val="FFFFFF"/>
                </a:solidFill>
                <a:latin typeface="Calibri"/>
              </a:defRPr>
            </a:pPr>
            <a:r>
              <a:rPr dirty="0"/>
              <a:t>•  UNWIND batching = 300× </a:t>
            </a:r>
            <a:r>
              <a:rPr dirty="0" err="1"/>
              <a:t>più</a:t>
            </a:r>
            <a:r>
              <a:rPr dirty="0"/>
              <a:t> veloce del row-by-row (1.4s vs 440s)</a:t>
            </a:r>
          </a:p>
          <a:p>
            <a:pPr algn="l">
              <a:spcAft>
                <a:spcPts val="800"/>
              </a:spcAft>
              <a:defRPr sz="1400">
                <a:solidFill>
                  <a:srgbClr val="FFFFFF"/>
                </a:solidFill>
                <a:latin typeface="Calibri"/>
              </a:defRPr>
            </a:pPr>
            <a:r>
              <a:rPr dirty="0"/>
              <a:t>•  Neo4j Browser: </a:t>
            </a:r>
            <a:r>
              <a:rPr dirty="0" err="1"/>
              <a:t>esplorazione</a:t>
            </a:r>
            <a:r>
              <a:rPr dirty="0"/>
              <a:t> </a:t>
            </a:r>
            <a:r>
              <a:rPr dirty="0" err="1"/>
              <a:t>rapida</a:t>
            </a:r>
            <a:r>
              <a:rPr dirty="0"/>
              <a:t>, </a:t>
            </a:r>
            <a:r>
              <a:rPr dirty="0" err="1"/>
              <a:t>visualizzazione</a:t>
            </a:r>
            <a:r>
              <a:rPr dirty="0"/>
              <a:t> </a:t>
            </a:r>
            <a:r>
              <a:rPr dirty="0" err="1"/>
              <a:t>grafica</a:t>
            </a:r>
            <a:r>
              <a:rPr dirty="0"/>
              <a:t>, :play tutorial</a:t>
            </a:r>
          </a:p>
          <a:p>
            <a:pPr algn="l">
              <a:spcAft>
                <a:spcPts val="800"/>
              </a:spcAft>
              <a:defRPr sz="1400">
                <a:solidFill>
                  <a:srgbClr val="FFFFFF"/>
                </a:solidFill>
                <a:latin typeface="Calibri"/>
              </a:defRPr>
            </a:pPr>
            <a:r>
              <a:rPr dirty="0"/>
              <a:t>•  Il </a:t>
            </a:r>
            <a:r>
              <a:rPr dirty="0" err="1"/>
              <a:t>progetto</a:t>
            </a:r>
            <a:r>
              <a:rPr dirty="0"/>
              <a:t> Org Graph ci </a:t>
            </a:r>
            <a:r>
              <a:rPr dirty="0" err="1"/>
              <a:t>accompagnerà</a:t>
            </a:r>
            <a:r>
              <a:rPr dirty="0"/>
              <a:t> per </a:t>
            </a:r>
            <a:r>
              <a:rPr dirty="0" err="1"/>
              <a:t>tutto</a:t>
            </a:r>
            <a:r>
              <a:rPr dirty="0"/>
              <a:t> il </a:t>
            </a:r>
            <a:r>
              <a:rPr dirty="0" err="1"/>
              <a:t>corso</a:t>
            </a:r>
            <a:r>
              <a:rPr dirty="0"/>
              <a:t> — 238 </a:t>
            </a:r>
            <a:r>
              <a:rPr dirty="0" err="1"/>
              <a:t>persone</a:t>
            </a:r>
            <a:r>
              <a:rPr dirty="0"/>
              <a:t>, 93 </a:t>
            </a:r>
            <a:r>
              <a:rPr dirty="0" err="1"/>
              <a:t>progetti</a:t>
            </a:r>
            <a:r>
              <a:rPr dirty="0"/>
              <a:t>, 55 skill</a:t>
            </a:r>
          </a:p>
          <a:p>
            <a:pPr algn="l">
              <a:spcAft>
                <a:spcPts val="800"/>
              </a:spcAft>
              <a:defRPr sz="1400">
                <a:solidFill>
                  <a:srgbClr val="FFFFFF"/>
                </a:solidFill>
                <a:latin typeface="Calibri"/>
              </a:defRPr>
            </a:pPr>
            <a:r>
              <a:rPr dirty="0"/>
              <a:t>•  Tutte le </a:t>
            </a:r>
            <a:r>
              <a:rPr dirty="0" err="1"/>
              <a:t>proprietà</a:t>
            </a:r>
            <a:r>
              <a:rPr dirty="0"/>
              <a:t> </a:t>
            </a:r>
            <a:r>
              <a:rPr dirty="0" err="1"/>
              <a:t>sono</a:t>
            </a:r>
            <a:r>
              <a:rPr dirty="0"/>
              <a:t> in inglese (name, </a:t>
            </a:r>
            <a:r>
              <a:rPr dirty="0" err="1"/>
              <a:t>employee_id</a:t>
            </a:r>
            <a:r>
              <a:rPr dirty="0"/>
              <a:t>, location, title, proficiency)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
        <p:cNvGrpSpPr/>
        <p:nvPr/>
      </p:nvGrpSpPr>
      <p:grpSpPr>
        <a:xfrm>
          <a:off x="0" y="0"/>
          <a:ext cx="0" cy="0"/>
          <a:chOff x="0" y="0"/>
          <a:chExt cx="0" cy="0"/>
        </a:xfrm>
      </p:grpSpPr>
      <p:sp>
        <p:nvSpPr>
          <p:cNvPr id="2" name="Rectangle 1"/>
          <p:cNvSpPr/>
          <p:nvPr/>
        </p:nvSpPr>
        <p:spPr>
          <a:xfrm>
            <a:off x="731520" y="2377440"/>
            <a:ext cx="10698480" cy="36576"/>
          </a:xfrm>
          <a:prstGeom prst="rect">
            <a:avLst/>
          </a:prstGeom>
          <a:solidFill>
            <a:srgbClr val="F0C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731520"/>
            <a:ext cx="10058400" cy="1097280"/>
          </a:xfrm>
          <a:prstGeom prst="rect">
            <a:avLst/>
          </a:prstGeom>
          <a:noFill/>
        </p:spPr>
        <p:txBody>
          <a:bodyPr wrap="square">
            <a:spAutoFit/>
          </a:bodyPr>
          <a:lstStyle/>
          <a:p>
            <a:pPr algn="ctr">
              <a:defRPr sz="4200" b="1">
                <a:solidFill>
                  <a:srgbClr val="F0C040"/>
                </a:solidFill>
                <a:latin typeface="Calibri"/>
              </a:defRPr>
            </a:pPr>
            <a:r>
              <a:t>Alla prossima!</a:t>
            </a:r>
          </a:p>
        </p:txBody>
      </p:sp>
      <p:sp>
        <p:nvSpPr>
          <p:cNvPr id="4" name="TextBox 3"/>
          <p:cNvSpPr txBox="1"/>
          <p:nvPr/>
        </p:nvSpPr>
        <p:spPr>
          <a:xfrm>
            <a:off x="914400" y="2651760"/>
            <a:ext cx="10058400" cy="548640"/>
          </a:xfrm>
          <a:prstGeom prst="rect">
            <a:avLst/>
          </a:prstGeom>
          <a:noFill/>
        </p:spPr>
        <p:txBody>
          <a:bodyPr wrap="square">
            <a:spAutoFit/>
          </a:bodyPr>
          <a:lstStyle/>
          <a:p>
            <a:pPr algn="ctr">
              <a:defRPr sz="2400" b="0">
                <a:solidFill>
                  <a:srgbClr val="FFFFFF"/>
                </a:solidFill>
                <a:latin typeface="Calibri"/>
              </a:defRPr>
            </a:pPr>
            <a:r>
              <a:t>Sessione 2: Cypher: Da Basi a Query Reali</a:t>
            </a:r>
          </a:p>
        </p:txBody>
      </p:sp>
      <p:sp>
        <p:nvSpPr>
          <p:cNvPr id="5" name="TextBox 4"/>
          <p:cNvSpPr txBox="1"/>
          <p:nvPr/>
        </p:nvSpPr>
        <p:spPr>
          <a:xfrm>
            <a:off x="2286000" y="3566160"/>
            <a:ext cx="8229600" cy="2286000"/>
          </a:xfrm>
          <a:prstGeom prst="rect">
            <a:avLst/>
          </a:prstGeom>
          <a:noFill/>
        </p:spPr>
        <p:txBody>
          <a:bodyPr wrap="square">
            <a:spAutoFit/>
          </a:bodyPr>
          <a:lstStyle/>
          <a:p>
            <a:pPr algn="l">
              <a:spcAft>
                <a:spcPts val="1200"/>
              </a:spcAft>
              <a:defRPr sz="1400">
                <a:solidFill>
                  <a:srgbClr val="CCCCCC"/>
                </a:solidFill>
                <a:latin typeface="Calibri"/>
              </a:defRPr>
            </a:pPr>
            <a:r>
              <a:t>•  Pattern matching avanzato (path variables, shortestPath)</a:t>
            </a:r>
          </a:p>
          <a:p>
            <a:pPr algn="l">
              <a:spcAft>
                <a:spcPts val="1200"/>
              </a:spcAft>
              <a:defRPr sz="1400">
                <a:solidFill>
                  <a:srgbClr val="CCCCCC"/>
                </a:solidFill>
                <a:latin typeface="Calibri"/>
              </a:defRPr>
            </a:pPr>
            <a:r>
              <a:t>•  Aggregazioni complesse e subquery</a:t>
            </a:r>
          </a:p>
          <a:p>
            <a:pPr algn="l">
              <a:spcAft>
                <a:spcPts val="1200"/>
              </a:spcAft>
              <a:defRPr sz="1400">
                <a:solidFill>
                  <a:srgbClr val="CCCCCC"/>
                </a:solidFill>
                <a:latin typeface="Calibri"/>
              </a:defRPr>
            </a:pPr>
            <a:r>
              <a:t>•  Date, liste, map in Cypher</a:t>
            </a:r>
          </a:p>
          <a:p>
            <a:pPr algn="l">
              <a:spcAft>
                <a:spcPts val="1200"/>
              </a:spcAft>
              <a:defRPr sz="1400">
                <a:solidFill>
                  <a:srgbClr val="CCCCCC"/>
                </a:solidFill>
                <a:latin typeface="Calibri"/>
              </a:defRPr>
            </a:pPr>
            <a:r>
              <a:t>•  Query tuning con PROFILE ed EXPLAIN</a:t>
            </a:r>
          </a:p>
          <a:p>
            <a:pPr algn="l">
              <a:spcAft>
                <a:spcPts val="1200"/>
              </a:spcAft>
              <a:defRPr sz="1400">
                <a:solidFill>
                  <a:srgbClr val="CCCCCC"/>
                </a:solidFill>
                <a:latin typeface="Calibri"/>
              </a:defRPr>
            </a:pPr>
            <a:r>
              <a:t>•  APOC: procedure standard di Neo4j</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tIjPmYduDEihDAvnsmSIN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MCiS0.yx0EOD8F1j3NQrH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zz079BM2o06hslZIU5JQRQ"/>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AWS Summit">
  <a:themeElements>
    <a:clrScheme name="Summits 2023">
      <a:dk1>
        <a:sysClr val="windowText" lastClr="000000"/>
      </a:dk1>
      <a:lt1>
        <a:sysClr val="window" lastClr="FFFFFF"/>
      </a:lt1>
      <a:dk2>
        <a:srgbClr val="000036"/>
      </a:dk2>
      <a:lt2>
        <a:srgbClr val="F2F4F4"/>
      </a:lt2>
      <a:accent1>
        <a:srgbClr val="289EFF"/>
      </a:accent1>
      <a:accent2>
        <a:srgbClr val="0D9F91"/>
      </a:accent2>
      <a:accent3>
        <a:srgbClr val="7E4FF3"/>
      </a:accent3>
      <a:accent4>
        <a:srgbClr val="DB2BB6"/>
      </a:accent4>
      <a:accent5>
        <a:srgbClr val="3B3BA8"/>
      </a:accent5>
      <a:accent6>
        <a:srgbClr val="FFAE00"/>
      </a:accent6>
      <a:hlink>
        <a:srgbClr val="289EFF"/>
      </a:hlink>
      <a:folHlink>
        <a:srgbClr val="289EFF"/>
      </a:folHlink>
    </a:clrScheme>
    <a:fontScheme name="Ember Display Heavy Normal">
      <a:majorFont>
        <a:latin typeface="Amazon Ember Display Heavy"/>
        <a:ea typeface=""/>
        <a:cs typeface=""/>
      </a:majorFont>
      <a:minorFont>
        <a:latin typeface="Amazon Ember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a:noFill/>
        </a:ln>
      </a:spPr>
      <a:bodyPr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cap="rnd">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spAutoFit/>
      </a:bodyPr>
      <a:lstStyle>
        <a:defPPr algn="ctr">
          <a:defRPr dirty="0" err="1" smtClean="0"/>
        </a:defPPr>
      </a:lstStyle>
    </a:txDef>
  </a:objectDefaults>
  <a:extraClrSchemeLst/>
  <a:extLst>
    <a:ext uri="{05A4C25C-085E-4340-85A3-A5531E510DB2}">
      <thm15:themeFamily xmlns:thm15="http://schemas.microsoft.com/office/thememl/2012/main" name="Summits2023_Template_E5_20221104.potx" id="{A56BE9F4-D30D-4077-9DE6-56BC56D8BE09}" vid="{A27EAEEB-49CB-4ED0-B294-A2D0142F5203}"/>
    </a:ext>
  </a:extLst>
</a:theme>
</file>

<file path=docMetadata/LabelInfo.xml><?xml version="1.0" encoding="utf-8"?>
<clbl:labelList xmlns:clbl="http://schemas.microsoft.com/office/2020/mipLabelMetadata">
  <clbl:label id="{bb5d96ea-ab39-44a0-a6d6-b6f0aac5958b}"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98</TotalTime>
  <Words>6048</Words>
  <Application>Microsoft Office PowerPoint</Application>
  <PresentationFormat>Widescreen</PresentationFormat>
  <Paragraphs>575</Paragraphs>
  <Slides>27</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27</vt:i4>
      </vt:variant>
    </vt:vector>
  </HeadingPairs>
  <TitlesOfParts>
    <vt:vector size="34" baseType="lpstr">
      <vt:lpstr>Amazon Ember Display</vt:lpstr>
      <vt:lpstr>Arial</vt:lpstr>
      <vt:lpstr>Helvetica Light</vt:lpstr>
      <vt:lpstr>Ubuntu</vt:lpstr>
      <vt:lpstr>Wingdings</vt:lpstr>
      <vt:lpstr>1_AWS Summit</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BOCCHI, LEONARDO</dc:creator>
  <cp:lastModifiedBy>BOCCHI, LEONARDO</cp:lastModifiedBy>
  <cp:revision>3</cp:revision>
  <dcterms:created xsi:type="dcterms:W3CDTF">2026-07-10T07:18:38Z</dcterms:created>
  <dcterms:modified xsi:type="dcterms:W3CDTF">2026-07-22T09:56:36Z</dcterms:modified>
</cp:coreProperties>
</file>