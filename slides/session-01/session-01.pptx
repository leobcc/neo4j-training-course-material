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600" b="1">
                <a:solidFill>
                  <a:srgbClr val="F0C040"/>
                </a:solidFill>
                <a:latin typeface="Calibri"/>
              </a:defRPr>
            </a:pPr>
            <a:r>
              <a:t>Neo4j Fondamentali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1: Primi Passi con i Grafi</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Database a grafo, Cypher e l’ecosistema Neo4j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1051560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Cosa sono i database a grafo</a:t>
            </a:r>
          </a:p>
          <a:p>
            <a:pPr algn="l">
              <a:spcAft>
                <a:spcPts val="1300"/>
              </a:spcAft>
              <a:defRPr sz="1500">
                <a:solidFill>
                  <a:srgbClr val="FFFFFF"/>
                </a:solidFill>
                <a:latin typeface="Calibri"/>
              </a:defRPr>
            </a:pPr>
            <a:r>
              <a:t>•  Property Graph Model: nodi, relazioni, labels</a:t>
            </a:r>
          </a:p>
          <a:p>
            <a:pPr algn="l">
              <a:spcAft>
                <a:spcPts val="1300"/>
              </a:spcAft>
              <a:defRPr sz="1500">
                <a:solidFill>
                  <a:srgbClr val="FFFFFF"/>
                </a:solidFill>
                <a:latin typeface="Calibri"/>
              </a:defRPr>
            </a:pPr>
            <a:r>
              <a:t>•  Perché Neo4j vs DB relazionali</a:t>
            </a:r>
          </a:p>
          <a:p>
            <a:pPr algn="l">
              <a:spcAft>
                <a:spcPts val="1300"/>
              </a:spcAft>
              <a:defRPr sz="1500">
                <a:solidFill>
                  <a:srgbClr val="FFFFFF"/>
                </a:solidFill>
                <a:latin typeface="Calibri"/>
              </a:defRPr>
            </a:pPr>
            <a:r>
              <a:t>•  Ecosistema Neo4j (Browser, AuraDB, Bloom)</a:t>
            </a:r>
          </a:p>
          <a:p>
            <a:pPr algn="l">
              <a:spcAft>
                <a:spcPts val="1300"/>
              </a:spcAft>
              <a:defRPr sz="1500">
                <a:solidFill>
                  <a:srgbClr val="FFFFFF"/>
                </a:solidFill>
                <a:latin typeface="Calibri"/>
              </a:defRPr>
            </a:pPr>
            <a:r>
              <a:t>•  Cypher: pattern matching per leggere/scrivere</a:t>
            </a:r>
          </a:p>
          <a:p>
            <a:pPr algn="l">
              <a:spcAft>
                <a:spcPts val="1300"/>
              </a:spcAft>
              <a:defRPr sz="1500">
                <a:solidFill>
                  <a:srgbClr val="FFFFFF"/>
                </a:solidFill>
                <a:latin typeface="Calibri"/>
              </a:defRPr>
            </a:pPr>
            <a:r>
              <a:t>•  Constraints e indici</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Connettersi a Neo4j con Python</a:t>
            </a:r>
          </a:p>
          <a:p>
            <a:pPr algn="l">
              <a:spcAft>
                <a:spcPts val="1300"/>
              </a:spcAft>
              <a:defRPr sz="1500">
                <a:solidFill>
                  <a:srgbClr val="FFFFFF"/>
                </a:solidFill>
                <a:latin typeface="Calibri"/>
              </a:defRPr>
            </a:pPr>
            <a:r>
              <a:t>•  MATCH, WHERE, RETURN: prime query</a:t>
            </a:r>
          </a:p>
          <a:p>
            <a:pPr algn="l">
              <a:spcAft>
                <a:spcPts val="1300"/>
              </a:spcAft>
              <a:defRPr sz="1500">
                <a:solidFill>
                  <a:srgbClr val="FFFFFF"/>
                </a:solidFill>
                <a:latin typeface="Calibri"/>
              </a:defRPr>
            </a:pPr>
            <a:r>
              <a:t>•  MERGE, CREATE: scrivere dati</a:t>
            </a:r>
          </a:p>
          <a:p>
            <a:pPr algn="l">
              <a:spcAft>
                <a:spcPts val="1300"/>
              </a:spcAft>
              <a:defRPr sz="1500">
                <a:solidFill>
                  <a:srgbClr val="FFFFFF"/>
                </a:solidFill>
                <a:latin typeface="Calibri"/>
              </a:defRPr>
            </a:pPr>
            <a:r>
              <a:t>•  UNWIND batching per caricamenti bulk</a:t>
            </a:r>
          </a:p>
          <a:p>
            <a:pPr algn="l">
              <a:spcAft>
                <a:spcPts val="1300"/>
              </a:spcAft>
              <a:defRPr sz="1500">
                <a:solidFill>
                  <a:srgbClr val="FFFFFF"/>
                </a:solidFill>
                <a:latin typeface="Calibri"/>
              </a:defRPr>
            </a:pPr>
            <a:r>
              <a:t>•  Neo4j Browser: esplorare il grafo</a:t>
            </a:r>
          </a:p>
          <a:p>
            <a:pPr algn="l">
              <a:spcAft>
                <a:spcPts val="1300"/>
              </a:spcAft>
              <a:defRPr sz="1500">
                <a:solidFill>
                  <a:srgbClr val="FFFFFF"/>
                </a:solidFill>
                <a:latin typeface="Calibri"/>
              </a:defRPr>
            </a:pPr>
            <a:r>
              <a:t>•  Dataset: Org Graph e Movie Graph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Cosa sono i database a grafo?</a:t>
            </a:r>
          </a:p>
        </p:txBody>
      </p:sp>
      <p:sp>
        <p:nvSpPr>
          <p:cNvPr id="3" name="TextBox 2"/>
          <p:cNvSpPr txBox="1"/>
          <p:nvPr/>
        </p:nvSpPr>
        <p:spPr>
          <a:xfrm>
            <a:off x="731520" y="1051560"/>
            <a:ext cx="10515600" cy="365760"/>
          </a:xfrm>
          <a:prstGeom prst="rect">
            <a:avLst/>
          </a:prstGeom>
          <a:noFill/>
        </p:spPr>
        <p:txBody>
          <a:bodyPr wrap="square">
            <a:spAutoFit/>
          </a:bodyPr>
          <a:lstStyle/>
          <a:p>
            <a:pPr algn="l">
              <a:defRPr sz="1500" b="0">
                <a:solidFill>
                  <a:srgbClr val="CCCCCC"/>
                </a:solidFill>
                <a:latin typeface="Calibri"/>
              </a:defRPr>
            </a:pPr>
            <a:r>
              <a:t>Un grafo è composto da due elementi fondamentali:</a:t>
            </a:r>
          </a:p>
        </p:txBody>
      </p:sp>
      <p:sp>
        <p:nvSpPr>
          <p:cNvPr id="4" name="TextBox 3"/>
          <p:cNvSpPr txBox="1"/>
          <p:nvPr/>
        </p:nvSpPr>
        <p:spPr>
          <a:xfrm>
            <a:off x="731520" y="1554480"/>
            <a:ext cx="5029200" cy="1828800"/>
          </a:xfrm>
          <a:prstGeom prst="rect">
            <a:avLst/>
          </a:prstGeom>
          <a:noFill/>
        </p:spPr>
        <p:txBody>
          <a:bodyPr wrap="square">
            <a:spAutoFit/>
          </a:bodyPr>
          <a:lstStyle/>
          <a:p>
            <a:pPr algn="l">
              <a:spcAft>
                <a:spcPts val="800"/>
              </a:spcAft>
              <a:defRPr sz="1400">
                <a:solidFill>
                  <a:srgbClr val="FFFFFF"/>
                </a:solidFill>
                <a:latin typeface="Calibri"/>
              </a:defRPr>
            </a:pPr>
            <a:r>
              <a:t>•  Nodi (vertices) — rappresentano entità (persone, progetti, skill)</a:t>
            </a:r>
          </a:p>
          <a:p>
            <a:pPr algn="l">
              <a:spcAft>
                <a:spcPts val="800"/>
              </a:spcAft>
              <a:defRPr sz="1400">
                <a:solidFill>
                  <a:srgbClr val="FFFFFF"/>
                </a:solidFill>
                <a:latin typeface="Calibri"/>
              </a:defRPr>
            </a:pPr>
            <a:r>
              <a:t>•  Relazioni (edges) — rappresentano connessioni tra entità</a:t>
            </a:r>
          </a:p>
          <a:p>
            <a:pPr algn="l">
              <a:spcAft>
                <a:spcPts val="800"/>
              </a:spcAft>
              <a:defRPr sz="1400">
                <a:solidFill>
                  <a:srgbClr val="FFFFFF"/>
                </a:solidFill>
                <a:latin typeface="Calibri"/>
              </a:defRPr>
            </a:pPr>
            <a:r>
              <a:t>•  Entrambi possono avere proprietà (coppie chiave-valore)</a:t>
            </a:r>
          </a:p>
          <a:p>
            <a:pPr algn="l">
              <a:spcAft>
                <a:spcPts val="800"/>
              </a:spcAft>
              <a:defRPr sz="1400">
                <a:solidFill>
                  <a:srgbClr val="FFFFFF"/>
                </a:solidFill>
                <a:latin typeface="Calibri"/>
              </a:defRPr>
            </a:pPr>
            <a:r>
              <a:t>•  Le relazioni sono cittadini di prima classe — hanno sempre un tipo e una direzione</a:t>
            </a:r>
          </a:p>
        </p:txBody>
      </p:sp>
      <p:sp>
        <p:nvSpPr>
          <p:cNvPr id="5" name="TextBox 4"/>
          <p:cNvSpPr txBox="1"/>
          <p:nvPr/>
        </p:nvSpPr>
        <p:spPr>
          <a:xfrm>
            <a:off x="5669280" y="1554480"/>
            <a:ext cx="4846320" cy="1828800"/>
          </a:xfrm>
          <a:prstGeom prst="rect">
            <a:avLst/>
          </a:prstGeom>
          <a:noFill/>
        </p:spPr>
        <p:txBody>
          <a:bodyPr wrap="square">
            <a:spAutoFit/>
          </a:bodyPr>
          <a:lstStyle/>
          <a:p>
            <a:pPr algn="l">
              <a:defRPr sz="1100" b="0">
                <a:solidFill>
                  <a:srgbClr val="CCCCCC"/>
                </a:solidFill>
                <a:latin typeface="Consolas"/>
              </a:defRPr>
            </a:pPr>
            <a:r>
              <a:t>Esempio: grafo e-commerce</a:t>
            </a:r>
            <a:br/>
            <a:br/>
            <a:r>
              <a:t>  (Cliente) —[:ACQUISTA]→ (Ordine) —[:ORDINA]→ (Prodotto)</a:t>
            </a:r>
            <a:br/>
            <a:r>
              <a:t>                                     ↑</a:t>
            </a:r>
            <a:br/>
            <a:r>
              <a:t>                              [:FORNISCE]</a:t>
            </a:r>
            <a:br/>
            <a:r>
              <a:t>                                     ↑</a:t>
            </a:r>
            <a:br/>
            <a:r>
              <a:t>                                  (Fornitore)</a:t>
            </a:r>
            <a:br/>
            <a:br/>
            <a:r>
              <a:t>Ogni entità è un nodo, ogni verbo è una relazione direzionale.</a:t>
            </a:r>
          </a:p>
        </p:txBody>
      </p:sp>
      <p:sp>
        <p:nvSpPr>
          <p:cNvPr id="6" name="Rectangle 5"/>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515600" cy="411480"/>
          </a:xfrm>
          <a:prstGeom prst="rect">
            <a:avLst/>
          </a:prstGeom>
          <a:noFill/>
        </p:spPr>
        <p:txBody>
          <a:bodyPr wrap="square">
            <a:spAutoFit/>
          </a:bodyPr>
          <a:lstStyle/>
          <a:p>
            <a:pPr algn="l">
              <a:defRPr sz="2000" b="1">
                <a:solidFill>
                  <a:srgbClr val="F08040"/>
                </a:solidFill>
                <a:latin typeface="Calibri"/>
              </a:defRPr>
            </a:pPr>
            <a:r>
              <a:t>Esempi reali di dati connessi</a:t>
            </a:r>
          </a:p>
        </p:txBody>
      </p:sp>
      <p:sp>
        <p:nvSpPr>
          <p:cNvPr id="8" name="TextBox 7"/>
          <p:cNvSpPr txBox="1"/>
          <p:nvPr/>
        </p:nvSpPr>
        <p:spPr>
          <a:xfrm>
            <a:off x="731520" y="4663440"/>
            <a:ext cx="10515600" cy="1371600"/>
          </a:xfrm>
          <a:prstGeom prst="rect">
            <a:avLst/>
          </a:prstGeom>
          <a:noFill/>
        </p:spPr>
        <p:txBody>
          <a:bodyPr wrap="square">
            <a:spAutoFit/>
          </a:bodyPr>
          <a:lstStyle/>
          <a:p>
            <a:pPr algn="l">
              <a:spcAft>
                <a:spcPts val="300"/>
              </a:spcAft>
              <a:defRPr sz="1300">
                <a:solidFill>
                  <a:srgbClr val="FFFFFF"/>
                </a:solidFill>
                <a:latin typeface="Calibri"/>
              </a:defRPr>
            </a:pPr>
            <a:r>
              <a:t>•  Social network: persone, amicizie, like, condivisioni</a:t>
            </a:r>
          </a:p>
          <a:p>
            <a:pPr algn="l">
              <a:spcAft>
                <a:spcPts val="300"/>
              </a:spcAft>
              <a:defRPr sz="1300">
                <a:solidFill>
                  <a:srgbClr val="FFFFFF"/>
                </a:solidFill>
                <a:latin typeface="Calibri"/>
              </a:defRPr>
            </a:pPr>
            <a:r>
              <a:t>•  Organigramma aziendale: impiegati, team, manager, riporti</a:t>
            </a:r>
          </a:p>
          <a:p>
            <a:pPr algn="l">
              <a:spcAft>
                <a:spcPts val="300"/>
              </a:spcAft>
              <a:defRPr sz="1300">
                <a:solidFill>
                  <a:srgbClr val="FFFFFF"/>
                </a:solidFill>
                <a:latin typeface="Calibri"/>
              </a:defRPr>
            </a:pPr>
            <a:r>
              <a:t>•  Raccomandazioni: prodotti, acquisti, preferenze simili</a:t>
            </a:r>
          </a:p>
          <a:p>
            <a:pPr algn="l">
              <a:spcAft>
                <a:spcPts val="300"/>
              </a:spcAft>
              <a:defRPr sz="1300">
                <a:solidFill>
                  <a:srgbClr val="FFFFFF"/>
                </a:solidFill>
                <a:latin typeface="Calibri"/>
              </a:defRPr>
            </a:pPr>
            <a:r>
              <a:t>•  Frode finanziaria: transazioni, conti, dispositivi, 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Il problema: JOIN nei DB relazionali</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Nei database relazionali, le relazioni tra entità sono calcolate al momento della query via JOIN.</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Ogni JOIN confronta una tabella con un’altra usando un indice</a:t>
            </a:r>
          </a:p>
          <a:p>
            <a:pPr algn="l">
              <a:spcAft>
                <a:spcPts val="700"/>
              </a:spcAft>
              <a:defRPr sz="1300">
                <a:solidFill>
                  <a:srgbClr val="FFFFFF"/>
                </a:solidFill>
                <a:latin typeface="Calibri"/>
              </a:defRPr>
            </a:pPr>
            <a:r>
              <a:t>•  Per navigare profondità 3 (amico dell’amico dell’amico) servono 3 JOIN</a:t>
            </a:r>
          </a:p>
          <a:p>
            <a:pPr algn="l">
              <a:spcAft>
                <a:spcPts val="700"/>
              </a:spcAft>
              <a:defRPr sz="1300">
                <a:solidFill>
                  <a:srgbClr val="FFFFFF"/>
                </a:solidFill>
                <a:latin typeface="Calibri"/>
              </a:defRPr>
            </a:pPr>
            <a:r>
              <a:t>•  Il costo cresce esponenzialmente con la profondità</a:t>
            </a:r>
          </a:p>
          <a:p>
            <a:pPr algn="l">
              <a:spcAft>
                <a:spcPts val="700"/>
              </a:spcAft>
              <a:defRPr sz="1300">
                <a:solidFill>
                  <a:srgbClr val="FFFFFF"/>
                </a:solidFill>
                <a:latin typeface="Calibri"/>
              </a:defRPr>
            </a:pPr>
            <a:r>
              <a:t>•  Esempio: "trova fornitori di prodotti acquistati da clienti in Roma"</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SQL: 4 JOIN per una query semplice</a:t>
            </a:r>
            <a:br/>
            <a:br/>
            <a:r>
              <a:t>SELECT c.nome, p.nome, f.nome</a:t>
            </a:r>
            <a:br/>
            <a:r>
              <a:t>FROM clienti c</a:t>
            </a:r>
            <a:br/>
            <a:r>
              <a:t>JOIN ordini o ON c.id=o.cliente_id</a:t>
            </a:r>
            <a:br/>
            <a:r>
              <a:t>JOIN ordine_dettagli d ON o.id=d.ordine_id</a:t>
            </a:r>
            <a:br/>
            <a:r>
              <a:t>JOIN prodotti p ON d.prodotto_id=p.id</a:t>
            </a:r>
            <a:br/>
            <a:r>
              <a:t>JOIN fornitori f ON p.fornitore_id=f.id</a:t>
            </a:r>
            <a:br/>
            <a:r>
              <a:t>WHERE c.citta = 'Roma';</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8040"/>
                </a:solidFill>
                <a:latin typeface="Calibri"/>
              </a:defRPr>
            </a:pPr>
            <a:r>
              <a:t>Confronto performance (1M nodi, 10M relazioni):</a:t>
            </a:r>
          </a:p>
        </p:txBody>
      </p:sp>
      <p:sp>
        <p:nvSpPr>
          <p:cNvPr id="8" name="TextBox 7"/>
          <p:cNvSpPr txBox="1"/>
          <p:nvPr/>
        </p:nvSpPr>
        <p:spPr>
          <a:xfrm>
            <a:off x="731520" y="4663440"/>
            <a:ext cx="5029200" cy="914400"/>
          </a:xfrm>
          <a:prstGeom prst="rect">
            <a:avLst/>
          </a:prstGeom>
          <a:noFill/>
        </p:spPr>
        <p:txBody>
          <a:bodyPr wrap="square">
            <a:spAutoFit/>
          </a:bodyPr>
          <a:lstStyle/>
          <a:p>
            <a:pPr algn="l">
              <a:defRPr sz="1300" b="0">
                <a:solidFill>
                  <a:srgbClr val="FFFFFF"/>
                </a:solidFill>
                <a:latin typeface="Consolas"/>
              </a:defRPr>
            </a:pPr>
            <a:r>
              <a:t>Relazionale (PostgreSQL) per 4° grado:</a:t>
            </a:r>
            <a:br/>
            <a:r>
              <a:t>  ~28 secondi</a:t>
            </a:r>
            <a:br/>
            <a:br/>
            <a:r>
              <a:t>Grafo (Neo4j) per 4° grado:</a:t>
            </a:r>
            <a:br/>
            <a:r>
              <a:t>  ~2 millisecondi  (14.000× più veloce)</a:t>
            </a:r>
          </a:p>
        </p:txBody>
      </p:sp>
      <p:sp>
        <p:nvSpPr>
          <p:cNvPr id="9" name="TextBox 8"/>
          <p:cNvSpPr txBox="1"/>
          <p:nvPr/>
        </p:nvSpPr>
        <p:spPr>
          <a:xfrm>
            <a:off x="5669280" y="4663440"/>
            <a:ext cx="4846320" cy="914400"/>
          </a:xfrm>
          <a:prstGeom prst="rect">
            <a:avLst/>
          </a:prstGeom>
          <a:noFill/>
        </p:spPr>
        <p:txBody>
          <a:bodyPr wrap="square">
            <a:spAutoFit/>
          </a:bodyPr>
          <a:lstStyle/>
          <a:p>
            <a:pPr algn="l">
              <a:defRPr sz="1200" b="0">
                <a:solidFill>
                  <a:srgbClr val="CCCCCC"/>
                </a:solidFill>
                <a:latin typeface="Calibri"/>
              </a:defRPr>
            </a:pPr>
            <a:r>
              <a:t>Motivo: nel grafo le relazioni sono puntatori diretti,</a:t>
            </a:r>
            <a:br/>
            <a:r>
              <a:t>non serve calcolarle. Si traversa il grafo in O(1) per hop.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Index-Free Adjacency</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Neo4j memorizza ogni nodo con i puntatori diretti ai nodi vicini. Non serve un indice globale per trovare le connessioni.</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DB relazionale: usa un indice per trovare le FK, poi JOIN, poi ripete</a:t>
            </a:r>
          </a:p>
          <a:p>
            <a:pPr algn="l">
              <a:spcAft>
                <a:spcPts val="700"/>
              </a:spcAft>
              <a:defRPr sz="1300">
                <a:solidFill>
                  <a:srgbClr val="FFFFFF"/>
                </a:solidFill>
                <a:latin typeface="Calibri"/>
              </a:defRPr>
            </a:pPr>
            <a:r>
              <a:t>•  Neo4j: il nodo Alice ha già il puntatore fisico al nodo Bob</a:t>
            </a:r>
          </a:p>
          <a:p>
            <a:pPr algn="l">
              <a:spcAft>
                <a:spcPts val="700"/>
              </a:spcAft>
              <a:defRPr sz="1300">
                <a:solidFill>
                  <a:srgbClr val="FFFFFF"/>
                </a:solidFill>
                <a:latin typeface="Calibri"/>
              </a:defRPr>
            </a:pPr>
            <a:r>
              <a:t>•  Risultato: il tempo di traversal NON dipende dalla dimensione del grafo</a:t>
            </a:r>
          </a:p>
          <a:p>
            <a:pPr algn="l">
              <a:spcAft>
                <a:spcPts val="700"/>
              </a:spcAft>
              <a:defRPr sz="1300">
                <a:solidFill>
                  <a:srgbClr val="FFFFFF"/>
                </a:solidFill>
                <a:latin typeface="Calibri"/>
              </a:defRPr>
            </a:pPr>
            <a:r>
              <a:t>•  Scala a miliardi di nodi mantenendo performance costanti</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DB Relazionale:</a:t>
            </a:r>
            <a:br/>
            <a:r>
              <a:t>  Clienti └── FK──➤ Indice ──➤ Ordini └── FK──➤ Indice ──➤ Prodotti</a:t>
            </a:r>
            <a:br/>
            <a:r>
              <a:t>  Ogni passo cerca in un indice separato</a:t>
            </a:r>
            <a:br/>
            <a:br/>
            <a:r>
              <a:t>Neo4j:</a:t>
            </a:r>
            <a:br/>
            <a:r>
              <a:t>  (:Person {name:'Alice'})</a:t>
            </a:r>
            <a:br/>
            <a:r>
              <a:t>     │</a:t>
            </a:r>
            <a:br/>
            <a:r>
              <a:t>     │ HAS_SKILL (puntatore diretto)</a:t>
            </a:r>
            <a:br/>
            <a:r>
              <a:t>     └──➤ (:Skill {name:'Python'})</a:t>
            </a:r>
            <a:br/>
            <a:r>
              <a:t>  Alice conosce già Python — nessuna lookup</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C040"/>
                </a:solidFill>
                <a:latin typeface="Calibri"/>
              </a:defRPr>
            </a:pPr>
            <a:r>
              <a:t>Analogia:</a:t>
            </a:r>
          </a:p>
        </p:txBody>
      </p:sp>
      <p:sp>
        <p:nvSpPr>
          <p:cNvPr id="8" name="TextBox 7"/>
          <p:cNvSpPr txBox="1"/>
          <p:nvPr/>
        </p:nvSpPr>
        <p:spPr>
          <a:xfrm>
            <a:off x="731520" y="4663440"/>
            <a:ext cx="10515600" cy="1097280"/>
          </a:xfrm>
          <a:prstGeom prst="rect">
            <a:avLst/>
          </a:prstGeom>
          <a:noFill/>
        </p:spPr>
        <p:txBody>
          <a:bodyPr wrap="square">
            <a:spAutoFit/>
          </a:bodyPr>
          <a:lstStyle/>
          <a:p>
            <a:pPr algn="l">
              <a:defRPr sz="1200" b="0">
                <a:solidFill>
                  <a:srgbClr val="CCCCCC"/>
                </a:solidFill>
                <a:latin typeface="Calibri"/>
              </a:defRPr>
            </a:pPr>
            <a:r>
              <a:t>DB relazionale = rubrica telefonica: cerchi un nome, trovi il numero.</a:t>
            </a:r>
            <a:br/>
            <a:r>
              <a:t>Per trovare gli amici degli amici devi cercare nella rubrica di ogni persona.</a:t>
            </a:r>
            <a:br/>
            <a:br/>
            <a:r>
              <a:t>Grafo = ogni persona ha la propria rubrica in tasca: chiedi direttamente ad Alice chi conosce.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Nodi e Labels</a:t>
            </a:r>
          </a:p>
        </p:txBody>
      </p:sp>
      <p:sp>
        <p:nvSpPr>
          <p:cNvPr id="3" name="TextBox 2"/>
          <p:cNvSpPr txBox="1"/>
          <p:nvPr/>
        </p:nvSpPr>
        <p:spPr>
          <a:xfrm>
            <a:off x="731520" y="1051560"/>
            <a:ext cx="3840480" cy="411480"/>
          </a:xfrm>
          <a:prstGeom prst="rect">
            <a:avLst/>
          </a:prstGeom>
          <a:noFill/>
        </p:spPr>
        <p:txBody>
          <a:bodyPr wrap="square">
            <a:spAutoFit/>
          </a:bodyPr>
          <a:lstStyle/>
          <a:p>
            <a:pPr algn="l">
              <a:defRPr sz="1800" b="1">
                <a:solidFill>
                  <a:srgbClr val="F08040"/>
                </a:solidFill>
                <a:latin typeface="Calibri"/>
              </a:defRPr>
            </a:pPr>
            <a:r>
              <a:t>Nodi (Vertici)</a:t>
            </a:r>
          </a:p>
        </p:txBody>
      </p:sp>
      <p:sp>
        <p:nvSpPr>
          <p:cNvPr id="4" name="TextBox 3"/>
          <p:cNvSpPr txBox="1"/>
          <p:nvPr/>
        </p:nvSpPr>
        <p:spPr>
          <a:xfrm>
            <a:off x="73152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Rappresentano entità del mondo reale</a:t>
            </a:r>
          </a:p>
          <a:p>
            <a:pPr algn="l">
              <a:spcAft>
                <a:spcPts val="300"/>
              </a:spcAft>
              <a:defRPr sz="1300">
                <a:solidFill>
                  <a:srgbClr val="FFFFFF"/>
                </a:solidFill>
                <a:latin typeface="Calibri"/>
              </a:defRPr>
            </a:pPr>
            <a:r>
              <a:t>•  Possono avere 0, 1 o più LABELS</a:t>
            </a:r>
          </a:p>
          <a:p>
            <a:pPr algn="l">
              <a:spcAft>
                <a:spcPts val="300"/>
              </a:spcAft>
              <a:defRPr sz="1300">
                <a:solidFill>
                  <a:srgbClr val="FFFFFF"/>
                </a:solidFill>
                <a:latin typeface="Calibri"/>
              </a:defRPr>
            </a:pPr>
            <a:r>
              <a:t>•  Labels: categoria/tipo del nodo (:Person, :Project, :Skill)</a:t>
            </a:r>
          </a:p>
          <a:p>
            <a:pPr algn="l">
              <a:spcAft>
                <a:spcPts val="300"/>
              </a:spcAft>
              <a:defRPr sz="1300">
                <a:solidFill>
                  <a:srgbClr val="FFFFFF"/>
                </a:solidFill>
                <a:latin typeface="Calibri"/>
              </a:defRPr>
            </a:pPr>
            <a:r>
              <a:t>•  Un nodo con più labels: (:Person:Employee:Manager)</a:t>
            </a:r>
          </a:p>
          <a:p>
            <a:pPr algn="l">
              <a:spcAft>
                <a:spcPts val="300"/>
              </a:spcAft>
              <a:defRPr sz="1300">
                <a:solidFill>
                  <a:srgbClr val="FFFFFF"/>
                </a:solidFill>
                <a:latin typeface="Calibri"/>
              </a:defRPr>
            </a:pPr>
            <a:r>
              <a:t>•  Proprietà: coppie chiave-valore su ogni nodo</a:t>
            </a:r>
          </a:p>
        </p:txBody>
      </p:sp>
      <p:sp>
        <p:nvSpPr>
          <p:cNvPr id="5" name="TextBox 4"/>
          <p:cNvSpPr txBox="1"/>
          <p:nvPr/>
        </p:nvSpPr>
        <p:spPr>
          <a:xfrm>
            <a:off x="4754880" y="1051560"/>
            <a:ext cx="3840480" cy="411480"/>
          </a:xfrm>
          <a:prstGeom prst="rect">
            <a:avLst/>
          </a:prstGeom>
          <a:noFill/>
        </p:spPr>
        <p:txBody>
          <a:bodyPr wrap="square">
            <a:spAutoFit/>
          </a:bodyPr>
          <a:lstStyle/>
          <a:p>
            <a:pPr algn="l">
              <a:defRPr sz="1800" b="1">
                <a:solidFill>
                  <a:srgbClr val="F08040"/>
                </a:solidFill>
                <a:latin typeface="Calibri"/>
              </a:defRPr>
            </a:pPr>
            <a:r>
              <a:t>Labels come tabelle flessibili</a:t>
            </a:r>
          </a:p>
        </p:txBody>
      </p:sp>
      <p:sp>
        <p:nvSpPr>
          <p:cNvPr id="6" name="TextBox 5"/>
          <p:cNvSpPr txBox="1"/>
          <p:nvPr/>
        </p:nvSpPr>
        <p:spPr>
          <a:xfrm>
            <a:off x="475488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Nel DB relazionale: tabella Person con colonne fisse</a:t>
            </a:r>
          </a:p>
          <a:p>
            <a:pPr algn="l">
              <a:spcAft>
                <a:spcPts val="300"/>
              </a:spcAft>
              <a:defRPr sz="1300">
                <a:solidFill>
                  <a:srgbClr val="FFFFFF"/>
                </a:solidFill>
                <a:latin typeface="Calibri"/>
              </a:defRPr>
            </a:pPr>
            <a:r>
              <a:t>•  In Neo4j: ogni nodo (:Person) ha le PROPRIE proprietà</a:t>
            </a:r>
          </a:p>
          <a:p>
            <a:pPr algn="l">
              <a:spcAft>
                <a:spcPts val="300"/>
              </a:spcAft>
              <a:defRPr sz="1300">
                <a:solidFill>
                  <a:srgbClr val="FFFFFF"/>
                </a:solidFill>
                <a:latin typeface="Calibri"/>
              </a:defRPr>
            </a:pPr>
            <a:r>
              <a:t>•  Labels sostituiscono i nomi di tabella nel MATCH</a:t>
            </a:r>
          </a:p>
          <a:p>
            <a:pPr algn="l">
              <a:spcAft>
                <a:spcPts val="300"/>
              </a:spcAft>
              <a:defRPr sz="1300">
                <a:solidFill>
                  <a:srgbClr val="FFFFFF"/>
                </a:solidFill>
                <a:latin typeface="Calibri"/>
              </a:defRPr>
            </a:pPr>
            <a:r>
              <a:t>•  MATCH (p:Person) = “tutti i nodi con label Person”</a:t>
            </a:r>
          </a:p>
          <a:p>
            <a:pPr algn="l">
              <a:spcAft>
                <a:spcPts val="300"/>
              </a:spcAft>
              <a:defRPr sz="1300">
                <a:solidFill>
                  <a:srgbClr val="FFFFFF"/>
                </a:solidFill>
                <a:latin typeface="Calibri"/>
              </a:defRPr>
            </a:pPr>
            <a:r>
              <a:t>•  Vincoli e indici si applicano PER LABEL</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C040"/>
                </a:solidFill>
                <a:latin typeface="Calibri"/>
              </a:defRPr>
            </a:pPr>
            <a:r>
              <a:t>Esempio: nodi del nostro dataset Org Graph</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100">
                <a:solidFill>
                  <a:srgbClr val="7EC68E"/>
                </a:solidFill>
                <a:latin typeface="Consolas"/>
              </a:defRPr>
            </a:pPr>
            <a:r>
              <a:t>(:Person {employee_id: 1,</a:t>
            </a:r>
          </a:p>
          <a:p>
            <a:pPr>
              <a:spcAft>
                <a:spcPts val="100"/>
              </a:spcAft>
              <a:defRPr sz="1100">
                <a:solidFill>
                  <a:srgbClr val="7EC68E"/>
                </a:solidFill>
                <a:latin typeface="Consolas"/>
              </a:defRPr>
            </a:pPr>
            <a:r>
              <a:t>         name: "Mario Rossi",</a:t>
            </a:r>
          </a:p>
          <a:p>
            <a:pPr>
              <a:spcAft>
                <a:spcPts val="100"/>
              </a:spcAft>
              <a:defRPr sz="1100">
                <a:solidFill>
                  <a:srgbClr val="7EC68E"/>
                </a:solidFill>
                <a:latin typeface="Consolas"/>
              </a:defRPr>
            </a:pPr>
            <a:r>
              <a:t>         location: "Roma",</a:t>
            </a:r>
          </a:p>
          <a:p>
            <a:pPr>
              <a:spcAft>
                <a:spcPts val="100"/>
              </a:spcAft>
              <a:defRPr sz="1100">
                <a:solidFill>
                  <a:srgbClr val="7EC68E"/>
                </a:solidFill>
                <a:latin typeface="Consolas"/>
              </a:defRPr>
            </a:pPr>
            <a:r>
              <a:t>         title: "Senior Consultant",</a:t>
            </a:r>
          </a:p>
          <a:p>
            <a:pPr>
              <a:spcAft>
                <a:spcPts val="100"/>
              </a:spcAft>
              <a:defRPr sz="1100">
                <a:solidFill>
                  <a:srgbClr val="7EC68E"/>
                </a:solidFill>
                <a:latin typeface="Consolas"/>
              </a:defRPr>
            </a:pPr>
            <a:r>
              <a:t>         department: "Digital"})</a:t>
            </a:r>
          </a:p>
        </p:txBody>
      </p:sp>
      <p:sp>
        <p:nvSpPr>
          <p:cNvPr id="11" name="Rectangle 10"/>
          <p:cNvSpPr/>
          <p:nvPr/>
        </p:nvSpPr>
        <p:spPr>
          <a:xfrm>
            <a:off x="5669280" y="42976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499616"/>
          </a:xfrm>
          <a:prstGeom prst="rect">
            <a:avLst/>
          </a:prstGeom>
          <a:noFill/>
        </p:spPr>
        <p:txBody>
          <a:bodyPr wrap="square">
            <a:spAutoFit/>
          </a:bodyPr>
          <a:lstStyle/>
          <a:p>
            <a:pPr>
              <a:spcAft>
                <a:spcPts val="100"/>
              </a:spcAft>
              <a:defRPr sz="1100">
                <a:solidFill>
                  <a:srgbClr val="7EC68E"/>
                </a:solidFill>
                <a:latin typeface="Consolas"/>
              </a:defRPr>
            </a:pPr>
            <a:r>
              <a:t>(:Skill {name: "Python"})</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(:Project {project_id: 10,</a:t>
            </a:r>
          </a:p>
          <a:p>
            <a:pPr>
              <a:spcAft>
                <a:spcPts val="100"/>
              </a:spcAft>
              <a:defRPr sz="1100">
                <a:solidFill>
                  <a:srgbClr val="7EC68E"/>
                </a:solidFill>
                <a:latin typeface="Consolas"/>
              </a:defRPr>
            </a:pPr>
            <a:r>
              <a:t>          name: "AI Platform"})</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(:Supervisor {supervisor_id: 200,</a:t>
            </a:r>
          </a:p>
          <a:p>
            <a:pPr>
              <a:spcAft>
                <a:spcPts val="100"/>
              </a:spcAft>
              <a:defRPr sz="1100">
                <a:solidFill>
                  <a:srgbClr val="7EC68E"/>
                </a:solidFill>
                <a:latin typeface="Consolas"/>
              </a:defRPr>
            </a:pPr>
            <a:r>
              <a:t>             name: "Anna Bianchi"})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Relazioni</a:t>
            </a:r>
          </a:p>
        </p:txBody>
      </p:sp>
      <p:sp>
        <p:nvSpPr>
          <p:cNvPr id="3" name="TextBox 2"/>
          <p:cNvSpPr txBox="1"/>
          <p:nvPr/>
        </p:nvSpPr>
        <p:spPr>
          <a:xfrm>
            <a:off x="731520" y="1051560"/>
            <a:ext cx="5029200" cy="411480"/>
          </a:xfrm>
          <a:prstGeom prst="rect">
            <a:avLst/>
          </a:prstGeom>
          <a:noFill/>
        </p:spPr>
        <p:txBody>
          <a:bodyPr wrap="square">
            <a:spAutoFit/>
          </a:bodyPr>
          <a:lstStyle/>
          <a:p>
            <a:pPr algn="l">
              <a:defRPr sz="1800" b="1">
                <a:solidFill>
                  <a:srgbClr val="F08040"/>
                </a:solidFill>
                <a:latin typeface="Calibri"/>
              </a:defRPr>
            </a:pPr>
            <a:r>
              <a:t>Relazioni (Edge)</a:t>
            </a:r>
          </a:p>
        </p:txBody>
      </p:sp>
      <p:sp>
        <p:nvSpPr>
          <p:cNvPr id="4" name="TextBox 3"/>
          <p:cNvSpPr txBox="1"/>
          <p:nvPr/>
        </p:nvSpPr>
        <p:spPr>
          <a:xfrm>
            <a:off x="731520" y="1508760"/>
            <a:ext cx="5029200" cy="1463040"/>
          </a:xfrm>
          <a:prstGeom prst="rect">
            <a:avLst/>
          </a:prstGeom>
          <a:noFill/>
        </p:spPr>
        <p:txBody>
          <a:bodyPr wrap="square">
            <a:spAutoFit/>
          </a:bodyPr>
          <a:lstStyle/>
          <a:p>
            <a:pPr algn="l">
              <a:spcAft>
                <a:spcPts val="300"/>
              </a:spcAft>
              <a:defRPr sz="1300">
                <a:solidFill>
                  <a:srgbClr val="FFFFFF"/>
                </a:solidFill>
                <a:latin typeface="Calibri"/>
              </a:defRPr>
            </a:pPr>
            <a:r>
              <a:t>•  Collegano sempre DUE nodi: start node → end node</a:t>
            </a:r>
          </a:p>
          <a:p>
            <a:pPr algn="l">
              <a:spcAft>
                <a:spcPts val="300"/>
              </a:spcAft>
              <a:defRPr sz="1300">
                <a:solidFill>
                  <a:srgbClr val="FFFFFF"/>
                </a:solidFill>
                <a:latin typeface="Calibri"/>
              </a:defRPr>
            </a:pPr>
            <a:r>
              <a:t>•  Hanno un TIPO (es: HAS_SKILL, WORKED_ON, REPORTS_TO)</a:t>
            </a:r>
          </a:p>
          <a:p>
            <a:pPr algn="l">
              <a:spcAft>
                <a:spcPts val="300"/>
              </a:spcAft>
              <a:defRPr sz="1300">
                <a:solidFill>
                  <a:srgbClr val="FFFFFF"/>
                </a:solidFill>
                <a:latin typeface="Calibri"/>
              </a:defRPr>
            </a:pPr>
            <a:r>
              <a:t>•  Sono direzionali ma si possono traversare in entrambi i sensi</a:t>
            </a:r>
          </a:p>
          <a:p>
            <a:pPr algn="l">
              <a:spcAft>
                <a:spcPts val="300"/>
              </a:spcAft>
              <a:defRPr sz="1300">
                <a:solidFill>
                  <a:srgbClr val="FFFFFF"/>
                </a:solidFill>
                <a:latin typeface="Calibri"/>
              </a:defRPr>
            </a:pPr>
            <a:r>
              <a:t>•  Possono avere proprietà (es: proficiency su HAS_SKILL)</a:t>
            </a:r>
          </a:p>
          <a:p>
            <a:pPr algn="l">
              <a:spcAft>
                <a:spcPts val="300"/>
              </a:spcAft>
              <a:defRPr sz="1300">
                <a:solidFill>
                  <a:srgbClr val="FFFFFF"/>
                </a:solidFill>
                <a:latin typeface="Calibri"/>
              </a:defRPr>
            </a:pPr>
            <a:r>
              <a:t>•  A differenza delle FK, sono memorizzate fisicamente</a:t>
            </a:r>
          </a:p>
        </p:txBody>
      </p:sp>
      <p:sp>
        <p:nvSpPr>
          <p:cNvPr id="5" name="TextBox 4"/>
          <p:cNvSpPr txBox="1"/>
          <p:nvPr/>
        </p:nvSpPr>
        <p:spPr>
          <a:xfrm>
            <a:off x="5669280" y="1051560"/>
            <a:ext cx="4846320" cy="411480"/>
          </a:xfrm>
          <a:prstGeom prst="rect">
            <a:avLst/>
          </a:prstGeom>
          <a:noFill/>
        </p:spPr>
        <p:txBody>
          <a:bodyPr wrap="square">
            <a:spAutoFit/>
          </a:bodyPr>
          <a:lstStyle/>
          <a:p>
            <a:pPr algn="l">
              <a:defRPr sz="1800" b="1">
                <a:solidFill>
                  <a:srgbClr val="F08040"/>
                </a:solidFill>
                <a:latin typeface="Calibri"/>
              </a:defRPr>
            </a:pPr>
            <a:r>
              <a:t>Notazione Cypher</a:t>
            </a:r>
          </a:p>
        </p:txBody>
      </p:sp>
      <p:sp>
        <p:nvSpPr>
          <p:cNvPr id="6" name="TextBox 5"/>
          <p:cNvSpPr txBox="1"/>
          <p:nvPr/>
        </p:nvSpPr>
        <p:spPr>
          <a:xfrm>
            <a:off x="5669280" y="1508760"/>
            <a:ext cx="4846320" cy="1463040"/>
          </a:xfrm>
          <a:prstGeom prst="rect">
            <a:avLst/>
          </a:prstGeom>
          <a:noFill/>
        </p:spPr>
        <p:txBody>
          <a:bodyPr wrap="square">
            <a:spAutoFit/>
          </a:bodyPr>
          <a:lstStyle/>
          <a:p>
            <a:pPr algn="l">
              <a:defRPr sz="1100" b="0">
                <a:solidFill>
                  <a:srgbClr val="7EC68E"/>
                </a:solidFill>
                <a:latin typeface="Consolas"/>
              </a:defRPr>
            </a:pPr>
            <a:r>
              <a:t>(:Person)                    // nodo</a:t>
            </a:r>
            <a:br/>
            <a:r>
              <a:t>  |</a:t>
            </a:r>
            <a:br/>
            <a:r>
              <a:t>  [:HAS_SKILL {proficiency: 5}] // relazione</a:t>
            </a:r>
            <a:br/>
            <a:r>
              <a:t>  └─▶ (:Skill {name: "Python"}) // nodo destinazione</a:t>
            </a:r>
            <a:br/>
            <a:br/>
            <a:r>
              <a:t>Ogni freccia è un record fisico</a:t>
            </a:r>
            <a:br/>
            <a:r>
              <a:t>nel database: O(1) per traversarla.</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10515600" cy="365760"/>
          </a:xfrm>
          <a:prstGeom prst="rect">
            <a:avLst/>
          </a:prstGeom>
          <a:noFill/>
        </p:spPr>
        <p:txBody>
          <a:bodyPr wrap="square">
            <a:spAutoFit/>
          </a:bodyPr>
          <a:lstStyle/>
          <a:p>
            <a:pPr algn="l">
              <a:defRPr sz="1500" b="1">
                <a:solidFill>
                  <a:srgbClr val="F0C040"/>
                </a:solidFill>
                <a:latin typeface="Calibri"/>
              </a:defRPr>
            </a:pPr>
            <a:r>
              <a:t>Relazioni del progetto Org Graph:</a:t>
            </a:r>
          </a:p>
        </p:txBody>
      </p:sp>
      <p:sp>
        <p:nvSpPr>
          <p:cNvPr id="9" name="TextBox 8"/>
          <p:cNvSpPr txBox="1"/>
          <p:nvPr/>
        </p:nvSpPr>
        <p:spPr>
          <a:xfrm>
            <a:off x="731520" y="3931920"/>
            <a:ext cx="3474720" cy="1828800"/>
          </a:xfrm>
          <a:prstGeom prst="rect">
            <a:avLst/>
          </a:prstGeom>
          <a:noFill/>
        </p:spPr>
        <p:txBody>
          <a:bodyPr wrap="square">
            <a:spAutoFit/>
          </a:bodyPr>
          <a:lstStyle/>
          <a:p>
            <a:pPr algn="l">
              <a:spcAft>
                <a:spcPts val="300"/>
              </a:spcAft>
              <a:defRPr sz="1200">
                <a:solidFill>
                  <a:srgbClr val="FFFFFF"/>
                </a:solidFill>
                <a:latin typeface="Calibri"/>
              </a:defRPr>
            </a:pPr>
            <a:r>
              <a:t>•  (p:Person)-[:HAS_SKILL {proficiency: 5}]-&gt;(s:Skill)</a:t>
            </a:r>
          </a:p>
          <a:p>
            <a:pPr algn="l">
              <a:spcAft>
                <a:spcPts val="300"/>
              </a:spcAft>
              <a:defRPr sz="1200">
                <a:solidFill>
                  <a:srgbClr val="FFFFFF"/>
                </a:solidFill>
                <a:latin typeface="Calibri"/>
              </a:defRPr>
            </a:pPr>
            <a:r>
              <a:t>•    — Mario ha Python con livello 5</a:t>
            </a:r>
          </a:p>
          <a:p>
            <a:pPr algn="l">
              <a:spcAft>
                <a:spcPts val="300"/>
              </a:spcAft>
              <a:defRPr sz="1200">
                <a:solidFill>
                  <a:srgbClr val="FFFFFF"/>
                </a:solidFill>
                <a:latin typeface="Calibri"/>
              </a:defRPr>
            </a:pPr>
            <a:r>
              <a:t>•  (p:Person)-[:WORKED_ON {role: 'Developer'}]-&gt;(proj:Project)</a:t>
            </a:r>
          </a:p>
          <a:p>
            <a:pPr algn="l">
              <a:spcAft>
                <a:spcPts val="300"/>
              </a:spcAft>
              <a:defRPr sz="1200">
                <a:solidFill>
                  <a:srgbClr val="FFFFFF"/>
                </a:solidFill>
                <a:latin typeface="Calibri"/>
              </a:defRPr>
            </a:pPr>
            <a:r>
              <a:t>•    — Mario ha lavorato al progetto AI Platform</a:t>
            </a:r>
          </a:p>
          <a:p>
            <a:pPr algn="l">
              <a:spcAft>
                <a:spcPts val="300"/>
              </a:spcAft>
              <a:defRPr sz="1200">
                <a:solidFill>
                  <a:srgbClr val="FFFFFF"/>
                </a:solidFill>
                <a:latin typeface="Calibri"/>
              </a:defRPr>
            </a:pPr>
            <a:r>
              <a:t>•  (p:Person)-[:REPORTS_TO]-&gt;(sup:Supervisor)</a:t>
            </a:r>
          </a:p>
          <a:p>
            <a:pPr algn="l">
              <a:spcAft>
                <a:spcPts val="300"/>
              </a:spcAft>
              <a:defRPr sz="1200">
                <a:solidFill>
                  <a:srgbClr val="FFFFFF"/>
                </a:solidFill>
                <a:latin typeface="Calibri"/>
              </a:defRPr>
            </a:pPr>
            <a:r>
              <a:t>•    — Mario riporta ad Anna Bianchi</a:t>
            </a:r>
          </a:p>
        </p:txBody>
      </p:sp>
      <p:sp>
        <p:nvSpPr>
          <p:cNvPr id="10" name="TextBox 9"/>
          <p:cNvSpPr txBox="1"/>
          <p:nvPr/>
        </p:nvSpPr>
        <p:spPr>
          <a:xfrm>
            <a:off x="4114800" y="3931920"/>
            <a:ext cx="6400800" cy="1828800"/>
          </a:xfrm>
          <a:prstGeom prst="rect">
            <a:avLst/>
          </a:prstGeom>
          <a:noFill/>
        </p:spPr>
        <p:txBody>
          <a:bodyPr wrap="square">
            <a:spAutoFit/>
          </a:bodyPr>
          <a:lstStyle/>
          <a:p>
            <a:pPr algn="l">
              <a:defRPr sz="1400" b="0">
                <a:solidFill>
                  <a:srgbClr val="CCCCCC"/>
                </a:solidFill>
                <a:latin typeface="Calibri"/>
              </a:defRPr>
            </a:pPr>
            <a:r>
              <a:t>Ogni relazione è univoca nel suo significato:</a:t>
            </a:r>
            <a:br/>
            <a:r>
              <a:t>HAS_SKILL = competenza, WORKED_ON = esperienza, REPORTS_TO = gerarchia.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Perché Neo4j?</a:t>
            </a:r>
          </a:p>
        </p:txBody>
      </p:sp>
      <p:sp>
        <p:nvSpPr>
          <p:cNvPr id="3" name="TextBox 2"/>
          <p:cNvSpPr txBox="1"/>
          <p:nvPr/>
        </p:nvSpPr>
        <p:spPr>
          <a:xfrm>
            <a:off x="731520" y="1051560"/>
            <a:ext cx="5029200" cy="3474720"/>
          </a:xfrm>
          <a:prstGeom prst="rect">
            <a:avLst/>
          </a:prstGeom>
          <a:noFill/>
        </p:spPr>
        <p:txBody>
          <a:bodyPr wrap="square">
            <a:spAutoFit/>
          </a:bodyPr>
          <a:lstStyle/>
          <a:p>
            <a:pPr algn="l">
              <a:spcAft>
                <a:spcPts val="800"/>
              </a:spcAft>
              <a:defRPr sz="1400">
                <a:solidFill>
                  <a:srgbClr val="FFFFFF"/>
                </a:solidFill>
                <a:latin typeface="Calibri"/>
              </a:defRPr>
            </a:pPr>
            <a:r>
              <a:t>•  Native graph storage — architettura ottimizzata per grafi dal kernel</a:t>
            </a:r>
          </a:p>
          <a:p>
            <a:pPr algn="l">
              <a:spcAft>
                <a:spcPts val="800"/>
              </a:spcAft>
              <a:defRPr sz="1400">
                <a:solidFill>
                  <a:srgbClr val="FFFFFF"/>
                </a:solidFill>
                <a:latin typeface="Calibri"/>
              </a:defRPr>
            </a:pPr>
            <a:r>
              <a:t>•  Index-free adjacency — traversal senza lookup, O(1) per hop</a:t>
            </a:r>
          </a:p>
          <a:p>
            <a:pPr algn="l">
              <a:spcAft>
                <a:spcPts val="800"/>
              </a:spcAft>
              <a:defRPr sz="1400">
                <a:solidFill>
                  <a:srgbClr val="FFFFFF"/>
                </a:solidFill>
                <a:latin typeface="Calibri"/>
              </a:defRPr>
            </a:pPr>
            <a:r>
              <a:t>•  ACID compliant — transazioni complete (commit/rollback)</a:t>
            </a:r>
          </a:p>
          <a:p>
            <a:pPr algn="l">
              <a:spcAft>
                <a:spcPts val="800"/>
              </a:spcAft>
              <a:defRPr sz="1400">
                <a:solidFill>
                  <a:srgbClr val="FFFFFF"/>
                </a:solidFill>
                <a:latin typeface="Calibri"/>
              </a:defRPr>
            </a:pPr>
            <a:r>
              <a:t>•  Cypher: linguaggio dichiarativo pattern-based, standard ISO (GQL)</a:t>
            </a:r>
          </a:p>
          <a:p>
            <a:pPr algn="l">
              <a:spcAft>
                <a:spcPts val="800"/>
              </a:spcAft>
              <a:defRPr sz="1400">
                <a:solidFill>
                  <a:srgbClr val="FFFFFF"/>
                </a:solidFill>
                <a:latin typeface="Calibri"/>
              </a:defRPr>
            </a:pPr>
            <a:r>
              <a:t>•  Cypher è leggibile: MATCH (a)-[:LOVES]-&gt;(b) → “a ama b”</a:t>
            </a:r>
          </a:p>
          <a:p>
            <a:pPr algn="l">
              <a:spcAft>
                <a:spcPts val="800"/>
              </a:spcAft>
              <a:defRPr sz="1400">
                <a:solidFill>
                  <a:srgbClr val="FFFFFF"/>
                </a:solidFill>
                <a:latin typeface="Calibri"/>
              </a:defRPr>
            </a:pPr>
            <a:r>
              <a:t>•  Open source (Community) + Enterprise (clustering, backup, SSO)</a:t>
            </a:r>
          </a:p>
        </p:txBody>
      </p:sp>
      <p:sp>
        <p:nvSpPr>
          <p:cNvPr id="4" name="TextBox 3"/>
          <p:cNvSpPr txBox="1"/>
          <p:nvPr/>
        </p:nvSpPr>
        <p:spPr>
          <a:xfrm>
            <a:off x="5669280" y="1051560"/>
            <a:ext cx="4846320" cy="3474720"/>
          </a:xfrm>
          <a:prstGeom prst="rect">
            <a:avLst/>
          </a:prstGeom>
          <a:noFill/>
        </p:spPr>
        <p:txBody>
          <a:bodyPr wrap="square">
            <a:spAutoFit/>
          </a:bodyPr>
          <a:lstStyle/>
          <a:p>
            <a:pPr algn="l">
              <a:defRPr sz="1100" b="0">
                <a:solidFill>
                  <a:srgbClr val="7EC68E"/>
                </a:solidFill>
                <a:latin typeface="Consolas"/>
              </a:defRPr>
            </a:pPr>
            <a:r>
              <a:t>DB relazionale:</a:t>
            </a:r>
            <a:br/>
            <a:r>
              <a:t>  SELECT * FROM persone p</a:t>
            </a:r>
            <a:br/>
            <a:r>
              <a:t>  JOIN skill s ON p.id = s.persona_id</a:t>
            </a:r>
            <a:br/>
            <a:r>
              <a:t>  WHERE p.nome = 'Mario'</a:t>
            </a:r>
            <a:br/>
            <a:r>
              <a:t>  -- JOIN = calcolato al volo</a:t>
            </a:r>
            <a:br/>
            <a:br/>
            <a:r>
              <a:t>Neo4j:</a:t>
            </a:r>
            <a:br/>
            <a:r>
              <a:t>  MATCH (p:Person {name: 'Mario'})</a:t>
            </a:r>
            <a:br/>
            <a:r>
              <a:t>        -[:HAS_SKILL]-&gt;(s:Skill)</a:t>
            </a:r>
            <a:br/>
            <a:r>
              <a:t>  RETURN p.name, s.name</a:t>
            </a:r>
            <a:br/>
            <a:r>
              <a:t>  -- relazione = puntatore diretto</a:t>
            </a:r>
            <a:br/>
            <a:br/>
            <a:r>
              <a:t>Vantaggio: il codice riflette</a:t>
            </a:r>
            <a:br/>
            <a:r>
              <a:t>il modello mentale dei dati.</a:t>
            </a:r>
          </a:p>
        </p:txBody>
      </p:sp>
      <p:sp>
        <p:nvSpPr>
          <p:cNvPr id="5" name="Rectangle 4"/>
          <p:cNvSpPr/>
          <p:nvPr/>
        </p:nvSpPr>
        <p:spPr>
          <a:xfrm>
            <a:off x="731520" y="4846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029200"/>
            <a:ext cx="10515600" cy="365760"/>
          </a:xfrm>
          <a:prstGeom prst="rect">
            <a:avLst/>
          </a:prstGeom>
          <a:noFill/>
        </p:spPr>
        <p:txBody>
          <a:bodyPr wrap="square">
            <a:spAutoFit/>
          </a:bodyPr>
          <a:lstStyle/>
          <a:p>
            <a:pPr algn="l">
              <a:defRPr sz="1300" b="0">
                <a:solidFill>
                  <a:srgbClr val="F0C040"/>
                </a:solidFill>
                <a:latin typeface="Calibri"/>
              </a:defRPr>
            </a:pPr>
            <a:r>
              <a:t>Casi d’uso ideali: grafi della conoscenza, raccomandazioni, frodi, gerarchie, reti sociali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L’Ecosistema Neo4j</a:t>
            </a:r>
          </a:p>
        </p:txBody>
      </p:sp>
      <p:sp>
        <p:nvSpPr>
          <p:cNvPr id="3" name="TextBox 2"/>
          <p:cNvSpPr txBox="1"/>
          <p:nvPr/>
        </p:nvSpPr>
        <p:spPr>
          <a:xfrm>
            <a:off x="731520" y="1051560"/>
            <a:ext cx="5029200" cy="45720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per eseguire Cypher</a:t>
            </a:r>
          </a:p>
          <a:p>
            <a:pPr algn="l">
              <a:spcAft>
                <a:spcPts val="0"/>
              </a:spcAft>
              <a:defRPr sz="1200">
                <a:solidFill>
                  <a:srgbClr val="FFFFFF"/>
                </a:solidFill>
                <a:latin typeface="Calibri"/>
              </a:defRPr>
            </a:pPr>
            <a:r>
              <a:t>•    http://localhost:7474 o workspace.neo4j.io</a:t>
            </a:r>
          </a:p>
          <a:p>
            <a:pPr algn="l">
              <a:spcAft>
                <a:spcPts val="0"/>
              </a:spcAft>
              <a:defRPr sz="1200">
                <a:solidFill>
                  <a:srgbClr val="FFFFFF"/>
                </a:solidFill>
                <a:latin typeface="Calibri"/>
              </a:defRPr>
            </a:pPr>
            <a:r>
              <a:t>•    • Editor con syntax highlighting</a:t>
            </a:r>
          </a:p>
          <a:p>
            <a:pPr algn="l">
              <a:spcAft>
                <a:spcPts val="0"/>
              </a:spcAft>
              <a:defRPr sz="1200">
                <a:solidFill>
                  <a:srgbClr val="FFFFFF"/>
                </a:solidFill>
                <a:latin typeface="Calibri"/>
              </a:defRPr>
            </a:pPr>
            <a:r>
              <a:t>•    • Visualizzazione grafica dei risultati</a:t>
            </a:r>
          </a:p>
          <a:p>
            <a:pPr algn="l">
              <a:spcAft>
                <a:spcPts val="0"/>
              </a:spcAft>
              <a:defRPr sz="1200">
                <a:solidFill>
                  <a:srgbClr val="FFFFFF"/>
                </a:solidFill>
                <a:latin typeface="Calibri"/>
              </a:defRPr>
            </a:pPr>
            <a:r>
              <a:t>•    • :play movie-graph per tutorial interattivo</a:t>
            </a:r>
          </a:p>
          <a:p>
            <a:pPr algn="l">
              <a:spcAft>
                <a:spcPts val="0"/>
              </a:spcAft>
              <a:defRPr sz="1200">
                <a:solidFill>
                  <a:srgbClr val="FFFFFF"/>
                </a:solidFill>
                <a:latin typeface="Calibri"/>
              </a:defRPr>
            </a:pPr>
            <a:r>
              <a:t>•  Neo4j AuraDB — cloud managed (Free Tier: 200k nodi)</a:t>
            </a:r>
          </a:p>
          <a:p>
            <a:pPr algn="l">
              <a:spcAft>
                <a:spcPts val="0"/>
              </a:spcAft>
              <a:defRPr sz="1200">
                <a:solidFill>
                  <a:srgbClr val="FFFFFF"/>
                </a:solidFill>
                <a:latin typeface="Calibri"/>
              </a:defRPr>
            </a:pPr>
            <a:r>
              <a:t>•    • Zero configurazione, SSL nativo</a:t>
            </a:r>
          </a:p>
          <a:p>
            <a:pPr algn="l">
              <a:spcAft>
                <a:spcPts val="0"/>
              </a:spcAft>
              <a:defRPr sz="1200">
                <a:solidFill>
                  <a:srgbClr val="FFFFFF"/>
                </a:solidFill>
                <a:latin typeface="Calibri"/>
              </a:defRPr>
            </a:pPr>
            <a:r>
              <a:t>•    • Backup automatici, scaling a un click</a:t>
            </a:r>
          </a:p>
          <a:p>
            <a:pPr algn="l">
              <a:spcAft>
                <a:spcPts val="0"/>
              </a:spcAft>
              <a:defRPr sz="1200">
                <a:solidFill>
                  <a:srgbClr val="FFFFFF"/>
                </a:solidFill>
                <a:latin typeface="Calibri"/>
              </a:defRPr>
            </a:pPr>
            <a:r>
              <a:t>•    • Usiamo AuraDB per questo corso</a:t>
            </a:r>
          </a:p>
          <a:p>
            <a:pPr algn="l">
              <a:spcAft>
                <a:spcPts val="0"/>
              </a:spcAft>
              <a:defRPr sz="1200">
                <a:solidFill>
                  <a:srgbClr val="FFFFFF"/>
                </a:solidFill>
                <a:latin typeface="Calibri"/>
              </a:defRPr>
            </a:pPr>
            <a:r>
              <a:t>•  Neo4j Bloom — visualizzazione drag &amp; drop senza Cypher</a:t>
            </a:r>
          </a:p>
          <a:p>
            <a:pPr algn="l">
              <a:spcAft>
                <a:spcPts val="0"/>
              </a:spcAft>
              <a:defRPr sz="1200">
                <a:solidFill>
                  <a:srgbClr val="FFFFFF"/>
                </a:solidFill>
                <a:latin typeface="Calibri"/>
              </a:defRPr>
            </a:pPr>
            <a:r>
              <a:t>•  Neo4j Workspace — modellazione grafica collaborativa</a:t>
            </a:r>
          </a:p>
          <a:p>
            <a:pPr algn="l">
              <a:spcAft>
                <a:spcPts val="0"/>
              </a:spcAft>
              <a:defRPr sz="1200">
                <a:solidFill>
                  <a:srgbClr val="FFFFFF"/>
                </a:solidFill>
                <a:latin typeface="Calibri"/>
              </a:defRPr>
            </a:pPr>
            <a:r>
              <a:t>•  Neo4j Desktop — ambiente di sviluppo locale</a:t>
            </a:r>
          </a:p>
          <a:p>
            <a:pPr algn="l">
              <a:spcAft>
                <a:spcPts val="0"/>
              </a:spcAft>
              <a:defRPr sz="1200">
                <a:solidFill>
                  <a:srgbClr val="FFFFFF"/>
                </a:solidFill>
                <a:latin typeface="Calibri"/>
              </a:defRPr>
            </a:pPr>
            <a:r>
              <a:t>•  Drivers ufficiali: Python, Java, JavaScript, Go, .NET, C</a:t>
            </a:r>
          </a:p>
        </p:txBody>
      </p:sp>
      <p:sp>
        <p:nvSpPr>
          <p:cNvPr id="4" name="TextBox 3"/>
          <p:cNvSpPr txBox="1"/>
          <p:nvPr/>
        </p:nvSpPr>
        <p:spPr>
          <a:xfrm>
            <a:off x="5669280" y="1051560"/>
            <a:ext cx="4846320" cy="4572000"/>
          </a:xfrm>
          <a:prstGeom prst="rect">
            <a:avLst/>
          </a:prstGeom>
          <a:noFill/>
        </p:spPr>
        <p:txBody>
          <a:bodyPr wrap="square">
            <a:spAutoFit/>
          </a:bodyPr>
          <a:lstStyle/>
          <a:p>
            <a:pPr algn="l">
              <a:defRPr sz="1200" b="0">
                <a:solidFill>
                  <a:srgbClr val="CCCCCC"/>
                </a:solidFill>
                <a:latin typeface="Calibri"/>
              </a:defRPr>
            </a:pPr>
            <a:r>
              <a:t>Architettura a strati:</a:t>
            </a:r>
            <a:br/>
            <a:br/>
            <a:r>
              <a:t>  [Applicazione]</a:t>
            </a:r>
            <a:br/>
            <a:r>
              <a:t>       │</a:t>
            </a:r>
            <a:br/>
            <a:r>
              <a:t>  [Driver (Python/JS/Java...)]</a:t>
            </a:r>
            <a:br/>
            <a:r>
              <a:t>       │ Bolt Protocol</a:t>
            </a:r>
            <a:br/>
            <a:r>
              <a:t>  [Neo4j Database Engine]</a:t>
            </a:r>
            <a:br/>
            <a:r>
              <a:t>       │</a:t>
            </a:r>
            <a:br/>
            <a:r>
              <a:t>  [Cypher Query Engine]</a:t>
            </a:r>
            <a:br/>
            <a:r>
              <a:t>       │</a:t>
            </a:r>
            <a:br/>
            <a:r>
              <a:t>  [Native Graph Storage]</a:t>
            </a:r>
            <a:br/>
            <a:r>
              <a:t>       │</a:t>
            </a:r>
            <a:br/>
            <a:r>
              <a:t>  [File System / Cloud]</a:t>
            </a:r>
            <a:br/>
            <a:br/>
            <a:r>
              <a:t>Browser, Bloom e Workspace</a:t>
            </a:r>
            <a:br/>
            <a:r>
              <a:t>sono UI che parlano al</a:t>
            </a:r>
            <a:br/>
            <a:r>
              <a:t>database via Bolt o HTTP.</a:t>
            </a:r>
            <a:br/>
            <a:br/>
            <a:r>
              <a:t>Noi useremo:</a:t>
            </a:r>
            <a:br/>
            <a:r>
              <a:t>• Python Driver (codice)</a:t>
            </a:r>
            <a:br/>
            <a:r>
              <a:t>• Neo4j Browser (esplorazione)</a:t>
            </a:r>
            <a:br/>
            <a:r>
              <a:t>• AuraDB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Connettersi a Neo4j con Python</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Il driver ufficiale neo4j (v6+) gestisce pool di connessioni thread-safe.</a:t>
            </a:r>
          </a:p>
        </p:txBody>
      </p:sp>
      <p:sp>
        <p:nvSpPr>
          <p:cNvPr id="4" name="TextBox 3"/>
          <p:cNvSpPr txBox="1"/>
          <p:nvPr/>
        </p:nvSpPr>
        <p:spPr>
          <a:xfrm>
            <a:off x="731520" y="1463040"/>
            <a:ext cx="5029200" cy="1371600"/>
          </a:xfrm>
          <a:prstGeom prst="rect">
            <a:avLst/>
          </a:prstGeom>
          <a:noFill/>
        </p:spPr>
        <p:txBody>
          <a:bodyPr wrap="square">
            <a:spAutoFit/>
          </a:bodyPr>
          <a:lstStyle/>
          <a:p>
            <a:pPr algn="l">
              <a:spcAft>
                <a:spcPts val="300"/>
              </a:spcAft>
              <a:defRPr sz="1300">
                <a:solidFill>
                  <a:srgbClr val="FFFFFF"/>
                </a:solidFill>
                <a:latin typeface="Calibri"/>
              </a:defRPr>
            </a:pPr>
            <a:r>
              <a:t>•  pip install neo4j</a:t>
            </a:r>
          </a:p>
          <a:p>
            <a:pPr algn="l">
              <a:spcAft>
                <a:spcPts val="300"/>
              </a:spcAft>
              <a:defRPr sz="1300">
                <a:solidFill>
                  <a:srgbClr val="FFFFFF"/>
                </a:solidFill>
                <a:latin typeface="Calibri"/>
              </a:defRPr>
            </a:pPr>
            <a:r>
              <a:t>•  GraphDatabase.driver(URI, auth=(user, password))</a:t>
            </a:r>
          </a:p>
          <a:p>
            <a:pPr algn="l">
              <a:spcAft>
                <a:spcPts val="300"/>
              </a:spcAft>
              <a:defRPr sz="1300">
                <a:solidFill>
                  <a:srgbClr val="FFFFFF"/>
                </a:solidFill>
                <a:latin typeface="Calibri"/>
              </a:defRPr>
            </a:pPr>
            <a:r>
              <a:t>•  verify_connectivity() testa la connessione</a:t>
            </a:r>
          </a:p>
          <a:p>
            <a:pPr algn="l">
              <a:spcAft>
                <a:spcPts val="300"/>
              </a:spcAft>
              <a:defRPr sz="1300">
                <a:solidFill>
                  <a:srgbClr val="FFFFFF"/>
                </a:solidFill>
                <a:latin typeface="Calibri"/>
              </a:defRPr>
            </a:pPr>
            <a:r>
              <a:t>•  execute_query() metodo rapido (v6+)</a:t>
            </a:r>
          </a:p>
          <a:p>
            <a:pPr algn="l">
              <a:spcAft>
                <a:spcPts val="300"/>
              </a:spcAft>
              <a:defRPr sz="1300">
                <a:solidFill>
                  <a:srgbClr val="FFFFFF"/>
                </a:solidFill>
                <a:latin typeface="Calibri"/>
              </a:defRPr>
            </a:pPr>
            <a:r>
              <a:t>•  Chiudere con driver.close() o context manager</a:t>
            </a:r>
          </a:p>
        </p:txBody>
      </p:sp>
      <p:sp>
        <p:nvSpPr>
          <p:cNvPr id="5" name="Rectangle 4"/>
          <p:cNvSpPr/>
          <p:nvPr/>
        </p:nvSpPr>
        <p:spPr>
          <a:xfrm>
            <a:off x="5669280" y="1463040"/>
            <a:ext cx="4846320" cy="1371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225296"/>
          </a:xfrm>
          <a:prstGeom prst="rect">
            <a:avLst/>
          </a:prstGeom>
          <a:noFill/>
        </p:spPr>
        <p:txBody>
          <a:bodyPr wrap="square">
            <a:spAutoFit/>
          </a:bodyPr>
          <a:lstStyle/>
          <a:p>
            <a:pPr>
              <a:spcAft>
                <a:spcPts val="100"/>
              </a:spcAft>
              <a:defRPr sz="1000">
                <a:solidFill>
                  <a:srgbClr val="7EC68E"/>
                </a:solidFill>
                <a:latin typeface="Consolas"/>
              </a:defRPr>
            </a:pPr>
            <a:r>
              <a:t>from neo4j import GraphDatabase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URI  = "neo4j+s://&lt;id&gt;.databases.neo4j.io:7687"</a:t>
            </a:r>
          </a:p>
          <a:p>
            <a:pPr>
              <a:spcAft>
                <a:spcPts val="100"/>
              </a:spcAft>
              <a:defRPr sz="1000">
                <a:solidFill>
                  <a:srgbClr val="7EC68E"/>
                </a:solidFill>
                <a:latin typeface="Consolas"/>
              </a:defRPr>
            </a:pPr>
            <a:r>
              <a:t>USER = "neo4j"</a:t>
            </a:r>
          </a:p>
          <a:p>
            <a:pPr>
              <a:spcAft>
                <a:spcPts val="100"/>
              </a:spcAft>
              <a:defRPr sz="1000">
                <a:solidFill>
                  <a:srgbClr val="7EC68E"/>
                </a:solidFill>
                <a:latin typeface="Consolas"/>
              </a:defRPr>
            </a:pPr>
            <a:r>
              <a:t>PASS = "&lt;password&gt;"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 = GraphDatabase.driver(</a:t>
            </a:r>
          </a:p>
          <a:p>
            <a:pPr>
              <a:spcAft>
                <a:spcPts val="100"/>
              </a:spcAft>
              <a:defRPr sz="1000">
                <a:solidFill>
                  <a:srgbClr val="7EC68E"/>
                </a:solidFill>
                <a:latin typeface="Consolas"/>
              </a:defRPr>
            </a:pPr>
            <a:r>
              <a:t>    URI, auth=(USER, PASS))</a:t>
            </a:r>
          </a:p>
          <a:p>
            <a:pPr>
              <a:spcAft>
                <a:spcPts val="100"/>
              </a:spcAft>
              <a:defRPr sz="1000">
                <a:solidFill>
                  <a:srgbClr val="7EC68E"/>
                </a:solidFill>
                <a:latin typeface="Consolas"/>
              </a:defRPr>
            </a:pPr>
            <a:r>
              <a:t>driver.verify_connectivity()</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383280"/>
            <a:ext cx="10515600" cy="365760"/>
          </a:xfrm>
          <a:prstGeom prst="rect">
            <a:avLst/>
          </a:prstGeom>
          <a:noFill/>
        </p:spPr>
        <p:txBody>
          <a:bodyPr wrap="square">
            <a:spAutoFit/>
          </a:bodyPr>
          <a:lstStyle/>
          <a:p>
            <a:pPr algn="l">
              <a:defRPr sz="1500" b="1">
                <a:solidFill>
                  <a:srgbClr val="F08040"/>
                </a:solidFill>
                <a:latin typeface="Calibri"/>
              </a:defRPr>
            </a:pPr>
            <a:r>
              <a:t>Metodi principali del driver</a:t>
            </a:r>
          </a:p>
        </p:txBody>
      </p:sp>
      <p:sp>
        <p:nvSpPr>
          <p:cNvPr id="9" name="TextBox 8"/>
          <p:cNvSpPr txBox="1"/>
          <p:nvPr/>
        </p:nvSpPr>
        <p:spPr>
          <a:xfrm>
            <a:off x="731520" y="3794760"/>
            <a:ext cx="3657600" cy="2560320"/>
          </a:xfrm>
          <a:prstGeom prst="rect">
            <a:avLst/>
          </a:prstGeom>
          <a:noFill/>
        </p:spPr>
        <p:txBody>
          <a:bodyPr wrap="square">
            <a:spAutoFit/>
          </a:bodyPr>
          <a:lstStyle/>
          <a:p>
            <a:pPr algn="l">
              <a:defRPr sz="1100" b="0">
                <a:solidFill>
                  <a:srgbClr val="7EC68E"/>
                </a:solidFill>
                <a:latin typeface="Consolas"/>
              </a:defRPr>
            </a:pPr>
            <a:r>
              <a:t># Eseguire query e leggere risultati</a:t>
            </a:r>
            <a:br/>
            <a:r>
              <a:t>records, summary, keys = driver.execute_query(</a:t>
            </a:r>
            <a:br/>
            <a:r>
              <a:t>    "MATCH (p:Person) "</a:t>
            </a:r>
            <a:br/>
            <a:r>
              <a:t>    "RETURN p.name, p.location "</a:t>
            </a:r>
            <a:br/>
            <a:r>
              <a:t>    "LIMIT 5")</a:t>
            </a:r>
            <a:br/>
            <a:r>
              <a:t>for r in records:</a:t>
            </a:r>
            <a:br/>
            <a:r>
              <a:t>    print(r["p.name"], r["p.location"])</a:t>
            </a:r>
            <a:br/>
            <a:br/>
            <a:r>
              <a:t># Con parametri (sicuro, performante)</a:t>
            </a:r>
            <a:br/>
            <a:r>
              <a:t>driver.execute_query(</a:t>
            </a:r>
            <a:br/>
            <a:r>
              <a:t>    "MATCH (p:Person {location: $loc}) "</a:t>
            </a:r>
            <a:br/>
            <a:r>
              <a:t>    "RETURN p.name",</a:t>
            </a:r>
            <a:br/>
            <a:r>
              <a:t>    loc="Roma")</a:t>
            </a:r>
          </a:p>
        </p:txBody>
      </p:sp>
      <p:sp>
        <p:nvSpPr>
          <p:cNvPr id="10" name="TextBox 9"/>
          <p:cNvSpPr txBox="1"/>
          <p:nvPr/>
        </p:nvSpPr>
        <p:spPr>
          <a:xfrm>
            <a:off x="4114800" y="3794760"/>
            <a:ext cx="6400800" cy="2560320"/>
          </a:xfrm>
          <a:prstGeom prst="rect">
            <a:avLst/>
          </a:prstGeom>
          <a:noFill/>
        </p:spPr>
        <p:txBody>
          <a:bodyPr wrap="square">
            <a:spAutoFit/>
          </a:bodyPr>
          <a:lstStyle/>
          <a:p>
            <a:pPr algn="l">
              <a:defRPr sz="1200" b="0">
                <a:solidFill>
                  <a:srgbClr val="CCCCCC"/>
                </a:solidFill>
                <a:latin typeface="Calibri"/>
              </a:defRPr>
            </a:pPr>
            <a:r>
              <a:t>Perché i parametri ($loc) invece</a:t>
            </a:r>
            <a:br/>
            <a:r>
              <a:t>di stringhe concatenate?</a:t>
            </a:r>
            <a:br/>
            <a:br/>
            <a:r>
              <a:t>1. Sicurezza: previene Cypher Injection</a:t>
            </a:r>
            <a:br/>
            <a:r>
              <a:t>2. Performance: il piano viene cacheato</a:t>
            </a:r>
            <a:br/>
            <a:r>
              <a:t>3. Type safety: il driver gestisce</a:t>
            </a:r>
            <a:br/>
            <a:r>
              <a:t>   la conversione dei tipi automaticamente</a:t>
            </a:r>
            <a:br/>
            <a:br/>
            <a:r>
              <a:t>Injection esempio EVITARE:</a:t>
            </a:r>
            <a:br/>
            <a:r>
              <a:t>  f"... location = '{valore}'"  ✖</a:t>
            </a:r>
            <a:br/>
            <a:r>
              <a:t>Usare parametri: location = $valore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Pattern Matching</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Cypher usa una sintassi ASCII-art per descrivere pattern: guardando il codice si capisce il grafo.</a:t>
            </a:r>
          </a:p>
        </p:txBody>
      </p:sp>
      <p:sp>
        <p:nvSpPr>
          <p:cNvPr id="4" name="TextBox 3"/>
          <p:cNvSpPr txBox="1"/>
          <p:nvPr/>
        </p:nvSpPr>
        <p:spPr>
          <a:xfrm>
            <a:off x="731520" y="1417320"/>
            <a:ext cx="3657600" cy="411480"/>
          </a:xfrm>
          <a:prstGeom prst="rect">
            <a:avLst/>
          </a:prstGeom>
          <a:noFill/>
        </p:spPr>
        <p:txBody>
          <a:bodyPr wrap="square">
            <a:spAutoFit/>
          </a:bodyPr>
          <a:lstStyle/>
          <a:p>
            <a:pPr algn="l">
              <a:defRPr sz="1600" b="1">
                <a:solidFill>
                  <a:srgbClr val="F08040"/>
                </a:solidFill>
                <a:latin typeface="Calibri"/>
              </a:defRPr>
            </a:pPr>
            <a:r>
              <a:t>Pattern per NODI</a:t>
            </a:r>
          </a:p>
        </p:txBody>
      </p:sp>
      <p:sp>
        <p:nvSpPr>
          <p:cNvPr id="5" name="Rectangle 4"/>
          <p:cNvSpPr/>
          <p:nvPr/>
        </p:nvSpPr>
        <p:spPr>
          <a:xfrm>
            <a:off x="73152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                      // nodo generico</a:t>
            </a:r>
          </a:p>
          <a:p>
            <a:pPr>
              <a:spcAft>
                <a:spcPts val="100"/>
              </a:spcAft>
              <a:defRPr sz="1000">
                <a:solidFill>
                  <a:srgbClr val="7EC68E"/>
                </a:solidFill>
                <a:latin typeface="Consolas"/>
              </a:defRPr>
            </a:pPr>
            <a:r>
              <a:t>(:Person)               // nodo con label</a:t>
            </a:r>
          </a:p>
          <a:p>
            <a:pPr>
              <a:spcAft>
                <a:spcPts val="100"/>
              </a:spcAft>
              <a:defRPr sz="1000">
                <a:solidFill>
                  <a:srgbClr val="7EC68E"/>
                </a:solidFill>
                <a:latin typeface="Consolas"/>
              </a:defRPr>
            </a:pPr>
            <a:r>
              <a:t>(p:Person)              // con variabile</a:t>
            </a:r>
          </a:p>
          <a:p>
            <a:pPr>
              <a:spcAft>
                <a:spcPts val="100"/>
              </a:spcAft>
              <a:defRPr sz="1000">
                <a:solidFill>
                  <a:srgbClr val="7EC68E"/>
                </a:solidFill>
                <a:latin typeface="Consolas"/>
              </a:defRPr>
            </a:pPr>
            <a:r>
              <a:t>(p:Person {name:"Alice"}) // con proprietà</a:t>
            </a:r>
          </a:p>
          <a:p>
            <a:pPr>
              <a:spcAft>
                <a:spcPts val="100"/>
              </a:spcAft>
              <a:defRPr sz="1000">
                <a:solidFill>
                  <a:srgbClr val="7EC68E"/>
                </a:solidFill>
                <a:latin typeface="Consolas"/>
              </a:defRPr>
            </a:pPr>
            <a:r>
              <a:t>(a:Person:Employee)     // due labels</a:t>
            </a:r>
          </a:p>
        </p:txBody>
      </p:sp>
      <p:sp>
        <p:nvSpPr>
          <p:cNvPr id="7" name="TextBox 6"/>
          <p:cNvSpPr txBox="1"/>
          <p:nvPr/>
        </p:nvSpPr>
        <p:spPr>
          <a:xfrm>
            <a:off x="4114800" y="1417320"/>
            <a:ext cx="3657600" cy="411480"/>
          </a:xfrm>
          <a:prstGeom prst="rect">
            <a:avLst/>
          </a:prstGeom>
          <a:noFill/>
        </p:spPr>
        <p:txBody>
          <a:bodyPr wrap="square">
            <a:spAutoFit/>
          </a:bodyPr>
          <a:lstStyle/>
          <a:p>
            <a:pPr algn="l">
              <a:defRPr sz="1600" b="1">
                <a:solidFill>
                  <a:srgbClr val="F08040"/>
                </a:solidFill>
                <a:latin typeface="Calibri"/>
              </a:defRPr>
            </a:pPr>
            <a:r>
              <a:t>Pattern per RELAZIONI</a:t>
            </a:r>
          </a:p>
        </p:txBody>
      </p:sp>
      <p:sp>
        <p:nvSpPr>
          <p:cNvPr id="8" name="Rectangle 7"/>
          <p:cNvSpPr/>
          <p:nvPr/>
        </p:nvSpPr>
        <p:spPr>
          <a:xfrm>
            <a:off x="411480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2452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(p)-[:HAS_SKILL]-&gt;(s)    // uscita</a:t>
            </a:r>
          </a:p>
          <a:p>
            <a:pPr>
              <a:spcAft>
                <a:spcPts val="100"/>
              </a:spcAft>
              <a:defRPr sz="1000">
                <a:solidFill>
                  <a:srgbClr val="7EC68E"/>
                </a:solidFill>
                <a:latin typeface="Consolas"/>
              </a:defRPr>
            </a:pPr>
            <a:r>
              <a:t>(p)&lt;-[:REPORTS_TO]-(s)   // entrata</a:t>
            </a:r>
          </a:p>
          <a:p>
            <a:pPr>
              <a:spcAft>
                <a:spcPts val="100"/>
              </a:spcAft>
              <a:defRPr sz="1000">
                <a:solidFill>
                  <a:srgbClr val="7EC68E"/>
                </a:solidFill>
                <a:latin typeface="Consolas"/>
              </a:defRPr>
            </a:pPr>
            <a:r>
              <a:t>(p)-[r:HAS_SKILL]-&gt;(s)   // con variabile</a:t>
            </a:r>
          </a:p>
          <a:p>
            <a:pPr>
              <a:spcAft>
                <a:spcPts val="100"/>
              </a:spcAft>
              <a:defRPr sz="1000">
                <a:solidFill>
                  <a:srgbClr val="7EC68E"/>
                </a:solidFill>
                <a:latin typeface="Consolas"/>
              </a:defRPr>
            </a:pPr>
            <a:r>
              <a:t>(p)-[h {proficiency:5}]-&gt;(s) // con props</a:t>
            </a:r>
          </a:p>
          <a:p>
            <a:pPr>
              <a:spcAft>
                <a:spcPts val="100"/>
              </a:spcAft>
              <a:defRPr sz="1000">
                <a:solidFill>
                  <a:srgbClr val="7EC68E"/>
                </a:solidFill>
                <a:latin typeface="Consolas"/>
              </a:defRPr>
            </a:pPr>
            <a:r>
              <a:t>(p)-[:KNOWS*1..3]-(q)    // profondità variabile</a:t>
            </a:r>
          </a:p>
        </p:txBody>
      </p:sp>
      <p:sp>
        <p:nvSpPr>
          <p:cNvPr id="10" name="TextBox 9"/>
          <p:cNvSpPr txBox="1"/>
          <p:nvPr/>
        </p:nvSpPr>
        <p:spPr>
          <a:xfrm>
            <a:off x="7772400" y="1417320"/>
            <a:ext cx="3657600" cy="411480"/>
          </a:xfrm>
          <a:prstGeom prst="rect">
            <a:avLst/>
          </a:prstGeom>
          <a:noFill/>
        </p:spPr>
        <p:txBody>
          <a:bodyPr wrap="square">
            <a:spAutoFit/>
          </a:bodyPr>
          <a:lstStyle/>
          <a:p>
            <a:pPr algn="l">
              <a:defRPr sz="1600" b="1">
                <a:solidFill>
                  <a:srgbClr val="F08040"/>
                </a:solidFill>
                <a:latin typeface="Calibri"/>
              </a:defRPr>
            </a:pPr>
            <a:r>
              <a:t>Struttura query</a:t>
            </a:r>
          </a:p>
        </p:txBody>
      </p:sp>
      <p:sp>
        <p:nvSpPr>
          <p:cNvPr id="11" name="Rectangle 10"/>
          <p:cNvSpPr/>
          <p:nvPr/>
        </p:nvSpPr>
        <p:spPr>
          <a:xfrm>
            <a:off x="7772400" y="1874519"/>
            <a:ext cx="27432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82128" y="1947671"/>
            <a:ext cx="2523744" cy="10424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LIMIT  10;</a:t>
            </a:r>
          </a:p>
        </p:txBody>
      </p:sp>
      <p:sp>
        <p:nvSpPr>
          <p:cNvPr id="13" name="Rectangle 12"/>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Regole fondamentali:</a:t>
            </a:r>
          </a:p>
        </p:txBody>
      </p:sp>
      <p:sp>
        <p:nvSpPr>
          <p:cNvPr id="15" name="TextBox 14"/>
          <p:cNvSpPr txBox="1"/>
          <p:nvPr/>
        </p:nvSpPr>
        <p:spPr>
          <a:xfrm>
            <a:off x="731520" y="3931920"/>
            <a:ext cx="10515600" cy="1828800"/>
          </a:xfrm>
          <a:prstGeom prst="rect">
            <a:avLst/>
          </a:prstGeom>
          <a:noFill/>
        </p:spPr>
        <p:txBody>
          <a:bodyPr wrap="square">
            <a:spAutoFit/>
          </a:bodyPr>
          <a:lstStyle/>
          <a:p>
            <a:pPr algn="l">
              <a:spcAft>
                <a:spcPts val="300"/>
              </a:spcAft>
              <a:defRPr sz="1200">
                <a:solidFill>
                  <a:srgbClr val="FFFFFF"/>
                </a:solidFill>
                <a:latin typeface="Calibri"/>
              </a:defRPr>
            </a:pPr>
            <a:r>
              <a:t>•  MATCH cerca il pattern nel grafo — se non trova corrispondenza, righe vuote</a:t>
            </a:r>
          </a:p>
          <a:p>
            <a:pPr algn="l">
              <a:spcAft>
                <a:spcPts val="300"/>
              </a:spcAft>
              <a:defRPr sz="1200">
                <a:solidFill>
                  <a:srgbClr val="FFFFFF"/>
                </a:solidFill>
                <a:latin typeface="Calibri"/>
              </a:defRPr>
            </a:pPr>
            <a:r>
              <a:t>•  La variabile (es: p) serve per riferirsi al nodo in RETURN, WHERE e altre clausole</a:t>
            </a:r>
          </a:p>
          <a:p>
            <a:pPr algn="l">
              <a:spcAft>
                <a:spcPts val="300"/>
              </a:spcAft>
              <a:defRPr sz="1200">
                <a:solidFill>
                  <a:srgbClr val="FFFFFF"/>
                </a:solidFill>
                <a:latin typeface="Calibri"/>
              </a:defRPr>
            </a:pPr>
            <a:r>
              <a:t>•  Le proprietà in MATCH filtrano: MATCH (p:Person {name: 'Alice'}) cerca quel nodo specifico</a:t>
            </a:r>
          </a:p>
          <a:p>
            <a:pPr algn="l">
              <a:spcAft>
                <a:spcPts val="300"/>
              </a:spcAft>
              <a:defRPr sz="1200">
                <a:solidFill>
                  <a:srgbClr val="FFFFFF"/>
                </a:solidFill>
                <a:latin typeface="Calibri"/>
              </a:defRPr>
            </a:pPr>
            <a:r>
              <a:t>•  La freccia indica la direzione della relazione: → uscita, ← entrata, — bidirezionale</a:t>
            </a:r>
          </a:p>
          <a:p>
            <a:pPr algn="l">
              <a:spcAft>
                <a:spcPts val="300"/>
              </a:spcAft>
              <a:defRPr sz="1200">
                <a:solidFill>
                  <a:srgbClr val="FFFFFF"/>
                </a:solidFill>
                <a:latin typeface="Calibri"/>
              </a:defRPr>
            </a:pPr>
            <a:r>
              <a:t>•  I commenti in Cypher usano // (non -- che è SQL)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Pattern MATCH: Percorsi Multipli</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Si possono concatenare più relazioni e nodi in un unico MATCH.</a:t>
            </a:r>
          </a:p>
        </p:txBody>
      </p:sp>
      <p:sp>
        <p:nvSpPr>
          <p:cNvPr id="4" name="Rectangle 3"/>
          <p:cNvSpPr/>
          <p:nvPr/>
        </p:nvSpPr>
        <p:spPr>
          <a:xfrm>
            <a:off x="731520" y="146304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2414016"/>
          </a:xfrm>
          <a:prstGeom prst="rect">
            <a:avLst/>
          </a:prstGeom>
          <a:noFill/>
        </p:spPr>
        <p:txBody>
          <a:bodyPr wrap="square">
            <a:spAutoFit/>
          </a:bodyPr>
          <a:lstStyle/>
          <a:p>
            <a:pPr>
              <a:spcAft>
                <a:spcPts val="100"/>
              </a:spcAft>
              <a:defRPr sz="1000">
                <a:solidFill>
                  <a:srgbClr val="7EC68E"/>
                </a:solidFill>
                <a:latin typeface="Consolas"/>
              </a:defRPr>
            </a:pPr>
            <a:r>
              <a:t>// Persone che lavorano INSIEME su un progetto:</a:t>
            </a:r>
          </a:p>
          <a:p>
            <a:pPr>
              <a:spcAft>
                <a:spcPts val="100"/>
              </a:spcAft>
              <a:defRPr sz="1000">
                <a:solidFill>
                  <a:srgbClr val="7EC68E"/>
                </a:solidFill>
                <a:latin typeface="Consolas"/>
              </a:defRPr>
            </a:pPr>
            <a:r>
              <a:t>MATCH (p1:Person)-[:WORKED_ON]-&gt;(proj:Project)</a:t>
            </a:r>
          </a:p>
          <a:p>
            <a:pPr>
              <a:spcAft>
                <a:spcPts val="100"/>
              </a:spcAft>
              <a:defRPr sz="1000">
                <a:solidFill>
                  <a:srgbClr val="7EC68E"/>
                </a:solidFill>
                <a:latin typeface="Consolas"/>
              </a:defRPr>
            </a:pPr>
            <a:r>
              <a:t>      &lt;-[:WORKED_ON]-(p2:Person)</a:t>
            </a:r>
          </a:p>
          <a:p>
            <a:pPr>
              <a:spcAft>
                <a:spcPts val="100"/>
              </a:spcAft>
              <a:defRPr sz="1000">
                <a:solidFill>
                  <a:srgbClr val="7EC68E"/>
                </a:solidFill>
                <a:latin typeface="Consolas"/>
              </a:defRPr>
            </a:pPr>
            <a:r>
              <a:t>RETURN p1.name, p2.name, proj.name</a:t>
            </a:r>
          </a:p>
          <a:p>
            <a:pPr>
              <a:spcAft>
                <a:spcPts val="100"/>
              </a:spcAft>
              <a:defRPr sz="1000">
                <a:solidFill>
                  <a:srgbClr val="7EC68E"/>
                </a:solidFill>
                <a:latin typeface="Consolas"/>
              </a:defRPr>
            </a:pPr>
            <a:r>
              <a:t>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Alice | Bob | AI Platform</a:t>
            </a:r>
          </a:p>
          <a:p>
            <a:pPr>
              <a:spcAft>
                <a:spcPts val="100"/>
              </a:spcAft>
              <a:defRPr sz="1000">
                <a:solidFill>
                  <a:srgbClr val="7EC68E"/>
                </a:solidFill>
                <a:latin typeface="Consolas"/>
              </a:defRPr>
            </a:pPr>
            <a:r>
              <a:t>// Carlo | Diana | Data Lake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Pattern: P1 ha lavorato a un progetto</a:t>
            </a:r>
          </a:p>
          <a:p>
            <a:pPr>
              <a:spcAft>
                <a:spcPts val="100"/>
              </a:spcAft>
              <a:defRPr sz="1000">
                <a:solidFill>
                  <a:srgbClr val="7EC68E"/>
                </a:solidFill>
                <a:latin typeface="Consolas"/>
              </a:defRPr>
            </a:pPr>
            <a:r>
              <a:t>// a cui ha lavorato anche P2.</a:t>
            </a:r>
          </a:p>
          <a:p>
            <a:pPr>
              <a:spcAft>
                <a:spcPts val="100"/>
              </a:spcAft>
              <a:defRPr sz="1000">
                <a:solidFill>
                  <a:srgbClr val="7EC68E"/>
                </a:solidFill>
                <a:latin typeface="Consolas"/>
              </a:defRPr>
            </a:pPr>
            <a:r>
              <a:t>// proj è il nodo PROJECT condiviso.</a:t>
            </a:r>
          </a:p>
        </p:txBody>
      </p:sp>
      <p:sp>
        <p:nvSpPr>
          <p:cNvPr id="6" name="Rectangle 5"/>
          <p:cNvSpPr/>
          <p:nvPr/>
        </p:nvSpPr>
        <p:spPr>
          <a:xfrm>
            <a:off x="5669280" y="1463040"/>
            <a:ext cx="484632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536192"/>
            <a:ext cx="4626864" cy="2414016"/>
          </a:xfrm>
          <a:prstGeom prst="rect">
            <a:avLst/>
          </a:prstGeom>
          <a:noFill/>
        </p:spPr>
        <p:txBody>
          <a:bodyPr wrap="square">
            <a:spAutoFit/>
          </a:bodyPr>
          <a:lstStyle/>
          <a:p>
            <a:pPr>
              <a:spcAft>
                <a:spcPts val="100"/>
              </a:spcAft>
              <a:defRPr sz="1000">
                <a:solidFill>
                  <a:srgbClr val="7EC68E"/>
                </a:solidFill>
                <a:latin typeface="Consolas"/>
              </a:defRPr>
            </a:pPr>
            <a:r>
              <a:t>// Path a profondità variabile:</a:t>
            </a:r>
          </a:p>
          <a:p>
            <a:pPr>
              <a:spcAft>
                <a:spcPts val="100"/>
              </a:spcAft>
              <a:defRPr sz="1000">
                <a:solidFill>
                  <a:srgbClr val="7EC68E"/>
                </a:solidFill>
                <a:latin typeface="Consolas"/>
              </a:defRPr>
            </a:pPr>
            <a:r>
              <a:t>// Cerchiamo persone raggiungibili via</a:t>
            </a:r>
          </a:p>
          <a:p>
            <a:pPr>
              <a:spcAft>
                <a:spcPts val="100"/>
              </a:spcAft>
              <a:defRPr sz="1000">
                <a:solidFill>
                  <a:srgbClr val="7EC68E"/>
                </a:solidFill>
                <a:latin typeface="Consolas"/>
              </a:defRPr>
            </a:pPr>
            <a:r>
              <a:t>// WORKED_ON in al massimo 3 salti:</a:t>
            </a:r>
          </a:p>
          <a:p>
            <a:pPr>
              <a:spcAft>
                <a:spcPts val="100"/>
              </a:spcAft>
              <a:defRPr sz="1000">
                <a:solidFill>
                  <a:srgbClr val="7EC68E"/>
                </a:solidFill>
                <a:latin typeface="Consolas"/>
              </a:defRPr>
            </a:pPr>
            <a:r>
              <a:t>MATCH path = (a:Person {employee_id: 1})</a:t>
            </a:r>
          </a:p>
          <a:p>
            <a:pPr>
              <a:spcAft>
                <a:spcPts val="100"/>
              </a:spcAft>
              <a:defRPr sz="1000">
                <a:solidFill>
                  <a:srgbClr val="7EC68E"/>
                </a:solidFill>
                <a:latin typeface="Consolas"/>
              </a:defRPr>
            </a:pPr>
            <a:r>
              <a:t>      -[:WORKED_ON*1..3]-(b:Person)</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salti</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[*1..3] = da 1 a 3 relazioni WORKED_ON</a:t>
            </a:r>
          </a:p>
          <a:p>
            <a:pPr>
              <a:spcAft>
                <a:spcPts val="100"/>
              </a:spcAft>
              <a:defRPr sz="1000">
                <a:solidFill>
                  <a:srgbClr val="7EC68E"/>
                </a:solidFill>
                <a:latin typeface="Consolas"/>
              </a:defRPr>
            </a:pPr>
            <a:r>
              <a:t>// path = variabile per l'intero percorso</a:t>
            </a:r>
          </a:p>
          <a:p>
            <a:pPr>
              <a:spcAft>
                <a:spcPts val="100"/>
              </a:spcAft>
              <a:defRPr sz="1000">
                <a:solidFill>
                  <a:srgbClr val="7EC68E"/>
                </a:solidFill>
                <a:latin typeface="Consolas"/>
              </a:defRPr>
            </a:pPr>
            <a:r>
              <a:t>// nodes(path) = lista nodi del percorso</a:t>
            </a:r>
          </a:p>
        </p:txBody>
      </p:sp>
      <p:sp>
        <p:nvSpPr>
          <p:cNvPr id="8" name="Rectangle 7"/>
          <p:cNvSpPr/>
          <p:nvPr/>
        </p:nvSpPr>
        <p:spPr>
          <a:xfrm>
            <a:off x="731520" y="43891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572000"/>
            <a:ext cx="10515600" cy="365760"/>
          </a:xfrm>
          <a:prstGeom prst="rect">
            <a:avLst/>
          </a:prstGeom>
          <a:noFill/>
        </p:spPr>
        <p:txBody>
          <a:bodyPr wrap="square">
            <a:spAutoFit/>
          </a:bodyPr>
          <a:lstStyle/>
          <a:p>
            <a:pPr algn="l">
              <a:defRPr sz="1500" b="1">
                <a:solidFill>
                  <a:srgbClr val="F08040"/>
                </a:solidFill>
                <a:latin typeface="Calibri"/>
              </a:defRPr>
            </a:pPr>
            <a:r>
              <a:t>Optional Match: come LEFT JOIN</a:t>
            </a:r>
          </a:p>
        </p:txBody>
      </p:sp>
      <p:sp>
        <p:nvSpPr>
          <p:cNvPr id="10" name="TextBox 9"/>
          <p:cNvSpPr txBox="1"/>
          <p:nvPr/>
        </p:nvSpPr>
        <p:spPr>
          <a:xfrm>
            <a:off x="731520" y="5029200"/>
            <a:ext cx="10515600" cy="1097280"/>
          </a:xfrm>
          <a:prstGeom prst="rect">
            <a:avLst/>
          </a:prstGeom>
          <a:noFill/>
        </p:spPr>
        <p:txBody>
          <a:bodyPr wrap="square">
            <a:spAutoFit/>
          </a:bodyPr>
          <a:lstStyle/>
          <a:p>
            <a:pPr algn="l">
              <a:spcAft>
                <a:spcPts val="300"/>
              </a:spcAft>
              <a:defRPr sz="1200">
                <a:solidFill>
                  <a:srgbClr val="FFFFFF"/>
                </a:solidFill>
                <a:latin typeface="Calibri"/>
              </a:defRPr>
            </a:pPr>
            <a:r>
              <a:t>•  OPTIONAL MATCH — cerca il pattern, se non trovato restituisce NULL (non scarta la riga)</a:t>
            </a:r>
          </a:p>
          <a:p>
            <a:pPr algn="l">
              <a:spcAft>
                <a:spcPts val="300"/>
              </a:spcAft>
              <a:defRPr sz="1200">
                <a:solidFill>
                  <a:srgbClr val="FFFFFF"/>
                </a:solidFill>
                <a:latin typeface="Calibri"/>
              </a:defRPr>
            </a:pPr>
            <a:r>
              <a:t>•  Utile per: "trova tutte le persone e le loro skill (incluse quelle senza skill)"</a:t>
            </a:r>
          </a:p>
          <a:p>
            <a:pPr algn="l">
              <a:spcAft>
                <a:spcPts val="300"/>
              </a:spcAft>
              <a:defRPr sz="1200">
                <a:solidFill>
                  <a:srgbClr val="FFFFFF"/>
                </a:solidFill>
                <a:latin typeface="Calibri"/>
              </a:defRPr>
            </a:pPr>
            <a:r>
              <a:t>•  MATCH normale scarta le righe che non corrispondono al pattern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Leggere Dati con MATCH + WHERE</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WHERE filtra i risultati. Supporta operatori logici, confronti, testo e liste.</a:t>
            </a:r>
          </a:p>
        </p:txBody>
      </p:sp>
      <p:sp>
        <p:nvSpPr>
          <p:cNvPr id="4" name="TextBox 3"/>
          <p:cNvSpPr txBox="1"/>
          <p:nvPr/>
        </p:nvSpPr>
        <p:spPr>
          <a:xfrm>
            <a:off x="731520" y="1371600"/>
            <a:ext cx="5029200" cy="411480"/>
          </a:xfrm>
          <a:prstGeom prst="rect">
            <a:avLst/>
          </a:prstGeom>
          <a:noFill/>
        </p:spPr>
        <p:txBody>
          <a:bodyPr wrap="square">
            <a:spAutoFit/>
          </a:bodyPr>
          <a:lstStyle/>
          <a:p>
            <a:pPr algn="l">
              <a:defRPr sz="1600" b="1">
                <a:solidFill>
                  <a:srgbClr val="F08040"/>
                </a:solidFill>
                <a:latin typeface="Calibri"/>
              </a:defRPr>
            </a:pPr>
            <a:r>
              <a:t>Filtri con WHERE</a:t>
            </a:r>
          </a:p>
        </p:txBody>
      </p:sp>
      <p:sp>
        <p:nvSpPr>
          <p:cNvPr id="5" name="Rectangle 4"/>
          <p:cNvSpPr/>
          <p:nvPr/>
        </p:nvSpPr>
        <p:spPr>
          <a:xfrm>
            <a:off x="731520" y="17830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4809744" cy="1499616"/>
          </a:xfrm>
          <a:prstGeom prst="rect">
            <a:avLst/>
          </a:prstGeom>
          <a:noFill/>
        </p:spPr>
        <p:txBody>
          <a:bodyPr wrap="square">
            <a:spAutoFit/>
          </a:bodyPr>
          <a:lstStyle/>
          <a:p>
            <a:pPr>
              <a:spcAft>
                <a:spcPts val="100"/>
              </a:spcAft>
              <a:defRPr sz="1000">
                <a:solidFill>
                  <a:srgbClr val="7EC68E"/>
                </a:solidFill>
                <a:latin typeface="Consolas"/>
              </a:defRPr>
            </a:pPr>
            <a:r>
              <a:t>// Operatori: =, &lt;&gt;, &lt;, &gt;, &lt;=, &gt;=</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Combinazioni AND / OR con parentesi: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   OR  p.location = "Milano")</a:t>
            </a:r>
          </a:p>
          <a:p>
            <a:pPr>
              <a:spcAft>
                <a:spcPts val="100"/>
              </a:spcAft>
              <a:defRPr sz="1000">
                <a:solidFill>
                  <a:srgbClr val="7EC68E"/>
                </a:solidFill>
                <a:latin typeface="Consolas"/>
              </a:defRPr>
            </a:pPr>
            <a:r>
              <a:t>  AND p.title CONTAINS "Senior"</a:t>
            </a:r>
          </a:p>
          <a:p>
            <a:pPr>
              <a:spcAft>
                <a:spcPts val="100"/>
              </a:spcAft>
              <a:defRPr sz="1000">
                <a:solidFill>
                  <a:srgbClr val="7EC68E"/>
                </a:solidFill>
                <a:latin typeface="Consolas"/>
              </a:defRPr>
            </a:pPr>
            <a:r>
              <a:t>RETURN p.name, p.location, p.title;</a:t>
            </a:r>
          </a:p>
        </p:txBody>
      </p:sp>
      <p:sp>
        <p:nvSpPr>
          <p:cNvPr id="7" name="TextBox 6"/>
          <p:cNvSpPr txBox="1"/>
          <p:nvPr/>
        </p:nvSpPr>
        <p:spPr>
          <a:xfrm>
            <a:off x="5669280" y="1371600"/>
            <a:ext cx="4846320" cy="411480"/>
          </a:xfrm>
          <a:prstGeom prst="rect">
            <a:avLst/>
          </a:prstGeom>
          <a:noFill/>
        </p:spPr>
        <p:txBody>
          <a:bodyPr wrap="square">
            <a:spAutoFit/>
          </a:bodyPr>
          <a:lstStyle/>
          <a:p>
            <a:pPr algn="l">
              <a:defRPr sz="1600" b="1">
                <a:solidFill>
                  <a:srgbClr val="F08040"/>
                </a:solidFill>
                <a:latin typeface="Calibri"/>
              </a:defRPr>
            </a:pPr>
            <a:r>
              <a:t>Ricerca testuale e liste</a:t>
            </a:r>
          </a:p>
        </p:txBody>
      </p:sp>
      <p:sp>
        <p:nvSpPr>
          <p:cNvPr id="8" name="Rectangle 7"/>
          <p:cNvSpPr/>
          <p:nvPr/>
        </p:nvSpPr>
        <p:spPr>
          <a:xfrm>
            <a:off x="5669280" y="17830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9008" y="1856232"/>
            <a:ext cx="4626864" cy="1499616"/>
          </a:xfrm>
          <a:prstGeom prst="rect">
            <a:avLst/>
          </a:prstGeom>
          <a:noFill/>
        </p:spPr>
        <p:txBody>
          <a:bodyPr wrap="square">
            <a:spAutoFit/>
          </a:bodyPr>
          <a:lstStyle/>
          <a:p>
            <a:pPr>
              <a:spcAft>
                <a:spcPts val="100"/>
              </a:spcAft>
              <a:defRPr sz="1000">
                <a:solidFill>
                  <a:srgbClr val="7EC68E"/>
                </a:solidFill>
                <a:latin typeface="Consolas"/>
              </a:defRPr>
            </a:pPr>
            <a:r>
              <a:t>// CONTAINS, STARTS WITH, ENDS WITH</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STARTS WITH "Py"</a:t>
            </a:r>
          </a:p>
          <a:p>
            <a:pPr>
              <a:spcAft>
                <a:spcPts val="100"/>
              </a:spcAft>
              <a:defRPr sz="1000">
                <a:solidFill>
                  <a:srgbClr val="7EC68E"/>
                </a:solidFill>
                <a:latin typeface="Consolas"/>
              </a:defRPr>
            </a:pPr>
            <a:r>
              <a:t>RETURN s.name;  // Python, PySpark</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 per liste: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IN ("Roma", "Milano")</a:t>
            </a:r>
          </a:p>
          <a:p>
            <a:pPr>
              <a:spcAft>
                <a:spcPts val="100"/>
              </a:spcAft>
              <a:defRPr sz="1000">
                <a:solidFill>
                  <a:srgbClr val="7EC68E"/>
                </a:solidFill>
                <a:latin typeface="Consolas"/>
              </a:defRPr>
            </a:pPr>
            <a:r>
              <a:t>RETURN p.name,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IS NULL / IS NOT NULL:</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IS NULL</a:t>
            </a:r>
          </a:p>
          <a:p>
            <a:pPr>
              <a:spcAft>
                <a:spcPts val="100"/>
              </a:spcAft>
              <a:defRPr sz="1000">
                <a:solidFill>
                  <a:srgbClr val="7EC68E"/>
                </a:solidFill>
                <a:latin typeface="Consolas"/>
              </a:defRPr>
            </a:pPr>
            <a:r>
              <a:t>RETURN p.name;  // location mancante</a:t>
            </a:r>
          </a:p>
        </p:txBody>
      </p:sp>
      <p:sp>
        <p:nvSpPr>
          <p:cNvPr id="10" name="Rectangle 9"/>
          <p:cNvSpPr/>
          <p:nvPr/>
        </p:nvSpPr>
        <p:spPr>
          <a:xfrm>
            <a:off x="731520" y="3749039"/>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31920"/>
            <a:ext cx="10515600" cy="365760"/>
          </a:xfrm>
          <a:prstGeom prst="rect">
            <a:avLst/>
          </a:prstGeom>
          <a:noFill/>
        </p:spPr>
        <p:txBody>
          <a:bodyPr wrap="square">
            <a:spAutoFit/>
          </a:bodyPr>
          <a:lstStyle/>
          <a:p>
            <a:pPr algn="l">
              <a:defRPr sz="1500" b="1">
                <a:solidFill>
                  <a:srgbClr val="F08040"/>
                </a:solidFill>
                <a:latin typeface="Calibri"/>
              </a:defRPr>
            </a:pPr>
            <a:r>
              <a:t>Ordinamento e Paginazione</a:t>
            </a:r>
          </a:p>
        </p:txBody>
      </p:sp>
      <p:sp>
        <p:nvSpPr>
          <p:cNvPr id="12" name="Rectangle 11"/>
          <p:cNvSpPr/>
          <p:nvPr/>
        </p:nvSpPr>
        <p:spPr>
          <a:xfrm>
            <a:off x="731520" y="4343400"/>
            <a:ext cx="5029200" cy="15544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416552"/>
            <a:ext cx="4809744" cy="1408176"/>
          </a:xfrm>
          <a:prstGeom prst="rect">
            <a:avLst/>
          </a:prstGeom>
          <a:noFill/>
        </p:spPr>
        <p:txBody>
          <a:bodyPr wrap="square">
            <a:spAutoFit/>
          </a:bodyPr>
          <a:lstStyle/>
          <a:p>
            <a:pPr>
              <a:spcAft>
                <a:spcPts val="100"/>
              </a:spcAft>
              <a:defRPr sz="1000">
                <a:solidFill>
                  <a:srgbClr val="7EC68E"/>
                </a:solidFill>
                <a:latin typeface="Consolas"/>
              </a:defRPr>
            </a:pPr>
            <a:r>
              <a:t>// ORDER BY (ASC default, DESC esplicito)</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 ASC, p.title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LIMIT + SKIP per paginazione: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SKIP 10 LIMIT 10;  // pagina 2</a:t>
            </a:r>
          </a:p>
        </p:txBody>
      </p:sp>
      <p:sp>
        <p:nvSpPr>
          <p:cNvPr id="14" name="Rectangle 13"/>
          <p:cNvSpPr/>
          <p:nvPr/>
        </p:nvSpPr>
        <p:spPr>
          <a:xfrm>
            <a:off x="5669280" y="4343400"/>
            <a:ext cx="4846320" cy="15544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79008" y="4416552"/>
            <a:ext cx="4626864" cy="1408176"/>
          </a:xfrm>
          <a:prstGeom prst="rect">
            <a:avLst/>
          </a:prstGeom>
          <a:noFill/>
        </p:spPr>
        <p:txBody>
          <a:bodyPr wrap="square">
            <a:spAutoFit/>
          </a:bodyPr>
          <a:lstStyle/>
          <a:p>
            <a:pPr>
              <a:spcAft>
                <a:spcPts val="100"/>
              </a:spcAft>
              <a:defRPr sz="1000">
                <a:solidFill>
                  <a:srgbClr val="7EC68E"/>
                </a:solidFill>
                <a:latin typeface="Consolas"/>
              </a:defRPr>
            </a:pPr>
            <a:r>
              <a:t>// DISTINCT per rimuovere duplicati:</a:t>
            </a:r>
          </a:p>
          <a:p>
            <a:pPr>
              <a:spcAft>
                <a:spcPts val="100"/>
              </a:spcAft>
              <a:defRPr sz="1000">
                <a:solidFill>
                  <a:srgbClr val="7EC68E"/>
                </a:solidFill>
                <a:latin typeface="Consolas"/>
              </a:defRPr>
            </a:pPr>
            <a:r>
              <a:t>MATCH (p:Person)-[:WORKED_ON]-&gt;(proj:Project)</a:t>
            </a:r>
          </a:p>
          <a:p>
            <a:pPr>
              <a:spcAft>
                <a:spcPts val="100"/>
              </a:spcAft>
              <a:defRPr sz="1000">
                <a:solidFill>
                  <a:srgbClr val="7EC68E"/>
                </a:solidFill>
                <a:latin typeface="Consolas"/>
              </a:defRPr>
            </a:pPr>
            <a:r>
              <a:t>RETURN DISTINCT p.location AS sedi</a:t>
            </a:r>
          </a:p>
          <a:p>
            <a:pPr>
              <a:spcAft>
                <a:spcPts val="100"/>
              </a:spcAft>
              <a:defRPr sz="1000">
                <a:solidFill>
                  <a:srgbClr val="7EC68E"/>
                </a:solidFill>
                <a:latin typeface="Consolas"/>
              </a:defRPr>
            </a:pPr>
            <a:r>
              <a:t>ORDER BY sedi;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AS per rinominare colonne: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AS nome,</a:t>
            </a:r>
          </a:p>
          <a:p>
            <a:pPr>
              <a:spcAft>
                <a:spcPts val="100"/>
              </a:spcAft>
              <a:defRPr sz="1000">
                <a:solidFill>
                  <a:srgbClr val="7EC68E"/>
                </a:solidFill>
                <a:latin typeface="Consolas"/>
              </a:defRPr>
            </a:pPr>
            <a:r>
              <a:t>       p.title AS ruolo,</a:t>
            </a:r>
          </a:p>
          <a:p>
            <a:pPr>
              <a:spcAft>
                <a:spcPts val="100"/>
              </a:spcAft>
              <a:defRPr sz="1000">
                <a:solidFill>
                  <a:srgbClr val="7EC68E"/>
                </a:solidFill>
                <a:latin typeface="Consolas"/>
              </a:defRPr>
            </a:pPr>
            <a:r>
              <a:t>       p.location AS sede</a:t>
            </a:r>
          </a:p>
          <a:p>
            <a:pPr>
              <a:spcAft>
                <a:spcPts val="100"/>
              </a:spcAft>
              <a:defRPr sz="1000">
                <a:solidFill>
                  <a:srgbClr val="7EC68E"/>
                </a:solidFill>
                <a:latin typeface="Consolas"/>
              </a:defRPr>
            </a:pPr>
            <a:r>
              <a:t>ORDER BY nome;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Aggregazioni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COUNT, COLLECT, AVG, SUM, MIN, MAX — come SQL ma senza GROUP BY esplicito. Le colonne non aggregate sono automaticamente chiavi di raggruppamento.</a:t>
            </a:r>
          </a:p>
        </p:txBody>
      </p:sp>
      <p:sp>
        <p:nvSpPr>
          <p:cNvPr id="4" name="Rectangle 3"/>
          <p:cNvSpPr/>
          <p:nvPr/>
        </p:nvSpPr>
        <p:spPr>
          <a:xfrm>
            <a:off x="731520" y="1554480"/>
            <a:ext cx="5029200" cy="27432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27632"/>
            <a:ext cx="4809744" cy="2596896"/>
          </a:xfrm>
          <a:prstGeom prst="rect">
            <a:avLst/>
          </a:prstGeom>
          <a:noFill/>
        </p:spPr>
        <p:txBody>
          <a:bodyPr wrap="square">
            <a:spAutoFit/>
          </a:bodyPr>
          <a:lstStyle/>
          <a:p>
            <a:pPr>
              <a:spcAft>
                <a:spcPts val="100"/>
              </a:spcAft>
              <a:defRPr sz="1000">
                <a:solidFill>
                  <a:srgbClr val="7EC68E"/>
                </a:solidFill>
                <a:latin typeface="Consolas"/>
              </a:defRPr>
            </a:pPr>
            <a:r>
              <a:t>// COUNT: quante persone per location?</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p.location AS sede,</a:t>
            </a:r>
          </a:p>
          <a:p>
            <a:pPr>
              <a:spcAft>
                <a:spcPts val="100"/>
              </a:spcAft>
              <a:defRPr sz="1000">
                <a:solidFill>
                  <a:srgbClr val="7EC68E"/>
                </a:solidFill>
                <a:latin typeface="Consolas"/>
              </a:defRPr>
            </a:pPr>
            <a:r>
              <a:t>       count(*) AS persone</a:t>
            </a:r>
          </a:p>
          <a:p>
            <a:pPr>
              <a:spcAft>
                <a:spcPts val="100"/>
              </a:spcAft>
              <a:defRPr sz="1000">
                <a:solidFill>
                  <a:srgbClr val="7EC68E"/>
                </a:solidFill>
                <a:latin typeface="Consolas"/>
              </a:defRPr>
            </a:pPr>
            <a:r>
              <a:t>ORDER BY persone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COLLECT: lista skill per persona:</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p.name AS persona,</a:t>
            </a:r>
          </a:p>
          <a:p>
            <a:pPr>
              <a:spcAft>
                <a:spcPts val="100"/>
              </a:spcAft>
              <a:defRPr sz="1000">
                <a:solidFill>
                  <a:srgbClr val="7EC68E"/>
                </a:solidFill>
                <a:latin typeface="Consolas"/>
              </a:defRPr>
            </a:pPr>
            <a:r>
              <a:t>       collect(s.name) AS skill,</a:t>
            </a:r>
          </a:p>
          <a:p>
            <a:pPr>
              <a:spcAft>
                <a:spcPts val="100"/>
              </a:spcAft>
              <a:defRPr sz="1000">
                <a:solidFill>
                  <a:srgbClr val="7EC68E"/>
                </a:solidFill>
                <a:latin typeface="Consolas"/>
              </a:defRPr>
            </a:pPr>
            <a:r>
              <a:t>       count(s) AS totale_skill</a:t>
            </a:r>
          </a:p>
          <a:p>
            <a:pPr>
              <a:spcAft>
                <a:spcPts val="100"/>
              </a:spcAft>
              <a:defRPr sz="1000">
                <a:solidFill>
                  <a:srgbClr val="7EC68E"/>
                </a:solidFill>
                <a:latin typeface="Consolas"/>
              </a:defRPr>
            </a:pPr>
            <a:r>
              <a:t>ORDER BY totale_skill DESC</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AVG + round: media proficiency per skill:</a:t>
            </a:r>
          </a:p>
          <a:p>
            <a:pPr>
              <a:spcAft>
                <a:spcPts val="100"/>
              </a:spcAft>
              <a:defRPr sz="1000">
                <a:solidFill>
                  <a:srgbClr val="7EC68E"/>
                </a:solidFill>
                <a:latin typeface="Consolas"/>
              </a:defRPr>
            </a:pPr>
            <a:r>
              <a:t>MATCH (p:Person)-[h:HAS_SKILL]-&gt;(s:Skill)</a:t>
            </a:r>
          </a:p>
          <a:p>
            <a:pPr>
              <a:spcAft>
                <a:spcPts val="100"/>
              </a:spcAft>
              <a:defRPr sz="1000">
                <a:solidFill>
                  <a:srgbClr val="7EC68E"/>
                </a:solidFill>
                <a:latin typeface="Consolas"/>
              </a:defRPr>
            </a:pPr>
            <a:r>
              <a:t>RETURN s.name AS skill,</a:t>
            </a:r>
          </a:p>
          <a:p>
            <a:pPr>
              <a:spcAft>
                <a:spcPts val="100"/>
              </a:spcAft>
              <a:defRPr sz="1000">
                <a:solidFill>
                  <a:srgbClr val="7EC68E"/>
                </a:solidFill>
                <a:latin typeface="Consolas"/>
              </a:defRPr>
            </a:pPr>
            <a:r>
              <a:t>       round(avg(h.proficiency), 1) AS media,</a:t>
            </a:r>
          </a:p>
          <a:p>
            <a:pPr>
              <a:spcAft>
                <a:spcPts val="100"/>
              </a:spcAft>
              <a:defRPr sz="1000">
                <a:solidFill>
                  <a:srgbClr val="7EC68E"/>
                </a:solidFill>
                <a:latin typeface="Consolas"/>
              </a:defRPr>
            </a:pPr>
            <a:r>
              <a:t>       count(p) AS persone</a:t>
            </a:r>
          </a:p>
          <a:p>
            <a:pPr>
              <a:spcAft>
                <a:spcPts val="100"/>
              </a:spcAft>
              <a:defRPr sz="1000">
                <a:solidFill>
                  <a:srgbClr val="7EC68E"/>
                </a:solidFill>
                <a:latin typeface="Consolas"/>
              </a:defRPr>
            </a:pPr>
            <a:r>
              <a:t>ORDER BY media DESC</a:t>
            </a:r>
          </a:p>
          <a:p>
            <a:pPr>
              <a:spcAft>
                <a:spcPts val="100"/>
              </a:spcAft>
              <a:defRPr sz="1000">
                <a:solidFill>
                  <a:srgbClr val="7EC68E"/>
                </a:solidFill>
                <a:latin typeface="Consolas"/>
              </a:defRPr>
            </a:pPr>
            <a:r>
              <a:t>LIMIT 10;</a:t>
            </a:r>
          </a:p>
        </p:txBody>
      </p:sp>
      <p:sp>
        <p:nvSpPr>
          <p:cNvPr id="6" name="TextBox 5"/>
          <p:cNvSpPr txBox="1"/>
          <p:nvPr/>
        </p:nvSpPr>
        <p:spPr>
          <a:xfrm>
            <a:off x="5669280" y="1554480"/>
            <a:ext cx="4846320" cy="2743200"/>
          </a:xfrm>
          <a:prstGeom prst="rect">
            <a:avLst/>
          </a:prstGeom>
          <a:noFill/>
        </p:spPr>
        <p:txBody>
          <a:bodyPr wrap="square">
            <a:spAutoFit/>
          </a:bodyPr>
          <a:lstStyle/>
          <a:p>
            <a:pPr algn="l">
              <a:defRPr sz="1100" b="0">
                <a:solidFill>
                  <a:srgbClr val="CCCCCC"/>
                </a:solidFill>
                <a:latin typeface="Calibri"/>
              </a:defRPr>
            </a:pPr>
            <a:r>
              <a:t>Dettaglio funzioni di aggregazione:</a:t>
            </a:r>
            <a:br/>
            <a:br/>
            <a:r>
              <a:t>count(*)     = conta tutte le righe</a:t>
            </a:r>
            <a:br/>
            <a:r>
              <a:t>count(expr)  = conta i valori non-NULL</a:t>
            </a:r>
            <a:br/>
            <a:r>
              <a:t>count(DISTINCT expr) = conta valori unici</a:t>
            </a:r>
            <a:br/>
            <a:br/>
            <a:r>
              <a:t>collect(expr)      = lista di tutti i valori</a:t>
            </a:r>
            <a:br/>
            <a:r>
              <a:t>collect(DISTINCT)  = lista senza duplicati</a:t>
            </a:r>
            <a:br/>
            <a:br/>
            <a:r>
              <a:t>avg(expr)  = media aritmetica</a:t>
            </a:r>
            <a:br/>
            <a:r>
              <a:t>sum(expr)  = somma</a:t>
            </a:r>
            <a:br/>
            <a:r>
              <a:t>min(expr)  = valore minimo</a:t>
            </a:r>
            <a:br/>
            <a:r>
              <a:t>max(expr)  = valore massimo</a:t>
            </a:r>
            <a:br/>
            <a:br/>
            <a:r>
              <a:t>Attenzione: count() è più veloce</a:t>
            </a:r>
            <a:br/>
            <a:r>
              <a:t>di size(collect()) perché non</a:t>
            </a:r>
            <a:br/>
            <a:r>
              <a:t>costruisce la lista intermedia.</a:t>
            </a:r>
          </a:p>
        </p:txBody>
      </p:sp>
      <p:sp>
        <p:nvSpPr>
          <p:cNvPr id="7" name="Rectangle 6"/>
          <p:cNvSpPr/>
          <p:nvPr/>
        </p:nvSpPr>
        <p:spPr>
          <a:xfrm>
            <a:off x="731520" y="4663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46320"/>
            <a:ext cx="10515600" cy="365760"/>
          </a:xfrm>
          <a:prstGeom prst="rect">
            <a:avLst/>
          </a:prstGeom>
          <a:noFill/>
        </p:spPr>
        <p:txBody>
          <a:bodyPr wrap="square">
            <a:spAutoFit/>
          </a:bodyPr>
          <a:lstStyle/>
          <a:p>
            <a:pPr algn="l">
              <a:defRPr sz="1300" b="0">
                <a:solidFill>
                  <a:srgbClr val="F0C040"/>
                </a:solidFill>
                <a:latin typeface="Calibri"/>
              </a:defRPr>
            </a:pPr>
            <a:r>
              <a:t>Ogni RETURN o WITH può mescolare colonne aggregate e non aggregate.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Scrivere Dati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CREATE, MERGE, SET, DELETE — le operazioni di scrittura in Cypher.</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CREATE vs MERGE</a:t>
            </a:r>
          </a:p>
        </p:txBody>
      </p:sp>
      <p:sp>
        <p:nvSpPr>
          <p:cNvPr id="5" name="TextBox 4"/>
          <p:cNvSpPr txBox="1"/>
          <p:nvPr/>
        </p:nvSpPr>
        <p:spPr>
          <a:xfrm>
            <a:off x="731520" y="1828800"/>
            <a:ext cx="5029200" cy="2286000"/>
          </a:xfrm>
          <a:prstGeom prst="rect">
            <a:avLst/>
          </a:prstGeom>
          <a:noFill/>
        </p:spPr>
        <p:txBody>
          <a:bodyPr wrap="square">
            <a:spAutoFit/>
          </a:bodyPr>
          <a:lstStyle/>
          <a:p>
            <a:pPr algn="l">
              <a:spcAft>
                <a:spcPts val="300"/>
              </a:spcAft>
              <a:defRPr sz="1200">
                <a:solidFill>
                  <a:srgbClr val="FFFFFF"/>
                </a:solidFill>
                <a:latin typeface="Calibri"/>
              </a:defRPr>
            </a:pPr>
            <a:r>
              <a:t>•  CREATE — inserisce sempre. Se il nodo già esiste, lo duplica o fallisce</a:t>
            </a:r>
          </a:p>
          <a:p>
            <a:pPr algn="l">
              <a:spcAft>
                <a:spcPts val="300"/>
              </a:spcAft>
              <a:defRPr sz="1200">
                <a:solidFill>
                  <a:srgbClr val="FFFFFF"/>
                </a:solidFill>
                <a:latin typeface="Calibri"/>
              </a:defRPr>
            </a:pPr>
            <a:r>
              <a:t>•  MERGE — match-or-create: cerca il pattern, se non esiste lo crea</a:t>
            </a:r>
          </a:p>
          <a:p>
            <a:pPr algn="l">
              <a:spcAft>
                <a:spcPts val="300"/>
              </a:spcAft>
              <a:defRPr sz="1200">
                <a:solidFill>
                  <a:srgbClr val="FFFFFF"/>
                </a:solidFill>
                <a:latin typeface="Calibri"/>
              </a:defRPr>
            </a:pPr>
            <a:r>
              <a:t>•  MERGE è IDEMPOTENTE — eseguirlo N volte produce lo stesso risultato</a:t>
            </a:r>
          </a:p>
          <a:p>
            <a:pPr algn="l">
              <a:spcAft>
                <a:spcPts val="300"/>
              </a:spcAft>
              <a:defRPr sz="1200">
                <a:solidFill>
                  <a:srgbClr val="FFFFFF"/>
                </a:solidFill>
                <a:latin typeface="Calibri"/>
              </a:defRPr>
            </a:pPr>
            <a:r>
              <a:t>•  Preferire MERGE su chiave univoca + constraint UNIQUE</a:t>
            </a:r>
          </a:p>
        </p:txBody>
      </p:sp>
      <p:sp>
        <p:nvSpPr>
          <p:cNvPr id="6" name="Rectangle 5"/>
          <p:cNvSpPr/>
          <p:nvPr/>
        </p:nvSpPr>
        <p:spPr>
          <a:xfrm>
            <a:off x="731520" y="420624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279392"/>
            <a:ext cx="4809744" cy="1499616"/>
          </a:xfrm>
          <a:prstGeom prst="rect">
            <a:avLst/>
          </a:prstGeom>
          <a:noFill/>
        </p:spPr>
        <p:txBody>
          <a:bodyPr wrap="square">
            <a:spAutoFit/>
          </a:bodyPr>
          <a:lstStyle/>
          <a:p>
            <a:pPr>
              <a:spcAft>
                <a:spcPts val="100"/>
              </a:spcAft>
              <a:defRPr sz="1000">
                <a:solidFill>
                  <a:srgbClr val="7EC68E"/>
                </a:solidFill>
                <a:latin typeface="Consolas"/>
              </a:defRPr>
            </a:pPr>
            <a:r>
              <a:t>// CREATE: crea sempre un nuovo nodo</a:t>
            </a:r>
          </a:p>
          <a:p>
            <a:pPr>
              <a:spcAft>
                <a:spcPts val="100"/>
              </a:spcAft>
              <a:defRPr sz="1000">
                <a:solidFill>
                  <a:srgbClr val="7EC68E"/>
                </a:solidFill>
                <a:latin typeface="Consolas"/>
              </a:defRPr>
            </a:pPr>
            <a:r>
              <a:t>CREATE (p:Person {</a:t>
            </a:r>
          </a:p>
          <a:p>
            <a:pPr>
              <a:spcAft>
                <a:spcPts val="100"/>
              </a:spcAft>
              <a:defRPr sz="1000">
                <a:solidFill>
                  <a:srgbClr val="7EC68E"/>
                </a:solidFill>
                <a:latin typeface="Consolas"/>
              </a:defRPr>
            </a:pPr>
            <a:r>
              <a:t>  employee_id: 999,</a:t>
            </a:r>
          </a:p>
          <a:p>
            <a:pPr>
              <a:spcAft>
                <a:spcPts val="100"/>
              </a:spcAft>
              <a:defRPr sz="1000">
                <a:solidFill>
                  <a:srgbClr val="7EC68E"/>
                </a:solidFill>
                <a:latin typeface="Consolas"/>
              </a:defRPr>
            </a:pPr>
            <a:r>
              <a:t>  name: "Test User",</a:t>
            </a:r>
          </a:p>
          <a:p>
            <a:pPr>
              <a:spcAft>
                <a:spcPts val="100"/>
              </a:spcAft>
              <a:defRPr sz="1000">
                <a:solidFill>
                  <a:srgbClr val="7EC68E"/>
                </a:solidFill>
                <a:latin typeface="Consolas"/>
              </a:defRPr>
            </a:pPr>
            <a:r>
              <a:t>  location: "Test"});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MERGE: cerca per chiave, imposta props</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SET p.name = "Test User",</a:t>
            </a:r>
          </a:p>
          <a:p>
            <a:pPr>
              <a:spcAft>
                <a:spcPts val="100"/>
              </a:spcAft>
              <a:defRPr sz="1000">
                <a:solidFill>
                  <a:srgbClr val="7EC68E"/>
                </a:solidFill>
                <a:latin typeface="Consolas"/>
              </a:defRPr>
            </a:pPr>
            <a:r>
              <a:t>      p.location = "Test";</a:t>
            </a:r>
          </a:p>
        </p:txBody>
      </p:sp>
      <p:sp>
        <p:nvSpPr>
          <p:cNvPr id="8" name="TextBox 7"/>
          <p:cNvSpPr txBox="1"/>
          <p:nvPr/>
        </p:nvSpPr>
        <p:spPr>
          <a:xfrm>
            <a:off x="5669280" y="1417320"/>
            <a:ext cx="4846320" cy="411480"/>
          </a:xfrm>
          <a:prstGeom prst="rect">
            <a:avLst/>
          </a:prstGeom>
          <a:noFill/>
        </p:spPr>
        <p:txBody>
          <a:bodyPr wrap="square">
            <a:spAutoFit/>
          </a:bodyPr>
          <a:lstStyle/>
          <a:p>
            <a:pPr algn="l">
              <a:defRPr sz="1600" b="1">
                <a:solidFill>
                  <a:srgbClr val="F08040"/>
                </a:solidFill>
                <a:latin typeface="Calibri"/>
              </a:defRPr>
            </a:pPr>
            <a:r>
              <a:t>SET, DELETE, ON CREATE/MATCH</a:t>
            </a:r>
          </a:p>
        </p:txBody>
      </p:sp>
      <p:sp>
        <p:nvSpPr>
          <p:cNvPr id="9" name="Rectangle 8"/>
          <p:cNvSpPr/>
          <p:nvPr/>
        </p:nvSpPr>
        <p:spPr>
          <a:xfrm>
            <a:off x="5669280" y="1828800"/>
            <a:ext cx="4846320" cy="40233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8" y="1901952"/>
            <a:ext cx="4626864" cy="3877056"/>
          </a:xfrm>
          <a:prstGeom prst="rect">
            <a:avLst/>
          </a:prstGeom>
          <a:noFill/>
        </p:spPr>
        <p:txBody>
          <a:bodyPr wrap="square">
            <a:spAutoFit/>
          </a:bodyPr>
          <a:lstStyle/>
          <a:p>
            <a:pPr>
              <a:spcAft>
                <a:spcPts val="100"/>
              </a:spcAft>
              <a:defRPr sz="1000">
                <a:solidFill>
                  <a:srgbClr val="7EC68E"/>
                </a:solidFill>
                <a:latin typeface="Consolas"/>
              </a:defRPr>
            </a:pPr>
            <a:r>
              <a:t>// SET = aggiorna proprietà esistenti</a:t>
            </a:r>
          </a:p>
          <a:p>
            <a:pPr>
              <a:spcAft>
                <a:spcPts val="100"/>
              </a:spcAft>
              <a:defRPr sz="1000">
                <a:solidFill>
                  <a:srgbClr val="7EC68E"/>
                </a:solidFill>
                <a:latin typeface="Consolas"/>
              </a:defRPr>
            </a:pPr>
            <a:r>
              <a:t>// o ne aggiunge di nuove:</a:t>
            </a:r>
          </a:p>
          <a:p>
            <a:pPr>
              <a:spcAft>
                <a:spcPts val="100"/>
              </a:spcAft>
              <a:defRPr sz="1000">
                <a:solidFill>
                  <a:srgbClr val="7EC68E"/>
                </a:solidFill>
                <a:latin typeface="Consolas"/>
              </a:defRPr>
            </a:pPr>
            <a:r>
              <a:t>MATCH (p:Person {employee_id: 1})</a:t>
            </a:r>
          </a:p>
          <a:p>
            <a:pPr>
              <a:spcAft>
                <a:spcPts val="100"/>
              </a:spcAft>
              <a:defRPr sz="1000">
                <a:solidFill>
                  <a:srgbClr val="7EC68E"/>
                </a:solidFill>
                <a:latin typeface="Consolas"/>
              </a:defRPr>
            </a:pPr>
            <a:r>
              <a:t>SET p.email = "mario.rossi@azienda.com";</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SET += unisce props (merge safe):</a:t>
            </a:r>
          </a:p>
          <a:p>
            <a:pPr>
              <a:spcAft>
                <a:spcPts val="100"/>
              </a:spcAft>
              <a:defRPr sz="1000">
                <a:solidFill>
                  <a:srgbClr val="7EC68E"/>
                </a:solidFill>
                <a:latin typeface="Consolas"/>
              </a:defRPr>
            </a:pPr>
            <a:r>
              <a:t>SET p += {email: "mario@co.com",</a:t>
            </a:r>
          </a:p>
          <a:p>
            <a:pPr>
              <a:spcAft>
                <a:spcPts val="100"/>
              </a:spcAft>
              <a:defRPr sz="1000">
                <a:solidFill>
                  <a:srgbClr val="7EC68E"/>
                </a:solidFill>
                <a:latin typeface="Consolas"/>
              </a:defRPr>
            </a:pPr>
            <a:r>
              <a:t>         phone: "+39 333 1234567"};</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ON CREATE / ON MATCH con MERGE: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ON CREATE SET p.created = date()</a:t>
            </a:r>
          </a:p>
          <a:p>
            <a:pPr>
              <a:spcAft>
                <a:spcPts val="100"/>
              </a:spcAft>
              <a:defRPr sz="1000">
                <a:solidFill>
                  <a:srgbClr val="7EC68E"/>
                </a:solidFill>
                <a:latin typeface="Consolas"/>
              </a:defRPr>
            </a:pPr>
            <a:r>
              <a:t>  ON MATCH  SET p.updated = date();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DELETE (DETACH per nodi con relazioni):</a:t>
            </a:r>
          </a:p>
          <a:p>
            <a:pPr>
              <a:spcAft>
                <a:spcPts val="100"/>
              </a:spcAft>
              <a:defRPr sz="1000">
                <a:solidFill>
                  <a:srgbClr val="7EC68E"/>
                </a:solidFill>
                <a:latin typeface="Consolas"/>
              </a:defRPr>
            </a:pPr>
            <a:r>
              <a:t>MATCH (p:Person {employee_id: 999})</a:t>
            </a:r>
          </a:p>
          <a:p>
            <a:pPr>
              <a:spcAft>
                <a:spcPts val="100"/>
              </a:spcAft>
              <a:defRPr sz="1000">
                <a:solidFill>
                  <a:srgbClr val="7EC68E"/>
                </a:solidFill>
                <a:latin typeface="Consolas"/>
              </a:defRPr>
            </a:pPr>
            <a:r>
              <a:t>DETACH DELETE p;</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DETACH DELETE toglie TUTTE le relazioni</a:t>
            </a:r>
          </a:p>
          <a:p>
            <a:pPr>
              <a:spcAft>
                <a:spcPts val="100"/>
              </a:spcAft>
              <a:defRPr sz="1000">
                <a:solidFill>
                  <a:srgbClr val="7EC68E"/>
                </a:solidFill>
                <a:latin typeface="Consolas"/>
              </a:defRPr>
            </a:pPr>
            <a:r>
              <a:t>// poi cancella il nodo. Senza DETACH,</a:t>
            </a:r>
          </a:p>
          <a:p>
            <a:pPr>
              <a:spcAft>
                <a:spcPts val="100"/>
              </a:spcAft>
              <a:defRPr sz="1000">
                <a:solidFill>
                  <a:srgbClr val="7EC68E"/>
                </a:solidFill>
                <a:latin typeface="Consolas"/>
              </a:defRPr>
            </a:pPr>
            <a:r>
              <a:t>// DELETE fallisce se il nodo ha relazioni.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Vincoli (Constraints)</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 constraint garantiscono l'integrità dei dati. Vanno creati PRIMA del caricamento.</a:t>
            </a:r>
          </a:p>
        </p:txBody>
      </p:sp>
      <p:sp>
        <p:nvSpPr>
          <p:cNvPr id="4" name="TextBox 3"/>
          <p:cNvSpPr txBox="1"/>
          <p:nvPr/>
        </p:nvSpPr>
        <p:spPr>
          <a:xfrm>
            <a:off x="731520" y="137160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UNIQUE — unicità su una proprietà (es: Person.employee_id)</a:t>
            </a:r>
          </a:p>
          <a:p>
            <a:pPr algn="l">
              <a:spcAft>
                <a:spcPts val="300"/>
              </a:spcAft>
              <a:defRPr sz="1200">
                <a:solidFill>
                  <a:srgbClr val="FFFFFF"/>
                </a:solidFill>
                <a:latin typeface="Calibri"/>
              </a:defRPr>
            </a:pPr>
            <a:r>
              <a:t>•    Crea automaticamente un indice RANGE</a:t>
            </a:r>
          </a:p>
          <a:p>
            <a:pPr algn="l">
              <a:spcAft>
                <a:spcPts val="300"/>
              </a:spcAft>
              <a:defRPr sz="1200">
                <a:solidFill>
                  <a:srgbClr val="FFFFFF"/>
                </a:solidFill>
                <a:latin typeface="Calibri"/>
              </a:defRPr>
            </a:pPr>
            <a:r>
              <a:t>•    Rilevante per MERGE: senza constraint, MERGE concorrente può duplicare</a:t>
            </a:r>
          </a:p>
          <a:p>
            <a:pPr algn="l">
              <a:spcAft>
                <a:spcPts val="300"/>
              </a:spcAft>
              <a:defRPr sz="1200">
                <a:solidFill>
                  <a:srgbClr val="FFFFFF"/>
                </a:solidFill>
                <a:latin typeface="Calibri"/>
              </a:defRPr>
            </a:pPr>
            <a:r>
              <a:t>•  EXISTS — proprietà obbligatoria (es: Person.name non può essere null)</a:t>
            </a:r>
          </a:p>
          <a:p>
            <a:pPr algn="l">
              <a:spcAft>
                <a:spcPts val="300"/>
              </a:spcAft>
              <a:defRPr sz="1200">
                <a:solidFill>
                  <a:srgbClr val="FFFFFF"/>
                </a:solidFill>
                <a:latin typeface="Calibri"/>
              </a:defRPr>
            </a:pPr>
            <a:r>
              <a:t>•  NODE KEY — unicità + exists combinati su una o più proprietà</a:t>
            </a:r>
          </a:p>
        </p:txBody>
      </p:sp>
      <p:sp>
        <p:nvSpPr>
          <p:cNvPr id="5" name="Rectangle 4"/>
          <p:cNvSpPr/>
          <p:nvPr/>
        </p:nvSpPr>
        <p:spPr>
          <a:xfrm>
            <a:off x="5669280" y="137160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44752"/>
            <a:ext cx="4626864" cy="1682496"/>
          </a:xfrm>
          <a:prstGeom prst="rect">
            <a:avLst/>
          </a:prstGeom>
          <a:noFill/>
        </p:spPr>
        <p:txBody>
          <a:bodyPr wrap="square">
            <a:spAutoFit/>
          </a:bodyPr>
          <a:lstStyle/>
          <a:p>
            <a:pPr>
              <a:spcAft>
                <a:spcPts val="100"/>
              </a:spcAft>
              <a:defRPr sz="1000">
                <a:solidFill>
                  <a:srgbClr val="7EC68E"/>
                </a:solidFill>
                <a:latin typeface="Consolas"/>
              </a:defRPr>
            </a:pPr>
            <a:r>
              <a:t>CREATE CONSTRAINT person_id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p.employee_id IS UNIQUE;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CONSTRAINT person_name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p.name IS NOT NULL;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Node Key composto:</a:t>
            </a:r>
          </a:p>
          <a:p>
            <a:pPr>
              <a:spcAft>
                <a:spcPts val="100"/>
              </a:spcAft>
              <a:defRPr sz="1000">
                <a:solidFill>
                  <a:srgbClr val="7EC68E"/>
                </a:solidFill>
                <a:latin typeface="Consolas"/>
              </a:defRPr>
            </a:pPr>
            <a:r>
              <a:t>CREATE CONSTRAINT project_key IF NOT EXISTS</a:t>
            </a:r>
          </a:p>
          <a:p>
            <a:pPr>
              <a:spcAft>
                <a:spcPts val="100"/>
              </a:spcAft>
              <a:defRPr sz="1000">
                <a:solidFill>
                  <a:srgbClr val="7EC68E"/>
                </a:solidFill>
                <a:latin typeface="Consolas"/>
              </a:defRPr>
            </a:pPr>
            <a:r>
              <a:t>  FOR (p:Project)</a:t>
            </a:r>
          </a:p>
          <a:p>
            <a:pPr>
              <a:spcAft>
                <a:spcPts val="100"/>
              </a:spcAft>
              <a:defRPr sz="1000">
                <a:solidFill>
                  <a:srgbClr val="7EC68E"/>
                </a:solidFill>
                <a:latin typeface="Consolas"/>
              </a:defRPr>
            </a:pPr>
            <a:r>
              <a:t>  REQUIRE (p.project_id, p.name) IS NODE KEY;</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Verificare i constraint esistenti:</a:t>
            </a:r>
          </a:p>
        </p:txBody>
      </p:sp>
      <p:sp>
        <p:nvSpPr>
          <p:cNvPr id="9" name="Rectangle 8"/>
          <p:cNvSpPr/>
          <p:nvPr/>
        </p:nvSpPr>
        <p:spPr>
          <a:xfrm>
            <a:off x="731520" y="411480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187952"/>
            <a:ext cx="4809744" cy="1499616"/>
          </a:xfrm>
          <a:prstGeom prst="rect">
            <a:avLst/>
          </a:prstGeom>
          <a:noFill/>
        </p:spPr>
        <p:txBody>
          <a:bodyPr wrap="square">
            <a:spAutoFit/>
          </a:bodyPr>
          <a:lstStyle/>
          <a:p>
            <a:pPr>
              <a:spcAft>
                <a:spcPts val="100"/>
              </a:spcAft>
              <a:defRPr sz="1000">
                <a:solidFill>
                  <a:srgbClr val="7EC68E"/>
                </a:solidFill>
                <a:latin typeface="Consolas"/>
              </a:defRPr>
            </a:pPr>
            <a:r>
              <a:t>SHOW CONSTRAINTS;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esempio:</a:t>
            </a:r>
          </a:p>
          <a:p>
            <a:pPr>
              <a:spcAft>
                <a:spcPts val="100"/>
              </a:spcAft>
              <a:defRPr sz="1000">
                <a:solidFill>
                  <a:srgbClr val="7EC68E"/>
                </a:solidFill>
                <a:latin typeface="Consolas"/>
              </a:defRPr>
            </a:pPr>
            <a:r>
              <a:t>// name          | type   | label    | properties</a:t>
            </a:r>
          </a:p>
          <a:p>
            <a:pPr>
              <a:spcAft>
                <a:spcPts val="100"/>
              </a:spcAft>
              <a:defRPr sz="1000">
                <a:solidFill>
                  <a:srgbClr val="7EC68E"/>
                </a:solidFill>
                <a:latin typeface="Consolas"/>
              </a:defRPr>
            </a:pPr>
            <a:r>
              <a:t>// person_id     | UNIQUE | Person   | employee_id</a:t>
            </a:r>
          </a:p>
          <a:p>
            <a:pPr>
              <a:spcAft>
                <a:spcPts val="100"/>
              </a:spcAft>
              <a:defRPr sz="1000">
                <a:solidFill>
                  <a:srgbClr val="7EC68E"/>
                </a:solidFill>
                <a:latin typeface="Consolas"/>
              </a:defRPr>
            </a:pPr>
            <a:r>
              <a:t>// person_name   | EXISTS | Person   | name</a:t>
            </a:r>
          </a:p>
          <a:p>
            <a:pPr>
              <a:spcAft>
                <a:spcPts val="100"/>
              </a:spcAft>
              <a:defRPr sz="1000">
                <a:solidFill>
                  <a:srgbClr val="7EC68E"/>
                </a:solidFill>
                <a:latin typeface="Consolas"/>
              </a:defRPr>
            </a:pPr>
            <a:r>
              <a:t>// project_key   | NODE KEY | Project | project_id, name</a:t>
            </a:r>
          </a:p>
        </p:txBody>
      </p:sp>
      <p:sp>
        <p:nvSpPr>
          <p:cNvPr id="11" name="TextBox 10"/>
          <p:cNvSpPr txBox="1"/>
          <p:nvPr/>
        </p:nvSpPr>
        <p:spPr>
          <a:xfrm>
            <a:off x="5669280" y="4114800"/>
            <a:ext cx="4846320" cy="1645920"/>
          </a:xfrm>
          <a:prstGeom prst="rect">
            <a:avLst/>
          </a:prstGeom>
          <a:noFill/>
        </p:spPr>
        <p:txBody>
          <a:bodyPr wrap="square">
            <a:spAutoFit/>
          </a:bodyPr>
          <a:lstStyle/>
          <a:p>
            <a:pPr algn="l">
              <a:defRPr sz="1200" b="0">
                <a:solidFill>
                  <a:srgbClr val="CCCCCC"/>
                </a:solidFill>
                <a:latin typeface="Calibri"/>
              </a:defRPr>
            </a:pPr>
            <a:r>
              <a:t>Perché creare constraint PRIMA?</a:t>
            </a:r>
            <a:br/>
            <a:br/>
            <a:r>
              <a:t>1. Il caricamento fallisce subito se</a:t>
            </a:r>
            <a:br/>
            <a:r>
              <a:t>   i dati violano i vincoli</a:t>
            </a:r>
            <a:br/>
            <a:r>
              <a:t>2. MERGE su proprietà UNIQUE è</a:t>
            </a:r>
            <a:br/>
            <a:r>
              <a:t>   atomicamente sicuro</a:t>
            </a:r>
            <a:br/>
            <a:r>
              <a:t>3. L’indice sottostante accelera</a:t>
            </a:r>
            <a:br/>
            <a:r>
              <a:t>   il caricamento (nessuna scansione)</a:t>
            </a:r>
            <a:br/>
            <a:br/>
            <a:r>
              <a:t>Regola: CREATE CONSTRAINT ... →</a:t>
            </a:r>
            <a:br/>
            <a:r>
              <a:t>LOAD DATA → SHOW CONSTRAINTS</a:t>
            </a:r>
            <a:br/>
            <a:r>
              <a:t>per verificare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Indici e Performance</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Gli indici accelerano la lettura. Senza indice, Neo4j esegue NodeByLabelScan (legge tutti i nodi).</a:t>
            </a:r>
          </a:p>
        </p:txBody>
      </p:sp>
      <p:sp>
        <p:nvSpPr>
          <p:cNvPr id="4" name="TextBox 3"/>
          <p:cNvSpPr txBox="1"/>
          <p:nvPr/>
        </p:nvSpPr>
        <p:spPr>
          <a:xfrm>
            <a:off x="731520" y="146304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RANGE (default) — per confronti esatti, range, ORDER BY</a:t>
            </a:r>
          </a:p>
          <a:p>
            <a:pPr algn="l">
              <a:spcAft>
                <a:spcPts val="300"/>
              </a:spcAft>
              <a:defRPr sz="1200">
                <a:solidFill>
                  <a:srgbClr val="FFFFFF"/>
                </a:solidFill>
                <a:latin typeface="Calibri"/>
              </a:defRPr>
            </a:pPr>
            <a:r>
              <a:t>•  TEXT — per CONTAINS, STARTS WITH, ENDS WITH</a:t>
            </a:r>
          </a:p>
          <a:p>
            <a:pPr algn="l">
              <a:spcAft>
                <a:spcPts val="300"/>
              </a:spcAft>
              <a:defRPr sz="1200">
                <a:solidFill>
                  <a:srgbClr val="FFFFFF"/>
                </a:solidFill>
                <a:latin typeface="Calibri"/>
              </a:defRPr>
            </a:pPr>
            <a:r>
              <a:t>•  POINT — per ricerche geospaziali</a:t>
            </a:r>
          </a:p>
          <a:p>
            <a:pPr algn="l">
              <a:spcAft>
                <a:spcPts val="300"/>
              </a:spcAft>
              <a:defRPr sz="1200">
                <a:solidFill>
                  <a:srgbClr val="FFFFFF"/>
                </a:solidFill>
                <a:latin typeface="Calibri"/>
              </a:defRPr>
            </a:pPr>
            <a:r>
              <a:t>•  FULLTEXT — per ricerca testuale avanzata (tokenizzazione)</a:t>
            </a:r>
          </a:p>
          <a:p>
            <a:pPr algn="l">
              <a:spcAft>
                <a:spcPts val="300"/>
              </a:spcAft>
              <a:defRPr sz="1200">
                <a:solidFill>
                  <a:srgbClr val="FFFFFF"/>
                </a:solidFill>
                <a:latin typeface="Calibri"/>
              </a:defRPr>
            </a:pPr>
            <a:r>
              <a:t>•  I constraint UNIQUE creano automaticamente un indice RANGE</a:t>
            </a:r>
          </a:p>
          <a:p>
            <a:pPr algn="l">
              <a:spcAft>
                <a:spcPts val="300"/>
              </a:spcAft>
              <a:defRPr sz="1200">
                <a:solidFill>
                  <a:srgbClr val="FFFFFF"/>
                </a:solidFill>
                <a:latin typeface="Calibri"/>
              </a:defRPr>
            </a:pPr>
            <a:r>
              <a:t>•  Gli indici migliorano la LETTURA ma rallentano leggermente la SCRITTURA</a:t>
            </a:r>
          </a:p>
        </p:txBody>
      </p:sp>
      <p:sp>
        <p:nvSpPr>
          <p:cNvPr id="5" name="Rectangle 4"/>
          <p:cNvSpPr/>
          <p:nvPr/>
        </p:nvSpPr>
        <p:spPr>
          <a:xfrm>
            <a:off x="5669280" y="146304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682496"/>
          </a:xfrm>
          <a:prstGeom prst="rect">
            <a:avLst/>
          </a:prstGeom>
          <a:noFill/>
        </p:spPr>
        <p:txBody>
          <a:bodyPr wrap="square">
            <a:spAutoFit/>
          </a:bodyPr>
          <a:lstStyle/>
          <a:p>
            <a:pPr>
              <a:spcAft>
                <a:spcPts val="100"/>
              </a:spcAft>
              <a:defRPr sz="1000">
                <a:solidFill>
                  <a:srgbClr val="7EC68E"/>
                </a:solidFill>
                <a:latin typeface="Consolas"/>
              </a:defRPr>
            </a:pPr>
            <a:r>
              <a:t>CREATE INDEX person_location IF NOT EXISTS</a:t>
            </a:r>
          </a:p>
          <a:p>
            <a:pPr>
              <a:spcAft>
                <a:spcPts val="100"/>
              </a:spcAft>
              <a:defRPr sz="1000">
                <a:solidFill>
                  <a:srgbClr val="7EC68E"/>
                </a:solidFill>
                <a:latin typeface="Consolas"/>
              </a:defRPr>
            </a:pPr>
            <a:r>
              <a:t>  FOR (p:Person) ON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TEXT INDEX skill_name IF NOT EXISTS</a:t>
            </a:r>
          </a:p>
          <a:p>
            <a:pPr>
              <a:spcAft>
                <a:spcPts val="100"/>
              </a:spcAft>
              <a:defRPr sz="1000">
                <a:solidFill>
                  <a:srgbClr val="7EC68E"/>
                </a:solidFill>
                <a:latin typeface="Consolas"/>
              </a:defRPr>
            </a:pPr>
            <a:r>
              <a:t>  FOR (s:Skill) ON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Indice composito:</a:t>
            </a:r>
          </a:p>
          <a:p>
            <a:pPr>
              <a:spcAft>
                <a:spcPts val="100"/>
              </a:spcAft>
              <a:defRPr sz="1000">
                <a:solidFill>
                  <a:srgbClr val="7EC68E"/>
                </a:solidFill>
                <a:latin typeface="Consolas"/>
              </a:defRPr>
            </a:pPr>
            <a:r>
              <a:t>CREATE INDEX person_dept_role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ON (p.department,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SHOW INDEXES;</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8040"/>
                </a:solidFill>
                <a:latin typeface="Calibri"/>
              </a:defRPr>
            </a:pPr>
            <a:r>
              <a:t>PROFILE: vedere se la query usa l’indice</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000">
                <a:solidFill>
                  <a:srgbClr val="7EC68E"/>
                </a:solidFill>
                <a:latin typeface="Consolas"/>
              </a:defRPr>
            </a:pPr>
            <a:r>
              <a:t>PROFILE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Operatori nel piano:</a:t>
            </a:r>
          </a:p>
          <a:p>
            <a:pPr>
              <a:spcAft>
                <a:spcPts val="100"/>
              </a:spcAft>
              <a:defRPr sz="1000">
                <a:solidFill>
                  <a:srgbClr val="7EC68E"/>
                </a:solidFill>
                <a:latin typeface="Consolas"/>
              </a:defRPr>
            </a:pPr>
            <a:r>
              <a:t>// NodeIndexSeek    = BUONO (usa indice)</a:t>
            </a:r>
          </a:p>
          <a:p>
            <a:pPr>
              <a:spcAft>
                <a:spcPts val="100"/>
              </a:spcAft>
              <a:defRPr sz="1000">
                <a:solidFill>
                  <a:srgbClr val="7EC68E"/>
                </a:solidFill>
                <a:latin typeface="Consolas"/>
              </a:defRPr>
            </a:pPr>
            <a:r>
              <a:t>// NodeByLabelScan  = se legge TUTTI i nodi</a:t>
            </a:r>
          </a:p>
          <a:p>
            <a:pPr>
              <a:spcAft>
                <a:spcPts val="100"/>
              </a:spcAft>
              <a:defRPr sz="1000">
                <a:solidFill>
                  <a:srgbClr val="7EC68E"/>
                </a:solidFill>
                <a:latin typeface="Consolas"/>
              </a:defRPr>
            </a:pPr>
            <a:r>
              <a:t>// AllNodesScan     = MALE (nessun filtro)</a:t>
            </a:r>
          </a:p>
          <a:p>
            <a:pPr>
              <a:spcAft>
                <a:spcPts val="100"/>
              </a:spcAft>
              <a:defRPr sz="1000">
                <a:solidFill>
                  <a:srgbClr val="7EC68E"/>
                </a:solidFill>
                <a:latin typeface="Consolas"/>
              </a:defRPr>
            </a:pPr>
            <a:r>
              <a:t>// CartesianProduct = MALE (pattern errato)</a:t>
            </a:r>
          </a:p>
        </p:txBody>
      </p:sp>
      <p:sp>
        <p:nvSpPr>
          <p:cNvPr id="11" name="Rectangle 10"/>
          <p:cNvSpPr/>
          <p:nvPr/>
        </p:nvSpPr>
        <p:spPr>
          <a:xfrm>
            <a:off x="5669280" y="42976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499616"/>
          </a:xfrm>
          <a:prstGeom prst="rect">
            <a:avLst/>
          </a:prstGeom>
          <a:noFill/>
        </p:spPr>
        <p:txBody>
          <a:bodyPr wrap="square">
            <a:spAutoFit/>
          </a:bodyPr>
          <a:lstStyle/>
          <a:p>
            <a:pPr>
              <a:spcAft>
                <a:spcPts val="100"/>
              </a:spcAft>
              <a:defRPr sz="1000">
                <a:solidFill>
                  <a:srgbClr val="7EC68E"/>
                </a:solidFill>
                <a:latin typeface="Consolas"/>
              </a:defRPr>
            </a:pPr>
            <a:r>
              <a:t>// Confronto: con e senza indice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SENZA indice (NodeByLabelScan):</a:t>
            </a:r>
          </a:p>
          <a:p>
            <a:pPr>
              <a:spcAft>
                <a:spcPts val="100"/>
              </a:spcAft>
              <a:defRPr sz="1000">
                <a:solidFill>
                  <a:srgbClr val="7EC68E"/>
                </a:solidFill>
                <a:latin typeface="Consolas"/>
              </a:defRPr>
            </a:pPr>
            <a:r>
              <a:t>// dbHits: 238 (legge tutte le persone)</a:t>
            </a:r>
          </a:p>
          <a:p>
            <a:pPr>
              <a:spcAft>
                <a:spcPts val="100"/>
              </a:spcAft>
              <a:defRPr sz="1000">
                <a:solidFill>
                  <a:srgbClr val="7EC68E"/>
                </a:solidFill>
                <a:latin typeface="Consolas"/>
              </a:defRPr>
            </a:pPr>
            <a:r>
              <a:t>// Poi filtra una per una in memoria</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CON indice (NodeIndexSeek):</a:t>
            </a:r>
          </a:p>
          <a:p>
            <a:pPr>
              <a:spcAft>
                <a:spcPts val="100"/>
              </a:spcAft>
              <a:defRPr sz="1000">
                <a:solidFill>
                  <a:srgbClr val="7EC68E"/>
                </a:solidFill>
                <a:latin typeface="Consolas"/>
              </a:defRPr>
            </a:pPr>
            <a:r>
              <a:t>// dbHits: ~3 (indice + recupero nodo)</a:t>
            </a:r>
          </a:p>
          <a:p>
            <a:pPr>
              <a:spcAft>
                <a:spcPts val="100"/>
              </a:spcAft>
              <a:defRPr sz="1000">
                <a:solidFill>
                  <a:srgbClr val="7EC68E"/>
                </a:solidFill>
                <a:latin typeface="Consolas"/>
              </a:defRPr>
            </a:pPr>
            <a:r>
              <a:t>// Solo i nodi corrispondenti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EXPLAIN = piano stimato (non esegue)</a:t>
            </a:r>
          </a:p>
          <a:p>
            <a:pPr>
              <a:spcAft>
                <a:spcPts val="100"/>
              </a:spcAft>
              <a:defRPr sz="1000">
                <a:solidFill>
                  <a:srgbClr val="7EC68E"/>
                </a:solidFill>
                <a:latin typeface="Consolas"/>
              </a:defRPr>
            </a:pPr>
            <a:r>
              <a:t>PROFILE = esegue + metriche reali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Strategie di Caricamento</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Caricare 238 persone uno alla volta vs in batch: la differenza è di 300x.</a:t>
            </a:r>
          </a:p>
        </p:txBody>
      </p:sp>
      <p:sp>
        <p:nvSpPr>
          <p:cNvPr id="4" name="TextBox 3"/>
          <p:cNvSpPr txBox="1"/>
          <p:nvPr/>
        </p:nvSpPr>
        <p:spPr>
          <a:xfrm>
            <a:off x="731520" y="141732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Row-by-row: una query per ogni riga → N chiamate al database</a:t>
            </a:r>
          </a:p>
          <a:p>
            <a:pPr algn="l">
              <a:spcAft>
                <a:spcPts val="300"/>
              </a:spcAft>
              <a:defRPr sz="1200">
                <a:solidFill>
                  <a:srgbClr val="FFFFFF"/>
                </a:solidFill>
                <a:latin typeface="Calibri"/>
              </a:defRPr>
            </a:pPr>
            <a:r>
              <a:t>•    Costo: latenza di rete N volte + N transazioni</a:t>
            </a:r>
          </a:p>
          <a:p>
            <a:pPr algn="l">
              <a:spcAft>
                <a:spcPts val="300"/>
              </a:spcAft>
              <a:defRPr sz="1200">
                <a:solidFill>
                  <a:srgbClr val="FFFFFF"/>
                </a:solidFill>
                <a:latin typeface="Calibri"/>
              </a:defRPr>
            </a:pPr>
            <a:r>
              <a:t>•  UNWIND batch: colleziona i dati in lista, invia in un’unica transazione</a:t>
            </a:r>
          </a:p>
          <a:p>
            <a:pPr algn="l">
              <a:spcAft>
                <a:spcPts val="300"/>
              </a:spcAft>
              <a:defRPr sz="1200">
                <a:solidFill>
                  <a:srgbClr val="FFFFFF"/>
                </a:solidFill>
                <a:latin typeface="Calibri"/>
              </a:defRPr>
            </a:pPr>
            <a:r>
              <a:t>•    Costo: 1 chiamata + 1 transazione + ciclo nel database</a:t>
            </a:r>
          </a:p>
          <a:p>
            <a:pPr algn="l">
              <a:spcAft>
                <a:spcPts val="300"/>
              </a:spcAft>
              <a:defRPr sz="1200">
                <a:solidFill>
                  <a:srgbClr val="FFFFFF"/>
                </a:solidFill>
                <a:latin typeface="Calibri"/>
              </a:defRPr>
            </a:pPr>
            <a:r>
              <a:t>•  MERGE è idempotente — si può rieseguire senza rischi</a:t>
            </a:r>
          </a:p>
          <a:p>
            <a:pPr algn="l">
              <a:spcAft>
                <a:spcPts val="300"/>
              </a:spcAft>
              <a:defRPr sz="1200">
                <a:solidFill>
                  <a:srgbClr val="FFFFFF"/>
                </a:solidFill>
                <a:latin typeface="Calibri"/>
              </a:defRPr>
            </a:pPr>
            <a:r>
              <a:t>•  CREATE è più veloce ma non tollera duplicati</a:t>
            </a:r>
          </a:p>
        </p:txBody>
      </p:sp>
      <p:sp>
        <p:nvSpPr>
          <p:cNvPr id="5" name="Rectangle 4"/>
          <p:cNvSpPr/>
          <p:nvPr/>
        </p:nvSpPr>
        <p:spPr>
          <a:xfrm>
            <a:off x="5669280" y="141732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90472"/>
            <a:ext cx="4626864" cy="1682496"/>
          </a:xfrm>
          <a:prstGeom prst="rect">
            <a:avLst/>
          </a:prstGeom>
          <a:noFill/>
        </p:spPr>
        <p:txBody>
          <a:bodyPr wrap="square">
            <a:spAutoFit/>
          </a:bodyPr>
          <a:lstStyle/>
          <a:p>
            <a:pPr>
              <a:spcAft>
                <a:spcPts val="100"/>
              </a:spcAft>
              <a:defRPr sz="1000">
                <a:solidFill>
                  <a:srgbClr val="7EC68E"/>
                </a:solidFill>
                <a:latin typeface="Consolas"/>
              </a:defRPr>
            </a:pPr>
            <a:r>
              <a:t># UNWIND con MERGE (pattern sicuro):</a:t>
            </a:r>
          </a:p>
          <a:p>
            <a:pPr>
              <a:spcAft>
                <a:spcPts val="100"/>
              </a:spcAft>
              <a:defRPr sz="1000">
                <a:solidFill>
                  <a:srgbClr val="7EC68E"/>
                </a:solidFill>
                <a:latin typeface="Consolas"/>
              </a:defRPr>
            </a:pPr>
            <a:r>
              <a:t>batch = df.to_dict("records")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driver.execute_query("""</a:t>
            </a:r>
          </a:p>
          <a:p>
            <a:pPr>
              <a:spcAft>
                <a:spcPts val="100"/>
              </a:spcAft>
              <a:defRPr sz="1000">
                <a:solidFill>
                  <a:srgbClr val="7EC68E"/>
                </a:solidFill>
                <a:latin typeface="Consolas"/>
              </a:defRPr>
            </a:pPr>
            <a:r>
              <a:t>UNWIND $batch AS row</a:t>
            </a:r>
          </a:p>
          <a:p>
            <a:pPr>
              <a:spcAft>
                <a:spcPts val="100"/>
              </a:spcAft>
              <a:defRPr sz="1000">
                <a:solidFill>
                  <a:srgbClr val="7EC68E"/>
                </a:solidFill>
                <a:latin typeface="Consolas"/>
              </a:defRPr>
            </a:pPr>
            <a:r>
              <a:t>MERGE (p:Person {employee_id: row.employee_id})</a:t>
            </a:r>
          </a:p>
          <a:p>
            <a:pPr>
              <a:spcAft>
                <a:spcPts val="100"/>
              </a:spcAft>
              <a:defRPr sz="1000">
                <a:solidFill>
                  <a:srgbClr val="7EC68E"/>
                </a:solidFill>
                <a:latin typeface="Consolas"/>
              </a:defRPr>
            </a:pPr>
            <a:r>
              <a:t>  SET p.name = row.name,</a:t>
            </a:r>
          </a:p>
          <a:p>
            <a:pPr>
              <a:spcAft>
                <a:spcPts val="100"/>
              </a:spcAft>
              <a:defRPr sz="1000">
                <a:solidFill>
                  <a:srgbClr val="7EC68E"/>
                </a:solidFill>
                <a:latin typeface="Consolas"/>
              </a:defRPr>
            </a:pPr>
            <a:r>
              <a:t>      p.location = row.location,</a:t>
            </a:r>
          </a:p>
          <a:p>
            <a:pPr>
              <a:spcAft>
                <a:spcPts val="100"/>
              </a:spcAft>
              <a:defRPr sz="1000">
                <a:solidFill>
                  <a:srgbClr val="7EC68E"/>
                </a:solidFill>
                <a:latin typeface="Consolas"/>
              </a:defRPr>
            </a:pPr>
            <a:r>
              <a:t>      p.title = row.title</a:t>
            </a:r>
          </a:p>
          <a:p>
            <a:pPr>
              <a:spcAft>
                <a:spcPts val="100"/>
              </a:spcAft>
              <a:defRPr sz="1000">
                <a:solidFill>
                  <a:srgbClr val="7EC68E"/>
                </a:solidFill>
                <a:latin typeface="Consolas"/>
              </a:defRPr>
            </a:pPr>
            <a:r>
              <a:t>""", batch=batch)</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Benchmark sul dataset Org Graph:</a:t>
            </a:r>
          </a:p>
        </p:txBody>
      </p:sp>
      <p:sp>
        <p:nvSpPr>
          <p:cNvPr id="9" name="TextBox 8"/>
          <p:cNvSpPr txBox="1"/>
          <p:nvPr/>
        </p:nvSpPr>
        <p:spPr>
          <a:xfrm>
            <a:off x="731520" y="4023360"/>
            <a:ext cx="5029200" cy="2286000"/>
          </a:xfrm>
          <a:prstGeom prst="rect">
            <a:avLst/>
          </a:prstGeom>
          <a:noFill/>
        </p:spPr>
        <p:txBody>
          <a:bodyPr wrap="square">
            <a:spAutoFit/>
          </a:bodyPr>
          <a:lstStyle/>
          <a:p>
            <a:pPr algn="l">
              <a:defRPr sz="1100" b="0">
                <a:solidFill>
                  <a:srgbClr val="7EC68E"/>
                </a:solidFill>
                <a:latin typeface="Consolas"/>
              </a:defRPr>
            </a:pPr>
            <a:r>
              <a:t>Metodo          Query    Tempo</a:t>
            </a:r>
            <a:br/>
            <a:r>
              <a:t>───────────────  ───────  ──────</a:t>
            </a:r>
            <a:br/>
            <a:r>
              <a:t>Row-by-row      31.500   440 sec</a:t>
            </a:r>
            <a:br/>
            <a:r>
              <a:t>UNWIND batch        7     1.4 sec</a:t>
            </a:r>
            <a:br/>
            <a:r>
              <a:t>                                ↑ 300x</a:t>
            </a:r>
            <a:br/>
            <a:br/>
            <a:r>
              <a:t>Perché tanto? La latenza di rete</a:t>
            </a:r>
            <a:br/>
            <a:r>
              <a:t>è il collo di bottiglia, non il DB.</a:t>
            </a:r>
            <a:br/>
            <a:r>
              <a:t>Con UNWIND paghiamo una latenza</a:t>
            </a:r>
            <a:br/>
            <a:r>
              <a:t>per 7 batch invece che 31.500 query.</a:t>
            </a:r>
          </a:p>
        </p:txBody>
      </p:sp>
      <p:sp>
        <p:nvSpPr>
          <p:cNvPr id="10" name="TextBox 9"/>
          <p:cNvSpPr txBox="1"/>
          <p:nvPr/>
        </p:nvSpPr>
        <p:spPr>
          <a:xfrm>
            <a:off x="5669280" y="4023360"/>
            <a:ext cx="4846320" cy="2286000"/>
          </a:xfrm>
          <a:prstGeom prst="rect">
            <a:avLst/>
          </a:prstGeom>
          <a:noFill/>
        </p:spPr>
        <p:txBody>
          <a:bodyPr wrap="square">
            <a:spAutoFit/>
          </a:bodyPr>
          <a:lstStyle/>
          <a:p>
            <a:pPr algn="l">
              <a:defRPr sz="1200" b="0">
                <a:solidFill>
                  <a:srgbClr val="CCCCCC"/>
                </a:solidFill>
                <a:latin typeface="Calibri"/>
              </a:defRPr>
            </a:pPr>
            <a:r>
              <a:t>Best practice per il caricamento:</a:t>
            </a:r>
            <a:br/>
            <a:br/>
            <a:r>
              <a:t>1. Crea constraint e indici PRIMA</a:t>
            </a:r>
            <a:br/>
            <a:r>
              <a:t>2. Usa UNWIND + MERGE</a:t>
            </a:r>
            <a:br/>
            <a:r>
              <a:t>3. Batch da 500-5000 righe</a:t>
            </a:r>
            <a:br/>
            <a:r>
              <a:t>4. Usa ON CREATE SET / ON MATCH SET</a:t>
            </a:r>
            <a:br/>
            <a:r>
              <a:t>   per separare inserimento da</a:t>
            </a:r>
            <a:br/>
            <a:r>
              <a:t>   aggiornamento</a:t>
            </a:r>
            <a:br/>
            <a:r>
              <a:t>5. Verifica con MATCH ... RETURN count()</a:t>
            </a:r>
            <a:br/>
            <a:br/>
            <a:r>
              <a:t>Lo script di caricamento del corso</a:t>
            </a:r>
            <a:br/>
            <a:r>
              <a:t>carica in ~1 secondo tutto l’Org Graph</a:t>
            </a:r>
            <a:br/>
            <a:r>
              <a:t>(238 persone, 93 progetti, 55 skill,</a:t>
            </a:r>
            <a:br/>
            <a:r>
              <a:t>2 supervisor) con 7 query UNWIND.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a:t>
            </a:r>
          </a:p>
        </p:txBody>
      </p:sp>
      <p:sp>
        <p:nvSpPr>
          <p:cNvPr id="3" name="TextBox 2"/>
          <p:cNvSpPr txBox="1"/>
          <p:nvPr/>
        </p:nvSpPr>
        <p:spPr>
          <a:xfrm>
            <a:off x="731520" y="1051560"/>
            <a:ext cx="5029200" cy="18288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integrata</a:t>
            </a:r>
          </a:p>
          <a:p>
            <a:pPr algn="l">
              <a:spcAft>
                <a:spcPts val="0"/>
              </a:spcAft>
              <a:defRPr sz="1200">
                <a:solidFill>
                  <a:srgbClr val="FFFFFF"/>
                </a:solidFill>
                <a:latin typeface="Calibri"/>
              </a:defRPr>
            </a:pPr>
            <a:r>
              <a:t>•    • :play movie-graph per tutorial interattivo</a:t>
            </a:r>
          </a:p>
          <a:p>
            <a:pPr algn="l">
              <a:spcAft>
                <a:spcPts val="0"/>
              </a:spcAft>
              <a:defRPr sz="1200">
                <a:solidFill>
                  <a:srgbClr val="FFFFFF"/>
                </a:solidFill>
                <a:latin typeface="Calibri"/>
              </a:defRPr>
            </a:pPr>
            <a:r>
              <a:t>•    • Visualizzazione grafica a cerchi e frecce</a:t>
            </a:r>
          </a:p>
          <a:p>
            <a:pPr algn="l">
              <a:spcAft>
                <a:spcPts val="0"/>
              </a:spcAft>
              <a:defRPr sz="1200">
                <a:solidFill>
                  <a:srgbClr val="FFFFFF"/>
                </a:solidFill>
                <a:latin typeface="Calibri"/>
              </a:defRPr>
            </a:pPr>
            <a:r>
              <a:t>•    • Esportazione PNG, CSV, JSON</a:t>
            </a:r>
          </a:p>
          <a:p>
            <a:pPr algn="l">
              <a:spcAft>
                <a:spcPts val="0"/>
              </a:spcAft>
              <a:defRPr sz="1200">
                <a:solidFill>
                  <a:srgbClr val="FFFFFF"/>
                </a:solidFill>
                <a:latin typeface="Calibri"/>
              </a:defRPr>
            </a:pPr>
            <a:r>
              <a:t>•  Neo4j Bloom — drag &amp; drop, storytelling visuale</a:t>
            </a:r>
          </a:p>
          <a:p>
            <a:pPr algn="l">
              <a:spcAft>
                <a:spcPts val="0"/>
              </a:spcAft>
              <a:defRPr sz="1200">
                <a:solidFill>
                  <a:srgbClr val="FFFFFF"/>
                </a:solidFill>
                <a:latin typeface="Calibri"/>
              </a:defRPr>
            </a:pPr>
            <a:r>
              <a:t>•    • Ricerca in linguaggio naturale</a:t>
            </a:r>
          </a:p>
          <a:p>
            <a:pPr algn="l">
              <a:spcAft>
                <a:spcPts val="0"/>
              </a:spcAft>
              <a:defRPr sz="1200">
                <a:solidFill>
                  <a:srgbClr val="FFFFFF"/>
                </a:solidFill>
                <a:latin typeface="Calibri"/>
              </a:defRPr>
            </a:pPr>
            <a:r>
              <a:t>•    • Grafi animati, filtri visuali</a:t>
            </a:r>
          </a:p>
          <a:p>
            <a:pPr algn="l">
              <a:spcAft>
                <a:spcPts val="0"/>
              </a:spcAft>
              <a:defRPr sz="1200">
                <a:solidFill>
                  <a:srgbClr val="FFFFFF"/>
                </a:solidFill>
                <a:latin typeface="Calibri"/>
              </a:defRPr>
            </a:pPr>
            <a:r>
              <a:t>•  Python networkx + matplotlib — grafi statici</a:t>
            </a:r>
          </a:p>
          <a:p>
            <a:pPr algn="l">
              <a:spcAft>
                <a:spcPts val="0"/>
              </a:spcAft>
              <a:defRPr sz="1200">
                <a:solidFill>
                  <a:srgbClr val="FFFFFF"/>
                </a:solidFill>
                <a:latin typeface="Calibri"/>
              </a:defRPr>
            </a:pPr>
            <a:r>
              <a:t>•  Python pyvis — grafi interattivi HTML</a:t>
            </a:r>
          </a:p>
        </p:txBody>
      </p:sp>
      <p:sp>
        <p:nvSpPr>
          <p:cNvPr id="4" name="Rectangle 3"/>
          <p:cNvSpPr/>
          <p:nvPr/>
        </p:nvSpPr>
        <p:spPr>
          <a:xfrm>
            <a:off x="5669280" y="105156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79008" y="1124712"/>
            <a:ext cx="4626864" cy="1499616"/>
          </a:xfrm>
          <a:prstGeom prst="rect">
            <a:avLst/>
          </a:prstGeom>
          <a:noFill/>
        </p:spPr>
        <p:txBody>
          <a:bodyPr wrap="square">
            <a:spAutoFit/>
          </a:bodyPr>
          <a:lstStyle/>
          <a:p>
            <a:pPr>
              <a:spcAft>
                <a:spcPts val="100"/>
              </a:spcAft>
              <a:defRPr sz="900">
                <a:solidFill>
                  <a:srgbClr val="7EC68E"/>
                </a:solidFill>
                <a:latin typeface="Consolas"/>
              </a:defRPr>
            </a:pPr>
            <a:r>
              <a:t># Grafo statico con networkx + matplotlib:</a:t>
            </a:r>
          </a:p>
          <a:p>
            <a:pPr>
              <a:spcAft>
                <a:spcPts val="100"/>
              </a:spcAft>
              <a:defRPr sz="900">
                <a:solidFill>
                  <a:srgbClr val="7EC68E"/>
                </a:solidFill>
                <a:latin typeface="Consolas"/>
              </a:defRPr>
            </a:pPr>
            <a:r>
              <a:t>import networkx as nx</a:t>
            </a:r>
          </a:p>
          <a:p>
            <a:pPr>
              <a:spcAft>
                <a:spcPts val="100"/>
              </a:spcAft>
              <a:defRPr sz="900">
                <a:solidFill>
                  <a:srgbClr val="7EC68E"/>
                </a:solidFill>
                <a:latin typeface="Consolas"/>
              </a:defRPr>
            </a:pPr>
            <a:r>
              <a:t>import matplotlib.pyplot as plt</a:t>
            </a:r>
          </a:p>
          <a:p>
            <a:pPr>
              <a:spcAft>
                <a:spcPts val="100"/>
              </a:spcAft>
              <a:defRPr sz="900">
                <a:solidFill>
                  <a:srgbClr val="7EC68E"/>
                </a:solidFill>
                <a:latin typeface="Consolas"/>
              </a:defRPr>
            </a:pPr>
          </a:p>
          <a:p>
            <a:pPr>
              <a:spcAft>
                <a:spcPts val="100"/>
              </a:spcAft>
              <a:defRPr sz="900">
                <a:solidFill>
                  <a:srgbClr val="7EC68E"/>
                </a:solidFill>
                <a:latin typeface="Consolas"/>
              </a:defRPr>
            </a:pPr>
            <a:r>
              <a:t>G = nx.Graph()</a:t>
            </a:r>
          </a:p>
          <a:p>
            <a:pPr>
              <a:spcAft>
                <a:spcPts val="100"/>
              </a:spcAft>
              <a:defRPr sz="900">
                <a:solidFill>
                  <a:srgbClr val="7EC68E"/>
                </a:solidFill>
                <a:latin typeface="Consolas"/>
              </a:defRPr>
            </a:pPr>
            <a:r>
              <a:t>G.add_edge("Alice", "Python",</a:t>
            </a:r>
          </a:p>
          <a:p>
            <a:pPr>
              <a:spcAft>
                <a:spcPts val="100"/>
              </a:spcAft>
              <a:defRPr sz="900">
                <a:solidFill>
                  <a:srgbClr val="7EC68E"/>
                </a:solidFill>
                <a:latin typeface="Consolas"/>
              </a:defRPr>
            </a:pPr>
            <a:r>
              <a:t>           relation="HAS_SKILL")</a:t>
            </a:r>
          </a:p>
          <a:p>
            <a:pPr>
              <a:spcAft>
                <a:spcPts val="100"/>
              </a:spcAft>
              <a:defRPr sz="900">
                <a:solidFill>
                  <a:srgbClr val="7EC68E"/>
                </a:solidFill>
                <a:latin typeface="Consolas"/>
              </a:defRPr>
            </a:pPr>
            <a:r>
              <a:t>G.add_edge("Bob", "Python",</a:t>
            </a:r>
          </a:p>
          <a:p>
            <a:pPr>
              <a:spcAft>
                <a:spcPts val="100"/>
              </a:spcAft>
              <a:defRPr sz="900">
                <a:solidFill>
                  <a:srgbClr val="7EC68E"/>
                </a:solidFill>
                <a:latin typeface="Consolas"/>
              </a:defRPr>
            </a:pPr>
            <a:r>
              <a:t>           relation="HAS_SKILL")</a:t>
            </a:r>
          </a:p>
          <a:p>
            <a:pPr>
              <a:spcAft>
                <a:spcPts val="100"/>
              </a:spcAft>
              <a:defRPr sz="900">
                <a:solidFill>
                  <a:srgbClr val="7EC68E"/>
                </a:solidFill>
                <a:latin typeface="Consolas"/>
              </a:defRPr>
            </a:pPr>
            <a:r>
              <a:t>nx.draw(G, with_labels=True)</a:t>
            </a:r>
          </a:p>
          <a:p>
            <a:pPr>
              <a:spcAft>
                <a:spcPts val="100"/>
              </a:spcAft>
              <a:defRPr sz="900">
                <a:solidFill>
                  <a:srgbClr val="7EC68E"/>
                </a:solidFill>
                <a:latin typeface="Consolas"/>
              </a:defRPr>
            </a:pPr>
            <a:r>
              <a:t>plt.show()</a:t>
            </a:r>
          </a:p>
          <a:p>
            <a:pPr>
              <a:spcAft>
                <a:spcPts val="100"/>
              </a:spcAft>
              <a:defRPr sz="900">
                <a:solidFill>
                  <a:srgbClr val="7EC68E"/>
                </a:solidFill>
                <a:latin typeface="Consolas"/>
              </a:defRPr>
            </a:pPr>
          </a:p>
          <a:p>
            <a:pPr>
              <a:spcAft>
                <a:spcPts val="100"/>
              </a:spcAft>
              <a:defRPr sz="900">
                <a:solidFill>
                  <a:srgbClr val="7EC68E"/>
                </a:solidFill>
                <a:latin typeface="Consolas"/>
              </a:defRPr>
            </a:pPr>
            <a:r>
              <a:t># pyvis per grafo interattivo:</a:t>
            </a:r>
          </a:p>
          <a:p>
            <a:pPr>
              <a:spcAft>
                <a:spcPts val="100"/>
              </a:spcAft>
              <a:defRPr sz="900">
                <a:solidFill>
                  <a:srgbClr val="7EC68E"/>
                </a:solidFill>
                <a:latin typeface="Consolas"/>
              </a:defRPr>
            </a:pPr>
            <a:r>
              <a:t># pip install pyvis</a:t>
            </a:r>
          </a:p>
          <a:p>
            <a:pPr>
              <a:spcAft>
                <a:spcPts val="100"/>
              </a:spcAft>
              <a:defRPr sz="900">
                <a:solidFill>
                  <a:srgbClr val="7EC68E"/>
                </a:solidFill>
                <a:latin typeface="Consolas"/>
              </a:defRPr>
            </a:pPr>
            <a:r>
              <a:t>from pyvis.network import Network</a:t>
            </a:r>
          </a:p>
          <a:p>
            <a:pPr>
              <a:spcAft>
                <a:spcPts val="100"/>
              </a:spcAft>
              <a:defRPr sz="900">
                <a:solidFill>
                  <a:srgbClr val="7EC68E"/>
                </a:solidFill>
                <a:latin typeface="Consolas"/>
              </a:defRPr>
            </a:pPr>
            <a:r>
              <a:t>net = Network()</a:t>
            </a:r>
          </a:p>
          <a:p>
            <a:pPr>
              <a:spcAft>
                <a:spcPts val="100"/>
              </a:spcAft>
              <a:defRPr sz="900">
                <a:solidFill>
                  <a:srgbClr val="7EC68E"/>
                </a:solidFill>
                <a:latin typeface="Consolas"/>
              </a:defRPr>
            </a:pPr>
            <a:r>
              <a:t>net.add_nodes(["Alice", "Bob", "Python"])</a:t>
            </a:r>
          </a:p>
          <a:p>
            <a:pPr>
              <a:spcAft>
                <a:spcPts val="100"/>
              </a:spcAft>
              <a:defRPr sz="900">
                <a:solidFill>
                  <a:srgbClr val="7EC68E"/>
                </a:solidFill>
                <a:latin typeface="Consolas"/>
              </a:defRPr>
            </a:pPr>
            <a:r>
              <a:t>net.add_edge("Alice", "Python")</a:t>
            </a:r>
          </a:p>
          <a:p>
            <a:pPr>
              <a:spcAft>
                <a:spcPts val="100"/>
              </a:spcAft>
              <a:defRPr sz="900">
                <a:solidFill>
                  <a:srgbClr val="7EC68E"/>
                </a:solidFill>
                <a:latin typeface="Consolas"/>
              </a:defRPr>
            </a:pPr>
            <a:r>
              <a:t>net.show("grafo.html")</a:t>
            </a:r>
          </a:p>
        </p:txBody>
      </p:sp>
      <p:sp>
        <p:nvSpPr>
          <p:cNvPr id="6" name="TextBox 5"/>
          <p:cNvSpPr txBox="1"/>
          <p:nvPr/>
        </p:nvSpPr>
        <p:spPr>
          <a:xfrm>
            <a:off x="731520" y="3108960"/>
            <a:ext cx="10515600" cy="411480"/>
          </a:xfrm>
          <a:prstGeom prst="rect">
            <a:avLst/>
          </a:prstGeom>
          <a:noFill/>
        </p:spPr>
        <p:txBody>
          <a:bodyPr wrap="square">
            <a:spAutoFit/>
          </a:bodyPr>
          <a:lstStyle/>
          <a:p>
            <a:pPr algn="l">
              <a:defRPr sz="1600" b="1">
                <a:solidFill>
                  <a:srgbClr val="F08040"/>
                </a:solidFill>
                <a:latin typeface="Calibri"/>
              </a:defRPr>
            </a:pPr>
            <a:r>
              <a:t>Browser: eseguire Cypher e vedere il grafo</a:t>
            </a:r>
          </a:p>
        </p:txBody>
      </p:sp>
      <p:sp>
        <p:nvSpPr>
          <p:cNvPr id="7" name="TextBox 6"/>
          <p:cNvSpPr txBox="1"/>
          <p:nvPr/>
        </p:nvSpPr>
        <p:spPr>
          <a:xfrm>
            <a:off x="731520" y="3566160"/>
            <a:ext cx="5029200" cy="548640"/>
          </a:xfrm>
          <a:prstGeom prst="rect">
            <a:avLst/>
          </a:prstGeom>
          <a:noFill/>
        </p:spPr>
        <p:txBody>
          <a:bodyPr wrap="square">
            <a:spAutoFit/>
          </a:bodyPr>
          <a:lstStyle/>
          <a:p>
            <a:pPr algn="l">
              <a:defRPr sz="1200" b="0">
                <a:solidFill>
                  <a:srgbClr val="CCCCCC"/>
                </a:solidFill>
                <a:latin typeface="Calibri"/>
              </a:defRPr>
            </a:pPr>
            <a:r>
              <a:t>Aprire http://localhost:7474 (locale) o workspace.neo4j.io (cloud).</a:t>
            </a:r>
            <a:br/>
            <a:r>
              <a:t>Eseguire: MATCH (n) RETURN n LIMIT 25 → cliccare su "Graph" per la visualizzazione.</a:t>
            </a:r>
          </a:p>
        </p:txBody>
      </p:sp>
      <p:sp>
        <p:nvSpPr>
          <p:cNvPr id="8" name="Rectangle 7"/>
          <p:cNvSpPr/>
          <p:nvPr/>
        </p:nvSpPr>
        <p:spPr>
          <a:xfrm>
            <a:off x="731520" y="420624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4279392"/>
            <a:ext cx="4809744" cy="1499616"/>
          </a:xfrm>
          <a:prstGeom prst="rect">
            <a:avLst/>
          </a:prstGeom>
          <a:noFill/>
        </p:spPr>
        <p:txBody>
          <a:bodyPr wrap="square">
            <a:spAutoFit/>
          </a:bodyPr>
          <a:lstStyle/>
          <a:p>
            <a:pPr>
              <a:spcAft>
                <a:spcPts val="100"/>
              </a:spcAft>
              <a:defRPr sz="1000">
                <a:solidFill>
                  <a:srgbClr val="7EC68E"/>
                </a:solidFill>
                <a:latin typeface="Consolas"/>
              </a:defRPr>
            </a:pPr>
            <a:r>
              <a:t>// Comandi utili nel Browser:</a:t>
            </a:r>
          </a:p>
          <a:p>
            <a:pPr>
              <a:spcAft>
                <a:spcPts val="100"/>
              </a:spcAft>
              <a:defRPr sz="1000">
                <a:solidFill>
                  <a:srgbClr val="7EC68E"/>
                </a:solidFill>
                <a:latin typeface="Consolas"/>
              </a:defRPr>
            </a:pPr>
            <a:r>
              <a:t>:help cypher   // guida Cypher</a:t>
            </a:r>
          </a:p>
          <a:p>
            <a:pPr>
              <a:spcAft>
                <a:spcPts val="100"/>
              </a:spcAft>
              <a:defRPr sz="1000">
                <a:solidFill>
                  <a:srgbClr val="7EC68E"/>
                </a:solidFill>
                <a:latin typeface="Consolas"/>
              </a:defRPr>
            </a:pPr>
            <a:r>
              <a:t>:play movie-graph  // tutorial</a:t>
            </a:r>
          </a:p>
          <a:p>
            <a:pPr>
              <a:spcAft>
                <a:spcPts val="100"/>
              </a:spcAft>
              <a:defRPr sz="1000">
                <a:solidFill>
                  <a:srgbClr val="7EC68E"/>
                </a:solidFill>
                <a:latin typeface="Consolas"/>
              </a:defRPr>
            </a:pPr>
            <a:r>
              <a:t>:schema        // mostra il modello</a:t>
            </a:r>
          </a:p>
          <a:p>
            <a:pPr>
              <a:spcAft>
                <a:spcPts val="100"/>
              </a:spcAft>
              <a:defRPr sz="1000">
                <a:solidFill>
                  <a:srgbClr val="7EC68E"/>
                </a:solidFill>
                <a:latin typeface="Consolas"/>
              </a:defRPr>
            </a:pPr>
            <a:r>
              <a:t>SHOW CONSTRAINTS;  // vincoli attivi</a:t>
            </a:r>
          </a:p>
          <a:p>
            <a:pPr>
              <a:spcAft>
                <a:spcPts val="100"/>
              </a:spcAft>
              <a:defRPr sz="1000">
                <a:solidFill>
                  <a:srgbClr val="7EC68E"/>
                </a:solidFill>
                <a:latin typeface="Consolas"/>
              </a:defRPr>
            </a:pPr>
            <a:r>
              <a:t>SHOW INDEXES;      // indici</a:t>
            </a:r>
          </a:p>
        </p:txBody>
      </p:sp>
      <p:sp>
        <p:nvSpPr>
          <p:cNvPr id="10" name="TextBox 9"/>
          <p:cNvSpPr txBox="1"/>
          <p:nvPr/>
        </p:nvSpPr>
        <p:spPr>
          <a:xfrm>
            <a:off x="5669280" y="3566160"/>
            <a:ext cx="4846320" cy="2286000"/>
          </a:xfrm>
          <a:prstGeom prst="rect">
            <a:avLst/>
          </a:prstGeom>
          <a:noFill/>
        </p:spPr>
        <p:txBody>
          <a:bodyPr wrap="square">
            <a:spAutoFit/>
          </a:bodyPr>
          <a:lstStyle/>
          <a:p>
            <a:pPr algn="l">
              <a:defRPr sz="1200" b="0">
                <a:solidFill>
                  <a:srgbClr val="CCCCCC"/>
                </a:solidFill>
                <a:latin typeface="Calibri"/>
              </a:defRPr>
            </a:pPr>
            <a:r>
              <a:t>Suggerimenti per il Browser:</a:t>
            </a:r>
            <a:br/>
            <a:br/>
            <a:r>
              <a:t>• I nodi sono cerchi colorati per label</a:t>
            </a:r>
            <a:br/>
            <a:r>
              <a:t>• Le frecce sono le relazioni</a:t>
            </a:r>
            <a:br/>
            <a:r>
              <a:t>• Clicca su un nodo per vedere le props</a:t>
            </a:r>
            <a:br/>
            <a:r>
              <a:t>• Trascina i nodi per riorganizzare</a:t>
            </a:r>
            <a:br/>
            <a:r>
              <a:t>• Usa la lente di ingrandimento</a:t>
            </a:r>
            <a:br/>
            <a:r>
              <a:t>• Il pulsante full-screen è in alto</a:t>
            </a:r>
            <a:br/>
            <a:r>
              <a:t>• Esporta come PNG con la fotocamera</a:t>
            </a:r>
            <a:br/>
            <a:br/>
            <a:r>
              <a:t>Per dataset grandi usare LIMIT:</a:t>
            </a:r>
            <a:br/>
            <a:r>
              <a:t>MATCH (n) RETURN n LIMIT 100</a:t>
            </a:r>
            <a:br/>
            <a:r>
              <a:t>altrimenti il Browser si blocca.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Org Graph: Il Nostro Dataset</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500" b="0">
                <a:solidFill>
                  <a:srgbClr val="CCCCCC"/>
                </a:solidFill>
                <a:latin typeface="Calibri"/>
              </a:defRPr>
            </a:pPr>
            <a:r>
              <a:t>Un grafo aziendale reale che useremo per tutto il corso. Anonimizzato da dati HR reali.</a:t>
            </a:r>
          </a:p>
        </p:txBody>
      </p:sp>
      <p:sp>
        <p:nvSpPr>
          <p:cNvPr id="4" name="TextBox 3"/>
          <p:cNvSpPr txBox="1"/>
          <p:nvPr/>
        </p:nvSpPr>
        <p:spPr>
          <a:xfrm>
            <a:off x="731520" y="1463040"/>
            <a:ext cx="5029200" cy="3200400"/>
          </a:xfrm>
          <a:prstGeom prst="rect">
            <a:avLst/>
          </a:prstGeom>
          <a:noFill/>
        </p:spPr>
        <p:txBody>
          <a:bodyPr wrap="square">
            <a:spAutoFit/>
          </a:bodyPr>
          <a:lstStyle/>
          <a:p>
            <a:pPr algn="l">
              <a:spcAft>
                <a:spcPts val="0"/>
              </a:spcAft>
              <a:defRPr sz="1200">
                <a:solidFill>
                  <a:srgbClr val="FFFFFF"/>
                </a:solidFill>
                <a:latin typeface="Calibri"/>
              </a:defRPr>
            </a:pPr>
            <a:r>
              <a:t>•  238 persone (consulenti, manager, tecnici)</a:t>
            </a:r>
          </a:p>
          <a:p>
            <a:pPr algn="l">
              <a:spcAft>
                <a:spcPts val="0"/>
              </a:spcAft>
              <a:defRPr sz="1200">
                <a:solidFill>
                  <a:srgbClr val="FFFFFF"/>
                </a:solidFill>
                <a:latin typeface="Calibri"/>
              </a:defRPr>
            </a:pPr>
            <a:r>
              <a:t>•  93 progetti seguiti dalle persone</a:t>
            </a:r>
          </a:p>
          <a:p>
            <a:pPr algn="l">
              <a:spcAft>
                <a:spcPts val="0"/>
              </a:spcAft>
              <a:defRPr sz="1200">
                <a:solidFill>
                  <a:srgbClr val="FFFFFF"/>
                </a:solidFill>
                <a:latin typeface="Calibri"/>
              </a:defRPr>
            </a:pPr>
            <a:r>
              <a:t>•  55 skill certificate (tecnologiche e trasversali)</a:t>
            </a:r>
          </a:p>
          <a:p>
            <a:pPr algn="l">
              <a:spcAft>
                <a:spcPts val="0"/>
              </a:spcAft>
              <a:defRPr sz="1200">
                <a:solidFill>
                  <a:srgbClr val="FFFFFF"/>
                </a:solidFill>
                <a:latin typeface="Calibri"/>
              </a:defRPr>
            </a:pPr>
            <a:r>
              <a:t>•  2 supervisor (direttori di area)</a:t>
            </a:r>
          </a:p>
          <a:p>
            <a:pPr algn="l">
              <a:spcAft>
                <a:spcPts val="0"/>
              </a:spcAft>
              <a:defRPr sz="1200">
                <a:solidFill>
                  <a:srgbClr val="FFFFFF"/>
                </a:solidFill>
                <a:latin typeface="Calibri"/>
              </a:defRPr>
            </a:pPr>
            <a:r>
              <a:t>•  Relazioni:</a:t>
            </a:r>
          </a:p>
          <a:p>
            <a:pPr algn="l">
              <a:spcAft>
                <a:spcPts val="0"/>
              </a:spcAft>
              <a:defRPr sz="1200">
                <a:solidFill>
                  <a:srgbClr val="FFFFFF"/>
                </a:solidFill>
                <a:latin typeface="Calibri"/>
              </a:defRPr>
            </a:pPr>
            <a:r>
              <a:t>•    • HAS_SKILL {proficiency: 1-5}</a:t>
            </a:r>
          </a:p>
          <a:p>
            <a:pPr algn="l">
              <a:spcAft>
                <a:spcPts val="0"/>
              </a:spcAft>
              <a:defRPr sz="1200">
                <a:solidFill>
                  <a:srgbClr val="FFFFFF"/>
                </a:solidFill>
                <a:latin typeface="Calibri"/>
              </a:defRPr>
            </a:pPr>
            <a:r>
              <a:t>•    • WORKED_ON {role: Developer/Architect/etc.}</a:t>
            </a:r>
          </a:p>
          <a:p>
            <a:pPr algn="l">
              <a:spcAft>
                <a:spcPts val="0"/>
              </a:spcAft>
              <a:defRPr sz="1200">
                <a:solidFill>
                  <a:srgbClr val="FFFFFF"/>
                </a:solidFill>
                <a:latin typeface="Calibri"/>
              </a:defRPr>
            </a:pPr>
            <a:r>
              <a:t>•    • REPORTS_TO (Person → Supervisor)</a:t>
            </a:r>
          </a:p>
          <a:p>
            <a:pPr algn="l">
              <a:spcAft>
                <a:spcPts val="0"/>
              </a:spcAft>
              <a:defRPr sz="1200">
                <a:solidFill>
                  <a:srgbClr val="FFFFFF"/>
                </a:solidFill>
                <a:latin typeface="Calibri"/>
              </a:defRPr>
            </a:pPr>
            <a:r>
              <a:t>•  Dati anonimizzati da foglio Excel aziendale reale</a:t>
            </a:r>
          </a:p>
          <a:p>
            <a:pPr algn="l">
              <a:spcAft>
                <a:spcPts val="0"/>
              </a:spcAft>
              <a:defRPr sz="1200">
                <a:solidFill>
                  <a:srgbClr val="FFFFFF"/>
                </a:solidFill>
                <a:latin typeface="Calibri"/>
              </a:defRPr>
            </a:pPr>
            <a:r>
              <a:t>•  Ospitato su AuraDB Free Tier</a:t>
            </a:r>
          </a:p>
        </p:txBody>
      </p:sp>
      <p:sp>
        <p:nvSpPr>
          <p:cNvPr id="5" name="TextBox 4"/>
          <p:cNvSpPr txBox="1"/>
          <p:nvPr/>
        </p:nvSpPr>
        <p:spPr>
          <a:xfrm>
            <a:off x="5669280" y="1463040"/>
            <a:ext cx="4846320" cy="1371600"/>
          </a:xfrm>
          <a:prstGeom prst="rect">
            <a:avLst/>
          </a:prstGeom>
          <a:noFill/>
        </p:spPr>
        <p:txBody>
          <a:bodyPr wrap="square">
            <a:spAutoFit/>
          </a:bodyPr>
          <a:lstStyle/>
          <a:p>
            <a:pPr algn="l">
              <a:defRPr sz="1100" b="0">
                <a:solidFill>
                  <a:srgbClr val="7EC68E"/>
                </a:solidFill>
                <a:latin typeface="Consolas"/>
              </a:defRPr>
            </a:pPr>
            <a:r>
              <a:t>Esempio di riga CSV:</a:t>
            </a:r>
            <a:br/>
            <a:br/>
            <a:r>
              <a:t>employee_id | 1</a:t>
            </a:r>
            <a:br/>
            <a:r>
              <a:t>name        | Mario Rossi</a:t>
            </a:r>
            <a:br/>
            <a:r>
              <a:t>gender      | M</a:t>
            </a:r>
            <a:br/>
            <a:r>
              <a:t>discipline  | Technology</a:t>
            </a:r>
            <a:br/>
            <a:r>
              <a:t>department  | Digital</a:t>
            </a:r>
            <a:br/>
            <a:r>
              <a:t>code        | ITA-001</a:t>
            </a:r>
            <a:br/>
            <a:r>
              <a:t>location    | Roma</a:t>
            </a:r>
            <a:br/>
            <a:r>
              <a:t>title       | Senior Consultant</a:t>
            </a:r>
            <a:br/>
            <a:r>
              <a:t>supervisor_id | 200</a:t>
            </a:r>
            <a:br/>
            <a:r>
              <a:t>supervisor_name | Anna Bianchi</a:t>
            </a:r>
            <a:br/>
            <a:r>
              <a:t>project_id  | 10</a:t>
            </a:r>
            <a:br/>
            <a:r>
              <a:t>project_name | AI Platform</a:t>
            </a:r>
            <a:br/>
            <a:r>
              <a:t>role        | Developer</a:t>
            </a:r>
          </a:p>
        </p:txBody>
      </p:sp>
      <p:sp>
        <p:nvSpPr>
          <p:cNvPr id="6" name="TextBox 5"/>
          <p:cNvSpPr txBox="1"/>
          <p:nvPr/>
        </p:nvSpPr>
        <p:spPr>
          <a:xfrm>
            <a:off x="5669280" y="3108960"/>
            <a:ext cx="4846320" cy="1554480"/>
          </a:xfrm>
          <a:prstGeom prst="rect">
            <a:avLst/>
          </a:prstGeom>
          <a:noFill/>
        </p:spPr>
        <p:txBody>
          <a:bodyPr wrap="square">
            <a:spAutoFit/>
          </a:bodyPr>
          <a:lstStyle/>
          <a:p>
            <a:pPr algn="l">
              <a:defRPr sz="1200" b="0">
                <a:solidFill>
                  <a:srgbClr val="CCCCCC"/>
                </a:solidFill>
                <a:latin typeface="Calibri"/>
              </a:defRPr>
            </a:pPr>
            <a:r>
              <a:t>Struttura dati:</a:t>
            </a:r>
            <a:br/>
            <a:br/>
            <a:r>
              <a:t>Ogni riga CSV = una persona</a:t>
            </a:r>
            <a:br/>
            <a:r>
              <a:t>con le skill in colonne separate.</a:t>
            </a:r>
            <a:br/>
            <a:r>
              <a:t>Il caricamento UNWIND trasforma</a:t>
            </a:r>
            <a:br/>
            <a:r>
              <a:t>le righe in nodi e relazioni.</a:t>
            </a:r>
            <a:br/>
            <a:br/>
            <a:r>
              <a:t>Nei prossimi esercizi esploreremo</a:t>
            </a:r>
            <a:br/>
            <a:r>
              <a:t>il dataset con Cypher dal Browser</a:t>
            </a:r>
            <a:br/>
            <a:r>
              <a:t>e dal notebook Python.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Schema del Org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Il modello a grafo del nostro progetto: nodi, labels, relazioni e proprietà.</a:t>
            </a:r>
          </a:p>
        </p:txBody>
      </p:sp>
      <p:sp>
        <p:nvSpPr>
          <p:cNvPr id="4" name="TextBox 3"/>
          <p:cNvSpPr txBox="1"/>
          <p:nvPr/>
        </p:nvSpPr>
        <p:spPr>
          <a:xfrm>
            <a:off x="731520" y="1371600"/>
            <a:ext cx="3200400" cy="365760"/>
          </a:xfrm>
          <a:prstGeom prst="rect">
            <a:avLst/>
          </a:prstGeom>
          <a:noFill/>
        </p:spPr>
        <p:txBody>
          <a:bodyPr wrap="square">
            <a:spAutoFit/>
          </a:bodyPr>
          <a:lstStyle/>
          <a:p>
            <a:pPr algn="l">
              <a:defRPr sz="1600" b="1">
                <a:solidFill>
                  <a:srgbClr val="F08040"/>
                </a:solidFill>
                <a:latin typeface="Calibri"/>
              </a:defRPr>
            </a:pPr>
            <a:r>
              <a:t>(:Person)</a:t>
            </a:r>
          </a:p>
        </p:txBody>
      </p:sp>
      <p:sp>
        <p:nvSpPr>
          <p:cNvPr id="5" name="TextBox 4"/>
          <p:cNvSpPr txBox="1"/>
          <p:nvPr/>
        </p:nvSpPr>
        <p:spPr>
          <a:xfrm>
            <a:off x="73152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employee_id</a:t>
            </a:r>
          </a:p>
          <a:p>
            <a:pPr algn="l">
              <a:spcAft>
                <a:spcPts val="0"/>
              </a:spcAft>
              <a:defRPr sz="1000">
                <a:solidFill>
                  <a:srgbClr val="7EC68E"/>
                </a:solidFill>
                <a:latin typeface="Calibri"/>
              </a:defRPr>
            </a:pPr>
            <a:r>
              <a:t>•  name</a:t>
            </a:r>
          </a:p>
          <a:p>
            <a:pPr algn="l">
              <a:spcAft>
                <a:spcPts val="0"/>
              </a:spcAft>
              <a:defRPr sz="1000">
                <a:solidFill>
                  <a:srgbClr val="7EC68E"/>
                </a:solidFill>
                <a:latin typeface="Calibri"/>
              </a:defRPr>
            </a:pPr>
            <a:r>
              <a:t>•  gender</a:t>
            </a:r>
          </a:p>
          <a:p>
            <a:pPr algn="l">
              <a:spcAft>
                <a:spcPts val="0"/>
              </a:spcAft>
              <a:defRPr sz="1000">
                <a:solidFill>
                  <a:srgbClr val="7EC68E"/>
                </a:solidFill>
                <a:latin typeface="Calibri"/>
              </a:defRPr>
            </a:pPr>
            <a:r>
              <a:t>•  discipline</a:t>
            </a:r>
          </a:p>
          <a:p>
            <a:pPr algn="l">
              <a:spcAft>
                <a:spcPts val="0"/>
              </a:spcAft>
              <a:defRPr sz="1000">
                <a:solidFill>
                  <a:srgbClr val="7EC68E"/>
                </a:solidFill>
                <a:latin typeface="Calibri"/>
              </a:defRPr>
            </a:pPr>
            <a:r>
              <a:t>•  department</a:t>
            </a:r>
          </a:p>
          <a:p>
            <a:pPr algn="l">
              <a:spcAft>
                <a:spcPts val="0"/>
              </a:spcAft>
              <a:defRPr sz="1000">
                <a:solidFill>
                  <a:srgbClr val="7EC68E"/>
                </a:solidFill>
                <a:latin typeface="Calibri"/>
              </a:defRPr>
            </a:pPr>
            <a:r>
              <a:t>•  code</a:t>
            </a:r>
          </a:p>
          <a:p>
            <a:pPr algn="l">
              <a:spcAft>
                <a:spcPts val="0"/>
              </a:spcAft>
              <a:defRPr sz="1000">
                <a:solidFill>
                  <a:srgbClr val="7EC68E"/>
                </a:solidFill>
                <a:latin typeface="Calibri"/>
              </a:defRPr>
            </a:pPr>
            <a:r>
              <a:t>•  location</a:t>
            </a:r>
          </a:p>
          <a:p>
            <a:pPr algn="l">
              <a:spcAft>
                <a:spcPts val="0"/>
              </a:spcAft>
              <a:defRPr sz="1000">
                <a:solidFill>
                  <a:srgbClr val="7EC68E"/>
                </a:solidFill>
                <a:latin typeface="Calibri"/>
              </a:defRPr>
            </a:pPr>
            <a:r>
              <a:t>•  title</a:t>
            </a:r>
          </a:p>
        </p:txBody>
      </p:sp>
      <p:sp>
        <p:nvSpPr>
          <p:cNvPr id="6" name="TextBox 5"/>
          <p:cNvSpPr txBox="1"/>
          <p:nvPr/>
        </p:nvSpPr>
        <p:spPr>
          <a:xfrm>
            <a:off x="3840480" y="1371600"/>
            <a:ext cx="3200400" cy="365760"/>
          </a:xfrm>
          <a:prstGeom prst="rect">
            <a:avLst/>
          </a:prstGeom>
          <a:noFill/>
        </p:spPr>
        <p:txBody>
          <a:bodyPr wrap="square">
            <a:spAutoFit/>
          </a:bodyPr>
          <a:lstStyle/>
          <a:p>
            <a:pPr algn="l">
              <a:defRPr sz="1600" b="1">
                <a:solidFill>
                  <a:srgbClr val="F08040"/>
                </a:solidFill>
                <a:latin typeface="Calibri"/>
              </a:defRPr>
            </a:pPr>
            <a:r>
              <a:t>(:Skill)</a:t>
            </a:r>
          </a:p>
        </p:txBody>
      </p:sp>
      <p:sp>
        <p:nvSpPr>
          <p:cNvPr id="7" name="TextBox 6"/>
          <p:cNvSpPr txBox="1"/>
          <p:nvPr/>
        </p:nvSpPr>
        <p:spPr>
          <a:xfrm>
            <a:off x="384048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name</a:t>
            </a:r>
          </a:p>
          <a:p>
            <a:pPr algn="l">
              <a:spcAft>
                <a:spcPts val="0"/>
              </a:spcAft>
              <a:defRPr sz="1000">
                <a:solidFill>
                  <a:srgbClr val="7EC68E"/>
                </a:solidFill>
                <a:latin typeface="Calibri"/>
              </a:defRPr>
            </a:pPr>
            <a:r>
              <a:t>•  </a:t>
            </a:r>
          </a:p>
        </p:txBody>
      </p:sp>
      <p:sp>
        <p:nvSpPr>
          <p:cNvPr id="8" name="TextBox 7"/>
          <p:cNvSpPr txBox="1"/>
          <p:nvPr/>
        </p:nvSpPr>
        <p:spPr>
          <a:xfrm>
            <a:off x="5943600" y="1371600"/>
            <a:ext cx="3200400" cy="365760"/>
          </a:xfrm>
          <a:prstGeom prst="rect">
            <a:avLst/>
          </a:prstGeom>
          <a:noFill/>
        </p:spPr>
        <p:txBody>
          <a:bodyPr wrap="square">
            <a:spAutoFit/>
          </a:bodyPr>
          <a:lstStyle/>
          <a:p>
            <a:pPr algn="l">
              <a:defRPr sz="1600" b="1">
                <a:solidFill>
                  <a:srgbClr val="F08040"/>
                </a:solidFill>
                <a:latin typeface="Calibri"/>
              </a:defRPr>
            </a:pPr>
            <a:r>
              <a:t>(:Project)</a:t>
            </a:r>
          </a:p>
        </p:txBody>
      </p:sp>
      <p:sp>
        <p:nvSpPr>
          <p:cNvPr id="9" name="TextBox 8"/>
          <p:cNvSpPr txBox="1"/>
          <p:nvPr/>
        </p:nvSpPr>
        <p:spPr>
          <a:xfrm>
            <a:off x="594360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project_id</a:t>
            </a:r>
          </a:p>
          <a:p>
            <a:pPr algn="l">
              <a:spcAft>
                <a:spcPts val="0"/>
              </a:spcAft>
              <a:defRPr sz="1000">
                <a:solidFill>
                  <a:srgbClr val="7EC68E"/>
                </a:solidFill>
                <a:latin typeface="Calibri"/>
              </a:defRPr>
            </a:pPr>
            <a:r>
              <a:t>•  name</a:t>
            </a:r>
          </a:p>
        </p:txBody>
      </p:sp>
      <p:sp>
        <p:nvSpPr>
          <p:cNvPr id="10" name="TextBox 9"/>
          <p:cNvSpPr txBox="1"/>
          <p:nvPr/>
        </p:nvSpPr>
        <p:spPr>
          <a:xfrm>
            <a:off x="7772400" y="1371600"/>
            <a:ext cx="3200400" cy="365760"/>
          </a:xfrm>
          <a:prstGeom prst="rect">
            <a:avLst/>
          </a:prstGeom>
          <a:noFill/>
        </p:spPr>
        <p:txBody>
          <a:bodyPr wrap="square">
            <a:spAutoFit/>
          </a:bodyPr>
          <a:lstStyle/>
          <a:p>
            <a:pPr algn="l">
              <a:defRPr sz="1600" b="1">
                <a:solidFill>
                  <a:srgbClr val="F08040"/>
                </a:solidFill>
                <a:latin typeface="Calibri"/>
              </a:defRPr>
            </a:pPr>
            <a:r>
              <a:t>(:Supervisor)</a:t>
            </a:r>
          </a:p>
        </p:txBody>
      </p:sp>
      <p:sp>
        <p:nvSpPr>
          <p:cNvPr id="11" name="TextBox 10"/>
          <p:cNvSpPr txBox="1"/>
          <p:nvPr/>
        </p:nvSpPr>
        <p:spPr>
          <a:xfrm>
            <a:off x="7772400" y="1783080"/>
            <a:ext cx="2286000" cy="1097280"/>
          </a:xfrm>
          <a:prstGeom prst="rect">
            <a:avLst/>
          </a:prstGeom>
          <a:noFill/>
        </p:spPr>
        <p:txBody>
          <a:bodyPr wrap="square">
            <a:spAutoFit/>
          </a:bodyPr>
          <a:lstStyle/>
          <a:p>
            <a:pPr algn="l">
              <a:spcAft>
                <a:spcPts val="0"/>
              </a:spcAft>
              <a:defRPr sz="1000">
                <a:solidFill>
                  <a:srgbClr val="7EC68E"/>
                </a:solidFill>
                <a:latin typeface="Calibri"/>
              </a:defRPr>
            </a:pPr>
            <a:r>
              <a:t>•  supervisor_id</a:t>
            </a:r>
          </a:p>
          <a:p>
            <a:pPr algn="l">
              <a:spcAft>
                <a:spcPts val="0"/>
              </a:spcAft>
              <a:defRPr sz="1000">
                <a:solidFill>
                  <a:srgbClr val="7EC68E"/>
                </a:solidFill>
                <a:latin typeface="Calibri"/>
              </a:defRPr>
            </a:pPr>
            <a:r>
              <a:t>•  name</a:t>
            </a:r>
          </a:p>
        </p:txBody>
      </p:sp>
      <p:sp>
        <p:nvSpPr>
          <p:cNvPr id="12" name="Rectangle 11"/>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Relazioni:</a:t>
            </a:r>
          </a:p>
        </p:txBody>
      </p:sp>
      <p:sp>
        <p:nvSpPr>
          <p:cNvPr id="14" name="Rectangle 13"/>
          <p:cNvSpPr/>
          <p:nvPr/>
        </p:nvSpPr>
        <p:spPr>
          <a:xfrm>
            <a:off x="731520" y="3931920"/>
            <a:ext cx="1051560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4005072"/>
            <a:ext cx="10296144" cy="1865376"/>
          </a:xfrm>
          <a:prstGeom prst="rect">
            <a:avLst/>
          </a:prstGeom>
          <a:noFill/>
        </p:spPr>
        <p:txBody>
          <a:bodyPr wrap="square">
            <a:spAutoFit/>
          </a:bodyPr>
          <a:lstStyle/>
          <a:p>
            <a:pPr>
              <a:spcAft>
                <a:spcPts val="100"/>
              </a:spcAft>
              <a:defRPr sz="1000">
                <a:solidFill>
                  <a:srgbClr val="7EC68E"/>
                </a:solidFill>
                <a:latin typeface="Consolas"/>
              </a:defRPr>
            </a:pPr>
            <a:r>
              <a:t>// HAS_SKILL: competenza di una persona</a:t>
            </a:r>
          </a:p>
          <a:p>
            <a:pPr>
              <a:spcAft>
                <a:spcPts val="100"/>
              </a:spcAft>
              <a:defRPr sz="1000">
                <a:solidFill>
                  <a:srgbClr val="7EC68E"/>
                </a:solidFill>
                <a:latin typeface="Consolas"/>
              </a:defRPr>
            </a:pPr>
            <a:r>
              <a:t>(p:Person)-[h:HAS_SKILL {proficiency: 1-5}]-&gt;(s:Skill)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WORKED_ON: esperienza lavorativa su progetto</a:t>
            </a:r>
          </a:p>
          <a:p>
            <a:pPr>
              <a:spcAft>
                <a:spcPts val="100"/>
              </a:spcAft>
              <a:defRPr sz="1000">
                <a:solidFill>
                  <a:srgbClr val="7EC68E"/>
                </a:solidFill>
                <a:latin typeface="Consolas"/>
              </a:defRPr>
            </a:pPr>
            <a:r>
              <a:t>(p:Person)-[w:WORKED_ON {role: "Developer"}]-&gt;(proj:Project)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REPORTS_TO: gerarchia organizzativa</a:t>
            </a:r>
          </a:p>
          <a:p>
            <a:pPr>
              <a:spcAft>
                <a:spcPts val="100"/>
              </a:spcAft>
              <a:defRPr sz="1000">
                <a:solidFill>
                  <a:srgbClr val="7EC68E"/>
                </a:solidFill>
                <a:latin typeface="Consolas"/>
              </a:defRPr>
            </a:pPr>
            <a:r>
              <a:t>(p:Person)-[:REPORTS_TO]-&gt;(sup:Supervisor)</a:t>
            </a:r>
          </a:p>
        </p:txBody>
      </p:sp>
      <p:sp>
        <p:nvSpPr>
          <p:cNvPr id="16" name="TextBox 15"/>
          <p:cNvSpPr txBox="1"/>
          <p:nvPr/>
        </p:nvSpPr>
        <p:spPr>
          <a:xfrm>
            <a:off x="731520" y="6126480"/>
            <a:ext cx="5029200" cy="365760"/>
          </a:xfrm>
          <a:prstGeom prst="rect">
            <a:avLst/>
          </a:prstGeom>
          <a:noFill/>
        </p:spPr>
        <p:txBody>
          <a:bodyPr wrap="square">
            <a:spAutoFit/>
          </a:bodyPr>
          <a:lstStyle/>
          <a:p>
            <a:pPr algn="l">
              <a:defRPr sz="1200" b="0">
                <a:solidFill>
                  <a:srgbClr val="CCCCCC"/>
                </a:solidFill>
                <a:latin typeface="Calibri"/>
              </a:defRPr>
            </a:pPr>
            <a:r>
              <a:t>Una persona PUÒ non avere skill, non avere progetti, o non riportare a nessuno.</a:t>
            </a:r>
          </a:p>
        </p:txBody>
      </p:sp>
      <p:sp>
        <p:nvSpPr>
          <p:cNvPr id="17" name="TextBox 16"/>
          <p:cNvSpPr txBox="1"/>
          <p:nvPr/>
        </p:nvSpPr>
        <p:spPr>
          <a:xfrm>
            <a:off x="5669280" y="6126480"/>
            <a:ext cx="4846320" cy="365760"/>
          </a:xfrm>
          <a:prstGeom prst="rect">
            <a:avLst/>
          </a:prstGeom>
          <a:noFill/>
        </p:spPr>
        <p:txBody>
          <a:bodyPr wrap="square">
            <a:spAutoFit/>
          </a:bodyPr>
          <a:lstStyle/>
          <a:p>
            <a:pPr algn="l">
              <a:defRPr sz="1200" b="0">
                <a:solidFill>
                  <a:srgbClr val="F0C040"/>
                </a:solidFill>
                <a:latin typeface="Calibri"/>
              </a:defRPr>
            </a:pPr>
            <a:r>
              <a:t>Tutte le proprietà sono in INGLESE (name, non nome).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Esempio Completo: Movie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Dataset incluso in Neo4j Browser con nodi Movie e Person (attori/registi). Attivare con :play movie-graph.</a:t>
            </a:r>
          </a:p>
        </p:txBody>
      </p:sp>
      <p:sp>
        <p:nvSpPr>
          <p:cNvPr id="4" name="Rectangle 3"/>
          <p:cNvSpPr/>
          <p:nvPr/>
        </p:nvSpPr>
        <p:spPr>
          <a:xfrm>
            <a:off x="731520" y="1371600"/>
            <a:ext cx="5029200" cy="22860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444752"/>
            <a:ext cx="4809744" cy="2139696"/>
          </a:xfrm>
          <a:prstGeom prst="rect">
            <a:avLst/>
          </a:prstGeom>
          <a:noFill/>
        </p:spPr>
        <p:txBody>
          <a:bodyPr wrap="square">
            <a:spAutoFit/>
          </a:bodyPr>
          <a:lstStyle/>
          <a:p>
            <a:pPr>
              <a:spcAft>
                <a:spcPts val="100"/>
              </a:spcAft>
              <a:defRPr sz="1000">
                <a:solidFill>
                  <a:srgbClr val="7EC68E"/>
                </a:solidFill>
                <a:latin typeface="Consolas"/>
              </a:defRPr>
            </a:pPr>
            <a:r>
              <a:t>// Attori di film usciti dopo il 2000:</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WHERE m.released &gt; 2000</a:t>
            </a:r>
          </a:p>
          <a:p>
            <a:pPr>
              <a:spcAft>
                <a:spcPts val="100"/>
              </a:spcAft>
              <a:defRPr sz="1000">
                <a:solidFill>
                  <a:srgbClr val="7EC68E"/>
                </a:solidFill>
                <a:latin typeface="Consolas"/>
              </a:defRPr>
            </a:pPr>
            <a:r>
              <a:t>RETURN p.name, m.title, m.released</a:t>
            </a:r>
          </a:p>
          <a:p>
            <a:pPr>
              <a:spcAft>
                <a:spcPts val="100"/>
              </a:spcAft>
              <a:defRPr sz="1000">
                <a:solidFill>
                  <a:srgbClr val="7EC68E"/>
                </a:solidFill>
                <a:latin typeface="Consolas"/>
              </a:defRPr>
            </a:pPr>
            <a:r>
              <a:t>ORDER BY m.released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Tom Hanks | Cloud Atlas | 2012</a:t>
            </a:r>
          </a:p>
          <a:p>
            <a:pPr>
              <a:spcAft>
                <a:spcPts val="100"/>
              </a:spcAft>
              <a:defRPr sz="1000">
                <a:solidFill>
                  <a:srgbClr val="7EC68E"/>
                </a:solidFill>
                <a:latin typeface="Consolas"/>
              </a:defRPr>
            </a:pPr>
            <a:r>
              <a:t>// Hugo Weaving | Cloud Atlas | 2012</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Co-protagonisti di Tom Hanks:</a:t>
            </a:r>
          </a:p>
          <a:p>
            <a:pPr>
              <a:spcAft>
                <a:spcPts val="100"/>
              </a:spcAft>
              <a:defRPr sz="1000">
                <a:solidFill>
                  <a:srgbClr val="7EC68E"/>
                </a:solidFill>
                <a:latin typeface="Consolas"/>
              </a:defRPr>
            </a:pPr>
            <a:r>
              <a:t>MATCH (tom:Person {name: "Tom Hanks"})</a:t>
            </a:r>
          </a:p>
          <a:p>
            <a:pPr>
              <a:spcAft>
                <a:spcPts val="100"/>
              </a:spcAft>
              <a:defRPr sz="1000">
                <a:solidFill>
                  <a:srgbClr val="7EC68E"/>
                </a:solidFill>
                <a:latin typeface="Consolas"/>
              </a:defRPr>
            </a:pPr>
            <a:r>
              <a:t>  -[:ACTED_IN]-&gt;(m:Movie)&lt;-[:ACTED_IN]-(co:Person)</a:t>
            </a:r>
          </a:p>
          <a:p>
            <a:pPr>
              <a:spcAft>
                <a:spcPts val="100"/>
              </a:spcAft>
              <a:defRPr sz="1000">
                <a:solidFill>
                  <a:srgbClr val="7EC68E"/>
                </a:solidFill>
                <a:latin typeface="Consolas"/>
              </a:defRPr>
            </a:pPr>
            <a:r>
              <a:t>RETURN co.name, m.title ORDER BY m.title;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Meg Ryan | Sleepless in Seattle</a:t>
            </a:r>
          </a:p>
          <a:p>
            <a:pPr>
              <a:spcAft>
                <a:spcPts val="100"/>
              </a:spcAft>
              <a:defRPr sz="1000">
                <a:solidFill>
                  <a:srgbClr val="7EC68E"/>
                </a:solidFill>
                <a:latin typeface="Consolas"/>
              </a:defRPr>
            </a:pPr>
            <a:r>
              <a:t>// Meg Ryan | You've Got Mail</a:t>
            </a:r>
          </a:p>
          <a:p>
            <a:pPr>
              <a:spcAft>
                <a:spcPts val="100"/>
              </a:spcAft>
              <a:defRPr sz="1000">
                <a:solidFill>
                  <a:srgbClr val="7EC68E"/>
                </a:solidFill>
                <a:latin typeface="Consolas"/>
              </a:defRPr>
            </a:pPr>
            <a:r>
              <a:t>// Bill Paxton | Apollo 13</a:t>
            </a:r>
          </a:p>
        </p:txBody>
      </p:sp>
      <p:sp>
        <p:nvSpPr>
          <p:cNvPr id="6" name="Rectangle 5"/>
          <p:cNvSpPr/>
          <p:nvPr/>
        </p:nvSpPr>
        <p:spPr>
          <a:xfrm>
            <a:off x="5669280" y="1371600"/>
            <a:ext cx="4846320" cy="22860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444752"/>
            <a:ext cx="4626864" cy="2139696"/>
          </a:xfrm>
          <a:prstGeom prst="rect">
            <a:avLst/>
          </a:prstGeom>
          <a:noFill/>
        </p:spPr>
        <p:txBody>
          <a:bodyPr wrap="square">
            <a:spAutoFit/>
          </a:bodyPr>
          <a:lstStyle/>
          <a:p>
            <a:pPr>
              <a:spcAft>
                <a:spcPts val="100"/>
              </a:spcAft>
              <a:defRPr sz="1000">
                <a:solidFill>
                  <a:srgbClr val="7EC68E"/>
                </a:solidFill>
                <a:latin typeface="Consolas"/>
              </a:defRPr>
            </a:pPr>
            <a:r>
              <a:t>// Numero di film per attore:</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RETURN p.name, count(m) AS film</a:t>
            </a:r>
          </a:p>
          <a:p>
            <a:pPr>
              <a:spcAft>
                <a:spcPts val="100"/>
              </a:spcAft>
              <a:defRPr sz="1000">
                <a:solidFill>
                  <a:srgbClr val="7EC68E"/>
                </a:solidFill>
                <a:latin typeface="Consolas"/>
              </a:defRPr>
            </a:pPr>
            <a:r>
              <a:t>ORDER BY film DESC 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Tom Hanks | 12</a:t>
            </a:r>
          </a:p>
          <a:p>
            <a:pPr>
              <a:spcAft>
                <a:spcPts val="100"/>
              </a:spcAft>
              <a:defRPr sz="1000">
                <a:solidFill>
                  <a:srgbClr val="7EC68E"/>
                </a:solidFill>
                <a:latin typeface="Consolas"/>
              </a:defRPr>
            </a:pPr>
            <a:r>
              <a:t>// Keanu Reeves |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Registi e i loro attori:</a:t>
            </a:r>
          </a:p>
          <a:p>
            <a:pPr>
              <a:spcAft>
                <a:spcPts val="100"/>
              </a:spcAft>
              <a:defRPr sz="1000">
                <a:solidFill>
                  <a:srgbClr val="7EC68E"/>
                </a:solidFill>
                <a:latin typeface="Consolas"/>
              </a:defRPr>
            </a:pPr>
            <a:r>
              <a:t>MATCH (d:Person)-[:DIRECTED]-&gt;(m:Movie)</a:t>
            </a:r>
          </a:p>
          <a:p>
            <a:pPr>
              <a:spcAft>
                <a:spcPts val="100"/>
              </a:spcAft>
              <a:defRPr sz="1000">
                <a:solidFill>
                  <a:srgbClr val="7EC68E"/>
                </a:solidFill>
                <a:latin typeface="Consolas"/>
              </a:defRPr>
            </a:pPr>
            <a:r>
              <a:t>  &lt;-[:ACTED_IN]-(a:Person)</a:t>
            </a:r>
          </a:p>
          <a:p>
            <a:pPr>
              <a:spcAft>
                <a:spcPts val="100"/>
              </a:spcAft>
              <a:defRPr sz="1000">
                <a:solidFill>
                  <a:srgbClr val="7EC68E"/>
                </a:solidFill>
                <a:latin typeface="Consolas"/>
              </a:defRPr>
            </a:pPr>
            <a:r>
              <a:t>RETURN d.name AS regista,</a:t>
            </a:r>
          </a:p>
          <a:p>
            <a:pPr>
              <a:spcAft>
                <a:spcPts val="100"/>
              </a:spcAft>
              <a:defRPr sz="1000">
                <a:solidFill>
                  <a:srgbClr val="7EC68E"/>
                </a:solidFill>
                <a:latin typeface="Consolas"/>
              </a:defRPr>
            </a:pPr>
            <a:r>
              <a:t>       collect(DISTINCT a.name) AS attori,</a:t>
            </a:r>
          </a:p>
          <a:p>
            <a:pPr>
              <a:spcAft>
                <a:spcPts val="100"/>
              </a:spcAft>
              <a:defRPr sz="1000">
                <a:solidFill>
                  <a:srgbClr val="7EC68E"/>
                </a:solidFill>
                <a:latin typeface="Consolas"/>
              </a:defRPr>
            </a:pPr>
            <a:r>
              <a:t>       count(DISTINCT a.name) AS num</a:t>
            </a:r>
          </a:p>
          <a:p>
            <a:pPr>
              <a:spcAft>
                <a:spcPts val="100"/>
              </a:spcAft>
              <a:defRPr sz="1000">
                <a:solidFill>
                  <a:srgbClr val="7EC68E"/>
                </a:solidFill>
                <a:latin typeface="Consolas"/>
              </a:defRPr>
            </a:pPr>
            <a:r>
              <a:t>ORDER BY num DESC LIMIT 5;</a:t>
            </a:r>
          </a:p>
        </p:txBody>
      </p:sp>
      <p:sp>
        <p:nvSpPr>
          <p:cNvPr id="8" name="Rectangle 7"/>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114800"/>
            <a:ext cx="10515600" cy="365760"/>
          </a:xfrm>
          <a:prstGeom prst="rect">
            <a:avLst/>
          </a:prstGeom>
          <a:noFill/>
        </p:spPr>
        <p:txBody>
          <a:bodyPr wrap="square">
            <a:spAutoFit/>
          </a:bodyPr>
          <a:lstStyle/>
          <a:p>
            <a:pPr algn="l">
              <a:defRPr sz="1500" b="1">
                <a:solidFill>
                  <a:srgbClr val="F08040"/>
                </a:solidFill>
                <a:latin typeface="Calibri"/>
              </a:defRPr>
            </a:pPr>
            <a:r>
              <a:t>Perché Movie Graph è un buon esempio didattico:</a:t>
            </a:r>
          </a:p>
        </p:txBody>
      </p:sp>
      <p:sp>
        <p:nvSpPr>
          <p:cNvPr id="10" name="TextBox 9"/>
          <p:cNvSpPr txBox="1"/>
          <p:nvPr/>
        </p:nvSpPr>
        <p:spPr>
          <a:xfrm>
            <a:off x="731520" y="4572000"/>
            <a:ext cx="10515600" cy="1371600"/>
          </a:xfrm>
          <a:prstGeom prst="rect">
            <a:avLst/>
          </a:prstGeom>
          <a:noFill/>
        </p:spPr>
        <p:txBody>
          <a:bodyPr wrap="square">
            <a:spAutoFit/>
          </a:bodyPr>
          <a:lstStyle/>
          <a:p>
            <a:pPr algn="l">
              <a:spcAft>
                <a:spcPts val="300"/>
              </a:spcAft>
              <a:defRPr sz="1200">
                <a:solidFill>
                  <a:srgbClr val="FFFFFF"/>
                </a:solidFill>
                <a:latin typeface="Calibri"/>
              </a:defRPr>
            </a:pPr>
            <a:r>
              <a:t>•  Modello semplice: 2 labels (Movie, Person), 3 relazioni (ACTED_IN, DIRECTED, REVIEWED)</a:t>
            </a:r>
          </a:p>
          <a:p>
            <a:pPr algn="l">
              <a:spcAft>
                <a:spcPts val="300"/>
              </a:spcAft>
              <a:defRPr sz="1200">
                <a:solidFill>
                  <a:srgbClr val="FFFFFF"/>
                </a:solidFill>
                <a:latin typeface="Calibri"/>
              </a:defRPr>
            </a:pPr>
            <a:r>
              <a:t>•  Pattern matching immediato: "attori che hanno recitato con X"</a:t>
            </a:r>
          </a:p>
          <a:p>
            <a:pPr algn="l">
              <a:spcAft>
                <a:spcPts val="300"/>
              </a:spcAft>
              <a:defRPr sz="1200">
                <a:solidFill>
                  <a:srgbClr val="FFFFFF"/>
                </a:solidFill>
                <a:latin typeface="Calibri"/>
              </a:defRPr>
            </a:pPr>
            <a:r>
              <a:t>•  Aggregazioni naturali: film per attore, attori per regista</a:t>
            </a:r>
          </a:p>
          <a:p>
            <a:pPr algn="l">
              <a:spcAft>
                <a:spcPts val="300"/>
              </a:spcAft>
              <a:defRPr sz="1200">
                <a:solidFill>
                  <a:srgbClr val="FFFFFF"/>
                </a:solidFill>
                <a:latin typeface="Calibri"/>
              </a:defRPr>
            </a:pPr>
            <a:r>
              <a:t>•  ShortestPath: Bacon number (cammino minimo tra due attori)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(1/2)</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Esercizi sul dataset Org Graph. Le soluzioni sono nel notebook della Sessione 1.</a:t>
            </a:r>
          </a:p>
        </p:txBody>
      </p:sp>
      <p:sp>
        <p:nvSpPr>
          <p:cNvPr id="4" name="TextBox 3"/>
          <p:cNvSpPr txBox="1"/>
          <p:nvPr/>
        </p:nvSpPr>
        <p:spPr>
          <a:xfrm>
            <a:off x="731520" y="1371600"/>
            <a:ext cx="5029200" cy="4114800"/>
          </a:xfrm>
          <a:prstGeom prst="rect">
            <a:avLst/>
          </a:prstGeom>
          <a:noFill/>
        </p:spPr>
        <p:txBody>
          <a:bodyPr wrap="square">
            <a:spAutoFit/>
          </a:bodyPr>
          <a:lstStyle/>
          <a:p>
            <a:pPr algn="l">
              <a:spcAft>
                <a:spcPts val="0"/>
              </a:spcAft>
              <a:defRPr sz="1200">
                <a:solidFill>
                  <a:srgbClr val="FFFFFF"/>
                </a:solidFill>
                <a:latin typeface="Calibri"/>
              </a:defRPr>
            </a:pPr>
            <a:r>
              <a:t>•  1. Connettiti a Neo4j via Python driver</a:t>
            </a:r>
          </a:p>
          <a:p>
            <a:pPr algn="l">
              <a:spcAft>
                <a:spcPts val="0"/>
              </a:spcAft>
              <a:defRPr sz="1200">
                <a:solidFill>
                  <a:srgbClr val="FFFFFF"/>
                </a:solidFill>
                <a:latin typeface="Calibri"/>
              </a:defRPr>
            </a:pPr>
            <a:r>
              <a:t>•    driver = GraphDatabase.driver(URI, auth=(USER, PASS))</a:t>
            </a:r>
          </a:p>
          <a:p>
            <a:pPr algn="l">
              <a:spcAft>
                <a:spcPts val="0"/>
              </a:spcAft>
              <a:defRPr sz="1200">
                <a:solidFill>
                  <a:srgbClr val="FFFFFF"/>
                </a:solidFill>
                <a:latin typeface="Calibri"/>
              </a:defRPr>
            </a:pPr>
            <a:r>
              <a:t>•    Esegui: MATCH (n) RETURN n LIMIT 25</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2. Trova tutte le persone di Roma</a:t>
            </a:r>
          </a:p>
          <a:p>
            <a:pPr algn="l">
              <a:spcAft>
                <a:spcPts val="0"/>
              </a:spcAft>
              <a:defRPr sz="1200">
                <a:solidFill>
                  <a:srgbClr val="FFFFFF"/>
                </a:solidFill>
                <a:latin typeface="Calibri"/>
              </a:defRPr>
            </a:pPr>
            <a:r>
              <a:t>•    MATCH (p:Person) WHERE p.location = "Roma"</a:t>
            </a:r>
          </a:p>
          <a:p>
            <a:pPr algn="l">
              <a:spcAft>
                <a:spcPts val="0"/>
              </a:spcAft>
              <a:defRPr sz="1200">
                <a:solidFill>
                  <a:srgbClr val="FFFFFF"/>
                </a:solidFill>
                <a:latin typeface="Calibri"/>
              </a:defRPr>
            </a:pPr>
            <a:r>
              <a:t>•    RETURN p.name, p.title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3. Quante persone per ogni location?</a:t>
            </a:r>
          </a:p>
          <a:p>
            <a:pPr algn="l">
              <a:spcAft>
                <a:spcPts val="0"/>
              </a:spcAft>
              <a:defRPr sz="1200">
                <a:solidFill>
                  <a:srgbClr val="FFFFFF"/>
                </a:solidFill>
                <a:latin typeface="Calibri"/>
              </a:defRPr>
            </a:pPr>
            <a:r>
              <a:t>•    MATCH (p:Person) RETURN p.location, count(*)</a:t>
            </a:r>
          </a:p>
          <a:p>
            <a:pPr algn="l">
              <a:spcAft>
                <a:spcPts val="0"/>
              </a:spcAft>
              <a:defRPr sz="1200">
                <a:solidFill>
                  <a:srgbClr val="FFFFFF"/>
                </a:solidFill>
                <a:latin typeface="Calibri"/>
              </a:defRPr>
            </a:pPr>
            <a:r>
              <a:t>•    ORDER BY count(*) DESC</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4. Trova tutte le skill di una persona specifica</a:t>
            </a:r>
          </a:p>
          <a:p>
            <a:pPr algn="l">
              <a:spcAft>
                <a:spcPts val="0"/>
              </a:spcAft>
              <a:defRPr sz="1200">
                <a:solidFill>
                  <a:srgbClr val="FFFFFF"/>
                </a:solidFill>
                <a:latin typeface="Calibri"/>
              </a:defRPr>
            </a:pPr>
            <a:r>
              <a:t>•    MATCH (p:Person {name: 'Mario Rossi'})</a:t>
            </a:r>
          </a:p>
          <a:p>
            <a:pPr algn="l">
              <a:spcAft>
                <a:spcPts val="0"/>
              </a:spcAft>
              <a:defRPr sz="1200">
                <a:solidFill>
                  <a:srgbClr val="FFFFFF"/>
                </a:solidFill>
                <a:latin typeface="Calibri"/>
              </a:defRPr>
            </a:pPr>
            <a:r>
              <a:t>•    -[:HAS_SKILL]-&gt;(s:Skill) RETURN s.name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5. Persone che hanno Python come skill</a:t>
            </a:r>
          </a:p>
          <a:p>
            <a:pPr algn="l">
              <a:spcAft>
                <a:spcPts val="0"/>
              </a:spcAft>
              <a:defRPr sz="1200">
                <a:solidFill>
                  <a:srgbClr val="FFFFFF"/>
                </a:solidFill>
                <a:latin typeface="Calibri"/>
              </a:defRPr>
            </a:pPr>
            <a:r>
              <a:t>•    MATCH (p:Person)-[:HAS_SKILL]-&gt;(s:Skill {name: 'Python'})</a:t>
            </a:r>
          </a:p>
          <a:p>
            <a:pPr algn="l">
              <a:spcAft>
                <a:spcPts val="0"/>
              </a:spcAft>
              <a:defRPr sz="1200">
                <a:solidFill>
                  <a:srgbClr val="FFFFFF"/>
                </a:solidFill>
                <a:latin typeface="Calibri"/>
              </a:defRPr>
            </a:pPr>
            <a:r>
              <a:t>•    RETURN p.name ORDER BY p.name</a:t>
            </a:r>
          </a:p>
        </p:txBody>
      </p:sp>
      <p:sp>
        <p:nvSpPr>
          <p:cNvPr id="5" name="TextBox 4"/>
          <p:cNvSpPr txBox="1"/>
          <p:nvPr/>
        </p:nvSpPr>
        <p:spPr>
          <a:xfrm>
            <a:off x="5669280" y="1371600"/>
            <a:ext cx="4846320" cy="4114800"/>
          </a:xfrm>
          <a:prstGeom prst="rect">
            <a:avLst/>
          </a:prstGeom>
          <a:noFill/>
        </p:spPr>
        <p:txBody>
          <a:bodyPr wrap="square">
            <a:spAutoFit/>
          </a:bodyPr>
          <a:lstStyle/>
          <a:p>
            <a:pPr algn="l">
              <a:defRPr sz="1100" b="0">
                <a:solidFill>
                  <a:srgbClr val="7EC68E"/>
                </a:solidFill>
                <a:latin typeface="Consolas"/>
              </a:defRPr>
            </a:pPr>
            <a:r>
              <a:t>Suggerimenti:</a:t>
            </a:r>
            <a:br/>
            <a:br/>
            <a:r>
              <a:t>Usa il notebook per eseguire le</a:t>
            </a:r>
            <a:br/>
            <a:r>
              <a:t>query con driver.execute_query()</a:t>
            </a:r>
            <a:br/>
            <a:br/>
            <a:r>
              <a:t>Oppure apri Neo4j Browser e incolla</a:t>
            </a:r>
            <a:br/>
            <a:r>
              <a:t>direttamente il Cypher.</a:t>
            </a:r>
            <a:br/>
            <a:br/>
            <a:r>
              <a:t>Tutte le proprietà sono in inglese:</a:t>
            </a:r>
            <a:br/>
            <a:r>
              <a:t>  name, employee_id, location,</a:t>
            </a:r>
            <a:br/>
            <a:r>
              <a:t>  title, department, gender.</a:t>
            </a:r>
            <a:br/>
            <a:br/>
            <a:r>
              <a:t>Skill: HAS_SKILL {proficiency}</a:t>
            </a:r>
            <a:br/>
            <a:r>
              <a:t>Progetti: WORKED_ON {role}</a:t>
            </a:r>
            <a:br/>
            <a:r>
              <a:t>Riporti: REPORTS_TO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(2/2)</a:t>
            </a:r>
          </a:p>
        </p:txBody>
      </p:sp>
      <p:sp>
        <p:nvSpPr>
          <p:cNvPr id="3" name="TextBox 2"/>
          <p:cNvSpPr txBox="1"/>
          <p:nvPr/>
        </p:nvSpPr>
        <p:spPr>
          <a:xfrm>
            <a:off x="731520" y="1097280"/>
            <a:ext cx="5029200" cy="4572000"/>
          </a:xfrm>
          <a:prstGeom prst="rect">
            <a:avLst/>
          </a:prstGeom>
          <a:noFill/>
        </p:spPr>
        <p:txBody>
          <a:bodyPr wrap="square">
            <a:spAutoFit/>
          </a:bodyPr>
          <a:lstStyle/>
          <a:p>
            <a:pPr algn="l">
              <a:spcAft>
                <a:spcPts val="0"/>
              </a:spcAft>
              <a:defRPr sz="1100">
                <a:solidFill>
                  <a:srgbClr val="FFFFFF"/>
                </a:solidFill>
                <a:latin typeface="Calibri"/>
              </a:defRPr>
            </a:pPr>
            <a:r>
              <a:t>•  6. Skill più diffuse (top 5)</a:t>
            </a:r>
          </a:p>
          <a:p>
            <a:pPr algn="l">
              <a:spcAft>
                <a:spcPts val="0"/>
              </a:spcAft>
              <a:defRPr sz="1100">
                <a:solidFill>
                  <a:srgbClr val="FFFFFF"/>
                </a:solidFill>
                <a:latin typeface="Calibri"/>
              </a:defRPr>
            </a:pPr>
            <a:r>
              <a:t>•    MATCH (p:Person)-[:HAS_SKILL]-&gt;(s:Skill)</a:t>
            </a:r>
          </a:p>
          <a:p>
            <a:pPr algn="l">
              <a:spcAft>
                <a:spcPts val="0"/>
              </a:spcAft>
              <a:defRPr sz="1100">
                <a:solidFill>
                  <a:srgbClr val="FFFFFF"/>
                </a:solidFill>
                <a:latin typeface="Calibri"/>
              </a:defRPr>
            </a:pPr>
            <a:r>
              <a:t>•    RETURN s.name, count(*) AS persone</a:t>
            </a:r>
          </a:p>
          <a:p>
            <a:pPr algn="l">
              <a:spcAft>
                <a:spcPts val="0"/>
              </a:spcAft>
              <a:defRPr sz="1100">
                <a:solidFill>
                  <a:srgbClr val="FFFFFF"/>
                </a:solidFill>
                <a:latin typeface="Calibri"/>
              </a:defRPr>
            </a:pPr>
            <a:r>
              <a:t>•    ORDER BY persone DESC LIMIT 5</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7. Media proficiency per skill</a:t>
            </a:r>
          </a:p>
          <a:p>
            <a:pPr algn="l">
              <a:spcAft>
                <a:spcPts val="0"/>
              </a:spcAft>
              <a:defRPr sz="1100">
                <a:solidFill>
                  <a:srgbClr val="FFFFFF"/>
                </a:solidFill>
                <a:latin typeface="Calibri"/>
              </a:defRPr>
            </a:pPr>
            <a:r>
              <a:t>•    MATCH (p:Person)-[h:HAS_SKILL]-&gt;(s:Skill)</a:t>
            </a:r>
          </a:p>
          <a:p>
            <a:pPr algn="l">
              <a:spcAft>
                <a:spcPts val="0"/>
              </a:spcAft>
              <a:defRPr sz="1100">
                <a:solidFill>
                  <a:srgbClr val="FFFFFF"/>
                </a:solidFill>
                <a:latin typeface="Calibri"/>
              </a:defRPr>
            </a:pPr>
            <a:r>
              <a:t>•    RETURN s.name, avg(h.proficiency), count(p)</a:t>
            </a:r>
          </a:p>
          <a:p>
            <a:pPr algn="l">
              <a:spcAft>
                <a:spcPts val="0"/>
              </a:spcAft>
              <a:defRPr sz="1100">
                <a:solidFill>
                  <a:srgbClr val="FFFFFF"/>
                </a:solidFill>
                <a:latin typeface="Calibri"/>
              </a:defRPr>
            </a:pPr>
            <a:r>
              <a:t>•    ORDER BY avg(h.proficiency) DESC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8. Persone che condividono un progetto</a:t>
            </a:r>
          </a:p>
          <a:p>
            <a:pPr algn="l">
              <a:spcAft>
                <a:spcPts val="0"/>
              </a:spcAft>
              <a:defRPr sz="1100">
                <a:solidFill>
                  <a:srgbClr val="FFFFFF"/>
                </a:solidFill>
                <a:latin typeface="Calibri"/>
              </a:defRPr>
            </a:pPr>
            <a:r>
              <a:t>•    MATCH (p1:Person)-[:WORKED_ON]-&gt;(proj:Project)</a:t>
            </a:r>
          </a:p>
          <a:p>
            <a:pPr algn="l">
              <a:spcAft>
                <a:spcPts val="0"/>
              </a:spcAft>
              <a:defRPr sz="1100">
                <a:solidFill>
                  <a:srgbClr val="FFFFFF"/>
                </a:solidFill>
                <a:latin typeface="Calibri"/>
              </a:defRPr>
            </a:pPr>
            <a:r>
              <a:t>•      &lt;-[:WORKED_ON]-(p2:Person)</a:t>
            </a:r>
          </a:p>
          <a:p>
            <a:pPr algn="l">
              <a:spcAft>
                <a:spcPts val="0"/>
              </a:spcAft>
              <a:defRPr sz="1100">
                <a:solidFill>
                  <a:srgbClr val="FFFFFF"/>
                </a:solidFill>
                <a:latin typeface="Calibri"/>
              </a:defRPr>
            </a:pPr>
            <a:r>
              <a:t>•    RETURN p1.name, p2.name, proj.name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9. Crea un nuovo nodo Person e dagli una skill</a:t>
            </a:r>
          </a:p>
          <a:p>
            <a:pPr algn="l">
              <a:spcAft>
                <a:spcPts val="0"/>
              </a:spcAft>
              <a:defRPr sz="1100">
                <a:solidFill>
                  <a:srgbClr val="FFFFFF"/>
                </a:solidFill>
                <a:latin typeface="Calibri"/>
              </a:defRPr>
            </a:pPr>
            <a:r>
              <a:t>•    MERGE (p:Person {employee_id: 999})</a:t>
            </a:r>
          </a:p>
          <a:p>
            <a:pPr algn="l">
              <a:spcAft>
                <a:spcPts val="0"/>
              </a:spcAft>
              <a:defRPr sz="1100">
                <a:solidFill>
                  <a:srgbClr val="FFFFFF"/>
                </a:solidFill>
                <a:latin typeface="Calibri"/>
              </a:defRPr>
            </a:pPr>
            <a:r>
              <a:t>•    SET p.name = "Test"</a:t>
            </a:r>
          </a:p>
          <a:p>
            <a:pPr algn="l">
              <a:spcAft>
                <a:spcPts val="0"/>
              </a:spcAft>
              <a:defRPr sz="1100">
                <a:solidFill>
                  <a:srgbClr val="FFFFFF"/>
                </a:solidFill>
                <a:latin typeface="Calibri"/>
              </a:defRPr>
            </a:pPr>
            <a:r>
              <a:t>•    MATCH (s:Skill {name: 'Python'})</a:t>
            </a:r>
          </a:p>
          <a:p>
            <a:pPr algn="l">
              <a:spcAft>
                <a:spcPts val="0"/>
              </a:spcAft>
              <a:defRPr sz="1100">
                <a:solidFill>
                  <a:srgbClr val="FFFFFF"/>
                </a:solidFill>
                <a:latin typeface="Calibri"/>
              </a:defRPr>
            </a:pPr>
            <a:r>
              <a:t>•    MERGE (p)-[:HAS_SKILL {proficiency: 3}]-&gt;(s)</a:t>
            </a:r>
          </a:p>
        </p:txBody>
      </p:sp>
      <p:sp>
        <p:nvSpPr>
          <p:cNvPr id="4" name="TextBox 3"/>
          <p:cNvSpPr txBox="1"/>
          <p:nvPr/>
        </p:nvSpPr>
        <p:spPr>
          <a:xfrm>
            <a:off x="5669280" y="1097280"/>
            <a:ext cx="4846320" cy="4572000"/>
          </a:xfrm>
          <a:prstGeom prst="rect">
            <a:avLst/>
          </a:prstGeom>
          <a:noFill/>
        </p:spPr>
        <p:txBody>
          <a:bodyPr wrap="square">
            <a:spAutoFit/>
          </a:bodyPr>
          <a:lstStyle/>
          <a:p>
            <a:pPr algn="l">
              <a:defRPr sz="1200" b="0">
                <a:solidFill>
                  <a:srgbClr val="CCCCCC"/>
                </a:solidFill>
                <a:latin typeface="Calibri"/>
              </a:defRPr>
            </a:pPr>
            <a:r>
              <a:t>Obiettivi degli esercizi:</a:t>
            </a:r>
            <a:br/>
            <a:br/>
            <a:r>
              <a:t>1. Verificare la connessione al DB</a:t>
            </a:r>
            <a:br/>
            <a:r>
              <a:t>2. Filtrare con WHERE =, IN</a:t>
            </a:r>
            <a:br/>
            <a:r>
              <a:t>3. Raggruppare con count()</a:t>
            </a:r>
            <a:br/>
            <a:r>
              <a:t>4. Navigare relazioni HAS_SKILL</a:t>
            </a:r>
            <a:br/>
            <a:r>
              <a:t>5. Filtrare su nodi specifici</a:t>
            </a:r>
            <a:br/>
            <a:r>
              <a:t>6. Aggregare con ORDER BY + LIMIT</a:t>
            </a:r>
            <a:br/>
            <a:r>
              <a:t>7. Media su proprietà relazione</a:t>
            </a:r>
            <a:br/>
            <a:r>
              <a:t>8. Pattern multi-hop con progetto</a:t>
            </a:r>
            <a:br/>
            <a:r>
              <a:t>   condiviso</a:t>
            </a:r>
            <a:br/>
            <a:r>
              <a:t>9. Scrivere dati con MERGE</a:t>
            </a:r>
            <a:br/>
            <a:br/>
            <a:r>
              <a:t>Tempo stimato: 20-30 minuti.</a:t>
            </a:r>
            <a:br/>
            <a:r>
              <a:t>Le soluzioni complete sono nel</a:t>
            </a:r>
            <a:br/>
            <a:r>
              <a:t>notebook della Sessione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051560"/>
            <a:ext cx="10515600" cy="5029200"/>
          </a:xfrm>
          <a:prstGeom prst="rect">
            <a:avLst/>
          </a:prstGeom>
          <a:noFill/>
        </p:spPr>
        <p:txBody>
          <a:bodyPr wrap="square">
            <a:spAutoFit/>
          </a:bodyPr>
          <a:lstStyle/>
          <a:p>
            <a:pPr algn="l">
              <a:spcAft>
                <a:spcPts val="800"/>
              </a:spcAft>
              <a:defRPr sz="1400">
                <a:solidFill>
                  <a:srgbClr val="FFFFFF"/>
                </a:solidFill>
                <a:latin typeface="Calibri"/>
              </a:defRPr>
            </a:pPr>
            <a:r>
              <a:t>•  DB a grafo eccellono con DATI CONNESSI — nessun JOIN costoso, traversal O(1) per hop</a:t>
            </a:r>
          </a:p>
          <a:p>
            <a:pPr algn="l">
              <a:spcAft>
                <a:spcPts val="800"/>
              </a:spcAft>
              <a:defRPr sz="1400">
                <a:solidFill>
                  <a:srgbClr val="FFFFFF"/>
                </a:solidFill>
                <a:latin typeface="Calibri"/>
              </a:defRPr>
            </a:pPr>
            <a:r>
              <a:t>•  Neo4j è un Property Graph: nodi + labels + relazioni + proprietà = tutto è dati</a:t>
            </a:r>
          </a:p>
          <a:p>
            <a:pPr algn="l">
              <a:spcAft>
                <a:spcPts val="800"/>
              </a:spcAft>
              <a:defRPr sz="1400">
                <a:solidFill>
                  <a:srgbClr val="FFFFFF"/>
                </a:solidFill>
                <a:latin typeface="Calibri"/>
              </a:defRPr>
            </a:pPr>
            <a:r>
              <a:t>•  Le relazioni sono cittadini di prima classe — memorizzate fisicamente, non calcolate</a:t>
            </a:r>
          </a:p>
          <a:p>
            <a:pPr algn="l">
              <a:spcAft>
                <a:spcPts val="800"/>
              </a:spcAft>
              <a:defRPr sz="1400">
                <a:solidFill>
                  <a:srgbClr val="FFFFFF"/>
                </a:solidFill>
                <a:latin typeface="Calibri"/>
              </a:defRPr>
            </a:pPr>
            <a:r>
              <a:t>•  Cypher è dichiarativo: descrivi il PATTERN, non il PERCORSO (MATCH (a)-[:R]-&gt;(b))</a:t>
            </a:r>
          </a:p>
          <a:p>
            <a:pPr algn="l">
              <a:spcAft>
                <a:spcPts val="800"/>
              </a:spcAft>
              <a:defRPr sz="1400">
                <a:solidFill>
                  <a:srgbClr val="FFFFFF"/>
                </a:solidFill>
                <a:latin typeface="Calibri"/>
              </a:defRPr>
            </a:pPr>
            <a:r>
              <a:t>•  MERGE è idempotente — preferiscilo a CREATE per caricamenti ripetuti</a:t>
            </a:r>
          </a:p>
          <a:p>
            <a:pPr algn="l">
              <a:spcAft>
                <a:spcPts val="800"/>
              </a:spcAft>
              <a:defRPr sz="1400">
                <a:solidFill>
                  <a:srgbClr val="FFFFFF"/>
                </a:solidFill>
                <a:latin typeface="Calibri"/>
              </a:defRPr>
            </a:pPr>
            <a:r>
              <a:t>•  Constraint UNIQUE = indice automatico + protezione da duplicati</a:t>
            </a:r>
          </a:p>
          <a:p>
            <a:pPr algn="l">
              <a:spcAft>
                <a:spcPts val="800"/>
              </a:spcAft>
              <a:defRPr sz="1400">
                <a:solidFill>
                  <a:srgbClr val="FFFFFF"/>
                </a:solidFill>
                <a:latin typeface="Calibri"/>
              </a:defRPr>
            </a:pPr>
            <a:r>
              <a:t>•  UNWIND batching = 300× più veloce del row-by-row (1.4s vs 440s)</a:t>
            </a:r>
          </a:p>
          <a:p>
            <a:pPr algn="l">
              <a:spcAft>
                <a:spcPts val="800"/>
              </a:spcAft>
              <a:defRPr sz="1400">
                <a:solidFill>
                  <a:srgbClr val="FFFFFF"/>
                </a:solidFill>
                <a:latin typeface="Calibri"/>
              </a:defRPr>
            </a:pPr>
            <a:r>
              <a:t>•  Neo4j Browser: esplorazione rapida, visualizzazione grafica, :play tutorial</a:t>
            </a:r>
          </a:p>
          <a:p>
            <a:pPr algn="l">
              <a:spcAft>
                <a:spcPts val="800"/>
              </a:spcAft>
              <a:defRPr sz="1400">
                <a:solidFill>
                  <a:srgbClr val="FFFFFF"/>
                </a:solidFill>
                <a:latin typeface="Calibri"/>
              </a:defRPr>
            </a:pPr>
            <a:r>
              <a:t>•  Il progetto Org Graph ci accompagnerà per tutto il corso — 238 persone, 93 progetti, 55 skill</a:t>
            </a:r>
          </a:p>
          <a:p>
            <a:pPr algn="l">
              <a:spcAft>
                <a:spcPts val="800"/>
              </a:spcAft>
              <a:defRPr sz="1400">
                <a:solidFill>
                  <a:srgbClr val="FFFFFF"/>
                </a:solidFill>
                <a:latin typeface="Calibri"/>
              </a:defRPr>
            </a:pPr>
            <a:r>
              <a:t>•  Tutte le proprietà sono in inglese (name, employee_id, location, title, proficiency)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2: Cypher: Da Basi a Query Reali</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matching avanzato (path variables, shortestPath)</a:t>
            </a:r>
          </a:p>
          <a:p>
            <a:pPr algn="l">
              <a:spcAft>
                <a:spcPts val="1200"/>
              </a:spcAft>
              <a:defRPr sz="1400">
                <a:solidFill>
                  <a:srgbClr val="CCCCCC"/>
                </a:solidFill>
                <a:latin typeface="Calibri"/>
              </a:defRPr>
            </a:pPr>
            <a:r>
              <a:t>•  Aggregazioni complesse e subquery</a:t>
            </a:r>
          </a:p>
          <a:p>
            <a:pPr algn="l">
              <a:spcAft>
                <a:spcPts val="1200"/>
              </a:spcAft>
              <a:defRPr sz="1400">
                <a:solidFill>
                  <a:srgbClr val="CCCCCC"/>
                </a:solidFill>
                <a:latin typeface="Calibri"/>
              </a:defRPr>
            </a:pPr>
            <a:r>
              <a:t>•  Date, liste, map in Cypher</a:t>
            </a:r>
          </a:p>
          <a:p>
            <a:pPr algn="l">
              <a:spcAft>
                <a:spcPts val="1200"/>
              </a:spcAft>
              <a:defRPr sz="1400">
                <a:solidFill>
                  <a:srgbClr val="CCCCCC"/>
                </a:solidFill>
                <a:latin typeface="Calibri"/>
              </a:defRPr>
            </a:pPr>
            <a:r>
              <a:t>•  Query tuning con PROFILE ed EXPLAIN</a:t>
            </a:r>
          </a:p>
          <a:p>
            <a:pPr algn="l">
              <a:spcAft>
                <a:spcPts val="1200"/>
              </a:spcAft>
              <a:defRPr sz="1400">
                <a:solidFill>
                  <a:srgbClr val="CCCCCC"/>
                </a:solidFill>
                <a:latin typeface="Calibri"/>
              </a:defRPr>
            </a:pPr>
            <a:r>
              <a:t>•  APOC: procedure standard di Neo4j</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