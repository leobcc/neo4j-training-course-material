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83"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2.xml"/><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7.xml"/><Relationship Id="rId7" Type="http://schemas.openxmlformats.org/officeDocument/2006/relationships/image" Target="../media/image5.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oleObject" Target="../embeddings/oleObject3.bin"/><Relationship Id="rId5" Type="http://schemas.openxmlformats.org/officeDocument/2006/relationships/slideMaster" Target="../slideMasters/slideMaster1.xml"/><Relationship Id="rId4" Type="http://schemas.openxmlformats.org/officeDocument/2006/relationships/tags" Target="../tags/tag8.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hyperlink" Target="https://www.capgemini.com/optimize-your-business-and-it-operations"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hyperlink" Target="https://www.capgemini.com/optimize-your-business-and-it-operations" TargetMode="External"/><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2" Type="http://schemas.openxmlformats.org/officeDocument/2006/relationships/hyperlink" Target="https://www.capgemini.com/optimize-your-business-and-it-operations" TargetMode="External"/><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www.capgemini.com/about/how-we-work/rightshorer" TargetMode="External"/><Relationship Id="rId3" Type="http://schemas.openxmlformats.org/officeDocument/2006/relationships/image" Target="../media/image7.png"/><Relationship Id="rId7" Type="http://schemas.openxmlformats.org/officeDocument/2006/relationships/image" Target="../media/image9.png"/><Relationship Id="rId12" Type="http://schemas.openxmlformats.org/officeDocument/2006/relationships/hyperlink" Target="http://www.capgemini.com/about/how-we-work/the-collaborative-business-experiencetm" TargetMode="External"/><Relationship Id="rId2" Type="http://schemas.openxmlformats.org/officeDocument/2006/relationships/hyperlink" Target="http://www.linkedin.com/company/capgemini" TargetMode="External"/><Relationship Id="rId1" Type="http://schemas.openxmlformats.org/officeDocument/2006/relationships/slideMaster" Target="../slideMasters/slideMaster1.xml"/><Relationship Id="rId6" Type="http://schemas.openxmlformats.org/officeDocument/2006/relationships/hyperlink" Target="http://www.twitter.com/capgemini" TargetMode="External"/><Relationship Id="rId11" Type="http://schemas.openxmlformats.org/officeDocument/2006/relationships/image" Target="../media/image11.png"/><Relationship Id="rId5" Type="http://schemas.openxmlformats.org/officeDocument/2006/relationships/image" Target="../media/image8.png"/><Relationship Id="rId15" Type="http://schemas.openxmlformats.org/officeDocument/2006/relationships/image" Target="../media/image12.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10.png"/><Relationship Id="rId14" Type="http://schemas.openxmlformats.org/officeDocument/2006/relationships/hyperlink" Target="http://www.capgemini.com/"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www.capgemini.com/about/how-we-work/rightshorer" TargetMode="External"/><Relationship Id="rId3" Type="http://schemas.openxmlformats.org/officeDocument/2006/relationships/image" Target="../media/image7.png"/><Relationship Id="rId7" Type="http://schemas.openxmlformats.org/officeDocument/2006/relationships/image" Target="../media/image9.png"/><Relationship Id="rId12" Type="http://schemas.openxmlformats.org/officeDocument/2006/relationships/hyperlink" Target="http://www.capgemini.com/about/how-we-work/the-collaborative-business-experiencetm" TargetMode="External"/><Relationship Id="rId2" Type="http://schemas.openxmlformats.org/officeDocument/2006/relationships/hyperlink" Target="http://www.linkedin.com/company/capgemini" TargetMode="External"/><Relationship Id="rId1" Type="http://schemas.openxmlformats.org/officeDocument/2006/relationships/slideMaster" Target="../slideMasters/slideMaster1.xml"/><Relationship Id="rId6" Type="http://schemas.openxmlformats.org/officeDocument/2006/relationships/hyperlink" Target="http://www.twitter.com/capgemini" TargetMode="External"/><Relationship Id="rId11" Type="http://schemas.openxmlformats.org/officeDocument/2006/relationships/image" Target="../media/image11.png"/><Relationship Id="rId5" Type="http://schemas.openxmlformats.org/officeDocument/2006/relationships/image" Target="../media/image8.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55F9332B-C397-8A08-6129-447990457BE0}"/>
              </a:ext>
            </a:extLst>
          </p:cNvPr>
          <p:cNvGrpSpPr/>
          <p:nvPr/>
        </p:nvGrpSpPr>
        <p:grpSpPr>
          <a:xfrm>
            <a:off x="731520" y="475488"/>
            <a:ext cx="10698480" cy="1028700"/>
            <a:chOff x="731520" y="320040"/>
            <a:chExt cx="10698480" cy="1271016"/>
          </a:xfrm>
        </p:grpSpPr>
        <p:sp>
          <p:nvSpPr>
            <p:cNvPr id="2" name="TextBox 1"/>
            <p:cNvSpPr txBox="1"/>
            <p:nvPr/>
          </p:nvSpPr>
          <p:spPr>
            <a:xfrm>
              <a:off x="731520" y="320040"/>
              <a:ext cx="10515600" cy="64646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2800" b="1">
                  <a:solidFill>
                    <a:srgbClr val="F0C040"/>
                  </a:solidFill>
                  <a:latin typeface="Calibri"/>
                </a:defRPr>
              </a:pPr>
              <a:r>
                <a:rPr kumimoji="0" sz="2800" i="0" u="none" strike="noStrike" kern="1200" cap="none" spc="0" normalizeH="0" baseline="0" noProof="0" dirty="0" err="1">
                  <a:ln>
                    <a:noFill/>
                  </a:ln>
                  <a:solidFill>
                    <a:srgbClr val="F0C040"/>
                  </a:solidFill>
                  <a:effectLst/>
                  <a:uLnTx/>
                  <a:uFillTx/>
                  <a:latin typeface="Calibri"/>
                  <a:ea typeface="+mn-ea"/>
                  <a:cs typeface="+mn-cs"/>
                </a:rPr>
                <a:t>Sessione</a:t>
              </a:r>
              <a:r>
                <a:rPr kumimoji="0" sz="2800" i="0" u="none" strike="noStrike" kern="1200" cap="none" spc="0" normalizeH="0" baseline="0" noProof="0" dirty="0">
                  <a:ln>
                    <a:noFill/>
                  </a:ln>
                  <a:solidFill>
                    <a:srgbClr val="F0C040"/>
                  </a:solidFill>
                  <a:effectLst/>
                  <a:uLnTx/>
                  <a:uFillTx/>
                  <a:latin typeface="Calibri"/>
                  <a:ea typeface="+mn-ea"/>
                  <a:cs typeface="+mn-cs"/>
                </a:rPr>
                <a:t> 1 — Jump Start: Grafi &amp; Primo Database</a:t>
              </a:r>
            </a:p>
          </p:txBody>
        </p:sp>
        <p:sp>
          <p:nvSpPr>
            <p:cNvPr id="3" name="TextBox 2"/>
            <p:cNvSpPr txBox="1"/>
            <p:nvPr/>
          </p:nvSpPr>
          <p:spPr>
            <a:xfrm>
              <a:off x="731520" y="1005840"/>
              <a:ext cx="10515600" cy="3657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500" b="0">
                  <a:solidFill>
                    <a:srgbClr val="CCCCCC"/>
                  </a:solidFill>
                  <a:latin typeface="Calibri"/>
                </a:defRPr>
              </a:pPr>
              <a:r>
                <a:rPr kumimoji="0" sz="1500" b="0" i="0" u="none" strike="noStrike" kern="1200" cap="none" spc="0" normalizeH="0" baseline="0" noProof="0">
                  <a:ln>
                    <a:noFill/>
                  </a:ln>
                  <a:solidFill>
                    <a:srgbClr val="CCCCCC"/>
                  </a:solidFill>
                  <a:effectLst/>
                  <a:uLnTx/>
                  <a:uFillTx/>
                  <a:latin typeface="Calibri"/>
                  <a:ea typeface="+mn-ea"/>
                  <a:cs typeface="+mn-cs"/>
                </a:rPr>
                <a:t>Obiettivo: capire cosa è un database a grafo e caricare dati reali già nella prima sessione</a:t>
              </a:r>
            </a:p>
          </p:txBody>
        </p:sp>
        <p:sp>
          <p:nvSpPr>
            <p:cNvPr id="4" name="Rectangle 3"/>
            <p:cNvSpPr/>
            <p:nvPr/>
          </p:nvSpPr>
          <p:spPr>
            <a:xfrm>
              <a:off x="731520" y="1554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Amazon Ember Display"/>
                <a:ea typeface="+mn-ea"/>
                <a:cs typeface="+mn-cs"/>
              </a:endParaRPr>
            </a:p>
          </p:txBody>
        </p:sp>
      </p:grpSp>
      <p:grpSp>
        <p:nvGrpSpPr>
          <p:cNvPr id="20" name="Group 19">
            <a:extLst>
              <a:ext uri="{FF2B5EF4-FFF2-40B4-BE49-F238E27FC236}">
                <a16:creationId xmlns:a16="http://schemas.microsoft.com/office/drawing/2014/main" id="{5E3118CF-031E-A78B-E765-6BAB7E5C6C08}"/>
              </a:ext>
            </a:extLst>
          </p:cNvPr>
          <p:cNvGrpSpPr/>
          <p:nvPr/>
        </p:nvGrpSpPr>
        <p:grpSpPr>
          <a:xfrm>
            <a:off x="731520" y="1673889"/>
            <a:ext cx="10698480" cy="1028700"/>
            <a:chOff x="731520" y="1773936"/>
            <a:chExt cx="10698480" cy="1271016"/>
          </a:xfrm>
        </p:grpSpPr>
        <p:sp>
          <p:nvSpPr>
            <p:cNvPr id="11" name="TextBox 10">
              <a:extLst>
                <a:ext uri="{FF2B5EF4-FFF2-40B4-BE49-F238E27FC236}">
                  <a16:creationId xmlns:a16="http://schemas.microsoft.com/office/drawing/2014/main" id="{9D2081BF-5B8D-84FA-22D3-45CDA058AFF1}"/>
                </a:ext>
              </a:extLst>
            </p:cNvPr>
            <p:cNvSpPr txBox="1"/>
            <p:nvPr/>
          </p:nvSpPr>
          <p:spPr>
            <a:xfrm>
              <a:off x="731520" y="1773936"/>
              <a:ext cx="10515600" cy="646467"/>
            </a:xfrm>
            <a:prstGeom prst="rect">
              <a:avLst/>
            </a:prstGeom>
            <a:noFill/>
          </p:spPr>
          <p:txBody>
            <a:bodyPr wrap="square">
              <a:spAutoFit/>
            </a:bodyPr>
            <a:lstStyle/>
            <a:p>
              <a:pPr algn="l">
                <a:defRPr sz="2800" b="1">
                  <a:solidFill>
                    <a:srgbClr val="F0C040"/>
                  </a:solidFill>
                  <a:latin typeface="Calibri"/>
                </a:defRPr>
              </a:pPr>
              <a:r>
                <a:rPr dirty="0" err="1"/>
                <a:t>Sessione</a:t>
              </a:r>
              <a:r>
                <a:rPr dirty="0"/>
                <a:t> 2 — Cypher: Da Basi a Query Reali</a:t>
              </a:r>
            </a:p>
          </p:txBody>
        </p:sp>
        <p:sp>
          <p:nvSpPr>
            <p:cNvPr id="12" name="TextBox 11">
              <a:extLst>
                <a:ext uri="{FF2B5EF4-FFF2-40B4-BE49-F238E27FC236}">
                  <a16:creationId xmlns:a16="http://schemas.microsoft.com/office/drawing/2014/main" id="{04E8DFF6-12AD-1910-8A02-5CB6EF364ECD}"/>
                </a:ext>
              </a:extLst>
            </p:cNvPr>
            <p:cNvSpPr txBox="1"/>
            <p:nvPr/>
          </p:nvSpPr>
          <p:spPr>
            <a:xfrm>
              <a:off x="731520" y="2459736"/>
              <a:ext cx="10515600" cy="365760"/>
            </a:xfrm>
            <a:prstGeom prst="rect">
              <a:avLst/>
            </a:prstGeom>
            <a:noFill/>
          </p:spPr>
          <p:txBody>
            <a:bodyPr wrap="square">
              <a:spAutoFit/>
            </a:bodyPr>
            <a:lstStyle/>
            <a:p>
              <a:pPr algn="l">
                <a:defRPr sz="1500" b="0">
                  <a:solidFill>
                    <a:srgbClr val="CCCCCC"/>
                  </a:solidFill>
                  <a:latin typeface="Calibri"/>
                </a:defRPr>
              </a:pPr>
              <a:r>
                <a:t>Obiettivo: scrivere query Cypher reali sul Org Graph con sicurezza</a:t>
              </a:r>
            </a:p>
          </p:txBody>
        </p:sp>
        <p:sp>
          <p:nvSpPr>
            <p:cNvPr id="13" name="Rectangle 12">
              <a:extLst>
                <a:ext uri="{FF2B5EF4-FFF2-40B4-BE49-F238E27FC236}">
                  <a16:creationId xmlns:a16="http://schemas.microsoft.com/office/drawing/2014/main" id="{2525F987-A350-9D92-104D-FE2DAE3EE0A0}"/>
                </a:ext>
              </a:extLst>
            </p:cNvPr>
            <p:cNvSpPr/>
            <p:nvPr/>
          </p:nvSpPr>
          <p:spPr>
            <a:xfrm>
              <a:off x="731520" y="3008376"/>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7" name="Group 16">
            <a:extLst>
              <a:ext uri="{FF2B5EF4-FFF2-40B4-BE49-F238E27FC236}">
                <a16:creationId xmlns:a16="http://schemas.microsoft.com/office/drawing/2014/main" id="{5D505148-64D6-A277-21D5-1CA2F9ACBDA4}"/>
              </a:ext>
            </a:extLst>
          </p:cNvPr>
          <p:cNvGrpSpPr/>
          <p:nvPr/>
        </p:nvGrpSpPr>
        <p:grpSpPr>
          <a:xfrm>
            <a:off x="731520" y="2872855"/>
            <a:ext cx="10698480" cy="1028700"/>
            <a:chOff x="731520" y="3334512"/>
            <a:chExt cx="10698480" cy="1271016"/>
          </a:xfrm>
        </p:grpSpPr>
        <p:sp>
          <p:nvSpPr>
            <p:cNvPr id="14" name="TextBox 13">
              <a:extLst>
                <a:ext uri="{FF2B5EF4-FFF2-40B4-BE49-F238E27FC236}">
                  <a16:creationId xmlns:a16="http://schemas.microsoft.com/office/drawing/2014/main" id="{537A941B-A117-1C4B-D34D-57BFE8144CCD}"/>
                </a:ext>
              </a:extLst>
            </p:cNvPr>
            <p:cNvSpPr txBox="1"/>
            <p:nvPr/>
          </p:nvSpPr>
          <p:spPr>
            <a:xfrm>
              <a:off x="731520" y="3334512"/>
              <a:ext cx="10515600" cy="594360"/>
            </a:xfrm>
            <a:prstGeom prst="rect">
              <a:avLst/>
            </a:prstGeom>
            <a:noFill/>
          </p:spPr>
          <p:txBody>
            <a:bodyPr wrap="square">
              <a:spAutoFit/>
            </a:bodyPr>
            <a:lstStyle/>
            <a:p>
              <a:pPr algn="l">
                <a:defRPr sz="2800" b="1">
                  <a:solidFill>
                    <a:srgbClr val="F0C040"/>
                  </a:solidFill>
                  <a:latin typeface="Calibri"/>
                </a:defRPr>
              </a:pPr>
              <a:r>
                <a:t>Sessione 3 — Data Modeling &amp; Import</a:t>
              </a:r>
            </a:p>
          </p:txBody>
        </p:sp>
        <p:sp>
          <p:nvSpPr>
            <p:cNvPr id="15" name="TextBox 14">
              <a:extLst>
                <a:ext uri="{FF2B5EF4-FFF2-40B4-BE49-F238E27FC236}">
                  <a16:creationId xmlns:a16="http://schemas.microsoft.com/office/drawing/2014/main" id="{68495B92-B8CB-52E1-E657-E5F54771D8AA}"/>
                </a:ext>
              </a:extLst>
            </p:cNvPr>
            <p:cNvSpPr txBox="1"/>
            <p:nvPr/>
          </p:nvSpPr>
          <p:spPr>
            <a:xfrm>
              <a:off x="731520" y="4020312"/>
              <a:ext cx="10515600" cy="365760"/>
            </a:xfrm>
            <a:prstGeom prst="rect">
              <a:avLst/>
            </a:prstGeom>
            <a:noFill/>
          </p:spPr>
          <p:txBody>
            <a:bodyPr wrap="square">
              <a:spAutoFit/>
            </a:bodyPr>
            <a:lstStyle/>
            <a:p>
              <a:pPr algn="l">
                <a:defRPr sz="1500" b="0">
                  <a:solidFill>
                    <a:srgbClr val="CCCCCC"/>
                  </a:solidFill>
                  <a:latin typeface="Calibri"/>
                </a:defRPr>
              </a:pPr>
              <a:r>
                <a:rPr dirty="0" err="1"/>
                <a:t>Obiettivo</a:t>
              </a:r>
              <a:r>
                <a:rPr dirty="0"/>
                <a:t>: </a:t>
              </a:r>
              <a:r>
                <a:rPr dirty="0" err="1"/>
                <a:t>progettare</a:t>
              </a:r>
              <a:r>
                <a:rPr dirty="0"/>
                <a:t> </a:t>
              </a:r>
              <a:r>
                <a:rPr dirty="0" err="1"/>
                <a:t>modelli</a:t>
              </a:r>
              <a:r>
                <a:rPr dirty="0"/>
                <a:t> a </a:t>
              </a:r>
              <a:r>
                <a:rPr dirty="0" err="1"/>
                <a:t>grafo</a:t>
              </a:r>
              <a:r>
                <a:rPr dirty="0"/>
                <a:t> </a:t>
              </a:r>
              <a:r>
                <a:rPr dirty="0" err="1"/>
                <a:t>robusti</a:t>
              </a:r>
              <a:r>
                <a:rPr dirty="0"/>
                <a:t> e </a:t>
              </a:r>
              <a:r>
                <a:rPr dirty="0" err="1"/>
                <a:t>caricare</a:t>
              </a:r>
              <a:r>
                <a:rPr dirty="0"/>
                <a:t> </a:t>
              </a:r>
              <a:r>
                <a:rPr dirty="0" err="1"/>
                <a:t>dati</a:t>
              </a:r>
              <a:r>
                <a:rPr dirty="0"/>
                <a:t> </a:t>
              </a:r>
              <a:r>
                <a:rPr dirty="0" err="1"/>
                <a:t>su</a:t>
              </a:r>
              <a:r>
                <a:rPr dirty="0"/>
                <a:t> </a:t>
              </a:r>
              <a:r>
                <a:rPr dirty="0" err="1"/>
                <a:t>larga</a:t>
              </a:r>
              <a:r>
                <a:rPr dirty="0"/>
                <a:t> scala</a:t>
              </a:r>
            </a:p>
          </p:txBody>
        </p:sp>
        <p:sp>
          <p:nvSpPr>
            <p:cNvPr id="16" name="Rectangle 15">
              <a:extLst>
                <a:ext uri="{FF2B5EF4-FFF2-40B4-BE49-F238E27FC236}">
                  <a16:creationId xmlns:a16="http://schemas.microsoft.com/office/drawing/2014/main" id="{72543EA3-C053-304D-33F9-1A8ED462629B}"/>
                </a:ext>
              </a:extLst>
            </p:cNvPr>
            <p:cNvSpPr/>
            <p:nvPr/>
          </p:nvSpPr>
          <p:spPr>
            <a:xfrm>
              <a:off x="731520" y="4568952"/>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24" name="Group 23">
            <a:extLst>
              <a:ext uri="{FF2B5EF4-FFF2-40B4-BE49-F238E27FC236}">
                <a16:creationId xmlns:a16="http://schemas.microsoft.com/office/drawing/2014/main" id="{E8F5FF46-324D-C003-014D-D2E6C5F8BDFF}"/>
              </a:ext>
            </a:extLst>
          </p:cNvPr>
          <p:cNvGrpSpPr/>
          <p:nvPr/>
        </p:nvGrpSpPr>
        <p:grpSpPr>
          <a:xfrm>
            <a:off x="731520" y="3975562"/>
            <a:ext cx="10698480" cy="1028700"/>
            <a:chOff x="731520" y="4858512"/>
            <a:chExt cx="10698480" cy="1271016"/>
          </a:xfrm>
        </p:grpSpPr>
        <p:sp>
          <p:nvSpPr>
            <p:cNvPr id="21" name="TextBox 20">
              <a:extLst>
                <a:ext uri="{FF2B5EF4-FFF2-40B4-BE49-F238E27FC236}">
                  <a16:creationId xmlns:a16="http://schemas.microsoft.com/office/drawing/2014/main" id="{53E161B5-A146-7B11-69A2-BE0143EFFC27}"/>
                </a:ext>
              </a:extLst>
            </p:cNvPr>
            <p:cNvSpPr txBox="1"/>
            <p:nvPr/>
          </p:nvSpPr>
          <p:spPr>
            <a:xfrm>
              <a:off x="731520" y="4858512"/>
              <a:ext cx="10515600" cy="594360"/>
            </a:xfrm>
            <a:prstGeom prst="rect">
              <a:avLst/>
            </a:prstGeom>
            <a:noFill/>
          </p:spPr>
          <p:txBody>
            <a:bodyPr wrap="square">
              <a:spAutoFit/>
            </a:bodyPr>
            <a:lstStyle/>
            <a:p>
              <a:pPr algn="l">
                <a:defRPr sz="2800" b="1">
                  <a:solidFill>
                    <a:srgbClr val="F0C040"/>
                  </a:solidFill>
                  <a:latin typeface="Calibri"/>
                </a:defRPr>
              </a:pPr>
              <a:r>
                <a:t>Sessione 4 — Graph Data Science</a:t>
              </a:r>
            </a:p>
          </p:txBody>
        </p:sp>
        <p:sp>
          <p:nvSpPr>
            <p:cNvPr id="22" name="TextBox 21">
              <a:extLst>
                <a:ext uri="{FF2B5EF4-FFF2-40B4-BE49-F238E27FC236}">
                  <a16:creationId xmlns:a16="http://schemas.microsoft.com/office/drawing/2014/main" id="{0F9EB1AE-5B3D-6F44-4BE5-D849036FC5FB}"/>
                </a:ext>
              </a:extLst>
            </p:cNvPr>
            <p:cNvSpPr txBox="1"/>
            <p:nvPr/>
          </p:nvSpPr>
          <p:spPr>
            <a:xfrm>
              <a:off x="731520" y="5544312"/>
              <a:ext cx="10515600" cy="365760"/>
            </a:xfrm>
            <a:prstGeom prst="rect">
              <a:avLst/>
            </a:prstGeom>
            <a:noFill/>
          </p:spPr>
          <p:txBody>
            <a:bodyPr wrap="square">
              <a:spAutoFit/>
            </a:bodyPr>
            <a:lstStyle/>
            <a:p>
              <a:pPr algn="l">
                <a:defRPr sz="1500" b="0">
                  <a:solidFill>
                    <a:srgbClr val="CCCCCC"/>
                  </a:solidFill>
                  <a:latin typeface="Calibri"/>
                </a:defRPr>
              </a:pPr>
              <a:r>
                <a:t>Obiettivo: eseguire algoritmi di analisi per estrarre insight dall’Org Graph</a:t>
              </a:r>
            </a:p>
          </p:txBody>
        </p:sp>
        <p:sp>
          <p:nvSpPr>
            <p:cNvPr id="23" name="Rectangle 22">
              <a:extLst>
                <a:ext uri="{FF2B5EF4-FFF2-40B4-BE49-F238E27FC236}">
                  <a16:creationId xmlns:a16="http://schemas.microsoft.com/office/drawing/2014/main" id="{ED81E562-55AB-61DF-D7CE-5D8E39989B79}"/>
                </a:ext>
              </a:extLst>
            </p:cNvPr>
            <p:cNvSpPr/>
            <p:nvPr/>
          </p:nvSpPr>
          <p:spPr>
            <a:xfrm>
              <a:off x="731520" y="6092952"/>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28" name="Group 27">
            <a:extLst>
              <a:ext uri="{FF2B5EF4-FFF2-40B4-BE49-F238E27FC236}">
                <a16:creationId xmlns:a16="http://schemas.microsoft.com/office/drawing/2014/main" id="{AA059046-04C3-A29E-A9CA-159E337CE39D}"/>
              </a:ext>
            </a:extLst>
          </p:cNvPr>
          <p:cNvGrpSpPr/>
          <p:nvPr/>
        </p:nvGrpSpPr>
        <p:grpSpPr>
          <a:xfrm>
            <a:off x="725424" y="5152276"/>
            <a:ext cx="10698480" cy="1028700"/>
            <a:chOff x="883920" y="472440"/>
            <a:chExt cx="10698480" cy="1271016"/>
          </a:xfrm>
        </p:grpSpPr>
        <p:sp>
          <p:nvSpPr>
            <p:cNvPr id="25" name="TextBox 24">
              <a:extLst>
                <a:ext uri="{FF2B5EF4-FFF2-40B4-BE49-F238E27FC236}">
                  <a16:creationId xmlns:a16="http://schemas.microsoft.com/office/drawing/2014/main" id="{5BB12C2B-7A11-6424-98BC-207B77ADA7DB}"/>
                </a:ext>
              </a:extLst>
            </p:cNvPr>
            <p:cNvSpPr txBox="1"/>
            <p:nvPr/>
          </p:nvSpPr>
          <p:spPr>
            <a:xfrm>
              <a:off x="883920" y="472440"/>
              <a:ext cx="10515600" cy="594360"/>
            </a:xfrm>
            <a:prstGeom prst="rect">
              <a:avLst/>
            </a:prstGeom>
            <a:noFill/>
          </p:spPr>
          <p:txBody>
            <a:bodyPr wrap="square">
              <a:spAutoFit/>
            </a:bodyPr>
            <a:lstStyle/>
            <a:p>
              <a:pPr algn="l">
                <a:defRPr sz="2800" b="1">
                  <a:solidFill>
                    <a:srgbClr val="F0C040"/>
                  </a:solidFill>
                  <a:latin typeface="Calibri"/>
                </a:defRPr>
              </a:pPr>
              <a:r>
                <a:rPr dirty="0" err="1"/>
                <a:t>Sessione</a:t>
              </a:r>
              <a:r>
                <a:rPr dirty="0"/>
                <a:t> 5 — AI &amp; </a:t>
              </a:r>
              <a:r>
                <a:rPr dirty="0" err="1"/>
                <a:t>Applicazioni</a:t>
              </a:r>
              <a:r>
                <a:rPr dirty="0"/>
                <a:t> </a:t>
              </a:r>
              <a:r>
                <a:rPr dirty="0" err="1"/>
                <a:t>Grafo</a:t>
              </a:r>
              <a:endParaRPr dirty="0"/>
            </a:p>
          </p:txBody>
        </p:sp>
        <p:sp>
          <p:nvSpPr>
            <p:cNvPr id="26" name="TextBox 25">
              <a:extLst>
                <a:ext uri="{FF2B5EF4-FFF2-40B4-BE49-F238E27FC236}">
                  <a16:creationId xmlns:a16="http://schemas.microsoft.com/office/drawing/2014/main" id="{BF0B494A-CFC9-51A2-5B7D-896F59FBB116}"/>
                </a:ext>
              </a:extLst>
            </p:cNvPr>
            <p:cNvSpPr txBox="1"/>
            <p:nvPr/>
          </p:nvSpPr>
          <p:spPr>
            <a:xfrm>
              <a:off x="883920" y="1158240"/>
              <a:ext cx="10515600" cy="365760"/>
            </a:xfrm>
            <a:prstGeom prst="rect">
              <a:avLst/>
            </a:prstGeom>
            <a:noFill/>
          </p:spPr>
          <p:txBody>
            <a:bodyPr wrap="square">
              <a:spAutoFit/>
            </a:bodyPr>
            <a:lstStyle/>
            <a:p>
              <a:pPr algn="l">
                <a:defRPr sz="1500" b="0">
                  <a:solidFill>
                    <a:srgbClr val="CCCCCC"/>
                  </a:solidFill>
                  <a:latin typeface="Calibri"/>
                </a:defRPr>
              </a:pPr>
              <a:r>
                <a:t>Obiettivo: collegare Neo4j ad applicazioni reali e aggiungere ricerca AI</a:t>
              </a:r>
            </a:p>
          </p:txBody>
        </p:sp>
        <p:sp>
          <p:nvSpPr>
            <p:cNvPr id="27" name="Rectangle 26">
              <a:extLst>
                <a:ext uri="{FF2B5EF4-FFF2-40B4-BE49-F238E27FC236}">
                  <a16:creationId xmlns:a16="http://schemas.microsoft.com/office/drawing/2014/main" id="{1A3379DF-15F2-2669-39CA-16915C5DBC70}"/>
                </a:ext>
              </a:extLst>
            </p:cNvPr>
            <p:cNvSpPr/>
            <p:nvPr/>
          </p:nvSpPr>
          <p:spPr>
            <a:xfrm>
              <a:off x="883920" y="17068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 nodi, relazioni, labels</a:t>
            </a:r>
          </a:p>
          <a:p>
            <a:pPr algn="l">
              <a:spcAft>
                <a:spcPts val="1300"/>
              </a:spcAft>
              <a:defRPr sz="1500">
                <a:solidFill>
                  <a:srgbClr val="FFFFFF"/>
                </a:solidFill>
                <a:latin typeface="Calibri"/>
              </a:defRPr>
            </a:pPr>
            <a:r>
              <a:t>•  Perché Neo4j vs DB relazionali</a:t>
            </a:r>
          </a:p>
          <a:p>
            <a:pPr algn="l">
              <a:spcAft>
                <a:spcPts val="1300"/>
              </a:spcAft>
              <a:defRPr sz="1500">
                <a:solidFill>
                  <a:srgbClr val="FFFFFF"/>
                </a:solidFill>
                <a:latin typeface="Calibri"/>
              </a:defRPr>
            </a:pPr>
            <a:r>
              <a:t>•  Ecosistema Neo4j (Browser, AuraDB, Bloom)</a:t>
            </a:r>
          </a:p>
          <a:p>
            <a:pPr algn="l">
              <a:spcAft>
                <a:spcPts val="1300"/>
              </a:spcAft>
              <a:defRPr sz="1500">
                <a:solidFill>
                  <a:srgbClr val="FFFFFF"/>
                </a:solidFill>
                <a:latin typeface="Calibri"/>
              </a:defRPr>
            </a:pPr>
            <a:r>
              <a:t>•  Cypher: pattern matching per leggere/scrivere</a:t>
            </a:r>
          </a:p>
          <a:p>
            <a:pPr algn="l">
              <a:spcAft>
                <a:spcPts val="1300"/>
              </a:spcAft>
              <a:defRPr sz="1500">
                <a:solidFill>
                  <a:srgbClr val="FFFFFF"/>
                </a:solidFill>
                <a:latin typeface="Calibri"/>
              </a:defRPr>
            </a:pPr>
            <a:r>
              <a:t>•  Constraints e indici</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Connettersi a Neo4j con Python</a:t>
            </a:r>
          </a:p>
          <a:p>
            <a:pPr algn="l">
              <a:spcAft>
                <a:spcPts val="1300"/>
              </a:spcAft>
              <a:defRPr sz="1500">
                <a:solidFill>
                  <a:srgbClr val="FFFFFF"/>
                </a:solidFill>
                <a:latin typeface="Calibri"/>
              </a:defRPr>
            </a:pPr>
            <a:r>
              <a:t>•  MATCH, WHERE, RETURN: prime query</a:t>
            </a:r>
          </a:p>
          <a:p>
            <a:pPr algn="l">
              <a:spcAft>
                <a:spcPts val="1300"/>
              </a:spcAft>
              <a:defRPr sz="1500">
                <a:solidFill>
                  <a:srgbClr val="FFFFFF"/>
                </a:solidFill>
                <a:latin typeface="Calibri"/>
              </a:defRPr>
            </a:pPr>
            <a:r>
              <a:t>•  MERGE, CREATE: scrivere dati</a:t>
            </a:r>
          </a:p>
          <a:p>
            <a:pPr algn="l">
              <a:spcAft>
                <a:spcPts val="1300"/>
              </a:spcAft>
              <a:defRPr sz="1500">
                <a:solidFill>
                  <a:srgbClr val="FFFFFF"/>
                </a:solidFill>
                <a:latin typeface="Calibri"/>
              </a:defRPr>
            </a:pPr>
            <a:r>
              <a:t>•  UNWIND batching per caricamenti bulk</a:t>
            </a:r>
          </a:p>
          <a:p>
            <a:pPr algn="l">
              <a:spcAft>
                <a:spcPts val="1300"/>
              </a:spcAft>
              <a:defRPr sz="1500">
                <a:solidFill>
                  <a:srgbClr val="FFFFFF"/>
                </a:solidFill>
                <a:latin typeface="Calibri"/>
              </a:defRPr>
            </a:pPr>
            <a:r>
              <a:t>•  Neo4j Browser: esplorare il grafo</a:t>
            </a:r>
          </a:p>
          <a:p>
            <a:pPr algn="l">
              <a:spcAft>
                <a:spcPts val="1300"/>
              </a:spcAft>
              <a:defRPr sz="1500">
                <a:solidFill>
                  <a:srgbClr val="FFFFFF"/>
                </a:solidFill>
                <a:latin typeface="Calibri"/>
              </a:defRPr>
            </a:pPr>
            <a:r>
              <a:t>•  Dataset: Org Graph e Movie Graph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051560"/>
            <a:ext cx="10515600" cy="365760"/>
          </a:xfrm>
          <a:prstGeom prst="rect">
            <a:avLst/>
          </a:prstGeom>
          <a:noFill/>
        </p:spPr>
        <p:txBody>
          <a:bodyPr wrap="square">
            <a:spAutoFit/>
          </a:bodyPr>
          <a:lstStyle/>
          <a:p>
            <a:pPr algn="l">
              <a:defRPr sz="1500" b="0">
                <a:solidFill>
                  <a:srgbClr val="CCCCCC"/>
                </a:solidFill>
                <a:latin typeface="Calibri"/>
              </a:defRPr>
            </a:pPr>
            <a:r>
              <a:t>Un grafo è composto da due elementi fondamentali:</a:t>
            </a:r>
          </a:p>
        </p:txBody>
      </p:sp>
      <p:sp>
        <p:nvSpPr>
          <p:cNvPr id="4" name="TextBox 3"/>
          <p:cNvSpPr txBox="1"/>
          <p:nvPr/>
        </p:nvSpPr>
        <p:spPr>
          <a:xfrm>
            <a:off x="731520" y="1554480"/>
            <a:ext cx="5029200" cy="1828800"/>
          </a:xfrm>
          <a:prstGeom prst="rect">
            <a:avLst/>
          </a:prstGeom>
          <a:noFill/>
        </p:spPr>
        <p:txBody>
          <a:bodyPr wrap="square">
            <a:spAutoFit/>
          </a:bodyPr>
          <a:lstStyle/>
          <a:p>
            <a:pPr algn="l">
              <a:spcAft>
                <a:spcPts val="800"/>
              </a:spcAft>
              <a:defRPr sz="1400">
                <a:solidFill>
                  <a:srgbClr val="FFFFFF"/>
                </a:solidFill>
                <a:latin typeface="Calibri"/>
              </a:defRPr>
            </a:pPr>
            <a:r>
              <a:t>•  Nodi (vertices) — rappresentano entità (persone, progetti, skill)</a:t>
            </a:r>
          </a:p>
          <a:p>
            <a:pPr algn="l">
              <a:spcAft>
                <a:spcPts val="800"/>
              </a:spcAft>
              <a:defRPr sz="1400">
                <a:solidFill>
                  <a:srgbClr val="FFFFFF"/>
                </a:solidFill>
                <a:latin typeface="Calibri"/>
              </a:defRPr>
            </a:pPr>
            <a:r>
              <a:t>•  Relazioni (edges) — rappresentano connessioni tra entità</a:t>
            </a:r>
          </a:p>
          <a:p>
            <a:pPr algn="l">
              <a:spcAft>
                <a:spcPts val="800"/>
              </a:spcAft>
              <a:defRPr sz="1400">
                <a:solidFill>
                  <a:srgbClr val="FFFFFF"/>
                </a:solidFill>
                <a:latin typeface="Calibri"/>
              </a:defRPr>
            </a:pPr>
            <a:r>
              <a:t>•  Entrambi possono avere proprietà (coppie chiave-valore)</a:t>
            </a:r>
          </a:p>
          <a:p>
            <a:pPr algn="l">
              <a:spcAft>
                <a:spcPts val="800"/>
              </a:spcAft>
              <a:defRPr sz="1400">
                <a:solidFill>
                  <a:srgbClr val="FFFFFF"/>
                </a:solidFill>
                <a:latin typeface="Calibri"/>
              </a:defRPr>
            </a:pPr>
            <a:r>
              <a:t>•  Le relazioni sono cittadini di prima classe — hanno sempre un tipo e una direzione</a:t>
            </a:r>
          </a:p>
        </p:txBody>
      </p:sp>
      <p:sp>
        <p:nvSpPr>
          <p:cNvPr id="5" name="TextBox 4"/>
          <p:cNvSpPr txBox="1"/>
          <p:nvPr/>
        </p:nvSpPr>
        <p:spPr>
          <a:xfrm>
            <a:off x="5669280" y="1554480"/>
            <a:ext cx="4846320" cy="1828800"/>
          </a:xfrm>
          <a:prstGeom prst="rect">
            <a:avLst/>
          </a:prstGeom>
          <a:noFill/>
        </p:spPr>
        <p:txBody>
          <a:bodyPr wrap="square">
            <a:spAutoFit/>
          </a:bodyPr>
          <a:lstStyle/>
          <a:p>
            <a:pPr algn="l">
              <a:defRPr sz="1100" b="0">
                <a:solidFill>
                  <a:srgbClr val="CCCCCC"/>
                </a:solidFill>
                <a:latin typeface="Consolas"/>
              </a:defRPr>
            </a:pPr>
            <a:r>
              <a:t>Esempio: grafo e-commerce</a:t>
            </a:r>
            <a:br/>
            <a:br/>
            <a:r>
              <a:t>  (Cliente) —[:ACQUISTA]→ (Ordine) —[:ORDINA]→ (Prodotto)</a:t>
            </a:r>
            <a:br/>
            <a:r>
              <a:t>                                     ↑</a:t>
            </a:r>
            <a:br/>
            <a:r>
              <a:t>                              [:FORNISCE]</a:t>
            </a:r>
            <a:br/>
            <a:r>
              <a:t>                                     ↑</a:t>
            </a:r>
            <a:br/>
            <a:r>
              <a:t>                                  (Fornitore)</a:t>
            </a:r>
            <a:br/>
            <a:br/>
            <a:r>
              <a:t>Ogni entità è un nodo, ogni verbo è una relazione direzionale.</a:t>
            </a:r>
          </a:p>
        </p:txBody>
      </p:sp>
      <p:sp>
        <p:nvSpPr>
          <p:cNvPr id="6" name="Rectangle 5"/>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114800"/>
            <a:ext cx="10515600" cy="411480"/>
          </a:xfrm>
          <a:prstGeom prst="rect">
            <a:avLst/>
          </a:prstGeom>
          <a:noFill/>
        </p:spPr>
        <p:txBody>
          <a:bodyPr wrap="square">
            <a:spAutoFit/>
          </a:bodyPr>
          <a:lstStyle/>
          <a:p>
            <a:pPr algn="l">
              <a:defRPr sz="2000" b="1">
                <a:solidFill>
                  <a:srgbClr val="F08040"/>
                </a:solidFill>
                <a:latin typeface="Calibri"/>
              </a:defRPr>
            </a:pPr>
            <a:r>
              <a:t>Esempi reali di dati connessi</a:t>
            </a:r>
          </a:p>
        </p:txBody>
      </p:sp>
      <p:sp>
        <p:nvSpPr>
          <p:cNvPr id="8" name="TextBox 7"/>
          <p:cNvSpPr txBox="1"/>
          <p:nvPr/>
        </p:nvSpPr>
        <p:spPr>
          <a:xfrm>
            <a:off x="731520" y="4663440"/>
            <a:ext cx="10515600" cy="1371600"/>
          </a:xfrm>
          <a:prstGeom prst="rect">
            <a:avLst/>
          </a:prstGeom>
          <a:noFill/>
        </p:spPr>
        <p:txBody>
          <a:bodyPr wrap="square">
            <a:spAutoFit/>
          </a:bodyPr>
          <a:lstStyle/>
          <a:p>
            <a:pPr algn="l">
              <a:spcAft>
                <a:spcPts val="300"/>
              </a:spcAft>
              <a:defRPr sz="1300">
                <a:solidFill>
                  <a:srgbClr val="FFFFFF"/>
                </a:solidFill>
                <a:latin typeface="Calibri"/>
              </a:defRPr>
            </a:pPr>
            <a:r>
              <a:t>•  Social network: persone, amicizie, like, condivisioni</a:t>
            </a:r>
          </a:p>
          <a:p>
            <a:pPr algn="l">
              <a:spcAft>
                <a:spcPts val="300"/>
              </a:spcAft>
              <a:defRPr sz="1300">
                <a:solidFill>
                  <a:srgbClr val="FFFFFF"/>
                </a:solidFill>
                <a:latin typeface="Calibri"/>
              </a:defRPr>
            </a:pPr>
            <a:r>
              <a:t>•  Organigramma aziendale: impiegati, team, manager, riporti</a:t>
            </a:r>
          </a:p>
          <a:p>
            <a:pPr algn="l">
              <a:spcAft>
                <a:spcPts val="300"/>
              </a:spcAft>
              <a:defRPr sz="1300">
                <a:solidFill>
                  <a:srgbClr val="FFFFFF"/>
                </a:solidFill>
                <a:latin typeface="Calibri"/>
              </a:defRPr>
            </a:pPr>
            <a:r>
              <a:t>•  Raccomandazioni: prodotti, acquisti, preferenze simili</a:t>
            </a:r>
          </a:p>
          <a:p>
            <a:pPr algn="l">
              <a:spcAft>
                <a:spcPts val="300"/>
              </a:spcAft>
              <a:defRPr sz="1300">
                <a:solidFill>
                  <a:srgbClr val="FFFFFF"/>
                </a:solidFill>
                <a:latin typeface="Calibri"/>
              </a:defRPr>
            </a:pPr>
            <a:r>
              <a:t>•  Frode finanziaria: transazioni, conti, dispositivi, IP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Il problema: JOIN nei DB relazionali</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Nei database relazionali, le relazioni tra entità sono calcolate al momento della query via JOIN.</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Ogni JOIN confronta una tabella con un’altra usando un indice</a:t>
            </a:r>
          </a:p>
          <a:p>
            <a:pPr algn="l">
              <a:spcAft>
                <a:spcPts val="700"/>
              </a:spcAft>
              <a:defRPr sz="1300">
                <a:solidFill>
                  <a:srgbClr val="FFFFFF"/>
                </a:solidFill>
                <a:latin typeface="Calibri"/>
              </a:defRPr>
            </a:pPr>
            <a:r>
              <a:t>•  Per navigare profondità 3 (amico dell’amico dell’amico) servono 3 JOIN</a:t>
            </a:r>
          </a:p>
          <a:p>
            <a:pPr algn="l">
              <a:spcAft>
                <a:spcPts val="700"/>
              </a:spcAft>
              <a:defRPr sz="1300">
                <a:solidFill>
                  <a:srgbClr val="FFFFFF"/>
                </a:solidFill>
                <a:latin typeface="Calibri"/>
              </a:defRPr>
            </a:pPr>
            <a:r>
              <a:t>•  Il costo cresce esponenzialmente con la profondità</a:t>
            </a:r>
          </a:p>
          <a:p>
            <a:pPr algn="l">
              <a:spcAft>
                <a:spcPts val="700"/>
              </a:spcAft>
              <a:defRPr sz="1300">
                <a:solidFill>
                  <a:srgbClr val="FFFFFF"/>
                </a:solidFill>
                <a:latin typeface="Calibri"/>
              </a:defRPr>
            </a:pPr>
            <a:r>
              <a:t>•  Esempio: "trova fornitori di prodotti acquistati da clienti in Roma"</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SQL: 4 JOIN per una query semplice</a:t>
            </a:r>
            <a:br/>
            <a:br/>
            <a:r>
              <a:t>SELECT c.nome, p.nome, f.nome</a:t>
            </a:r>
            <a:br/>
            <a:r>
              <a:t>FROM clienti c</a:t>
            </a:r>
            <a:br/>
            <a:r>
              <a:t>JOIN ordini o ON c.id=o.cliente_id</a:t>
            </a:r>
            <a:br/>
            <a:r>
              <a:t>JOIN ordine_dettagli d ON o.id=d.ordine_id</a:t>
            </a:r>
            <a:br/>
            <a:r>
              <a:t>JOIN prodotti p ON d.prodotto_id=p.id</a:t>
            </a:r>
            <a:br/>
            <a:r>
              <a:t>JOIN fornitori f ON p.fornitore_id=f.id</a:t>
            </a:r>
            <a:br/>
            <a:r>
              <a:t>WHERE c.citta = 'Roma';</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Confronto performance (1M nodi, 10M relazioni):</a:t>
            </a:r>
          </a:p>
        </p:txBody>
      </p:sp>
      <p:sp>
        <p:nvSpPr>
          <p:cNvPr id="8" name="TextBox 7"/>
          <p:cNvSpPr txBox="1"/>
          <p:nvPr/>
        </p:nvSpPr>
        <p:spPr>
          <a:xfrm>
            <a:off x="731520" y="4663440"/>
            <a:ext cx="5029200" cy="914400"/>
          </a:xfrm>
          <a:prstGeom prst="rect">
            <a:avLst/>
          </a:prstGeom>
          <a:noFill/>
        </p:spPr>
        <p:txBody>
          <a:bodyPr wrap="square">
            <a:spAutoFit/>
          </a:bodyPr>
          <a:lstStyle/>
          <a:p>
            <a:pPr algn="l">
              <a:defRPr sz="1300" b="0">
                <a:solidFill>
                  <a:srgbClr val="FFFFFF"/>
                </a:solidFill>
                <a:latin typeface="Consolas"/>
              </a:defRPr>
            </a:pPr>
            <a:r>
              <a:t>Relazionale (PostgreSQL) per 4° grado:</a:t>
            </a:r>
            <a:br/>
            <a:r>
              <a:t>  ~28 secondi</a:t>
            </a:r>
            <a:br/>
            <a:br/>
            <a:r>
              <a:t>Grafo (Neo4j) per 4° grado:</a:t>
            </a:r>
            <a:br/>
            <a:r>
              <a:t>  ~2 millisecondi  (14.000× più veloce)</a:t>
            </a:r>
          </a:p>
        </p:txBody>
      </p:sp>
      <p:sp>
        <p:nvSpPr>
          <p:cNvPr id="9" name="TextBox 8"/>
          <p:cNvSpPr txBox="1"/>
          <p:nvPr/>
        </p:nvSpPr>
        <p:spPr>
          <a:xfrm>
            <a:off x="5669280" y="4663440"/>
            <a:ext cx="4846320" cy="914400"/>
          </a:xfrm>
          <a:prstGeom prst="rect">
            <a:avLst/>
          </a:prstGeom>
          <a:noFill/>
        </p:spPr>
        <p:txBody>
          <a:bodyPr wrap="square">
            <a:spAutoFit/>
          </a:bodyPr>
          <a:lstStyle/>
          <a:p>
            <a:pPr algn="l">
              <a:defRPr sz="1200" b="0">
                <a:solidFill>
                  <a:srgbClr val="CCCCCC"/>
                </a:solidFill>
                <a:latin typeface="Calibri"/>
              </a:defRPr>
            </a:pPr>
            <a:r>
              <a:t>Motivo: nel grafo le relazioni sono puntatori diretti,</a:t>
            </a:r>
            <a:br/>
            <a:r>
              <a:t>non serve calcolarle. Si traversa il grafo in O(1) per hop.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Index-Free Adjacency</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Neo4j memorizza ogni nodo con i puntatori diretti ai nodi vicini. Non serve un indice globale per trovare le connessioni.</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DB relazionale: usa un indice per trovare le FK, poi JOIN, poi ripete</a:t>
            </a:r>
          </a:p>
          <a:p>
            <a:pPr algn="l">
              <a:spcAft>
                <a:spcPts val="700"/>
              </a:spcAft>
              <a:defRPr sz="1300">
                <a:solidFill>
                  <a:srgbClr val="FFFFFF"/>
                </a:solidFill>
                <a:latin typeface="Calibri"/>
              </a:defRPr>
            </a:pPr>
            <a:r>
              <a:t>•  Neo4j: il nodo Alice ha già il puntatore fisico al nodo Bob</a:t>
            </a:r>
          </a:p>
          <a:p>
            <a:pPr algn="l">
              <a:spcAft>
                <a:spcPts val="700"/>
              </a:spcAft>
              <a:defRPr sz="1300">
                <a:solidFill>
                  <a:srgbClr val="FFFFFF"/>
                </a:solidFill>
                <a:latin typeface="Calibri"/>
              </a:defRPr>
            </a:pPr>
            <a:r>
              <a:t>•  Risultato: il tempo di traversal NON dipende dalla dimensione del grafo</a:t>
            </a:r>
          </a:p>
          <a:p>
            <a:pPr algn="l">
              <a:spcAft>
                <a:spcPts val="700"/>
              </a:spcAft>
              <a:defRPr sz="1300">
                <a:solidFill>
                  <a:srgbClr val="FFFFFF"/>
                </a:solidFill>
                <a:latin typeface="Calibri"/>
              </a:defRPr>
            </a:pPr>
            <a:r>
              <a:t>•  Scala a miliardi di nodi mantenendo performance costanti</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DB Relazionale:</a:t>
            </a:r>
            <a:br/>
            <a:r>
              <a:t>  Clienti └── FK──➤ Indice ──➤ Ordini └── FK──➤ Indice ──➤ Prodotti</a:t>
            </a:r>
            <a:br/>
            <a:r>
              <a:t>  Ogni passo cerca in un indice separato</a:t>
            </a:r>
            <a:br/>
            <a:br/>
            <a:r>
              <a:t>Neo4j:</a:t>
            </a:r>
            <a:br/>
            <a:r>
              <a:t>  (:Person {name:'Alice'})</a:t>
            </a:r>
            <a:br/>
            <a:r>
              <a:t>     │</a:t>
            </a:r>
            <a:br/>
            <a:r>
              <a:t>     │ HAS_SKILL (puntatore diretto)</a:t>
            </a:r>
            <a:br/>
            <a:r>
              <a:t>     └──➤ (:Skill {name:'Python'})</a:t>
            </a:r>
            <a:br/>
            <a:r>
              <a:t>  Alice conosce già Python — nessuna lookup</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C040"/>
                </a:solidFill>
                <a:latin typeface="Calibri"/>
              </a:defRPr>
            </a:pPr>
            <a:r>
              <a:t>Analogia:</a:t>
            </a:r>
          </a:p>
        </p:txBody>
      </p:sp>
      <p:sp>
        <p:nvSpPr>
          <p:cNvPr id="8" name="TextBox 7"/>
          <p:cNvSpPr txBox="1"/>
          <p:nvPr/>
        </p:nvSpPr>
        <p:spPr>
          <a:xfrm>
            <a:off x="731520" y="4663440"/>
            <a:ext cx="10515600" cy="1097280"/>
          </a:xfrm>
          <a:prstGeom prst="rect">
            <a:avLst/>
          </a:prstGeom>
          <a:noFill/>
        </p:spPr>
        <p:txBody>
          <a:bodyPr wrap="square">
            <a:spAutoFit/>
          </a:bodyPr>
          <a:lstStyle/>
          <a:p>
            <a:pPr algn="l">
              <a:defRPr sz="1200" b="0">
                <a:solidFill>
                  <a:srgbClr val="CCCCCC"/>
                </a:solidFill>
                <a:latin typeface="Calibri"/>
              </a:defRPr>
            </a:pPr>
            <a:r>
              <a:t>DB relazionale = rubrica telefonica: cerchi un nome, trovi il numero.</a:t>
            </a:r>
            <a:br/>
            <a:r>
              <a:t>Per trovare gli amici degli amici devi cercare nella rubrica di ogni persona.</a:t>
            </a:r>
            <a:br/>
            <a:br/>
            <a:r>
              <a:t>Grafo = ogni persona ha la propria rubrica in tasca: chiedi direttamente ad Alice chi conosce.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Nodi e Labels</a:t>
            </a:r>
          </a:p>
        </p:txBody>
      </p:sp>
      <p:sp>
        <p:nvSpPr>
          <p:cNvPr id="3" name="TextBox 2"/>
          <p:cNvSpPr txBox="1"/>
          <p:nvPr/>
        </p:nvSpPr>
        <p:spPr>
          <a:xfrm>
            <a:off x="731520" y="1051560"/>
            <a:ext cx="3840480" cy="411480"/>
          </a:xfrm>
          <a:prstGeom prst="rect">
            <a:avLst/>
          </a:prstGeom>
          <a:noFill/>
        </p:spPr>
        <p:txBody>
          <a:bodyPr wrap="square">
            <a:spAutoFit/>
          </a:bodyPr>
          <a:lstStyle/>
          <a:p>
            <a:pPr algn="l">
              <a:defRPr sz="1800" b="1">
                <a:solidFill>
                  <a:srgbClr val="F08040"/>
                </a:solidFill>
                <a:latin typeface="Calibri"/>
              </a:defRPr>
            </a:pPr>
            <a:r>
              <a:t>Nodi (Vertici)</a:t>
            </a:r>
          </a:p>
        </p:txBody>
      </p:sp>
      <p:sp>
        <p:nvSpPr>
          <p:cNvPr id="4" name="TextBox 3"/>
          <p:cNvSpPr txBox="1"/>
          <p:nvPr/>
        </p:nvSpPr>
        <p:spPr>
          <a:xfrm>
            <a:off x="73152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Rappresentano entità del mondo reale</a:t>
            </a:r>
          </a:p>
          <a:p>
            <a:pPr algn="l">
              <a:spcAft>
                <a:spcPts val="300"/>
              </a:spcAft>
              <a:defRPr sz="1300">
                <a:solidFill>
                  <a:srgbClr val="FFFFFF"/>
                </a:solidFill>
                <a:latin typeface="Calibri"/>
              </a:defRPr>
            </a:pPr>
            <a:r>
              <a:t>•  Possono avere 0, 1 o più LABELS</a:t>
            </a:r>
          </a:p>
          <a:p>
            <a:pPr algn="l">
              <a:spcAft>
                <a:spcPts val="300"/>
              </a:spcAft>
              <a:defRPr sz="1300">
                <a:solidFill>
                  <a:srgbClr val="FFFFFF"/>
                </a:solidFill>
                <a:latin typeface="Calibri"/>
              </a:defRPr>
            </a:pPr>
            <a:r>
              <a:t>•  Labels: categoria/tipo del nodo (:Person, :Project, :Skill)</a:t>
            </a:r>
          </a:p>
          <a:p>
            <a:pPr algn="l">
              <a:spcAft>
                <a:spcPts val="300"/>
              </a:spcAft>
              <a:defRPr sz="1300">
                <a:solidFill>
                  <a:srgbClr val="FFFFFF"/>
                </a:solidFill>
                <a:latin typeface="Calibri"/>
              </a:defRPr>
            </a:pPr>
            <a:r>
              <a:t>•  Un nodo con più labels: (:Person:Employee:Manager)</a:t>
            </a:r>
          </a:p>
          <a:p>
            <a:pPr algn="l">
              <a:spcAft>
                <a:spcPts val="300"/>
              </a:spcAft>
              <a:defRPr sz="1300">
                <a:solidFill>
                  <a:srgbClr val="FFFFFF"/>
                </a:solidFill>
                <a:latin typeface="Calibri"/>
              </a:defRPr>
            </a:pPr>
            <a:r>
              <a:t>•  Proprietà: coppie chiave-valore su ogni nodo</a:t>
            </a:r>
          </a:p>
        </p:txBody>
      </p:sp>
      <p:sp>
        <p:nvSpPr>
          <p:cNvPr id="5" name="TextBox 4"/>
          <p:cNvSpPr txBox="1"/>
          <p:nvPr/>
        </p:nvSpPr>
        <p:spPr>
          <a:xfrm>
            <a:off x="4754880" y="1051560"/>
            <a:ext cx="3840480" cy="411480"/>
          </a:xfrm>
          <a:prstGeom prst="rect">
            <a:avLst/>
          </a:prstGeom>
          <a:noFill/>
        </p:spPr>
        <p:txBody>
          <a:bodyPr wrap="square">
            <a:spAutoFit/>
          </a:bodyPr>
          <a:lstStyle/>
          <a:p>
            <a:pPr algn="l">
              <a:defRPr sz="1800" b="1">
                <a:solidFill>
                  <a:srgbClr val="F08040"/>
                </a:solidFill>
                <a:latin typeface="Calibri"/>
              </a:defRPr>
            </a:pPr>
            <a:r>
              <a:t>Labels come tabelle flessibili</a:t>
            </a:r>
          </a:p>
        </p:txBody>
      </p:sp>
      <p:sp>
        <p:nvSpPr>
          <p:cNvPr id="6" name="TextBox 5"/>
          <p:cNvSpPr txBox="1"/>
          <p:nvPr/>
        </p:nvSpPr>
        <p:spPr>
          <a:xfrm>
            <a:off x="475488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Nel DB relazionale: tabella Person con colonne fisse</a:t>
            </a:r>
          </a:p>
          <a:p>
            <a:pPr algn="l">
              <a:spcAft>
                <a:spcPts val="300"/>
              </a:spcAft>
              <a:defRPr sz="1300">
                <a:solidFill>
                  <a:srgbClr val="FFFFFF"/>
                </a:solidFill>
                <a:latin typeface="Calibri"/>
              </a:defRPr>
            </a:pPr>
            <a:r>
              <a:t>•  In Neo4j: ogni nodo (:Person) ha le PROPRIE proprietà</a:t>
            </a:r>
          </a:p>
          <a:p>
            <a:pPr algn="l">
              <a:spcAft>
                <a:spcPts val="300"/>
              </a:spcAft>
              <a:defRPr sz="1300">
                <a:solidFill>
                  <a:srgbClr val="FFFFFF"/>
                </a:solidFill>
                <a:latin typeface="Calibri"/>
              </a:defRPr>
            </a:pPr>
            <a:r>
              <a:t>•  Labels sostituiscono i nomi di tabella nel MATCH</a:t>
            </a:r>
          </a:p>
          <a:p>
            <a:pPr algn="l">
              <a:spcAft>
                <a:spcPts val="300"/>
              </a:spcAft>
              <a:defRPr sz="1300">
                <a:solidFill>
                  <a:srgbClr val="FFFFFF"/>
                </a:solidFill>
                <a:latin typeface="Calibri"/>
              </a:defRPr>
            </a:pPr>
            <a:r>
              <a:t>•  MATCH (p:Person) = “tutti i nodi con label Person”</a:t>
            </a:r>
          </a:p>
          <a:p>
            <a:pPr algn="l">
              <a:spcAft>
                <a:spcPts val="300"/>
              </a:spcAft>
              <a:defRPr sz="1300">
                <a:solidFill>
                  <a:srgbClr val="FFFFFF"/>
                </a:solidFill>
                <a:latin typeface="Calibri"/>
              </a:defRPr>
            </a:pPr>
            <a:r>
              <a:t>•  Vincoli e indici si applicano PER LABEL</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C040"/>
                </a:solidFill>
                <a:latin typeface="Calibri"/>
              </a:defRPr>
            </a:pPr>
            <a:r>
              <a:t>Esempio: nodi del nostro dataset Org Graph</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100">
                <a:solidFill>
                  <a:srgbClr val="7EC68E"/>
                </a:solidFill>
                <a:latin typeface="Consolas"/>
              </a:defRPr>
            </a:pPr>
            <a:r>
              <a:t>(:Person {employee_id: 1,</a:t>
            </a:r>
          </a:p>
          <a:p>
            <a:pPr>
              <a:spcAft>
                <a:spcPts val="100"/>
              </a:spcAft>
              <a:defRPr sz="1100">
                <a:solidFill>
                  <a:srgbClr val="7EC68E"/>
                </a:solidFill>
                <a:latin typeface="Consolas"/>
              </a:defRPr>
            </a:pPr>
            <a:r>
              <a:t>         name: "Mario Rossi",</a:t>
            </a:r>
          </a:p>
          <a:p>
            <a:pPr>
              <a:spcAft>
                <a:spcPts val="100"/>
              </a:spcAft>
              <a:defRPr sz="1100">
                <a:solidFill>
                  <a:srgbClr val="7EC68E"/>
                </a:solidFill>
                <a:latin typeface="Consolas"/>
              </a:defRPr>
            </a:pPr>
            <a:r>
              <a:t>         location: "Roma",</a:t>
            </a:r>
          </a:p>
          <a:p>
            <a:pPr>
              <a:spcAft>
                <a:spcPts val="100"/>
              </a:spcAft>
              <a:defRPr sz="1100">
                <a:solidFill>
                  <a:srgbClr val="7EC68E"/>
                </a:solidFill>
                <a:latin typeface="Consolas"/>
              </a:defRPr>
            </a:pPr>
            <a:r>
              <a:t>         title: "Senior Consultant",</a:t>
            </a:r>
          </a:p>
          <a:p>
            <a:pPr>
              <a:spcAft>
                <a:spcPts val="100"/>
              </a:spcAft>
              <a:defRPr sz="1100">
                <a:solidFill>
                  <a:srgbClr val="7EC68E"/>
                </a:solidFill>
                <a:latin typeface="Consolas"/>
              </a:defRPr>
            </a:pPr>
            <a:r>
              <a:t>         department: "Digital"})</a:t>
            </a:r>
          </a:p>
        </p:txBody>
      </p:sp>
      <p:sp>
        <p:nvSpPr>
          <p:cNvPr id="11" name="Rectangle 10"/>
          <p:cNvSpPr/>
          <p:nvPr/>
        </p:nvSpPr>
        <p:spPr>
          <a:xfrm>
            <a:off x="609600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05728" y="4370832"/>
            <a:ext cx="4626864" cy="1499616"/>
          </a:xfrm>
          <a:prstGeom prst="rect">
            <a:avLst/>
          </a:prstGeom>
          <a:noFill/>
        </p:spPr>
        <p:txBody>
          <a:bodyPr wrap="square">
            <a:spAutoFit/>
          </a:bodyPr>
          <a:lstStyle/>
          <a:p>
            <a:pPr>
              <a:spcAft>
                <a:spcPts val="100"/>
              </a:spcAft>
              <a:defRPr sz="1100">
                <a:solidFill>
                  <a:srgbClr val="7EC68E"/>
                </a:solidFill>
                <a:latin typeface="Consolas"/>
              </a:defRPr>
            </a:pPr>
            <a:r>
              <a:t>(:Skill {name: "Python"})</a:t>
            </a:r>
          </a:p>
          <a:p>
            <a:pPr>
              <a:spcAft>
                <a:spcPts val="100"/>
              </a:spcAft>
              <a:defRPr sz="1100">
                <a:solidFill>
                  <a:srgbClr val="7EC68E"/>
                </a:solidFill>
                <a:latin typeface="Consolas"/>
              </a:defRPr>
            </a:pPr>
            <a:endParaRPr/>
          </a:p>
          <a:p>
            <a:pPr>
              <a:spcAft>
                <a:spcPts val="100"/>
              </a:spcAft>
              <a:defRPr sz="1100">
                <a:solidFill>
                  <a:srgbClr val="7EC68E"/>
                </a:solidFill>
                <a:latin typeface="Consolas"/>
              </a:defRPr>
            </a:pPr>
            <a:r>
              <a:t>(:Project {project_id: 10,</a:t>
            </a:r>
          </a:p>
          <a:p>
            <a:pPr>
              <a:spcAft>
                <a:spcPts val="100"/>
              </a:spcAft>
              <a:defRPr sz="1100">
                <a:solidFill>
                  <a:srgbClr val="7EC68E"/>
                </a:solidFill>
                <a:latin typeface="Consolas"/>
              </a:defRPr>
            </a:pPr>
            <a:r>
              <a:t>          name: "AI Platform"})</a:t>
            </a:r>
          </a:p>
          <a:p>
            <a:pPr>
              <a:spcAft>
                <a:spcPts val="100"/>
              </a:spcAft>
              <a:defRPr sz="1100">
                <a:solidFill>
                  <a:srgbClr val="7EC68E"/>
                </a:solidFill>
                <a:latin typeface="Consolas"/>
              </a:defRPr>
            </a:pPr>
            <a:endParaRPr/>
          </a:p>
          <a:p>
            <a:pPr>
              <a:spcAft>
                <a:spcPts val="100"/>
              </a:spcAft>
              <a:defRPr sz="1100">
                <a:solidFill>
                  <a:srgbClr val="7EC68E"/>
                </a:solidFill>
                <a:latin typeface="Consolas"/>
              </a:defRPr>
            </a:pPr>
            <a:r>
              <a:t>(:Supervisor {supervisor_id: 200,</a:t>
            </a:r>
          </a:p>
          <a:p>
            <a:pPr>
              <a:spcAft>
                <a:spcPts val="100"/>
              </a:spcAft>
              <a:defRPr sz="1100">
                <a:solidFill>
                  <a:srgbClr val="7EC68E"/>
                </a:solidFill>
                <a:latin typeface="Consolas"/>
              </a:defRPr>
            </a:pPr>
            <a:r>
              <a:t>             name: "Anna Bianchi"})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Relazioni</a:t>
            </a:r>
          </a:p>
        </p:txBody>
      </p:sp>
      <p:sp>
        <p:nvSpPr>
          <p:cNvPr id="3" name="TextBox 2"/>
          <p:cNvSpPr txBox="1"/>
          <p:nvPr/>
        </p:nvSpPr>
        <p:spPr>
          <a:xfrm>
            <a:off x="731520" y="1051560"/>
            <a:ext cx="5029200" cy="411480"/>
          </a:xfrm>
          <a:prstGeom prst="rect">
            <a:avLst/>
          </a:prstGeom>
          <a:noFill/>
        </p:spPr>
        <p:txBody>
          <a:bodyPr wrap="square">
            <a:spAutoFit/>
          </a:bodyPr>
          <a:lstStyle/>
          <a:p>
            <a:pPr algn="l">
              <a:defRPr sz="1800" b="1">
                <a:solidFill>
                  <a:srgbClr val="F08040"/>
                </a:solidFill>
                <a:latin typeface="Calibri"/>
              </a:defRPr>
            </a:pPr>
            <a:r>
              <a:t>Relazioni (Edge)</a:t>
            </a:r>
          </a:p>
        </p:txBody>
      </p:sp>
      <p:sp>
        <p:nvSpPr>
          <p:cNvPr id="4" name="TextBox 3"/>
          <p:cNvSpPr txBox="1"/>
          <p:nvPr/>
        </p:nvSpPr>
        <p:spPr>
          <a:xfrm>
            <a:off x="731520" y="1508760"/>
            <a:ext cx="5029200" cy="1463040"/>
          </a:xfrm>
          <a:prstGeom prst="rect">
            <a:avLst/>
          </a:prstGeom>
          <a:noFill/>
        </p:spPr>
        <p:txBody>
          <a:bodyPr wrap="square">
            <a:spAutoFit/>
          </a:bodyPr>
          <a:lstStyle/>
          <a:p>
            <a:pPr algn="l">
              <a:spcAft>
                <a:spcPts val="300"/>
              </a:spcAft>
              <a:defRPr sz="1300">
                <a:solidFill>
                  <a:srgbClr val="FFFFFF"/>
                </a:solidFill>
                <a:latin typeface="Calibri"/>
              </a:defRPr>
            </a:pPr>
            <a:r>
              <a:t>•  Collegano sempre DUE nodi: start node → end node</a:t>
            </a:r>
          </a:p>
          <a:p>
            <a:pPr algn="l">
              <a:spcAft>
                <a:spcPts val="300"/>
              </a:spcAft>
              <a:defRPr sz="1300">
                <a:solidFill>
                  <a:srgbClr val="FFFFFF"/>
                </a:solidFill>
                <a:latin typeface="Calibri"/>
              </a:defRPr>
            </a:pPr>
            <a:r>
              <a:t>•  Hanno un TIPO (es: HAS_SKILL, WORKED_ON, REPORTS_TO)</a:t>
            </a:r>
          </a:p>
          <a:p>
            <a:pPr algn="l">
              <a:spcAft>
                <a:spcPts val="300"/>
              </a:spcAft>
              <a:defRPr sz="1300">
                <a:solidFill>
                  <a:srgbClr val="FFFFFF"/>
                </a:solidFill>
                <a:latin typeface="Calibri"/>
              </a:defRPr>
            </a:pPr>
            <a:r>
              <a:t>•  Sono direzionali ma si possono traversare in entrambi i sensi</a:t>
            </a:r>
          </a:p>
          <a:p>
            <a:pPr algn="l">
              <a:spcAft>
                <a:spcPts val="300"/>
              </a:spcAft>
              <a:defRPr sz="1300">
                <a:solidFill>
                  <a:srgbClr val="FFFFFF"/>
                </a:solidFill>
                <a:latin typeface="Calibri"/>
              </a:defRPr>
            </a:pPr>
            <a:r>
              <a:t>•  Possono avere proprietà (es: proficiency su HAS_SKILL)</a:t>
            </a:r>
          </a:p>
          <a:p>
            <a:pPr algn="l">
              <a:spcAft>
                <a:spcPts val="300"/>
              </a:spcAft>
              <a:defRPr sz="1300">
                <a:solidFill>
                  <a:srgbClr val="FFFFFF"/>
                </a:solidFill>
                <a:latin typeface="Calibri"/>
              </a:defRPr>
            </a:pPr>
            <a:r>
              <a:t>•  A differenza delle FK, sono memorizzate fisicamente</a:t>
            </a:r>
          </a:p>
        </p:txBody>
      </p:sp>
      <p:sp>
        <p:nvSpPr>
          <p:cNvPr id="5" name="TextBox 4"/>
          <p:cNvSpPr txBox="1"/>
          <p:nvPr/>
        </p:nvSpPr>
        <p:spPr>
          <a:xfrm>
            <a:off x="5669280" y="1051560"/>
            <a:ext cx="4846320" cy="411480"/>
          </a:xfrm>
          <a:prstGeom prst="rect">
            <a:avLst/>
          </a:prstGeom>
          <a:noFill/>
        </p:spPr>
        <p:txBody>
          <a:bodyPr wrap="square">
            <a:spAutoFit/>
          </a:bodyPr>
          <a:lstStyle/>
          <a:p>
            <a:pPr algn="l">
              <a:defRPr sz="1800" b="1">
                <a:solidFill>
                  <a:srgbClr val="F08040"/>
                </a:solidFill>
                <a:latin typeface="Calibri"/>
              </a:defRPr>
            </a:pPr>
            <a:r>
              <a:t>Notazione Cypher</a:t>
            </a:r>
          </a:p>
        </p:txBody>
      </p:sp>
      <p:sp>
        <p:nvSpPr>
          <p:cNvPr id="6" name="TextBox 5"/>
          <p:cNvSpPr txBox="1"/>
          <p:nvPr/>
        </p:nvSpPr>
        <p:spPr>
          <a:xfrm>
            <a:off x="5669280" y="1508760"/>
            <a:ext cx="4846320" cy="1463040"/>
          </a:xfrm>
          <a:prstGeom prst="rect">
            <a:avLst/>
          </a:prstGeom>
          <a:noFill/>
        </p:spPr>
        <p:txBody>
          <a:bodyPr wrap="square">
            <a:spAutoFit/>
          </a:bodyPr>
          <a:lstStyle/>
          <a:p>
            <a:pPr algn="l">
              <a:defRPr sz="1100" b="0">
                <a:solidFill>
                  <a:srgbClr val="7EC68E"/>
                </a:solidFill>
                <a:latin typeface="Consolas"/>
              </a:defRPr>
            </a:pPr>
            <a:r>
              <a:t>(:Person)                    // nodo</a:t>
            </a:r>
            <a:br/>
            <a:r>
              <a:t>  |</a:t>
            </a:r>
            <a:br/>
            <a:r>
              <a:t>  [:HAS_SKILL {proficiency: 5}] // relazione</a:t>
            </a:r>
            <a:br/>
            <a:r>
              <a:t>  └─▶ (:Skill {name: "Python"}) // nodo destinazione</a:t>
            </a:r>
            <a:br/>
            <a:br/>
            <a:r>
              <a:t>Ogni freccia è un record fisico</a:t>
            </a:r>
            <a:br/>
            <a:r>
              <a:t>nel database: O(1) per traversarla.</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C040"/>
                </a:solidFill>
                <a:latin typeface="Calibri"/>
              </a:defRPr>
            </a:pPr>
            <a:r>
              <a:t>Relazioni del progetto Org Graph:</a:t>
            </a:r>
          </a:p>
        </p:txBody>
      </p:sp>
      <p:sp>
        <p:nvSpPr>
          <p:cNvPr id="9" name="TextBox 8"/>
          <p:cNvSpPr txBox="1"/>
          <p:nvPr/>
        </p:nvSpPr>
        <p:spPr>
          <a:xfrm>
            <a:off x="731520" y="3931920"/>
            <a:ext cx="5029200" cy="2062103"/>
          </a:xfrm>
          <a:prstGeom prst="rect">
            <a:avLst/>
          </a:prstGeom>
          <a:noFill/>
        </p:spPr>
        <p:txBody>
          <a:bodyPr wrap="square">
            <a:spAutoFit/>
          </a:bodyPr>
          <a:lstStyle/>
          <a:p>
            <a:pPr algn="l">
              <a:spcAft>
                <a:spcPts val="300"/>
              </a:spcAft>
              <a:defRPr sz="1200">
                <a:solidFill>
                  <a:srgbClr val="FFFFFF"/>
                </a:solidFill>
                <a:latin typeface="Calibri"/>
              </a:defRPr>
            </a:pPr>
            <a:r>
              <a:rPr dirty="0"/>
              <a:t>•  (</a:t>
            </a:r>
            <a:r>
              <a:rPr dirty="0" err="1"/>
              <a:t>p:Person</a:t>
            </a:r>
            <a:r>
              <a:rPr dirty="0"/>
              <a:t>)-[:HAS_SKILL {proficiency: 5}]-&gt;(</a:t>
            </a:r>
            <a:r>
              <a:rPr dirty="0" err="1"/>
              <a:t>s:Skill</a:t>
            </a:r>
            <a:r>
              <a:rPr dirty="0"/>
              <a:t>)</a:t>
            </a:r>
          </a:p>
          <a:p>
            <a:pPr algn="l">
              <a:spcAft>
                <a:spcPts val="300"/>
              </a:spcAft>
              <a:defRPr sz="1200">
                <a:solidFill>
                  <a:srgbClr val="FFFFFF"/>
                </a:solidFill>
                <a:latin typeface="Calibri"/>
              </a:defRPr>
            </a:pPr>
            <a:r>
              <a:rPr dirty="0"/>
              <a:t>  — Mario ha Python con </a:t>
            </a:r>
            <a:r>
              <a:rPr dirty="0" err="1"/>
              <a:t>livello</a:t>
            </a:r>
            <a:r>
              <a:rPr dirty="0"/>
              <a:t> 5</a:t>
            </a:r>
            <a:endParaRPr lang="en-US" dirty="0"/>
          </a:p>
          <a:p>
            <a:pPr algn="l">
              <a:spcAft>
                <a:spcPts val="300"/>
              </a:spcAft>
              <a:defRPr sz="1200">
                <a:solidFill>
                  <a:srgbClr val="FFFFFF"/>
                </a:solidFill>
                <a:latin typeface="Calibri"/>
              </a:defRPr>
            </a:pPr>
            <a:endParaRPr dirty="0"/>
          </a:p>
          <a:p>
            <a:pPr algn="l">
              <a:spcAft>
                <a:spcPts val="300"/>
              </a:spcAft>
              <a:defRPr sz="1200">
                <a:solidFill>
                  <a:srgbClr val="FFFFFF"/>
                </a:solidFill>
                <a:latin typeface="Calibri"/>
              </a:defRPr>
            </a:pPr>
            <a:r>
              <a:rPr dirty="0"/>
              <a:t>•  (</a:t>
            </a:r>
            <a:r>
              <a:rPr dirty="0" err="1"/>
              <a:t>p:Person</a:t>
            </a:r>
            <a:r>
              <a:rPr dirty="0"/>
              <a:t>)-[:WORKED_ON {role: 'Developer'}]-&gt;(</a:t>
            </a:r>
            <a:r>
              <a:rPr dirty="0" err="1"/>
              <a:t>proj:Project</a:t>
            </a:r>
            <a:r>
              <a:rPr dirty="0"/>
              <a:t>)</a:t>
            </a:r>
          </a:p>
          <a:p>
            <a:pPr algn="l">
              <a:spcAft>
                <a:spcPts val="300"/>
              </a:spcAft>
              <a:defRPr sz="1200">
                <a:solidFill>
                  <a:srgbClr val="FFFFFF"/>
                </a:solidFill>
                <a:latin typeface="Calibri"/>
              </a:defRPr>
            </a:pPr>
            <a:r>
              <a:rPr dirty="0"/>
              <a:t>  — Mario ha </a:t>
            </a:r>
            <a:r>
              <a:rPr dirty="0" err="1"/>
              <a:t>lavorato</a:t>
            </a:r>
            <a:r>
              <a:rPr dirty="0"/>
              <a:t> al </a:t>
            </a:r>
            <a:r>
              <a:rPr dirty="0" err="1"/>
              <a:t>progetto</a:t>
            </a:r>
            <a:r>
              <a:rPr dirty="0"/>
              <a:t> AI Platform</a:t>
            </a:r>
            <a:endParaRPr lang="en-US" dirty="0"/>
          </a:p>
          <a:p>
            <a:pPr algn="l">
              <a:spcAft>
                <a:spcPts val="300"/>
              </a:spcAft>
              <a:defRPr sz="1200">
                <a:solidFill>
                  <a:srgbClr val="FFFFFF"/>
                </a:solidFill>
                <a:latin typeface="Calibri"/>
              </a:defRPr>
            </a:pPr>
            <a:endParaRPr dirty="0"/>
          </a:p>
          <a:p>
            <a:pPr algn="l">
              <a:spcAft>
                <a:spcPts val="300"/>
              </a:spcAft>
              <a:defRPr sz="1200">
                <a:solidFill>
                  <a:srgbClr val="FFFFFF"/>
                </a:solidFill>
                <a:latin typeface="Calibri"/>
              </a:defRPr>
            </a:pPr>
            <a:r>
              <a:rPr dirty="0"/>
              <a:t>•  (</a:t>
            </a:r>
            <a:r>
              <a:rPr dirty="0" err="1"/>
              <a:t>p:Person</a:t>
            </a:r>
            <a:r>
              <a:rPr dirty="0"/>
              <a:t>)-[:REPORTS_TO]-&gt;(</a:t>
            </a:r>
            <a:r>
              <a:rPr dirty="0" err="1"/>
              <a:t>sup:Supervisor</a:t>
            </a:r>
            <a:r>
              <a:rPr dirty="0"/>
              <a:t>)</a:t>
            </a:r>
          </a:p>
          <a:p>
            <a:pPr algn="l">
              <a:spcAft>
                <a:spcPts val="300"/>
              </a:spcAft>
              <a:defRPr sz="1200">
                <a:solidFill>
                  <a:srgbClr val="FFFFFF"/>
                </a:solidFill>
                <a:latin typeface="Calibri"/>
              </a:defRPr>
            </a:pPr>
            <a:r>
              <a:rPr dirty="0"/>
              <a:t>  — Mario </a:t>
            </a:r>
            <a:r>
              <a:rPr dirty="0" err="1"/>
              <a:t>riporta</a:t>
            </a:r>
            <a:r>
              <a:rPr dirty="0"/>
              <a:t> ad Anna Bianchi</a:t>
            </a:r>
            <a:endParaRPr lang="en-US" dirty="0"/>
          </a:p>
          <a:p>
            <a:pPr algn="l">
              <a:spcAft>
                <a:spcPts val="300"/>
              </a:spcAft>
              <a:defRPr sz="1200">
                <a:solidFill>
                  <a:srgbClr val="FFFFFF"/>
                </a:solidFill>
                <a:latin typeface="Calibri"/>
              </a:defRPr>
            </a:pPr>
            <a:endParaRPr dirty="0"/>
          </a:p>
        </p:txBody>
      </p:sp>
      <p:sp>
        <p:nvSpPr>
          <p:cNvPr id="10" name="TextBox 9"/>
          <p:cNvSpPr txBox="1"/>
          <p:nvPr/>
        </p:nvSpPr>
        <p:spPr>
          <a:xfrm>
            <a:off x="6684264" y="3931920"/>
            <a:ext cx="3831336" cy="954107"/>
          </a:xfrm>
          <a:prstGeom prst="rect">
            <a:avLst/>
          </a:prstGeom>
          <a:noFill/>
        </p:spPr>
        <p:txBody>
          <a:bodyPr wrap="square">
            <a:spAutoFit/>
          </a:bodyPr>
          <a:lstStyle/>
          <a:p>
            <a:pPr algn="l">
              <a:defRPr sz="1400" b="0">
                <a:solidFill>
                  <a:srgbClr val="CCCCCC"/>
                </a:solidFill>
                <a:latin typeface="Calibri"/>
              </a:defRPr>
            </a:pPr>
            <a:r>
              <a:rPr dirty="0"/>
              <a:t>Ogni </a:t>
            </a:r>
            <a:r>
              <a:rPr dirty="0" err="1"/>
              <a:t>relazione</a:t>
            </a:r>
            <a:r>
              <a:rPr dirty="0"/>
              <a:t> è </a:t>
            </a:r>
            <a:r>
              <a:rPr dirty="0" err="1"/>
              <a:t>univoca</a:t>
            </a:r>
            <a:r>
              <a:rPr dirty="0"/>
              <a:t> </a:t>
            </a:r>
            <a:r>
              <a:rPr dirty="0" err="1"/>
              <a:t>nel</a:t>
            </a:r>
            <a:r>
              <a:rPr dirty="0"/>
              <a:t> </a:t>
            </a:r>
            <a:r>
              <a:rPr dirty="0" err="1"/>
              <a:t>suo</a:t>
            </a:r>
            <a:r>
              <a:rPr dirty="0"/>
              <a:t> </a:t>
            </a:r>
            <a:r>
              <a:rPr dirty="0" err="1"/>
              <a:t>significato</a:t>
            </a:r>
            <a:r>
              <a:rPr dirty="0"/>
              <a:t>:</a:t>
            </a:r>
            <a:br>
              <a:rPr dirty="0"/>
            </a:br>
            <a:r>
              <a:rPr dirty="0"/>
              <a:t>HAS_SKILL = </a:t>
            </a:r>
            <a:r>
              <a:rPr dirty="0" err="1"/>
              <a:t>competenza</a:t>
            </a:r>
            <a:r>
              <a:rPr dirty="0"/>
              <a:t>,</a:t>
            </a:r>
            <a:endParaRPr lang="en-US" dirty="0"/>
          </a:p>
          <a:p>
            <a:pPr algn="l">
              <a:defRPr sz="1400" b="0">
                <a:solidFill>
                  <a:srgbClr val="CCCCCC"/>
                </a:solidFill>
                <a:latin typeface="Calibri"/>
              </a:defRPr>
            </a:pPr>
            <a:r>
              <a:rPr dirty="0"/>
              <a:t>WORKED_ON = </a:t>
            </a:r>
            <a:r>
              <a:rPr dirty="0" err="1"/>
              <a:t>esperienza</a:t>
            </a:r>
            <a:r>
              <a:rPr dirty="0"/>
              <a:t> </a:t>
            </a:r>
            <a:endParaRPr lang="en-US" dirty="0"/>
          </a:p>
          <a:p>
            <a:pPr algn="l">
              <a:defRPr sz="1400" b="0">
                <a:solidFill>
                  <a:srgbClr val="CCCCCC"/>
                </a:solidFill>
                <a:latin typeface="Calibri"/>
              </a:defRPr>
            </a:pPr>
            <a:r>
              <a:rPr dirty="0"/>
              <a:t>REPORTS_TO = </a:t>
            </a:r>
            <a:r>
              <a:rPr dirty="0" err="1"/>
              <a:t>gerarchia</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051560"/>
            <a:ext cx="5364480" cy="1897955"/>
          </a:xfrm>
          <a:prstGeom prst="rect">
            <a:avLst/>
          </a:prstGeom>
          <a:noFill/>
        </p:spPr>
        <p:txBody>
          <a:bodyPr wrap="square">
            <a:spAutoFit/>
          </a:bodyPr>
          <a:lstStyle/>
          <a:p>
            <a:pPr algn="l">
              <a:spcAft>
                <a:spcPts val="800"/>
              </a:spcAft>
              <a:defRPr sz="1400">
                <a:solidFill>
                  <a:srgbClr val="FFFFFF"/>
                </a:solidFill>
                <a:latin typeface="Calibri"/>
              </a:defRPr>
            </a:pPr>
            <a:r>
              <a:rPr dirty="0"/>
              <a:t>•  Native graph storage — </a:t>
            </a:r>
            <a:r>
              <a:rPr dirty="0" err="1"/>
              <a:t>architettura</a:t>
            </a:r>
            <a:r>
              <a:rPr dirty="0"/>
              <a:t> </a:t>
            </a:r>
            <a:r>
              <a:rPr dirty="0" err="1"/>
              <a:t>ottimizzata</a:t>
            </a:r>
            <a:r>
              <a:rPr dirty="0"/>
              <a:t> per </a:t>
            </a:r>
            <a:r>
              <a:rPr dirty="0" err="1"/>
              <a:t>grafi</a:t>
            </a:r>
            <a:r>
              <a:rPr dirty="0"/>
              <a:t> dal kernel</a:t>
            </a:r>
          </a:p>
          <a:p>
            <a:pPr algn="l">
              <a:spcAft>
                <a:spcPts val="800"/>
              </a:spcAft>
              <a:defRPr sz="1400">
                <a:solidFill>
                  <a:srgbClr val="FFFFFF"/>
                </a:solidFill>
                <a:latin typeface="Calibri"/>
              </a:defRPr>
            </a:pPr>
            <a:r>
              <a:rPr dirty="0"/>
              <a:t>•  Index-free adjacency — traversal senza lookup, O(1) per hop</a:t>
            </a:r>
          </a:p>
          <a:p>
            <a:pPr algn="l">
              <a:spcAft>
                <a:spcPts val="800"/>
              </a:spcAft>
              <a:defRPr sz="1400">
                <a:solidFill>
                  <a:srgbClr val="FFFFFF"/>
                </a:solidFill>
                <a:latin typeface="Calibri"/>
              </a:defRPr>
            </a:pPr>
            <a:r>
              <a:rPr dirty="0"/>
              <a:t>•  ACID compliant — </a:t>
            </a:r>
            <a:r>
              <a:rPr dirty="0" err="1"/>
              <a:t>transazioni</a:t>
            </a:r>
            <a:r>
              <a:rPr dirty="0"/>
              <a:t> complete (commit/rollback)</a:t>
            </a:r>
          </a:p>
          <a:p>
            <a:pPr algn="l">
              <a:spcAft>
                <a:spcPts val="800"/>
              </a:spcAft>
              <a:defRPr sz="1400">
                <a:solidFill>
                  <a:srgbClr val="FFFFFF"/>
                </a:solidFill>
                <a:latin typeface="Calibri"/>
              </a:defRPr>
            </a:pPr>
            <a:r>
              <a:rPr dirty="0"/>
              <a:t>•  Cypher: </a:t>
            </a:r>
            <a:r>
              <a:rPr dirty="0" err="1"/>
              <a:t>linguaggio</a:t>
            </a:r>
            <a:r>
              <a:rPr dirty="0"/>
              <a:t> </a:t>
            </a:r>
            <a:r>
              <a:rPr dirty="0" err="1"/>
              <a:t>dichiarativo</a:t>
            </a:r>
            <a:r>
              <a:rPr dirty="0"/>
              <a:t> pattern-based, standard ISO (GQL)</a:t>
            </a:r>
          </a:p>
          <a:p>
            <a:pPr algn="l">
              <a:spcAft>
                <a:spcPts val="800"/>
              </a:spcAft>
              <a:defRPr sz="1400">
                <a:solidFill>
                  <a:srgbClr val="FFFFFF"/>
                </a:solidFill>
                <a:latin typeface="Calibri"/>
              </a:defRPr>
            </a:pPr>
            <a:r>
              <a:rPr dirty="0"/>
              <a:t>•  Cypher è </a:t>
            </a:r>
            <a:r>
              <a:rPr dirty="0" err="1"/>
              <a:t>leggibile</a:t>
            </a:r>
            <a:r>
              <a:rPr dirty="0"/>
              <a:t>: MATCH (a)-[:LOVES]-&gt;(b) → “a ama b”</a:t>
            </a:r>
          </a:p>
          <a:p>
            <a:pPr algn="l">
              <a:spcAft>
                <a:spcPts val="800"/>
              </a:spcAft>
              <a:defRPr sz="1400">
                <a:solidFill>
                  <a:srgbClr val="FFFFFF"/>
                </a:solidFill>
                <a:latin typeface="Calibri"/>
              </a:defRPr>
            </a:pPr>
            <a:r>
              <a:rPr dirty="0"/>
              <a:t>•  Open source (Community) + Enterprise (clustering, backup, SSO)</a:t>
            </a:r>
          </a:p>
        </p:txBody>
      </p:sp>
      <p:sp>
        <p:nvSpPr>
          <p:cNvPr id="4" name="TextBox 3"/>
          <p:cNvSpPr txBox="1"/>
          <p:nvPr/>
        </p:nvSpPr>
        <p:spPr>
          <a:xfrm>
            <a:off x="6443472" y="1051560"/>
            <a:ext cx="4419600" cy="2462213"/>
          </a:xfrm>
          <a:prstGeom prst="rect">
            <a:avLst/>
          </a:prstGeom>
          <a:noFill/>
        </p:spPr>
        <p:txBody>
          <a:bodyPr wrap="square">
            <a:spAutoFit/>
          </a:bodyPr>
          <a:lstStyle/>
          <a:p>
            <a:pPr algn="l">
              <a:defRPr sz="1100" b="0">
                <a:solidFill>
                  <a:srgbClr val="7EC68E"/>
                </a:solidFill>
                <a:latin typeface="Consolas"/>
              </a:defRPr>
            </a:pPr>
            <a:r>
              <a:rPr dirty="0"/>
              <a:t>DB </a:t>
            </a:r>
            <a:r>
              <a:rPr dirty="0" err="1"/>
              <a:t>relazionale</a:t>
            </a:r>
            <a:r>
              <a:rPr dirty="0"/>
              <a:t>:</a:t>
            </a:r>
            <a:br>
              <a:rPr dirty="0"/>
            </a:br>
            <a:r>
              <a:rPr dirty="0"/>
              <a:t>  SELECT * FROM </a:t>
            </a:r>
            <a:r>
              <a:rPr dirty="0" err="1"/>
              <a:t>persone</a:t>
            </a:r>
            <a:r>
              <a:rPr dirty="0"/>
              <a:t> p</a:t>
            </a:r>
            <a:br>
              <a:rPr dirty="0"/>
            </a:br>
            <a:r>
              <a:rPr dirty="0"/>
              <a:t>  JOIN skill s ON p.id = </a:t>
            </a:r>
            <a:r>
              <a:rPr dirty="0" err="1"/>
              <a:t>s.persona_id</a:t>
            </a:r>
            <a:br>
              <a:rPr dirty="0"/>
            </a:br>
            <a:r>
              <a:rPr dirty="0"/>
              <a:t>  WHERE </a:t>
            </a:r>
            <a:r>
              <a:rPr dirty="0" err="1"/>
              <a:t>p.nome</a:t>
            </a:r>
            <a:r>
              <a:rPr dirty="0"/>
              <a:t> = 'Mario'</a:t>
            </a:r>
            <a:br>
              <a:rPr dirty="0"/>
            </a:br>
            <a:r>
              <a:rPr dirty="0"/>
              <a:t>  -- JOIN = </a:t>
            </a:r>
            <a:r>
              <a:rPr dirty="0" err="1"/>
              <a:t>calcolato</a:t>
            </a:r>
            <a:r>
              <a:rPr dirty="0"/>
              <a:t> al </a:t>
            </a:r>
            <a:r>
              <a:rPr dirty="0" err="1"/>
              <a:t>volo</a:t>
            </a:r>
            <a:br>
              <a:rPr dirty="0"/>
            </a:br>
            <a:br>
              <a:rPr dirty="0"/>
            </a:br>
            <a:r>
              <a:rPr dirty="0"/>
              <a:t>Neo4j:</a:t>
            </a:r>
            <a:br>
              <a:rPr dirty="0"/>
            </a:br>
            <a:r>
              <a:rPr dirty="0"/>
              <a:t>  MATCH (</a:t>
            </a:r>
            <a:r>
              <a:rPr dirty="0" err="1"/>
              <a:t>p:Person</a:t>
            </a:r>
            <a:r>
              <a:rPr dirty="0"/>
              <a:t> {name: 'Mario'})</a:t>
            </a:r>
            <a:br>
              <a:rPr dirty="0"/>
            </a:br>
            <a:r>
              <a:rPr dirty="0"/>
              <a:t>        -[:HAS_SKILL]-&gt;(</a:t>
            </a:r>
            <a:r>
              <a:rPr dirty="0" err="1"/>
              <a:t>s:Skill</a:t>
            </a:r>
            <a:r>
              <a:rPr dirty="0"/>
              <a:t>)</a:t>
            </a:r>
            <a:br>
              <a:rPr dirty="0"/>
            </a:br>
            <a:r>
              <a:rPr dirty="0"/>
              <a:t>  RETURN p.name, s.name</a:t>
            </a:r>
            <a:br>
              <a:rPr dirty="0"/>
            </a:br>
            <a:r>
              <a:rPr dirty="0"/>
              <a:t>  -- </a:t>
            </a:r>
            <a:r>
              <a:rPr dirty="0" err="1"/>
              <a:t>relazione</a:t>
            </a:r>
            <a:r>
              <a:rPr dirty="0"/>
              <a:t> = </a:t>
            </a:r>
            <a:r>
              <a:rPr dirty="0" err="1"/>
              <a:t>puntatore</a:t>
            </a:r>
            <a:r>
              <a:rPr dirty="0"/>
              <a:t> </a:t>
            </a:r>
            <a:r>
              <a:rPr dirty="0" err="1"/>
              <a:t>diretto</a:t>
            </a:r>
            <a:br>
              <a:rPr dirty="0"/>
            </a:br>
            <a:br>
              <a:rPr dirty="0"/>
            </a:br>
            <a:r>
              <a:rPr dirty="0" err="1"/>
              <a:t>Vantaggio</a:t>
            </a:r>
            <a:r>
              <a:rPr dirty="0"/>
              <a:t>: il </a:t>
            </a:r>
            <a:r>
              <a:rPr dirty="0" err="1"/>
              <a:t>codice</a:t>
            </a:r>
            <a:r>
              <a:rPr dirty="0"/>
              <a:t> </a:t>
            </a:r>
            <a:r>
              <a:rPr dirty="0" err="1"/>
              <a:t>riflette</a:t>
            </a:r>
            <a:br>
              <a:rPr dirty="0"/>
            </a:br>
            <a:r>
              <a:rPr dirty="0"/>
              <a:t>il </a:t>
            </a:r>
            <a:r>
              <a:rPr dirty="0" err="1"/>
              <a:t>modello</a:t>
            </a:r>
            <a:r>
              <a:rPr dirty="0"/>
              <a:t> </a:t>
            </a:r>
            <a:r>
              <a:rPr dirty="0" err="1"/>
              <a:t>mentale</a:t>
            </a:r>
            <a:r>
              <a:rPr dirty="0"/>
              <a:t> </a:t>
            </a:r>
            <a:r>
              <a:rPr dirty="0" err="1"/>
              <a:t>dei</a:t>
            </a:r>
            <a:r>
              <a:rPr dirty="0"/>
              <a:t> </a:t>
            </a:r>
            <a:r>
              <a:rPr dirty="0" err="1"/>
              <a:t>dati</a:t>
            </a:r>
            <a:r>
              <a:rPr dirty="0"/>
              <a:t>.</a:t>
            </a:r>
          </a:p>
        </p:txBody>
      </p:sp>
      <p:sp>
        <p:nvSpPr>
          <p:cNvPr id="5" name="Rectangle 4"/>
          <p:cNvSpPr/>
          <p:nvPr/>
        </p:nvSpPr>
        <p:spPr>
          <a:xfrm>
            <a:off x="731520" y="4846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5029200"/>
            <a:ext cx="10515600" cy="365760"/>
          </a:xfrm>
          <a:prstGeom prst="rect">
            <a:avLst/>
          </a:prstGeom>
          <a:noFill/>
        </p:spPr>
        <p:txBody>
          <a:bodyPr wrap="square">
            <a:spAutoFit/>
          </a:bodyPr>
          <a:lstStyle/>
          <a:p>
            <a:pPr algn="l">
              <a:defRPr sz="1300" b="0">
                <a:solidFill>
                  <a:srgbClr val="F0C040"/>
                </a:solidFill>
                <a:latin typeface="Calibri"/>
              </a:defRPr>
            </a:pPr>
            <a:r>
              <a:t>Casi d’uso ideali: grafi della conoscenza, raccomandazioni, frodi, gerarchie, reti sociali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051560"/>
            <a:ext cx="5029200" cy="3046988"/>
          </a:xfrm>
          <a:prstGeom prst="rect">
            <a:avLst/>
          </a:prstGeom>
          <a:noFill/>
        </p:spPr>
        <p:txBody>
          <a:bodyPr wrap="square">
            <a:spAutoFit/>
          </a:bodyPr>
          <a:lstStyle/>
          <a:p>
            <a:pPr algn="l">
              <a:spcAft>
                <a:spcPts val="0"/>
              </a:spcAft>
              <a:defRPr sz="1200">
                <a:solidFill>
                  <a:srgbClr val="FFFFFF"/>
                </a:solidFill>
                <a:latin typeface="Calibri"/>
              </a:defRPr>
            </a:pPr>
            <a:r>
              <a:rPr dirty="0"/>
              <a:t>•  Neo4j Browser — </a:t>
            </a:r>
            <a:r>
              <a:rPr dirty="0" err="1"/>
              <a:t>interfaccia</a:t>
            </a:r>
            <a:r>
              <a:rPr dirty="0"/>
              <a:t> web per </a:t>
            </a:r>
            <a:r>
              <a:rPr dirty="0" err="1"/>
              <a:t>eseguire</a:t>
            </a:r>
            <a:r>
              <a:rPr dirty="0"/>
              <a:t> Cypher</a:t>
            </a:r>
          </a:p>
          <a:p>
            <a:pPr algn="l">
              <a:spcAft>
                <a:spcPts val="0"/>
              </a:spcAft>
              <a:defRPr sz="1200">
                <a:solidFill>
                  <a:srgbClr val="FFFFFF"/>
                </a:solidFill>
                <a:latin typeface="Calibri"/>
              </a:defRPr>
            </a:pPr>
            <a:r>
              <a:rPr dirty="0"/>
              <a:t>  http://localhost:7474 o workspace.neo4j.io</a:t>
            </a:r>
          </a:p>
          <a:p>
            <a:pPr algn="l">
              <a:spcAft>
                <a:spcPts val="0"/>
              </a:spcAft>
              <a:defRPr sz="1200">
                <a:solidFill>
                  <a:srgbClr val="FFFFFF"/>
                </a:solidFill>
                <a:latin typeface="Calibri"/>
              </a:defRPr>
            </a:pPr>
            <a:r>
              <a:rPr dirty="0"/>
              <a:t>  Editor con syntax highlighting, </a:t>
            </a:r>
            <a:r>
              <a:rPr dirty="0" err="1"/>
              <a:t>visualizzazione</a:t>
            </a:r>
            <a:r>
              <a:rPr dirty="0"/>
              <a:t> </a:t>
            </a:r>
            <a:r>
              <a:rPr dirty="0" err="1"/>
              <a:t>grafica</a:t>
            </a:r>
            <a:endParaRPr dirty="0"/>
          </a:p>
          <a:p>
            <a:pPr algn="l">
              <a:spcAft>
                <a:spcPts val="0"/>
              </a:spcAft>
              <a:defRPr sz="1200">
                <a:solidFill>
                  <a:srgbClr val="FFFFFF"/>
                </a:solidFill>
                <a:latin typeface="Calibri"/>
              </a:defRPr>
            </a:pPr>
            <a:r>
              <a:rPr dirty="0"/>
              <a:t>  :play movie-graph per tutorial </a:t>
            </a:r>
            <a:r>
              <a:rPr dirty="0" err="1"/>
              <a:t>interattivo</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  Neo4j </a:t>
            </a:r>
            <a:r>
              <a:rPr dirty="0" err="1"/>
              <a:t>AuraDB</a:t>
            </a:r>
            <a:r>
              <a:rPr dirty="0"/>
              <a:t> — database cloud managed</a:t>
            </a:r>
          </a:p>
          <a:p>
            <a:pPr algn="l">
              <a:spcAft>
                <a:spcPts val="0"/>
              </a:spcAft>
              <a:defRPr sz="1200">
                <a:solidFill>
                  <a:srgbClr val="FFFFFF"/>
                </a:solidFill>
                <a:latin typeface="Calibri"/>
              </a:defRPr>
            </a:pPr>
            <a:r>
              <a:rPr dirty="0"/>
              <a:t>  Free Tier: 200k nodi, 500k </a:t>
            </a:r>
            <a:r>
              <a:rPr dirty="0" err="1"/>
              <a:t>relazioni</a:t>
            </a:r>
            <a:endParaRPr dirty="0"/>
          </a:p>
          <a:p>
            <a:pPr algn="l">
              <a:spcAft>
                <a:spcPts val="0"/>
              </a:spcAft>
              <a:defRPr sz="1200">
                <a:solidFill>
                  <a:srgbClr val="FFFFFF"/>
                </a:solidFill>
                <a:latin typeface="Calibri"/>
              </a:defRPr>
            </a:pPr>
            <a:r>
              <a:rPr dirty="0"/>
              <a:t>  Zero </a:t>
            </a:r>
            <a:r>
              <a:rPr dirty="0" err="1"/>
              <a:t>configurazione</a:t>
            </a:r>
            <a:r>
              <a:rPr dirty="0"/>
              <a:t>, backup </a:t>
            </a:r>
            <a:r>
              <a:rPr dirty="0" err="1"/>
              <a:t>automatici</a:t>
            </a:r>
            <a:r>
              <a:rPr dirty="0"/>
              <a:t>, scaling</a:t>
            </a:r>
          </a:p>
          <a:p>
            <a:pPr algn="l">
              <a:spcAft>
                <a:spcPts val="0"/>
              </a:spcAft>
              <a:defRPr sz="1200">
                <a:solidFill>
                  <a:srgbClr val="FFFFFF"/>
                </a:solidFill>
                <a:latin typeface="Calibri"/>
              </a:defRPr>
            </a:pPr>
            <a:r>
              <a:rPr dirty="0"/>
              <a:t>  </a:t>
            </a:r>
            <a:r>
              <a:rPr dirty="0" err="1"/>
              <a:t>Usiamo</a:t>
            </a:r>
            <a:r>
              <a:rPr dirty="0"/>
              <a:t> </a:t>
            </a:r>
            <a:r>
              <a:rPr dirty="0" err="1"/>
              <a:t>AuraDB</a:t>
            </a:r>
            <a:r>
              <a:rPr dirty="0"/>
              <a:t> per </a:t>
            </a:r>
            <a:r>
              <a:rPr dirty="0" err="1"/>
              <a:t>questo</a:t>
            </a:r>
            <a:r>
              <a:rPr dirty="0"/>
              <a:t> </a:t>
            </a:r>
            <a:r>
              <a:rPr dirty="0" err="1"/>
              <a:t>corso</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  Neo4j Bloom — </a:t>
            </a:r>
            <a:r>
              <a:rPr dirty="0" err="1"/>
              <a:t>visualizzazione</a:t>
            </a:r>
            <a:r>
              <a:rPr dirty="0"/>
              <a:t> senza </a:t>
            </a:r>
            <a:r>
              <a:rPr dirty="0" err="1"/>
              <a:t>scrivere</a:t>
            </a:r>
            <a:r>
              <a:rPr dirty="0"/>
              <a:t> Cypher</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  Neo4j Desktop — </a:t>
            </a:r>
            <a:r>
              <a:rPr dirty="0" err="1"/>
              <a:t>ambiente</a:t>
            </a:r>
            <a:r>
              <a:rPr dirty="0"/>
              <a:t> di </a:t>
            </a:r>
            <a:r>
              <a:rPr dirty="0" err="1"/>
              <a:t>sviluppo</a:t>
            </a:r>
            <a:r>
              <a:rPr dirty="0"/>
              <a:t> locale</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  Drivers </a:t>
            </a:r>
            <a:r>
              <a:rPr dirty="0" err="1"/>
              <a:t>ufficiali</a:t>
            </a:r>
            <a:r>
              <a:rPr dirty="0"/>
              <a:t>: Python, Java, JS, Go, .NET</a:t>
            </a:r>
            <a:endParaRPr lang="en-US" dirty="0"/>
          </a:p>
          <a:p>
            <a:pPr algn="l">
              <a:spcAft>
                <a:spcPts val="0"/>
              </a:spcAft>
              <a:defRPr sz="1200">
                <a:solidFill>
                  <a:srgbClr val="FFFFFF"/>
                </a:solidFill>
                <a:latin typeface="Calibri"/>
              </a:defRPr>
            </a:pPr>
            <a:endParaRPr dirty="0"/>
          </a:p>
        </p:txBody>
      </p:sp>
      <p:sp>
        <p:nvSpPr>
          <p:cNvPr id="4" name="TextBox 3"/>
          <p:cNvSpPr txBox="1"/>
          <p:nvPr/>
        </p:nvSpPr>
        <p:spPr>
          <a:xfrm>
            <a:off x="5669280" y="1051560"/>
            <a:ext cx="4846320" cy="5029200"/>
          </a:xfrm>
          <a:prstGeom prst="rect">
            <a:avLst/>
          </a:prstGeom>
          <a:noFill/>
        </p:spPr>
        <p:txBody>
          <a:bodyPr wrap="square">
            <a:spAutoFit/>
          </a:bodyPr>
          <a:lstStyle/>
          <a:p>
            <a:pPr algn="l">
              <a:defRPr sz="1200" b="0">
                <a:solidFill>
                  <a:srgbClr val="CCCCCC"/>
                </a:solidFill>
                <a:latin typeface="Calibri"/>
              </a:defRPr>
            </a:pPr>
            <a:r>
              <a:rPr dirty="0" err="1"/>
              <a:t>Architettura</a:t>
            </a:r>
            <a:r>
              <a:rPr dirty="0"/>
              <a:t>:</a:t>
            </a:r>
            <a:br>
              <a:rPr dirty="0"/>
            </a:br>
            <a:br>
              <a:rPr dirty="0"/>
            </a:br>
            <a:r>
              <a:rPr dirty="0"/>
              <a:t>  [</a:t>
            </a:r>
            <a:r>
              <a:rPr dirty="0" err="1"/>
              <a:t>Applicazione</a:t>
            </a:r>
            <a:r>
              <a:rPr dirty="0"/>
              <a:t>]</a:t>
            </a:r>
            <a:br>
              <a:rPr dirty="0"/>
            </a:br>
            <a:r>
              <a:rPr dirty="0"/>
              <a:t>       │</a:t>
            </a:r>
            <a:br>
              <a:rPr dirty="0"/>
            </a:br>
            <a:r>
              <a:rPr dirty="0"/>
              <a:t>  [Driver (Python/JS/Java...)]</a:t>
            </a:r>
            <a:br>
              <a:rPr dirty="0"/>
            </a:br>
            <a:r>
              <a:rPr dirty="0"/>
              <a:t>       │ Bolt Protocol</a:t>
            </a:r>
            <a:br>
              <a:rPr dirty="0"/>
            </a:br>
            <a:r>
              <a:rPr dirty="0"/>
              <a:t>  [Neo4j Database Engine]</a:t>
            </a:r>
            <a:br>
              <a:rPr dirty="0"/>
            </a:br>
            <a:r>
              <a:rPr dirty="0"/>
              <a:t>       │</a:t>
            </a:r>
            <a:br>
              <a:rPr dirty="0"/>
            </a:br>
            <a:r>
              <a:rPr dirty="0"/>
              <a:t>  [Cypher Query Engine]</a:t>
            </a:r>
            <a:br>
              <a:rPr dirty="0"/>
            </a:br>
            <a:r>
              <a:rPr dirty="0"/>
              <a:t>       │</a:t>
            </a:r>
            <a:br>
              <a:rPr dirty="0"/>
            </a:br>
            <a:r>
              <a:rPr dirty="0"/>
              <a:t>  [Native Graph Storage]</a:t>
            </a:r>
            <a:br>
              <a:rPr dirty="0"/>
            </a:br>
            <a:r>
              <a:rPr dirty="0"/>
              <a:t>       │</a:t>
            </a:r>
            <a:br>
              <a:rPr dirty="0"/>
            </a:br>
            <a:r>
              <a:rPr dirty="0"/>
              <a:t>  [File System / Cloud]</a:t>
            </a:r>
            <a:br>
              <a:rPr dirty="0"/>
            </a:br>
            <a:br>
              <a:rPr dirty="0"/>
            </a:br>
            <a:r>
              <a:rPr dirty="0"/>
              <a:t>Browser, Bloom e Workspace </a:t>
            </a:r>
            <a:r>
              <a:rPr dirty="0" err="1"/>
              <a:t>sono</a:t>
            </a:r>
            <a:br>
              <a:rPr dirty="0"/>
            </a:br>
            <a:r>
              <a:rPr dirty="0"/>
              <a:t>UI </a:t>
            </a:r>
            <a:r>
              <a:rPr dirty="0" err="1"/>
              <a:t>che</a:t>
            </a:r>
            <a:r>
              <a:rPr dirty="0"/>
              <a:t> </a:t>
            </a:r>
            <a:r>
              <a:rPr dirty="0" err="1"/>
              <a:t>parlano</a:t>
            </a:r>
            <a:r>
              <a:rPr dirty="0"/>
              <a:t> al database via Bolt.</a:t>
            </a:r>
            <a:br>
              <a:rPr dirty="0"/>
            </a:br>
            <a:br>
              <a:rPr dirty="0"/>
            </a:br>
            <a:r>
              <a:rPr dirty="0"/>
              <a:t>Noi </a:t>
            </a:r>
            <a:r>
              <a:rPr dirty="0" err="1"/>
              <a:t>useremo</a:t>
            </a:r>
            <a:r>
              <a:rPr dirty="0"/>
              <a:t>:</a:t>
            </a:r>
            <a:br>
              <a:rPr dirty="0"/>
            </a:br>
            <a:r>
              <a:rPr dirty="0"/>
              <a:t>  • Python Driver (</a:t>
            </a:r>
            <a:r>
              <a:rPr dirty="0" err="1"/>
              <a:t>codice</a:t>
            </a:r>
            <a:r>
              <a:rPr dirty="0"/>
              <a:t>)</a:t>
            </a:r>
            <a:br>
              <a:rPr dirty="0"/>
            </a:br>
            <a:r>
              <a:rPr dirty="0"/>
              <a:t>  • Neo4j Browser (</a:t>
            </a:r>
            <a:r>
              <a:rPr dirty="0" err="1"/>
              <a:t>esplorazione</a:t>
            </a:r>
            <a:r>
              <a:rPr dirty="0"/>
              <a:t>)</a:t>
            </a:r>
            <a:br>
              <a:rPr dirty="0"/>
            </a:br>
            <a:r>
              <a:rPr dirty="0"/>
              <a:t>  • </a:t>
            </a:r>
            <a:r>
              <a:rPr dirty="0" err="1"/>
              <a:t>AuraDB</a:t>
            </a:r>
            <a:r>
              <a:rPr dirty="0"/>
              <a:t> (cloud)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Il driver ufficiale neo4j (v6+) gestisce pool di connessioni thread-safe.</a:t>
            </a:r>
          </a:p>
        </p:txBody>
      </p:sp>
      <p:sp>
        <p:nvSpPr>
          <p:cNvPr id="4" name="TextBox 3"/>
          <p:cNvSpPr txBox="1"/>
          <p:nvPr/>
        </p:nvSpPr>
        <p:spPr>
          <a:xfrm>
            <a:off x="731520" y="1463040"/>
            <a:ext cx="5029200" cy="1371600"/>
          </a:xfrm>
          <a:prstGeom prst="rect">
            <a:avLst/>
          </a:prstGeom>
          <a:noFill/>
        </p:spPr>
        <p:txBody>
          <a:bodyPr wrap="square">
            <a:spAutoFit/>
          </a:bodyPr>
          <a:lstStyle/>
          <a:p>
            <a:pPr algn="l">
              <a:spcAft>
                <a:spcPts val="300"/>
              </a:spcAft>
              <a:defRPr sz="1300">
                <a:solidFill>
                  <a:srgbClr val="FFFFFF"/>
                </a:solidFill>
                <a:latin typeface="Calibri"/>
              </a:defRPr>
            </a:pPr>
            <a:r>
              <a:t>•  pip install neo4j</a:t>
            </a:r>
          </a:p>
          <a:p>
            <a:pPr algn="l">
              <a:spcAft>
                <a:spcPts val="300"/>
              </a:spcAft>
              <a:defRPr sz="1300">
                <a:solidFill>
                  <a:srgbClr val="FFFFFF"/>
                </a:solidFill>
                <a:latin typeface="Calibri"/>
              </a:defRPr>
            </a:pPr>
            <a:r>
              <a:t>•  GraphDatabase.driver(URI, auth=(user, password))</a:t>
            </a:r>
          </a:p>
          <a:p>
            <a:pPr algn="l">
              <a:spcAft>
                <a:spcPts val="300"/>
              </a:spcAft>
              <a:defRPr sz="1300">
                <a:solidFill>
                  <a:srgbClr val="FFFFFF"/>
                </a:solidFill>
                <a:latin typeface="Calibri"/>
              </a:defRPr>
            </a:pPr>
            <a:r>
              <a:t>•  verify_connectivity() testa la connessione</a:t>
            </a:r>
          </a:p>
          <a:p>
            <a:pPr algn="l">
              <a:spcAft>
                <a:spcPts val="300"/>
              </a:spcAft>
              <a:defRPr sz="1300">
                <a:solidFill>
                  <a:srgbClr val="FFFFFF"/>
                </a:solidFill>
                <a:latin typeface="Calibri"/>
              </a:defRPr>
            </a:pPr>
            <a:r>
              <a:t>•  execute_query() metodo rapido (v6+)</a:t>
            </a:r>
          </a:p>
          <a:p>
            <a:pPr algn="l">
              <a:spcAft>
                <a:spcPts val="300"/>
              </a:spcAft>
              <a:defRPr sz="1300">
                <a:solidFill>
                  <a:srgbClr val="FFFFFF"/>
                </a:solidFill>
                <a:latin typeface="Calibri"/>
              </a:defRPr>
            </a:pPr>
            <a:r>
              <a:t>•  Chiudere con driver.close() o context manager</a:t>
            </a:r>
          </a:p>
        </p:txBody>
      </p:sp>
      <p:sp>
        <p:nvSpPr>
          <p:cNvPr id="5" name="Rectangle 4"/>
          <p:cNvSpPr/>
          <p:nvPr/>
        </p:nvSpPr>
        <p:spPr>
          <a:xfrm>
            <a:off x="5669280" y="146304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79008" y="1536192"/>
            <a:ext cx="4626864" cy="1499616"/>
          </a:xfrm>
          <a:prstGeom prst="rect">
            <a:avLst/>
          </a:prstGeom>
          <a:noFill/>
        </p:spPr>
        <p:txBody>
          <a:bodyPr wrap="square">
            <a:spAutoFit/>
          </a:bodyPr>
          <a:lstStyle/>
          <a:p>
            <a:pPr>
              <a:spcAft>
                <a:spcPts val="100"/>
              </a:spcAft>
              <a:defRPr sz="1000">
                <a:solidFill>
                  <a:srgbClr val="7EC68E"/>
                </a:solidFill>
                <a:latin typeface="Consolas"/>
              </a:defRPr>
            </a:pPr>
            <a:r>
              <a:t>from neo4j import GraphDatabase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URI  = "neo4j+s://&lt;id&gt;.databases.neo4j.io:7687"</a:t>
            </a:r>
          </a:p>
          <a:p>
            <a:pPr>
              <a:spcAft>
                <a:spcPts val="100"/>
              </a:spcAft>
              <a:defRPr sz="1000">
                <a:solidFill>
                  <a:srgbClr val="7EC68E"/>
                </a:solidFill>
                <a:latin typeface="Consolas"/>
              </a:defRPr>
            </a:pPr>
            <a:r>
              <a:t>USER = "neo4j"</a:t>
            </a:r>
          </a:p>
          <a:p>
            <a:pPr>
              <a:spcAft>
                <a:spcPts val="100"/>
              </a:spcAft>
              <a:defRPr sz="1000">
                <a:solidFill>
                  <a:srgbClr val="7EC68E"/>
                </a:solidFill>
                <a:latin typeface="Consolas"/>
              </a:defRPr>
            </a:pPr>
            <a:r>
              <a:t>PASS = "&lt;password&gt;"</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driver = GraphDatabase.driver(</a:t>
            </a:r>
          </a:p>
          <a:p>
            <a:pPr>
              <a:spcAft>
                <a:spcPts val="100"/>
              </a:spcAft>
              <a:defRPr sz="1000">
                <a:solidFill>
                  <a:srgbClr val="7EC68E"/>
                </a:solidFill>
                <a:latin typeface="Consolas"/>
              </a:defRPr>
            </a:pPr>
            <a:r>
              <a:t>    URI, auth=(USER, PASS))</a:t>
            </a:r>
          </a:p>
          <a:p>
            <a:pPr>
              <a:spcAft>
                <a:spcPts val="100"/>
              </a:spcAft>
              <a:defRPr sz="1000">
                <a:solidFill>
                  <a:srgbClr val="7EC68E"/>
                </a:solidFill>
                <a:latin typeface="Consolas"/>
              </a:defRPr>
            </a:pPr>
            <a:r>
              <a:t>driver.verify_connectivity()</a:t>
            </a:r>
          </a:p>
        </p:txBody>
      </p:sp>
      <p:sp>
        <p:nvSpPr>
          <p:cNvPr id="7" name="Rectangle 6"/>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8040"/>
                </a:solidFill>
                <a:latin typeface="Calibri"/>
              </a:defRPr>
            </a:pPr>
            <a:r>
              <a:t>Metodi principali del driver</a:t>
            </a:r>
          </a:p>
        </p:txBody>
      </p:sp>
      <p:sp>
        <p:nvSpPr>
          <p:cNvPr id="9" name="TextBox 8"/>
          <p:cNvSpPr txBox="1"/>
          <p:nvPr/>
        </p:nvSpPr>
        <p:spPr>
          <a:xfrm>
            <a:off x="731520" y="3886200"/>
            <a:ext cx="3657600" cy="2286000"/>
          </a:xfrm>
          <a:prstGeom prst="rect">
            <a:avLst/>
          </a:prstGeom>
          <a:noFill/>
        </p:spPr>
        <p:txBody>
          <a:bodyPr wrap="square">
            <a:spAutoFit/>
          </a:bodyPr>
          <a:lstStyle/>
          <a:p>
            <a:pPr algn="l">
              <a:defRPr sz="1100" b="0">
                <a:solidFill>
                  <a:srgbClr val="7EC68E"/>
                </a:solidFill>
                <a:latin typeface="Consolas"/>
              </a:defRPr>
            </a:pPr>
            <a:r>
              <a:t># Eseguire query e leggere risultati</a:t>
            </a:r>
            <a:br/>
            <a:r>
              <a:t>records, summary, keys = driver.execute_query(</a:t>
            </a:r>
            <a:br/>
            <a:r>
              <a:t>    "MATCH (p:Person) "</a:t>
            </a:r>
            <a:br/>
            <a:r>
              <a:t>    "RETURN p.name, p.location "</a:t>
            </a:r>
            <a:br/>
            <a:r>
              <a:t>    "LIMIT 5")</a:t>
            </a:r>
            <a:br/>
            <a:r>
              <a:t>for r in records:</a:t>
            </a:r>
            <a:br/>
            <a:r>
              <a:t>    print(r["p.name"], r["p.location"])</a:t>
            </a:r>
            <a:br/>
            <a:br/>
            <a:r>
              <a:t># Con parametri (sicuro, performante)</a:t>
            </a:r>
            <a:br/>
            <a:r>
              <a:t>driver.execute_query(</a:t>
            </a:r>
            <a:br/>
            <a:r>
              <a:t>    "MATCH (p:Person {location: $loc}) "</a:t>
            </a:r>
            <a:br/>
            <a:r>
              <a:t>    "RETURN p.name",</a:t>
            </a:r>
            <a:br/>
            <a:r>
              <a:t>    loc="Roma")</a:t>
            </a:r>
          </a:p>
        </p:txBody>
      </p:sp>
      <p:sp>
        <p:nvSpPr>
          <p:cNvPr id="10" name="TextBox 9"/>
          <p:cNvSpPr txBox="1"/>
          <p:nvPr/>
        </p:nvSpPr>
        <p:spPr>
          <a:xfrm>
            <a:off x="4114800" y="3886200"/>
            <a:ext cx="6400800" cy="1754326"/>
          </a:xfrm>
          <a:prstGeom prst="rect">
            <a:avLst/>
          </a:prstGeom>
          <a:noFill/>
        </p:spPr>
        <p:txBody>
          <a:bodyPr wrap="square">
            <a:spAutoFit/>
          </a:bodyPr>
          <a:lstStyle/>
          <a:p>
            <a:pPr algn="l">
              <a:defRPr sz="1200" b="0">
                <a:solidFill>
                  <a:srgbClr val="CCCCCC"/>
                </a:solidFill>
                <a:latin typeface="Calibri"/>
              </a:defRPr>
            </a:pPr>
            <a:r>
              <a:rPr dirty="0" err="1"/>
              <a:t>Perché</a:t>
            </a:r>
            <a:r>
              <a:rPr dirty="0"/>
              <a:t> </a:t>
            </a:r>
            <a:r>
              <a:rPr dirty="0" err="1"/>
              <a:t>i</a:t>
            </a:r>
            <a:r>
              <a:rPr dirty="0"/>
              <a:t> </a:t>
            </a:r>
            <a:r>
              <a:rPr dirty="0" err="1"/>
              <a:t>parametri</a:t>
            </a:r>
            <a:r>
              <a:rPr dirty="0"/>
              <a:t> ($loc) </a:t>
            </a:r>
            <a:r>
              <a:rPr dirty="0" err="1"/>
              <a:t>invece</a:t>
            </a:r>
            <a:r>
              <a:rPr lang="en-US" dirty="0"/>
              <a:t> </a:t>
            </a:r>
            <a:r>
              <a:rPr dirty="0"/>
              <a:t>di </a:t>
            </a:r>
            <a:r>
              <a:rPr dirty="0" err="1"/>
              <a:t>stringhe</a:t>
            </a:r>
            <a:r>
              <a:rPr dirty="0"/>
              <a:t> concatenate?</a:t>
            </a:r>
            <a:br>
              <a:rPr dirty="0"/>
            </a:br>
            <a:br>
              <a:rPr dirty="0"/>
            </a:br>
            <a:r>
              <a:rPr dirty="0"/>
              <a:t>1. </a:t>
            </a:r>
            <a:r>
              <a:rPr dirty="0" err="1"/>
              <a:t>Sicurezza</a:t>
            </a:r>
            <a:r>
              <a:rPr dirty="0"/>
              <a:t>: </a:t>
            </a:r>
            <a:r>
              <a:rPr dirty="0" err="1"/>
              <a:t>previene</a:t>
            </a:r>
            <a:r>
              <a:rPr dirty="0"/>
              <a:t> Cypher Injection</a:t>
            </a:r>
            <a:br>
              <a:rPr dirty="0"/>
            </a:br>
            <a:r>
              <a:rPr dirty="0"/>
              <a:t>2. Performance: il piano </a:t>
            </a:r>
            <a:r>
              <a:rPr dirty="0" err="1"/>
              <a:t>viene</a:t>
            </a:r>
            <a:r>
              <a:rPr dirty="0"/>
              <a:t> </a:t>
            </a:r>
            <a:r>
              <a:rPr dirty="0" err="1"/>
              <a:t>cacheato</a:t>
            </a:r>
            <a:br>
              <a:rPr dirty="0"/>
            </a:br>
            <a:r>
              <a:rPr dirty="0"/>
              <a:t>3. Type safety: il driver </a:t>
            </a:r>
            <a:r>
              <a:rPr dirty="0" err="1"/>
              <a:t>gestisce</a:t>
            </a:r>
            <a:r>
              <a:rPr dirty="0"/>
              <a:t> la </a:t>
            </a:r>
            <a:r>
              <a:rPr dirty="0" err="1"/>
              <a:t>conversione</a:t>
            </a:r>
            <a:r>
              <a:rPr dirty="0"/>
              <a:t> </a:t>
            </a:r>
            <a:r>
              <a:rPr dirty="0" err="1"/>
              <a:t>dei</a:t>
            </a:r>
            <a:r>
              <a:rPr dirty="0"/>
              <a:t> tipi </a:t>
            </a:r>
            <a:r>
              <a:rPr dirty="0" err="1"/>
              <a:t>automaticamente</a:t>
            </a:r>
            <a:br>
              <a:rPr dirty="0"/>
            </a:br>
            <a:br>
              <a:rPr dirty="0"/>
            </a:br>
            <a:r>
              <a:rPr dirty="0"/>
              <a:t>Injection </a:t>
            </a:r>
            <a:r>
              <a:rPr dirty="0" err="1"/>
              <a:t>esempio</a:t>
            </a:r>
            <a:r>
              <a:rPr dirty="0"/>
              <a:t> EVITARE:</a:t>
            </a:r>
            <a:br>
              <a:rPr dirty="0"/>
            </a:br>
            <a:r>
              <a:rPr dirty="0"/>
              <a:t>  f"... location = '{</a:t>
            </a:r>
            <a:r>
              <a:rPr dirty="0" err="1"/>
              <a:t>valore</a:t>
            </a:r>
            <a:r>
              <a:rPr dirty="0"/>
              <a:t>}'</a:t>
            </a:r>
            <a:r>
              <a:rPr lang="en-US" dirty="0"/>
              <a:t> </a:t>
            </a:r>
            <a:r>
              <a:rPr dirty="0"/>
              <a:t>"  ✖</a:t>
            </a:r>
            <a:br>
              <a:rPr dirty="0"/>
            </a:br>
            <a:r>
              <a:rPr dirty="0" err="1"/>
              <a:t>Usare</a:t>
            </a:r>
            <a:r>
              <a:rPr dirty="0"/>
              <a:t> </a:t>
            </a:r>
            <a:r>
              <a:rPr dirty="0" err="1"/>
              <a:t>parametri</a:t>
            </a:r>
            <a:r>
              <a:rPr dirty="0"/>
              <a:t>: location = $</a:t>
            </a:r>
            <a:r>
              <a:rPr dirty="0" err="1"/>
              <a:t>valore</a:t>
            </a:r>
            <a:r>
              <a:rPr dirty="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guardando il codice si capisce il grafo.</a:t>
            </a:r>
          </a:p>
        </p:txBody>
      </p:sp>
      <p:sp>
        <p:nvSpPr>
          <p:cNvPr id="4" name="TextBox 3"/>
          <p:cNvSpPr txBox="1"/>
          <p:nvPr/>
        </p:nvSpPr>
        <p:spPr>
          <a:xfrm>
            <a:off x="731520" y="1417320"/>
            <a:ext cx="3657600" cy="411480"/>
          </a:xfrm>
          <a:prstGeom prst="rect">
            <a:avLst/>
          </a:prstGeom>
          <a:noFill/>
        </p:spPr>
        <p:txBody>
          <a:bodyPr wrap="square">
            <a:spAutoFit/>
          </a:bodyPr>
          <a:lstStyle/>
          <a:p>
            <a:pPr algn="l">
              <a:defRPr sz="1600" b="1">
                <a:solidFill>
                  <a:srgbClr val="F08040"/>
                </a:solidFill>
                <a:latin typeface="Calibri"/>
              </a:defRPr>
            </a:pPr>
            <a:r>
              <a:t>Pattern per NODI</a:t>
            </a:r>
          </a:p>
        </p:txBody>
      </p:sp>
      <p:sp>
        <p:nvSpPr>
          <p:cNvPr id="5" name="Rectangle 4"/>
          <p:cNvSpPr/>
          <p:nvPr/>
        </p:nvSpPr>
        <p:spPr>
          <a:xfrm>
            <a:off x="73152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                      // nodo generico</a:t>
            </a:r>
          </a:p>
          <a:p>
            <a:pPr>
              <a:spcAft>
                <a:spcPts val="100"/>
              </a:spcAft>
              <a:defRPr sz="1000">
                <a:solidFill>
                  <a:srgbClr val="7EC68E"/>
                </a:solidFill>
                <a:latin typeface="Consolas"/>
              </a:defRPr>
            </a:pPr>
            <a:r>
              <a:t>(:Person)               // nodo con label</a:t>
            </a:r>
          </a:p>
          <a:p>
            <a:pPr>
              <a:spcAft>
                <a:spcPts val="100"/>
              </a:spcAft>
              <a:defRPr sz="1000">
                <a:solidFill>
                  <a:srgbClr val="7EC68E"/>
                </a:solidFill>
                <a:latin typeface="Consolas"/>
              </a:defRPr>
            </a:pPr>
            <a:r>
              <a:t>(p:Person)              // con variabile</a:t>
            </a:r>
          </a:p>
          <a:p>
            <a:pPr>
              <a:spcAft>
                <a:spcPts val="100"/>
              </a:spcAft>
              <a:defRPr sz="1000">
                <a:solidFill>
                  <a:srgbClr val="7EC68E"/>
                </a:solidFill>
                <a:latin typeface="Consolas"/>
              </a:defRPr>
            </a:pPr>
            <a:r>
              <a:t>(p:Person {name:"Alice"}) // con proprietà</a:t>
            </a:r>
          </a:p>
          <a:p>
            <a:pPr>
              <a:spcAft>
                <a:spcPts val="100"/>
              </a:spcAft>
              <a:defRPr sz="1000">
                <a:solidFill>
                  <a:srgbClr val="7EC68E"/>
                </a:solidFill>
                <a:latin typeface="Consolas"/>
              </a:defRPr>
            </a:pPr>
            <a:r>
              <a:t>(a:Person:Employee)     // due labels</a:t>
            </a:r>
          </a:p>
        </p:txBody>
      </p:sp>
      <p:sp>
        <p:nvSpPr>
          <p:cNvPr id="7" name="TextBox 6"/>
          <p:cNvSpPr txBox="1"/>
          <p:nvPr/>
        </p:nvSpPr>
        <p:spPr>
          <a:xfrm>
            <a:off x="4498848" y="1417320"/>
            <a:ext cx="3657600" cy="411480"/>
          </a:xfrm>
          <a:prstGeom prst="rect">
            <a:avLst/>
          </a:prstGeom>
          <a:noFill/>
        </p:spPr>
        <p:txBody>
          <a:bodyPr wrap="square">
            <a:spAutoFit/>
          </a:bodyPr>
          <a:lstStyle/>
          <a:p>
            <a:pPr algn="l">
              <a:defRPr sz="1600" b="1">
                <a:solidFill>
                  <a:srgbClr val="F08040"/>
                </a:solidFill>
                <a:latin typeface="Calibri"/>
              </a:defRPr>
            </a:pPr>
            <a:r>
              <a:t>Pattern per RELAZIONI</a:t>
            </a:r>
          </a:p>
        </p:txBody>
      </p:sp>
      <p:sp>
        <p:nvSpPr>
          <p:cNvPr id="8" name="Rectangle 7"/>
          <p:cNvSpPr/>
          <p:nvPr/>
        </p:nvSpPr>
        <p:spPr>
          <a:xfrm>
            <a:off x="4498848"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8576" y="1947671"/>
            <a:ext cx="3578354" cy="913070"/>
          </a:xfrm>
          <a:prstGeom prst="rect">
            <a:avLst/>
          </a:prstGeom>
          <a:noFill/>
        </p:spPr>
        <p:txBody>
          <a:bodyPr wrap="square">
            <a:spAutoFit/>
          </a:bodyPr>
          <a:lstStyle/>
          <a:p>
            <a:pPr>
              <a:spcAft>
                <a:spcPts val="100"/>
              </a:spcAft>
              <a:defRPr sz="1000">
                <a:solidFill>
                  <a:srgbClr val="7EC68E"/>
                </a:solidFill>
                <a:latin typeface="Consolas"/>
              </a:defRPr>
            </a:pPr>
            <a:r>
              <a:rPr dirty="0"/>
              <a:t>(p)-[:HAS_SKILL]-&gt;(s)    // </a:t>
            </a:r>
            <a:r>
              <a:rPr dirty="0" err="1"/>
              <a:t>uscita</a:t>
            </a:r>
            <a:endParaRPr dirty="0"/>
          </a:p>
          <a:p>
            <a:pPr>
              <a:spcAft>
                <a:spcPts val="100"/>
              </a:spcAft>
              <a:defRPr sz="1000">
                <a:solidFill>
                  <a:srgbClr val="7EC68E"/>
                </a:solidFill>
                <a:latin typeface="Consolas"/>
              </a:defRPr>
            </a:pPr>
            <a:r>
              <a:rPr dirty="0"/>
              <a:t>(p)&lt;-[:REPORTS_TO]-(s)   // </a:t>
            </a:r>
            <a:r>
              <a:rPr dirty="0" err="1"/>
              <a:t>entrata</a:t>
            </a:r>
            <a:endParaRPr dirty="0"/>
          </a:p>
          <a:p>
            <a:pPr>
              <a:spcAft>
                <a:spcPts val="100"/>
              </a:spcAft>
              <a:defRPr sz="1000">
                <a:solidFill>
                  <a:srgbClr val="7EC68E"/>
                </a:solidFill>
                <a:latin typeface="Consolas"/>
              </a:defRPr>
            </a:pPr>
            <a:r>
              <a:rPr dirty="0"/>
              <a:t>(p)-[</a:t>
            </a:r>
            <a:r>
              <a:rPr dirty="0" err="1"/>
              <a:t>r:HAS_SKILL</a:t>
            </a:r>
            <a:r>
              <a:rPr dirty="0"/>
              <a:t>]-&gt;(s)   // con </a:t>
            </a:r>
            <a:r>
              <a:rPr dirty="0" err="1"/>
              <a:t>variabile</a:t>
            </a:r>
            <a:endParaRPr dirty="0"/>
          </a:p>
          <a:p>
            <a:pPr>
              <a:spcAft>
                <a:spcPts val="100"/>
              </a:spcAft>
              <a:defRPr sz="1000">
                <a:solidFill>
                  <a:srgbClr val="7EC68E"/>
                </a:solidFill>
                <a:latin typeface="Consolas"/>
              </a:defRPr>
            </a:pPr>
            <a:r>
              <a:rPr dirty="0"/>
              <a:t>(p)-[h {proficiency:5}]-&gt;(s) // con props</a:t>
            </a:r>
          </a:p>
          <a:p>
            <a:pPr>
              <a:spcAft>
                <a:spcPts val="100"/>
              </a:spcAft>
              <a:defRPr sz="1000">
                <a:solidFill>
                  <a:srgbClr val="7EC68E"/>
                </a:solidFill>
                <a:latin typeface="Consolas"/>
              </a:defRPr>
            </a:pPr>
            <a:r>
              <a:rPr dirty="0"/>
              <a:t>(p)-[:KNOWS*1..3]-(q)    // </a:t>
            </a:r>
            <a:r>
              <a:rPr dirty="0" err="1"/>
              <a:t>profondità</a:t>
            </a:r>
            <a:r>
              <a:rPr dirty="0"/>
              <a:t> </a:t>
            </a:r>
            <a:r>
              <a:rPr dirty="0" err="1"/>
              <a:t>variabile</a:t>
            </a:r>
            <a:endParaRPr dirty="0"/>
          </a:p>
        </p:txBody>
      </p:sp>
      <p:sp>
        <p:nvSpPr>
          <p:cNvPr id="10" name="TextBox 9"/>
          <p:cNvSpPr txBox="1"/>
          <p:nvPr/>
        </p:nvSpPr>
        <p:spPr>
          <a:xfrm>
            <a:off x="8266176" y="1417320"/>
            <a:ext cx="3657600" cy="411480"/>
          </a:xfrm>
          <a:prstGeom prst="rect">
            <a:avLst/>
          </a:prstGeom>
          <a:noFill/>
        </p:spPr>
        <p:txBody>
          <a:bodyPr wrap="square">
            <a:spAutoFit/>
          </a:bodyPr>
          <a:lstStyle/>
          <a:p>
            <a:pPr algn="l">
              <a:defRPr sz="1600" b="1">
                <a:solidFill>
                  <a:srgbClr val="F08040"/>
                </a:solidFill>
                <a:latin typeface="Calibri"/>
              </a:defRPr>
            </a:pPr>
            <a:r>
              <a:t>Struttura query</a:t>
            </a:r>
          </a:p>
        </p:txBody>
      </p:sp>
      <p:sp>
        <p:nvSpPr>
          <p:cNvPr id="11" name="Rectangle 10"/>
          <p:cNvSpPr/>
          <p:nvPr/>
        </p:nvSpPr>
        <p:spPr>
          <a:xfrm>
            <a:off x="8266176" y="1874519"/>
            <a:ext cx="27432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75904" y="1947671"/>
            <a:ext cx="2523744" cy="10424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LIMIT  10;</a:t>
            </a:r>
          </a:p>
        </p:txBody>
      </p:sp>
      <p:sp>
        <p:nvSpPr>
          <p:cNvPr id="13" name="Rectangle 12"/>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Regole fondamentali:</a:t>
            </a:r>
          </a:p>
        </p:txBody>
      </p:sp>
      <p:sp>
        <p:nvSpPr>
          <p:cNvPr id="15" name="TextBox 14"/>
          <p:cNvSpPr txBox="1"/>
          <p:nvPr/>
        </p:nvSpPr>
        <p:spPr>
          <a:xfrm>
            <a:off x="731520" y="3931920"/>
            <a:ext cx="10515600" cy="1828800"/>
          </a:xfrm>
          <a:prstGeom prst="rect">
            <a:avLst/>
          </a:prstGeom>
          <a:noFill/>
        </p:spPr>
        <p:txBody>
          <a:bodyPr wrap="square">
            <a:spAutoFit/>
          </a:bodyPr>
          <a:lstStyle/>
          <a:p>
            <a:pPr algn="l">
              <a:spcAft>
                <a:spcPts val="300"/>
              </a:spcAft>
              <a:defRPr sz="1200">
                <a:solidFill>
                  <a:srgbClr val="FFFFFF"/>
                </a:solidFill>
                <a:latin typeface="Calibri"/>
              </a:defRPr>
            </a:pPr>
            <a:r>
              <a:rPr dirty="0"/>
              <a:t>•  MATCH </a:t>
            </a:r>
            <a:r>
              <a:rPr dirty="0" err="1"/>
              <a:t>cerca</a:t>
            </a:r>
            <a:r>
              <a:rPr dirty="0"/>
              <a:t> il pattern </a:t>
            </a:r>
            <a:r>
              <a:rPr dirty="0" err="1"/>
              <a:t>nel</a:t>
            </a:r>
            <a:r>
              <a:rPr dirty="0"/>
              <a:t> </a:t>
            </a:r>
            <a:r>
              <a:rPr dirty="0" err="1"/>
              <a:t>grafo</a:t>
            </a:r>
            <a:r>
              <a:rPr dirty="0"/>
              <a:t> — se non trova </a:t>
            </a:r>
            <a:r>
              <a:rPr dirty="0" err="1"/>
              <a:t>corrispondenza</a:t>
            </a:r>
            <a:r>
              <a:rPr dirty="0"/>
              <a:t>, </a:t>
            </a:r>
            <a:r>
              <a:rPr dirty="0" err="1"/>
              <a:t>righe</a:t>
            </a:r>
            <a:r>
              <a:rPr dirty="0"/>
              <a:t> </a:t>
            </a:r>
            <a:r>
              <a:rPr dirty="0" err="1"/>
              <a:t>vuote</a:t>
            </a:r>
            <a:endParaRPr dirty="0"/>
          </a:p>
          <a:p>
            <a:pPr algn="l">
              <a:spcAft>
                <a:spcPts val="300"/>
              </a:spcAft>
              <a:defRPr sz="1200">
                <a:solidFill>
                  <a:srgbClr val="FFFFFF"/>
                </a:solidFill>
                <a:latin typeface="Calibri"/>
              </a:defRPr>
            </a:pPr>
            <a:r>
              <a:rPr dirty="0"/>
              <a:t>•  La </a:t>
            </a:r>
            <a:r>
              <a:rPr dirty="0" err="1"/>
              <a:t>variabile</a:t>
            </a:r>
            <a:r>
              <a:rPr dirty="0"/>
              <a:t> (es: p) serve per </a:t>
            </a:r>
            <a:r>
              <a:rPr dirty="0" err="1"/>
              <a:t>riferirsi</a:t>
            </a:r>
            <a:r>
              <a:rPr dirty="0"/>
              <a:t> al </a:t>
            </a:r>
            <a:r>
              <a:rPr dirty="0" err="1"/>
              <a:t>nodo</a:t>
            </a:r>
            <a:r>
              <a:rPr dirty="0"/>
              <a:t> in RETURN, WHERE e </a:t>
            </a:r>
            <a:r>
              <a:rPr dirty="0" err="1"/>
              <a:t>altre</a:t>
            </a:r>
            <a:r>
              <a:rPr dirty="0"/>
              <a:t> </a:t>
            </a:r>
            <a:r>
              <a:rPr dirty="0" err="1"/>
              <a:t>clausole</a:t>
            </a:r>
            <a:endParaRPr dirty="0"/>
          </a:p>
          <a:p>
            <a:pPr algn="l">
              <a:spcAft>
                <a:spcPts val="300"/>
              </a:spcAft>
              <a:defRPr sz="1200">
                <a:solidFill>
                  <a:srgbClr val="FFFFFF"/>
                </a:solidFill>
                <a:latin typeface="Calibri"/>
              </a:defRPr>
            </a:pPr>
            <a:r>
              <a:rPr dirty="0"/>
              <a:t>•  Le </a:t>
            </a:r>
            <a:r>
              <a:rPr dirty="0" err="1"/>
              <a:t>proprietà</a:t>
            </a:r>
            <a:r>
              <a:rPr dirty="0"/>
              <a:t> in MATCH </a:t>
            </a:r>
            <a:r>
              <a:rPr dirty="0" err="1"/>
              <a:t>filtrano</a:t>
            </a:r>
            <a:r>
              <a:rPr dirty="0"/>
              <a:t>: MATCH (</a:t>
            </a:r>
            <a:r>
              <a:rPr dirty="0" err="1"/>
              <a:t>p:Person</a:t>
            </a:r>
            <a:r>
              <a:rPr dirty="0"/>
              <a:t> {name: 'Alice'}) </a:t>
            </a:r>
            <a:r>
              <a:rPr dirty="0" err="1"/>
              <a:t>cerca</a:t>
            </a:r>
            <a:r>
              <a:rPr dirty="0"/>
              <a:t> </a:t>
            </a:r>
            <a:r>
              <a:rPr dirty="0" err="1"/>
              <a:t>quel</a:t>
            </a:r>
            <a:r>
              <a:rPr dirty="0"/>
              <a:t> </a:t>
            </a:r>
            <a:r>
              <a:rPr dirty="0" err="1"/>
              <a:t>nodo</a:t>
            </a:r>
            <a:r>
              <a:rPr dirty="0"/>
              <a:t> </a:t>
            </a:r>
            <a:r>
              <a:rPr dirty="0" err="1"/>
              <a:t>specifico</a:t>
            </a:r>
            <a:endParaRPr dirty="0"/>
          </a:p>
          <a:p>
            <a:pPr algn="l">
              <a:spcAft>
                <a:spcPts val="300"/>
              </a:spcAft>
              <a:defRPr sz="1200">
                <a:solidFill>
                  <a:srgbClr val="FFFFFF"/>
                </a:solidFill>
                <a:latin typeface="Calibri"/>
              </a:defRPr>
            </a:pPr>
            <a:r>
              <a:rPr dirty="0"/>
              <a:t>•  La </a:t>
            </a:r>
            <a:r>
              <a:rPr dirty="0" err="1"/>
              <a:t>freccia</a:t>
            </a:r>
            <a:r>
              <a:rPr dirty="0"/>
              <a:t> indica la </a:t>
            </a:r>
            <a:r>
              <a:rPr dirty="0" err="1"/>
              <a:t>direzione</a:t>
            </a:r>
            <a:r>
              <a:rPr dirty="0"/>
              <a:t> della </a:t>
            </a:r>
            <a:r>
              <a:rPr dirty="0" err="1"/>
              <a:t>relazione</a:t>
            </a:r>
            <a:r>
              <a:rPr dirty="0"/>
              <a:t>: → </a:t>
            </a:r>
            <a:r>
              <a:rPr dirty="0" err="1"/>
              <a:t>uscita</a:t>
            </a:r>
            <a:r>
              <a:rPr dirty="0"/>
              <a:t>, ← </a:t>
            </a:r>
            <a:r>
              <a:rPr dirty="0" err="1"/>
              <a:t>entrata</a:t>
            </a:r>
            <a:r>
              <a:rPr dirty="0"/>
              <a:t>, — </a:t>
            </a:r>
            <a:r>
              <a:rPr dirty="0" err="1"/>
              <a:t>bidirezionale</a:t>
            </a:r>
            <a:endParaRPr dirty="0"/>
          </a:p>
          <a:p>
            <a:pPr algn="l">
              <a:spcAft>
                <a:spcPts val="300"/>
              </a:spcAft>
              <a:defRPr sz="1200">
                <a:solidFill>
                  <a:srgbClr val="FFFFFF"/>
                </a:solidFill>
                <a:latin typeface="Calibri"/>
              </a:defRPr>
            </a:pPr>
            <a:r>
              <a:rPr dirty="0"/>
              <a:t>•  I </a:t>
            </a:r>
            <a:r>
              <a:rPr dirty="0" err="1"/>
              <a:t>commenti</a:t>
            </a:r>
            <a:r>
              <a:rPr dirty="0"/>
              <a:t> in Cypher </a:t>
            </a:r>
            <a:r>
              <a:rPr dirty="0" err="1"/>
              <a:t>usano</a:t>
            </a:r>
            <a:r>
              <a:rPr dirty="0"/>
              <a:t> // (non -- </a:t>
            </a:r>
            <a:r>
              <a:rPr dirty="0" err="1"/>
              <a:t>che</a:t>
            </a:r>
            <a:r>
              <a:rPr dirty="0"/>
              <a:t> è SQL)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Percorsi Multipli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Si possono concatenare più relazioni e nodi in un unico MATCH.</a:t>
            </a:r>
          </a:p>
        </p:txBody>
      </p:sp>
      <p:sp>
        <p:nvSpPr>
          <p:cNvPr id="4" name="Rectangle 3"/>
          <p:cNvSpPr/>
          <p:nvPr/>
        </p:nvSpPr>
        <p:spPr>
          <a:xfrm>
            <a:off x="731520" y="1376172"/>
            <a:ext cx="5029200" cy="2359152"/>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1449324"/>
            <a:ext cx="4809744" cy="2048256"/>
          </a:xfrm>
          <a:prstGeom prst="rect">
            <a:avLst/>
          </a:prstGeom>
          <a:noFill/>
        </p:spPr>
        <p:txBody>
          <a:bodyPr wrap="square">
            <a:spAutoFit/>
          </a:bodyPr>
          <a:lstStyle/>
          <a:p>
            <a:pPr>
              <a:spcAft>
                <a:spcPts val="100"/>
              </a:spcAft>
              <a:defRPr sz="1000">
                <a:solidFill>
                  <a:srgbClr val="7EC68E"/>
                </a:solidFill>
                <a:latin typeface="Consolas"/>
              </a:defRPr>
            </a:pPr>
            <a:r>
              <a:rPr dirty="0"/>
              <a:t>// </a:t>
            </a:r>
            <a:r>
              <a:rPr dirty="0" err="1"/>
              <a:t>Persone</a:t>
            </a:r>
            <a:r>
              <a:rPr dirty="0"/>
              <a:t> </a:t>
            </a:r>
            <a:r>
              <a:rPr dirty="0" err="1"/>
              <a:t>che</a:t>
            </a:r>
            <a:r>
              <a:rPr dirty="0"/>
              <a:t> </a:t>
            </a:r>
            <a:r>
              <a:rPr dirty="0" err="1"/>
              <a:t>lavorano</a:t>
            </a:r>
            <a:r>
              <a:rPr dirty="0"/>
              <a:t> INSIEME </a:t>
            </a:r>
            <a:r>
              <a:rPr dirty="0" err="1"/>
              <a:t>su</a:t>
            </a:r>
            <a:r>
              <a:rPr dirty="0"/>
              <a:t> un </a:t>
            </a:r>
            <a:r>
              <a:rPr dirty="0" err="1"/>
              <a:t>progetto</a:t>
            </a:r>
            <a:r>
              <a:rPr dirty="0"/>
              <a:t>:</a:t>
            </a:r>
          </a:p>
          <a:p>
            <a:pPr>
              <a:spcAft>
                <a:spcPts val="100"/>
              </a:spcAft>
              <a:defRPr sz="1000">
                <a:solidFill>
                  <a:srgbClr val="7EC68E"/>
                </a:solidFill>
                <a:latin typeface="Consolas"/>
              </a:defRPr>
            </a:pPr>
            <a:r>
              <a:rPr dirty="0"/>
              <a:t>MATCH (p1:Person)-[:WORKED_ON]-&gt;(</a:t>
            </a:r>
            <a:r>
              <a:rPr dirty="0" err="1"/>
              <a:t>proj:Project</a:t>
            </a:r>
            <a:r>
              <a:rPr dirty="0"/>
              <a:t>)</a:t>
            </a:r>
          </a:p>
          <a:p>
            <a:pPr>
              <a:spcAft>
                <a:spcPts val="100"/>
              </a:spcAft>
              <a:defRPr sz="1000">
                <a:solidFill>
                  <a:srgbClr val="7EC68E"/>
                </a:solidFill>
                <a:latin typeface="Consolas"/>
              </a:defRPr>
            </a:pPr>
            <a:r>
              <a:rPr dirty="0"/>
              <a:t>      &lt;-[:WORKED_ON]-(p2:Person)</a:t>
            </a:r>
          </a:p>
          <a:p>
            <a:pPr>
              <a:spcAft>
                <a:spcPts val="100"/>
              </a:spcAft>
              <a:defRPr sz="1000">
                <a:solidFill>
                  <a:srgbClr val="7EC68E"/>
                </a:solidFill>
                <a:latin typeface="Consolas"/>
              </a:defRPr>
            </a:pPr>
            <a:r>
              <a:rPr dirty="0"/>
              <a:t>RETURN p1.name, p2.name, proj.name</a:t>
            </a:r>
          </a:p>
          <a:p>
            <a:pPr>
              <a:spcAft>
                <a:spcPts val="100"/>
              </a:spcAft>
              <a:defRPr sz="1000">
                <a:solidFill>
                  <a:srgbClr val="7EC68E"/>
                </a:solidFill>
                <a:latin typeface="Consolas"/>
              </a:defRPr>
            </a:pPr>
            <a:r>
              <a:rPr dirty="0"/>
              <a:t>LIMIT 10;</a:t>
            </a:r>
          </a:p>
          <a:p>
            <a:pPr>
              <a:spcAft>
                <a:spcPts val="100"/>
              </a:spcAft>
              <a:defRPr sz="1000">
                <a:solidFill>
                  <a:srgbClr val="7EC68E"/>
                </a:solidFill>
                <a:latin typeface="Consolas"/>
              </a:defRPr>
            </a:pPr>
            <a:endParaRPr dirty="0"/>
          </a:p>
          <a:p>
            <a:pPr>
              <a:spcAft>
                <a:spcPts val="100"/>
              </a:spcAft>
              <a:defRPr sz="1000">
                <a:solidFill>
                  <a:srgbClr val="7EC68E"/>
                </a:solidFill>
                <a:latin typeface="Consolas"/>
              </a:defRPr>
            </a:pPr>
            <a:r>
              <a:rPr dirty="0"/>
              <a:t>// Output:</a:t>
            </a:r>
          </a:p>
          <a:p>
            <a:pPr>
              <a:spcAft>
                <a:spcPts val="100"/>
              </a:spcAft>
              <a:defRPr sz="1000">
                <a:solidFill>
                  <a:srgbClr val="7EC68E"/>
                </a:solidFill>
                <a:latin typeface="Consolas"/>
              </a:defRPr>
            </a:pPr>
            <a:r>
              <a:rPr dirty="0"/>
              <a:t>// Alice | Bob | AI Platform</a:t>
            </a:r>
          </a:p>
          <a:p>
            <a:pPr>
              <a:spcAft>
                <a:spcPts val="100"/>
              </a:spcAft>
              <a:defRPr sz="1000">
                <a:solidFill>
                  <a:srgbClr val="7EC68E"/>
                </a:solidFill>
                <a:latin typeface="Consolas"/>
              </a:defRPr>
            </a:pPr>
            <a:r>
              <a:rPr dirty="0"/>
              <a:t>// Carlo | Diana | Data Lake</a:t>
            </a:r>
          </a:p>
          <a:p>
            <a:pPr>
              <a:spcAft>
                <a:spcPts val="100"/>
              </a:spcAft>
              <a:defRPr sz="1000">
                <a:solidFill>
                  <a:srgbClr val="7EC68E"/>
                </a:solidFill>
                <a:latin typeface="Consolas"/>
              </a:defRPr>
            </a:pPr>
            <a:endParaRPr dirty="0"/>
          </a:p>
          <a:p>
            <a:pPr>
              <a:spcAft>
                <a:spcPts val="100"/>
              </a:spcAft>
              <a:defRPr sz="1000">
                <a:solidFill>
                  <a:srgbClr val="7EC68E"/>
                </a:solidFill>
                <a:latin typeface="Consolas"/>
              </a:defRPr>
            </a:pPr>
            <a:r>
              <a:rPr dirty="0"/>
              <a:t>// Pattern: P1 ha </a:t>
            </a:r>
            <a:r>
              <a:rPr dirty="0" err="1"/>
              <a:t>lavorato</a:t>
            </a:r>
            <a:r>
              <a:rPr dirty="0"/>
              <a:t> a un </a:t>
            </a:r>
            <a:r>
              <a:rPr dirty="0" err="1"/>
              <a:t>progetto</a:t>
            </a:r>
            <a:endParaRPr dirty="0"/>
          </a:p>
          <a:p>
            <a:pPr>
              <a:spcAft>
                <a:spcPts val="100"/>
              </a:spcAft>
              <a:defRPr sz="1000">
                <a:solidFill>
                  <a:srgbClr val="7EC68E"/>
                </a:solidFill>
                <a:latin typeface="Consolas"/>
              </a:defRPr>
            </a:pPr>
            <a:r>
              <a:rPr dirty="0"/>
              <a:t>// a cui ha </a:t>
            </a:r>
            <a:r>
              <a:rPr dirty="0" err="1"/>
              <a:t>lavorato</a:t>
            </a:r>
            <a:r>
              <a:rPr dirty="0"/>
              <a:t> </a:t>
            </a:r>
            <a:r>
              <a:rPr dirty="0" err="1"/>
              <a:t>anche</a:t>
            </a:r>
            <a:r>
              <a:rPr dirty="0"/>
              <a:t> P2.</a:t>
            </a:r>
          </a:p>
          <a:p>
            <a:pPr>
              <a:spcAft>
                <a:spcPts val="100"/>
              </a:spcAft>
              <a:defRPr sz="1000">
                <a:solidFill>
                  <a:srgbClr val="7EC68E"/>
                </a:solidFill>
                <a:latin typeface="Consolas"/>
              </a:defRPr>
            </a:pPr>
            <a:r>
              <a:rPr dirty="0"/>
              <a:t>// </a:t>
            </a:r>
            <a:r>
              <a:rPr dirty="0" err="1"/>
              <a:t>proj</a:t>
            </a:r>
            <a:r>
              <a:rPr dirty="0"/>
              <a:t> è il </a:t>
            </a:r>
            <a:r>
              <a:rPr dirty="0" err="1"/>
              <a:t>nodo</a:t>
            </a:r>
            <a:r>
              <a:rPr dirty="0"/>
              <a:t> PROJECT </a:t>
            </a:r>
            <a:r>
              <a:rPr dirty="0" err="1"/>
              <a:t>condiviso</a:t>
            </a:r>
            <a:r>
              <a:rPr dirty="0"/>
              <a:t>.</a:t>
            </a:r>
          </a:p>
        </p:txBody>
      </p:sp>
      <p:sp>
        <p:nvSpPr>
          <p:cNvPr id="6" name="Rectangle 5"/>
          <p:cNvSpPr/>
          <p:nvPr/>
        </p:nvSpPr>
        <p:spPr>
          <a:xfrm>
            <a:off x="6096000" y="1376172"/>
            <a:ext cx="4846320" cy="2359152"/>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05728" y="1449324"/>
            <a:ext cx="4626864" cy="2048256"/>
          </a:xfrm>
          <a:prstGeom prst="rect">
            <a:avLst/>
          </a:prstGeom>
          <a:noFill/>
        </p:spPr>
        <p:txBody>
          <a:bodyPr wrap="square">
            <a:spAutoFit/>
          </a:bodyPr>
          <a:lstStyle/>
          <a:p>
            <a:pPr>
              <a:spcAft>
                <a:spcPts val="100"/>
              </a:spcAft>
              <a:defRPr sz="1000">
                <a:solidFill>
                  <a:srgbClr val="7EC68E"/>
                </a:solidFill>
                <a:latin typeface="Consolas"/>
              </a:defRPr>
            </a:pPr>
            <a:r>
              <a:t>// Path a profondità variabile:</a:t>
            </a:r>
          </a:p>
          <a:p>
            <a:pPr>
              <a:spcAft>
                <a:spcPts val="100"/>
              </a:spcAft>
              <a:defRPr sz="1000">
                <a:solidFill>
                  <a:srgbClr val="7EC68E"/>
                </a:solidFill>
                <a:latin typeface="Consolas"/>
              </a:defRPr>
            </a:pPr>
            <a:r>
              <a:t>// Cerchiamo persone raggiungibili via</a:t>
            </a:r>
          </a:p>
          <a:p>
            <a:pPr>
              <a:spcAft>
                <a:spcPts val="100"/>
              </a:spcAft>
              <a:defRPr sz="1000">
                <a:solidFill>
                  <a:srgbClr val="7EC68E"/>
                </a:solidFill>
                <a:latin typeface="Consolas"/>
              </a:defRPr>
            </a:pPr>
            <a:r>
              <a:t>// WORKED_ON in al massimo 3 salti:</a:t>
            </a:r>
          </a:p>
          <a:p>
            <a:pPr>
              <a:spcAft>
                <a:spcPts val="100"/>
              </a:spcAft>
              <a:defRPr sz="1000">
                <a:solidFill>
                  <a:srgbClr val="7EC68E"/>
                </a:solidFill>
                <a:latin typeface="Consolas"/>
              </a:defRPr>
            </a:pPr>
            <a:r>
              <a:t>MATCH path = (a:Person {employee_id: 1})</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[*1..3] = da 1 a 3 relazioni WORKED_ON</a:t>
            </a:r>
          </a:p>
          <a:p>
            <a:pPr>
              <a:spcAft>
                <a:spcPts val="100"/>
              </a:spcAft>
              <a:defRPr sz="1000">
                <a:solidFill>
                  <a:srgbClr val="7EC68E"/>
                </a:solidFill>
                <a:latin typeface="Consolas"/>
              </a:defRPr>
            </a:pPr>
            <a:r>
              <a:t>// path = variabile per l'intero percorso</a:t>
            </a:r>
          </a:p>
          <a:p>
            <a:pPr>
              <a:spcAft>
                <a:spcPts val="100"/>
              </a:spcAft>
              <a:defRPr sz="1000">
                <a:solidFill>
                  <a:srgbClr val="7EC68E"/>
                </a:solidFill>
                <a:latin typeface="Consolas"/>
              </a:defRPr>
            </a:pPr>
            <a:r>
              <a:t>// nodes(path) = lista nodi del percorso</a:t>
            </a:r>
          </a:p>
        </p:txBody>
      </p:sp>
      <p:sp>
        <p:nvSpPr>
          <p:cNvPr id="8" name="Rectangle 7"/>
          <p:cNvSpPr/>
          <p:nvPr/>
        </p:nvSpPr>
        <p:spPr>
          <a:xfrm>
            <a:off x="731520" y="3995928"/>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4178808"/>
            <a:ext cx="10515600" cy="365760"/>
          </a:xfrm>
          <a:prstGeom prst="rect">
            <a:avLst/>
          </a:prstGeom>
          <a:noFill/>
        </p:spPr>
        <p:txBody>
          <a:bodyPr wrap="square">
            <a:spAutoFit/>
          </a:bodyPr>
          <a:lstStyle/>
          <a:p>
            <a:pPr algn="l">
              <a:defRPr sz="1500" b="1">
                <a:solidFill>
                  <a:srgbClr val="F08040"/>
                </a:solidFill>
                <a:latin typeface="Calibri"/>
              </a:defRPr>
            </a:pPr>
            <a:r>
              <a:t>Optional Match: come LEFT JOIN</a:t>
            </a:r>
          </a:p>
        </p:txBody>
      </p:sp>
      <p:sp>
        <p:nvSpPr>
          <p:cNvPr id="10" name="TextBox 9"/>
          <p:cNvSpPr txBox="1"/>
          <p:nvPr/>
        </p:nvSpPr>
        <p:spPr>
          <a:xfrm>
            <a:off x="731520" y="4636008"/>
            <a:ext cx="10515600" cy="1097280"/>
          </a:xfrm>
          <a:prstGeom prst="rect">
            <a:avLst/>
          </a:prstGeom>
          <a:noFill/>
        </p:spPr>
        <p:txBody>
          <a:bodyPr wrap="square">
            <a:spAutoFit/>
          </a:bodyPr>
          <a:lstStyle/>
          <a:p>
            <a:pPr algn="l">
              <a:spcAft>
                <a:spcPts val="300"/>
              </a:spcAft>
              <a:defRPr sz="1200">
                <a:solidFill>
                  <a:srgbClr val="FFFFFF"/>
                </a:solidFill>
                <a:latin typeface="Calibri"/>
              </a:defRPr>
            </a:pPr>
            <a:r>
              <a:t>•  OPTIONAL MATCH — cerca il pattern, se non trovato restituisce NULL (non scarta la riga)</a:t>
            </a:r>
          </a:p>
          <a:p>
            <a:pPr algn="l">
              <a:spcAft>
                <a:spcPts val="300"/>
              </a:spcAft>
              <a:defRPr sz="1200">
                <a:solidFill>
                  <a:srgbClr val="FFFFFF"/>
                </a:solidFill>
                <a:latin typeface="Calibri"/>
              </a:defRPr>
            </a:pPr>
            <a:r>
              <a:t>•  Utile per: "trova tutte le persone e le loro skill (incluse quelle senza skill)"</a:t>
            </a:r>
          </a:p>
          <a:p>
            <a:pPr algn="l">
              <a:spcAft>
                <a:spcPts val="300"/>
              </a:spcAft>
              <a:defRPr sz="1200">
                <a:solidFill>
                  <a:srgbClr val="FFFFFF"/>
                </a:solidFill>
                <a:latin typeface="Calibri"/>
              </a:defRPr>
            </a:pPr>
            <a:r>
              <a:t>•  MATCH normale scarta le righe che non corrispondono al pattern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Leggere Dati con MATCH + WHERE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WHERE filtra i risultati. Supporta operatori logici, confronti, testo e liste.</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Filtri con WHERE</a:t>
            </a:r>
          </a:p>
        </p:txBody>
      </p:sp>
      <p:sp>
        <p:nvSpPr>
          <p:cNvPr id="5" name="Rectangle 4"/>
          <p:cNvSpPr/>
          <p:nvPr/>
        </p:nvSpPr>
        <p:spPr>
          <a:xfrm>
            <a:off x="731520" y="1828800"/>
            <a:ext cx="5029200" cy="1993392"/>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901952"/>
            <a:ext cx="4809744" cy="1773936"/>
          </a:xfrm>
          <a:prstGeom prst="rect">
            <a:avLst/>
          </a:prstGeom>
          <a:noFill/>
        </p:spPr>
        <p:txBody>
          <a:bodyPr wrap="square">
            <a:spAutoFit/>
          </a:bodyPr>
          <a:lstStyle/>
          <a:p>
            <a:pPr>
              <a:spcAft>
                <a:spcPts val="100"/>
              </a:spcAft>
              <a:defRPr sz="1000">
                <a:solidFill>
                  <a:srgbClr val="7EC68E"/>
                </a:solidFill>
                <a:latin typeface="Consolas"/>
              </a:defRPr>
            </a:pPr>
            <a:r>
              <a:t>// AND / OR con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IN per liste: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IN ("Roma", "Milano")</a:t>
            </a:r>
          </a:p>
          <a:p>
            <a:pPr>
              <a:spcAft>
                <a:spcPts val="100"/>
              </a:spcAft>
              <a:defRPr sz="1000">
                <a:solidFill>
                  <a:srgbClr val="7EC68E"/>
                </a:solidFill>
                <a:latin typeface="Consolas"/>
              </a:defRPr>
            </a:pPr>
            <a:r>
              <a:t>RETURN p.name, p.location;</a:t>
            </a:r>
          </a:p>
        </p:txBody>
      </p:sp>
      <p:sp>
        <p:nvSpPr>
          <p:cNvPr id="7" name="TextBox 6"/>
          <p:cNvSpPr txBox="1"/>
          <p:nvPr/>
        </p:nvSpPr>
        <p:spPr>
          <a:xfrm>
            <a:off x="6096000" y="1417320"/>
            <a:ext cx="4846320" cy="411480"/>
          </a:xfrm>
          <a:prstGeom prst="rect">
            <a:avLst/>
          </a:prstGeom>
          <a:noFill/>
        </p:spPr>
        <p:txBody>
          <a:bodyPr wrap="square">
            <a:spAutoFit/>
          </a:bodyPr>
          <a:lstStyle/>
          <a:p>
            <a:pPr algn="l">
              <a:defRPr sz="1600" b="1">
                <a:solidFill>
                  <a:srgbClr val="F08040"/>
                </a:solidFill>
                <a:latin typeface="Calibri"/>
              </a:defRPr>
            </a:pPr>
            <a:r>
              <a:t>Testo e valori NULL</a:t>
            </a:r>
          </a:p>
        </p:txBody>
      </p:sp>
      <p:sp>
        <p:nvSpPr>
          <p:cNvPr id="8" name="Rectangle 7"/>
          <p:cNvSpPr/>
          <p:nvPr/>
        </p:nvSpPr>
        <p:spPr>
          <a:xfrm>
            <a:off x="6096000" y="1828800"/>
            <a:ext cx="4846320" cy="21945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05728" y="1901952"/>
            <a:ext cx="4626864" cy="1956816"/>
          </a:xfrm>
          <a:prstGeom prst="rect">
            <a:avLst/>
          </a:prstGeom>
          <a:noFill/>
        </p:spPr>
        <p:txBody>
          <a:bodyPr wrap="square">
            <a:spAutoFit/>
          </a:bodyPr>
          <a:lstStyle/>
          <a:p>
            <a:pPr>
              <a:spcAft>
                <a:spcPts val="100"/>
              </a:spcAft>
              <a:defRPr sz="1000">
                <a:solidFill>
                  <a:srgbClr val="7EC68E"/>
                </a:solidFill>
                <a:latin typeface="Consolas"/>
              </a:defRPr>
            </a:pPr>
            <a:r>
              <a:rPr dirty="0"/>
              <a:t>// CONTAINS, STARTS WITH, ENDS WITH:</a:t>
            </a:r>
          </a:p>
          <a:p>
            <a:pPr>
              <a:spcAft>
                <a:spcPts val="100"/>
              </a:spcAft>
              <a:defRPr sz="1000">
                <a:solidFill>
                  <a:srgbClr val="7EC68E"/>
                </a:solidFill>
                <a:latin typeface="Consolas"/>
              </a:defRPr>
            </a:pPr>
            <a:r>
              <a:rPr dirty="0"/>
              <a:t>MATCH (</a:t>
            </a:r>
            <a:r>
              <a:rPr dirty="0" err="1"/>
              <a:t>s:Skill</a:t>
            </a:r>
            <a:r>
              <a:rPr dirty="0"/>
              <a:t>)</a:t>
            </a:r>
          </a:p>
          <a:p>
            <a:pPr>
              <a:spcAft>
                <a:spcPts val="100"/>
              </a:spcAft>
              <a:defRPr sz="1000">
                <a:solidFill>
                  <a:srgbClr val="7EC68E"/>
                </a:solidFill>
                <a:latin typeface="Consolas"/>
              </a:defRPr>
            </a:pPr>
            <a:r>
              <a:rPr dirty="0"/>
              <a:t>WHERE s.name STARTS WITH "Py"</a:t>
            </a:r>
          </a:p>
          <a:p>
            <a:pPr>
              <a:spcAft>
                <a:spcPts val="100"/>
              </a:spcAft>
              <a:defRPr sz="1000">
                <a:solidFill>
                  <a:srgbClr val="7EC68E"/>
                </a:solidFill>
                <a:latin typeface="Consolas"/>
              </a:defRPr>
            </a:pPr>
            <a:r>
              <a:rPr dirty="0"/>
              <a:t>RETURN s.name UNION</a:t>
            </a:r>
          </a:p>
          <a:p>
            <a:pPr>
              <a:spcAft>
                <a:spcPts val="100"/>
              </a:spcAft>
              <a:defRPr sz="1000">
                <a:solidFill>
                  <a:srgbClr val="7EC68E"/>
                </a:solidFill>
                <a:latin typeface="Consolas"/>
              </a:defRPr>
            </a:pPr>
            <a:r>
              <a:rPr dirty="0"/>
              <a:t>MATCH (</a:t>
            </a:r>
            <a:r>
              <a:rPr dirty="0" err="1"/>
              <a:t>s:Skill</a:t>
            </a:r>
            <a:r>
              <a:rPr dirty="0"/>
              <a:t>)</a:t>
            </a:r>
          </a:p>
          <a:p>
            <a:pPr>
              <a:spcAft>
                <a:spcPts val="100"/>
              </a:spcAft>
              <a:defRPr sz="1000">
                <a:solidFill>
                  <a:srgbClr val="7EC68E"/>
                </a:solidFill>
                <a:latin typeface="Consolas"/>
              </a:defRPr>
            </a:pPr>
            <a:r>
              <a:rPr dirty="0"/>
              <a:t>WHERE s.name CONTAINS "cloud"</a:t>
            </a:r>
          </a:p>
          <a:p>
            <a:pPr>
              <a:spcAft>
                <a:spcPts val="100"/>
              </a:spcAft>
              <a:defRPr sz="1000">
                <a:solidFill>
                  <a:srgbClr val="7EC68E"/>
                </a:solidFill>
                <a:latin typeface="Consolas"/>
              </a:defRPr>
            </a:pPr>
            <a:r>
              <a:rPr dirty="0"/>
              <a:t>RETURN s.name;</a:t>
            </a:r>
          </a:p>
          <a:p>
            <a:pPr>
              <a:spcAft>
                <a:spcPts val="100"/>
              </a:spcAft>
              <a:defRPr sz="1000">
                <a:solidFill>
                  <a:srgbClr val="7EC68E"/>
                </a:solidFill>
                <a:latin typeface="Consolas"/>
              </a:defRPr>
            </a:pPr>
            <a:endParaRPr dirty="0"/>
          </a:p>
          <a:p>
            <a:pPr>
              <a:spcAft>
                <a:spcPts val="100"/>
              </a:spcAft>
              <a:defRPr sz="1000">
                <a:solidFill>
                  <a:srgbClr val="7EC68E"/>
                </a:solidFill>
                <a:latin typeface="Consolas"/>
              </a:defRPr>
            </a:pPr>
            <a:r>
              <a:rPr dirty="0"/>
              <a:t>// IS NULL / IS NOT NULL:</a:t>
            </a:r>
          </a:p>
          <a:p>
            <a:pPr>
              <a:spcAft>
                <a:spcPts val="100"/>
              </a:spcAft>
              <a:defRPr sz="1000">
                <a:solidFill>
                  <a:srgbClr val="7EC68E"/>
                </a:solidFill>
                <a:latin typeface="Consolas"/>
              </a:defRPr>
            </a:pPr>
            <a:r>
              <a:rPr dirty="0"/>
              <a:t>MATCH (</a:t>
            </a:r>
            <a:r>
              <a:rPr dirty="0" err="1"/>
              <a:t>p:Person</a:t>
            </a:r>
            <a:r>
              <a:rPr dirty="0"/>
              <a:t>)</a:t>
            </a:r>
          </a:p>
          <a:p>
            <a:pPr>
              <a:spcAft>
                <a:spcPts val="100"/>
              </a:spcAft>
              <a:defRPr sz="1000">
                <a:solidFill>
                  <a:srgbClr val="7EC68E"/>
                </a:solidFill>
                <a:latin typeface="Consolas"/>
              </a:defRPr>
            </a:pPr>
            <a:r>
              <a:rPr dirty="0"/>
              <a:t>WHERE </a:t>
            </a:r>
            <a:r>
              <a:rPr dirty="0" err="1"/>
              <a:t>p.location</a:t>
            </a:r>
            <a:r>
              <a:rPr dirty="0"/>
              <a:t> IS NULL</a:t>
            </a:r>
          </a:p>
          <a:p>
            <a:pPr>
              <a:spcAft>
                <a:spcPts val="100"/>
              </a:spcAft>
              <a:defRPr sz="1000">
                <a:solidFill>
                  <a:srgbClr val="7EC68E"/>
                </a:solidFill>
                <a:latin typeface="Consolas"/>
              </a:defRPr>
            </a:pPr>
            <a:r>
              <a:rPr dirty="0"/>
              <a:t>RETURN p.name;</a:t>
            </a:r>
          </a:p>
        </p:txBody>
      </p:sp>
      <p:sp>
        <p:nvSpPr>
          <p:cNvPr id="10" name="Rectangle 9"/>
          <p:cNvSpPr/>
          <p:nvPr/>
        </p:nvSpPr>
        <p:spPr>
          <a:xfrm>
            <a:off x="731520" y="42062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4389120"/>
            <a:ext cx="10515600" cy="365760"/>
          </a:xfrm>
          <a:prstGeom prst="rect">
            <a:avLst/>
          </a:prstGeom>
          <a:noFill/>
        </p:spPr>
        <p:txBody>
          <a:bodyPr wrap="square">
            <a:spAutoFit/>
          </a:bodyPr>
          <a:lstStyle/>
          <a:p>
            <a:pPr algn="l">
              <a:defRPr sz="1500" b="1">
                <a:solidFill>
                  <a:srgbClr val="F08040"/>
                </a:solidFill>
                <a:latin typeface="Calibri"/>
              </a:defRPr>
            </a:pPr>
            <a:r>
              <a:t>Ordinamento e Paginazione</a:t>
            </a:r>
          </a:p>
        </p:txBody>
      </p:sp>
      <p:sp>
        <p:nvSpPr>
          <p:cNvPr id="12" name="Rectangle 11"/>
          <p:cNvSpPr/>
          <p:nvPr/>
        </p:nvSpPr>
        <p:spPr>
          <a:xfrm>
            <a:off x="731520" y="480060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1248" y="4873752"/>
            <a:ext cx="10296144" cy="14996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p.location AS nome, p.title AS ruolo</a:t>
            </a:r>
          </a:p>
          <a:p>
            <a:pPr>
              <a:spcAft>
                <a:spcPts val="100"/>
              </a:spcAft>
              <a:defRPr sz="1000">
                <a:solidFill>
                  <a:srgbClr val="7EC68E"/>
                </a:solidFill>
                <a:latin typeface="Consolas"/>
              </a:defRPr>
            </a:pPr>
            <a:r>
              <a:t>ORDER BY nome ASC</a:t>
            </a:r>
          </a:p>
          <a:p>
            <a:pPr>
              <a:spcAft>
                <a:spcPts val="100"/>
              </a:spcAft>
              <a:defRPr sz="1000">
                <a:solidFill>
                  <a:srgbClr val="7EC68E"/>
                </a:solidFill>
                <a:latin typeface="Consolas"/>
              </a:defRPr>
            </a:pPr>
            <a:r>
              <a:t>SKIP 10 LIMIT 10;  // pagina 2</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DISTINCT p.location AS sedi</a:t>
            </a:r>
          </a:p>
          <a:p>
            <a:pPr>
              <a:spcAft>
                <a:spcPts val="100"/>
              </a:spcAft>
              <a:defRPr sz="1000">
                <a:solidFill>
                  <a:srgbClr val="7EC68E"/>
                </a:solidFill>
                <a:latin typeface="Consolas"/>
              </a:defRPr>
            </a:pPr>
            <a:r>
              <a:t>ORDER BY sedi;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Aggregazioni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 come SQL ma senza GROUP BY esplicito. Le colonne non aggregate sono automaticamente chiavi di raggruppamento.</a:t>
            </a:r>
          </a:p>
        </p:txBody>
      </p:sp>
      <p:sp>
        <p:nvSpPr>
          <p:cNvPr id="4" name="Rectangle 3"/>
          <p:cNvSpPr/>
          <p:nvPr/>
        </p:nvSpPr>
        <p:spPr>
          <a:xfrm>
            <a:off x="731520" y="1554480"/>
            <a:ext cx="5029200" cy="23774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1627632"/>
            <a:ext cx="4809744" cy="2231136"/>
          </a:xfrm>
          <a:prstGeom prst="rect">
            <a:avLst/>
          </a:prstGeom>
          <a:noFill/>
        </p:spPr>
        <p:txBody>
          <a:bodyPr wrap="square">
            <a:spAutoFit/>
          </a:bodyPr>
          <a:lstStyle/>
          <a:p>
            <a:pPr>
              <a:spcAft>
                <a:spcPts val="100"/>
              </a:spcAft>
              <a:defRPr sz="1000">
                <a:solidFill>
                  <a:srgbClr val="7EC68E"/>
                </a:solidFill>
                <a:latin typeface="Consolas"/>
              </a:defRPr>
            </a:pPr>
            <a:r>
              <a:t>// COUNT: quante persone per location?</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p.location AS sede,</a:t>
            </a:r>
          </a:p>
          <a:p>
            <a:pPr>
              <a:spcAft>
                <a:spcPts val="100"/>
              </a:spcAft>
              <a:defRPr sz="1000">
                <a:solidFill>
                  <a:srgbClr val="7EC68E"/>
                </a:solidFill>
                <a:latin typeface="Consolas"/>
              </a:defRPr>
            </a:pPr>
            <a:r>
              <a:t>       count(*) AS persone</a:t>
            </a:r>
          </a:p>
          <a:p>
            <a:pPr>
              <a:spcAft>
                <a:spcPts val="100"/>
              </a:spcAft>
              <a:defRPr sz="1000">
                <a:solidFill>
                  <a:srgbClr val="7EC68E"/>
                </a:solidFill>
                <a:latin typeface="Consolas"/>
              </a:defRPr>
            </a:pPr>
            <a:r>
              <a:t>ORDER BY persone DESC;</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COLLECT: lista skill per persona: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collect(s.name) AS skill,</a:t>
            </a:r>
          </a:p>
          <a:p>
            <a:pPr>
              <a:spcAft>
                <a:spcPts val="100"/>
              </a:spcAft>
              <a:defRPr sz="1000">
                <a:solidFill>
                  <a:srgbClr val="7EC68E"/>
                </a:solidFill>
                <a:latin typeface="Consolas"/>
              </a:defRPr>
            </a:pPr>
            <a:r>
              <a:t>       count(s) AS totale_skill</a:t>
            </a:r>
          </a:p>
          <a:p>
            <a:pPr>
              <a:spcAft>
                <a:spcPts val="100"/>
              </a:spcAft>
              <a:defRPr sz="1000">
                <a:solidFill>
                  <a:srgbClr val="7EC68E"/>
                </a:solidFill>
                <a:latin typeface="Consolas"/>
              </a:defRPr>
            </a:pPr>
            <a:r>
              <a:t>ORDER BY totale_skill DESC LIMIT 5;</a:t>
            </a:r>
          </a:p>
        </p:txBody>
      </p:sp>
      <p:sp>
        <p:nvSpPr>
          <p:cNvPr id="6" name="TextBox 5"/>
          <p:cNvSpPr txBox="1"/>
          <p:nvPr/>
        </p:nvSpPr>
        <p:spPr>
          <a:xfrm>
            <a:off x="6096000" y="1554480"/>
            <a:ext cx="4846320" cy="2377440"/>
          </a:xfrm>
          <a:prstGeom prst="rect">
            <a:avLst/>
          </a:prstGeom>
          <a:noFill/>
        </p:spPr>
        <p:txBody>
          <a:bodyPr wrap="square">
            <a:spAutoFit/>
          </a:bodyPr>
          <a:lstStyle/>
          <a:p>
            <a:pPr algn="l">
              <a:defRPr sz="1100" b="0">
                <a:solidFill>
                  <a:srgbClr val="CCCCCC"/>
                </a:solidFill>
                <a:latin typeface="Calibri"/>
              </a:defRPr>
            </a:pPr>
            <a:r>
              <a:rPr dirty="0" err="1"/>
              <a:t>Dettaglio</a:t>
            </a:r>
            <a:r>
              <a:rPr dirty="0"/>
              <a:t> </a:t>
            </a:r>
            <a:r>
              <a:rPr dirty="0" err="1"/>
              <a:t>funzioni</a:t>
            </a:r>
            <a:r>
              <a:rPr dirty="0"/>
              <a:t> di </a:t>
            </a:r>
            <a:r>
              <a:rPr dirty="0" err="1"/>
              <a:t>aggregazione</a:t>
            </a:r>
            <a:r>
              <a:rPr dirty="0"/>
              <a:t>:</a:t>
            </a:r>
            <a:br>
              <a:rPr dirty="0"/>
            </a:br>
            <a:br>
              <a:rPr dirty="0"/>
            </a:br>
            <a:r>
              <a:rPr dirty="0"/>
              <a:t>count(*)     = </a:t>
            </a:r>
            <a:r>
              <a:rPr dirty="0" err="1"/>
              <a:t>conta</a:t>
            </a:r>
            <a:r>
              <a:rPr dirty="0"/>
              <a:t> tutte le </a:t>
            </a:r>
            <a:r>
              <a:rPr dirty="0" err="1"/>
              <a:t>righe</a:t>
            </a:r>
            <a:br>
              <a:rPr dirty="0"/>
            </a:br>
            <a:r>
              <a:rPr dirty="0"/>
              <a:t>count(expr)  = </a:t>
            </a:r>
            <a:r>
              <a:rPr dirty="0" err="1"/>
              <a:t>conta</a:t>
            </a:r>
            <a:r>
              <a:rPr dirty="0"/>
              <a:t> </a:t>
            </a:r>
            <a:r>
              <a:rPr dirty="0" err="1"/>
              <a:t>i</a:t>
            </a:r>
            <a:r>
              <a:rPr dirty="0"/>
              <a:t> </a:t>
            </a:r>
            <a:r>
              <a:rPr dirty="0" err="1"/>
              <a:t>valori</a:t>
            </a:r>
            <a:r>
              <a:rPr dirty="0"/>
              <a:t> non-NULL</a:t>
            </a:r>
            <a:br>
              <a:rPr dirty="0"/>
            </a:br>
            <a:r>
              <a:rPr dirty="0"/>
              <a:t>count(DISTINCT expr) = </a:t>
            </a:r>
            <a:r>
              <a:rPr dirty="0" err="1"/>
              <a:t>conta</a:t>
            </a:r>
            <a:r>
              <a:rPr dirty="0"/>
              <a:t> </a:t>
            </a:r>
            <a:r>
              <a:rPr dirty="0" err="1"/>
              <a:t>valori</a:t>
            </a:r>
            <a:r>
              <a:rPr dirty="0"/>
              <a:t> </a:t>
            </a:r>
            <a:r>
              <a:rPr dirty="0" err="1"/>
              <a:t>unici</a:t>
            </a:r>
            <a:br>
              <a:rPr dirty="0"/>
            </a:br>
            <a:br>
              <a:rPr dirty="0"/>
            </a:br>
            <a:r>
              <a:rPr dirty="0"/>
              <a:t>collect(expr)      = </a:t>
            </a:r>
            <a:r>
              <a:rPr dirty="0" err="1"/>
              <a:t>lista</a:t>
            </a:r>
            <a:r>
              <a:rPr dirty="0"/>
              <a:t> di tutti </a:t>
            </a:r>
            <a:r>
              <a:rPr dirty="0" err="1"/>
              <a:t>i</a:t>
            </a:r>
            <a:r>
              <a:rPr dirty="0"/>
              <a:t> </a:t>
            </a:r>
            <a:r>
              <a:rPr dirty="0" err="1"/>
              <a:t>valori</a:t>
            </a:r>
            <a:br>
              <a:rPr dirty="0"/>
            </a:br>
            <a:r>
              <a:rPr dirty="0"/>
              <a:t>collect(DISTINCT)  = </a:t>
            </a:r>
            <a:r>
              <a:rPr dirty="0" err="1"/>
              <a:t>lista</a:t>
            </a:r>
            <a:r>
              <a:rPr dirty="0"/>
              <a:t> senza </a:t>
            </a:r>
            <a:r>
              <a:rPr dirty="0" err="1"/>
              <a:t>duplicati</a:t>
            </a:r>
            <a:br>
              <a:rPr dirty="0"/>
            </a:br>
            <a:br>
              <a:rPr dirty="0"/>
            </a:br>
            <a:r>
              <a:rPr dirty="0"/>
              <a:t>avg(expr)  = media </a:t>
            </a:r>
            <a:r>
              <a:rPr dirty="0" err="1"/>
              <a:t>aritmetica</a:t>
            </a:r>
            <a:br>
              <a:rPr dirty="0"/>
            </a:br>
            <a:r>
              <a:rPr dirty="0"/>
              <a:t>sum(expr)  = somma</a:t>
            </a:r>
            <a:br>
              <a:rPr dirty="0"/>
            </a:br>
            <a:r>
              <a:rPr dirty="0"/>
              <a:t>min(expr)  = </a:t>
            </a:r>
            <a:r>
              <a:rPr dirty="0" err="1"/>
              <a:t>valore</a:t>
            </a:r>
            <a:r>
              <a:rPr dirty="0"/>
              <a:t> </a:t>
            </a:r>
            <a:r>
              <a:rPr dirty="0" err="1"/>
              <a:t>minimo</a:t>
            </a:r>
            <a:br>
              <a:rPr dirty="0"/>
            </a:br>
            <a:r>
              <a:rPr dirty="0"/>
              <a:t>max(expr)  = </a:t>
            </a:r>
            <a:r>
              <a:rPr dirty="0" err="1"/>
              <a:t>valore</a:t>
            </a:r>
            <a:r>
              <a:rPr dirty="0"/>
              <a:t> </a:t>
            </a:r>
            <a:r>
              <a:rPr dirty="0" err="1"/>
              <a:t>massimo</a:t>
            </a:r>
            <a:br>
              <a:rPr dirty="0"/>
            </a:br>
            <a:br>
              <a:rPr dirty="0"/>
            </a:br>
            <a:r>
              <a:rPr dirty="0" err="1"/>
              <a:t>Attenzione</a:t>
            </a:r>
            <a:r>
              <a:rPr dirty="0"/>
              <a:t>: count() è </a:t>
            </a:r>
            <a:r>
              <a:rPr dirty="0" err="1"/>
              <a:t>più</a:t>
            </a:r>
            <a:r>
              <a:rPr dirty="0"/>
              <a:t> veloce</a:t>
            </a:r>
            <a:br>
              <a:rPr dirty="0"/>
            </a:br>
            <a:r>
              <a:rPr dirty="0"/>
              <a:t>di size(collect()) </a:t>
            </a:r>
            <a:r>
              <a:rPr dirty="0" err="1"/>
              <a:t>perché</a:t>
            </a:r>
            <a:r>
              <a:rPr dirty="0"/>
              <a:t> non</a:t>
            </a:r>
            <a:br>
              <a:rPr dirty="0"/>
            </a:br>
            <a:r>
              <a:rPr dirty="0" err="1"/>
              <a:t>costruisce</a:t>
            </a:r>
            <a:r>
              <a:rPr dirty="0"/>
              <a:t> la </a:t>
            </a:r>
            <a:r>
              <a:rPr dirty="0" err="1"/>
              <a:t>lista</a:t>
            </a:r>
            <a:r>
              <a:rPr dirty="0"/>
              <a:t> intermedia.</a:t>
            </a:r>
          </a:p>
        </p:txBody>
      </p:sp>
      <p:sp>
        <p:nvSpPr>
          <p:cNvPr id="7" name="Rectangle 6"/>
          <p:cNvSpPr/>
          <p:nvPr/>
        </p:nvSpPr>
        <p:spPr>
          <a:xfrm>
            <a:off x="731520" y="47548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4937760"/>
            <a:ext cx="10515600" cy="365760"/>
          </a:xfrm>
          <a:prstGeom prst="rect">
            <a:avLst/>
          </a:prstGeom>
          <a:noFill/>
        </p:spPr>
        <p:txBody>
          <a:bodyPr wrap="square">
            <a:spAutoFit/>
          </a:bodyPr>
          <a:lstStyle/>
          <a:p>
            <a:pPr algn="l">
              <a:defRPr sz="1300" b="0">
                <a:solidFill>
                  <a:srgbClr val="F0C040"/>
                </a:solidFill>
                <a:latin typeface="Calibri"/>
              </a:defRPr>
            </a:pPr>
            <a:r>
              <a:t>Ogni RETURN o WITH può mescolare colonne aggregate e non aggregate.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CREATE, MERGE, SET, DELETE — le operazioni di scrittura in Cypher.</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CREATE vs MERGE</a:t>
            </a:r>
          </a:p>
        </p:txBody>
      </p:sp>
      <p:sp>
        <p:nvSpPr>
          <p:cNvPr id="5" name="TextBox 4"/>
          <p:cNvSpPr txBox="1"/>
          <p:nvPr/>
        </p:nvSpPr>
        <p:spPr>
          <a:xfrm>
            <a:off x="731520" y="1828800"/>
            <a:ext cx="5029200" cy="2286000"/>
          </a:xfrm>
          <a:prstGeom prst="rect">
            <a:avLst/>
          </a:prstGeom>
          <a:noFill/>
        </p:spPr>
        <p:txBody>
          <a:bodyPr wrap="square">
            <a:spAutoFit/>
          </a:bodyPr>
          <a:lstStyle/>
          <a:p>
            <a:pPr algn="l">
              <a:spcAft>
                <a:spcPts val="300"/>
              </a:spcAft>
              <a:defRPr sz="1200">
                <a:solidFill>
                  <a:srgbClr val="FFFFFF"/>
                </a:solidFill>
                <a:latin typeface="Calibri"/>
              </a:defRPr>
            </a:pPr>
            <a:r>
              <a:t>•  CREATE — inserisce sempre. Se il nodo già esiste, lo duplica o fallisce</a:t>
            </a:r>
          </a:p>
          <a:p>
            <a:pPr algn="l">
              <a:spcAft>
                <a:spcPts val="300"/>
              </a:spcAft>
              <a:defRPr sz="1200">
                <a:solidFill>
                  <a:srgbClr val="FFFFFF"/>
                </a:solidFill>
                <a:latin typeface="Calibri"/>
              </a:defRPr>
            </a:pPr>
            <a:r>
              <a:t>•  MERGE — match-or-create: cerca il pattern, se non esiste lo crea</a:t>
            </a:r>
          </a:p>
          <a:p>
            <a:pPr algn="l">
              <a:spcAft>
                <a:spcPts val="300"/>
              </a:spcAft>
              <a:defRPr sz="1200">
                <a:solidFill>
                  <a:srgbClr val="FFFFFF"/>
                </a:solidFill>
                <a:latin typeface="Calibri"/>
              </a:defRPr>
            </a:pPr>
            <a:r>
              <a:t>•  MERGE è IDEMPOTENTE — eseguirlo N volte produce lo stesso risultato</a:t>
            </a:r>
          </a:p>
          <a:p>
            <a:pPr algn="l">
              <a:spcAft>
                <a:spcPts val="300"/>
              </a:spcAft>
              <a:defRPr sz="1200">
                <a:solidFill>
                  <a:srgbClr val="FFFFFF"/>
                </a:solidFill>
                <a:latin typeface="Calibri"/>
              </a:defRPr>
            </a:pPr>
            <a:r>
              <a:t>•  Preferire MERGE su chiave univoca + constraint UNIQUE</a:t>
            </a:r>
          </a:p>
        </p:txBody>
      </p:sp>
      <p:sp>
        <p:nvSpPr>
          <p:cNvPr id="6" name="Rectangle 5"/>
          <p:cNvSpPr/>
          <p:nvPr/>
        </p:nvSpPr>
        <p:spPr>
          <a:xfrm>
            <a:off x="731520" y="4206240"/>
            <a:ext cx="50292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8" y="4279392"/>
            <a:ext cx="4809744" cy="1682496"/>
          </a:xfrm>
          <a:prstGeom prst="rect">
            <a:avLst/>
          </a:prstGeom>
          <a:noFill/>
        </p:spPr>
        <p:txBody>
          <a:bodyPr wrap="square">
            <a:spAutoFit/>
          </a:bodyPr>
          <a:lstStyle/>
          <a:p>
            <a:pPr>
              <a:spcAft>
                <a:spcPts val="100"/>
              </a:spcAft>
              <a:defRPr sz="1000">
                <a:solidFill>
                  <a:srgbClr val="7EC68E"/>
                </a:solidFill>
                <a:latin typeface="Consolas"/>
              </a:defRPr>
            </a:pPr>
            <a:r>
              <a:t>// CREATE: crea sempre un nuovo nodo</a:t>
            </a:r>
          </a:p>
          <a:p>
            <a:pPr>
              <a:spcAft>
                <a:spcPts val="100"/>
              </a:spcAft>
              <a:defRPr sz="1000">
                <a:solidFill>
                  <a:srgbClr val="7EC68E"/>
                </a:solidFill>
                <a:latin typeface="Consolas"/>
              </a:defRPr>
            </a:pPr>
            <a:r>
              <a:t>CREATE (p:Person {</a:t>
            </a:r>
          </a:p>
          <a:p>
            <a:pPr>
              <a:spcAft>
                <a:spcPts val="100"/>
              </a:spcAft>
              <a:defRPr sz="1000">
                <a:solidFill>
                  <a:srgbClr val="7EC68E"/>
                </a:solidFill>
                <a:latin typeface="Consolas"/>
              </a:defRPr>
            </a:pPr>
            <a:r>
              <a:t>  employee_id: 999,</a:t>
            </a:r>
          </a:p>
          <a:p>
            <a:pPr>
              <a:spcAft>
                <a:spcPts val="100"/>
              </a:spcAft>
              <a:defRPr sz="1000">
                <a:solidFill>
                  <a:srgbClr val="7EC68E"/>
                </a:solidFill>
                <a:latin typeface="Consolas"/>
              </a:defRPr>
            </a:pPr>
            <a:r>
              <a:t>  name: "Test User",</a:t>
            </a:r>
          </a:p>
          <a:p>
            <a:pPr>
              <a:spcAft>
                <a:spcPts val="100"/>
              </a:spcAft>
              <a:defRPr sz="1000">
                <a:solidFill>
                  <a:srgbClr val="7EC68E"/>
                </a:solidFill>
                <a:latin typeface="Consolas"/>
              </a:defRPr>
            </a:pPr>
            <a:r>
              <a:t>  location: "Test"});</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MERGE: cerca per chiave, imposta props</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"Test User",</a:t>
            </a:r>
          </a:p>
          <a:p>
            <a:pPr>
              <a:spcAft>
                <a:spcPts val="100"/>
              </a:spcAft>
              <a:defRPr sz="1000">
                <a:solidFill>
                  <a:srgbClr val="7EC68E"/>
                </a:solidFill>
                <a:latin typeface="Consolas"/>
              </a:defRPr>
            </a:pPr>
            <a:r>
              <a:t>      p.location = "Test";</a:t>
            </a:r>
          </a:p>
        </p:txBody>
      </p:sp>
      <p:sp>
        <p:nvSpPr>
          <p:cNvPr id="8" name="TextBox 7"/>
          <p:cNvSpPr txBox="1"/>
          <p:nvPr/>
        </p:nvSpPr>
        <p:spPr>
          <a:xfrm>
            <a:off x="6096000" y="1417320"/>
            <a:ext cx="4846320" cy="411480"/>
          </a:xfrm>
          <a:prstGeom prst="rect">
            <a:avLst/>
          </a:prstGeom>
          <a:noFill/>
        </p:spPr>
        <p:txBody>
          <a:bodyPr wrap="square">
            <a:spAutoFit/>
          </a:bodyPr>
          <a:lstStyle/>
          <a:p>
            <a:pPr algn="l">
              <a:defRPr sz="1600" b="1">
                <a:solidFill>
                  <a:srgbClr val="F08040"/>
                </a:solidFill>
                <a:latin typeface="Calibri"/>
              </a:defRPr>
            </a:pPr>
            <a:r>
              <a:t>SET, DELETE, ON CREATE/MATCH</a:t>
            </a:r>
          </a:p>
        </p:txBody>
      </p:sp>
      <p:sp>
        <p:nvSpPr>
          <p:cNvPr id="9" name="Rectangle 8"/>
          <p:cNvSpPr/>
          <p:nvPr/>
        </p:nvSpPr>
        <p:spPr>
          <a:xfrm>
            <a:off x="6096000" y="1828800"/>
            <a:ext cx="484632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05728" y="1901952"/>
            <a:ext cx="4626864" cy="3054096"/>
          </a:xfrm>
          <a:prstGeom prst="rect">
            <a:avLst/>
          </a:prstGeom>
          <a:noFill/>
        </p:spPr>
        <p:txBody>
          <a:bodyPr wrap="square">
            <a:spAutoFit/>
          </a:bodyPr>
          <a:lstStyle/>
          <a:p>
            <a:pPr>
              <a:spcAft>
                <a:spcPts val="100"/>
              </a:spcAft>
              <a:defRPr sz="1000">
                <a:solidFill>
                  <a:srgbClr val="7EC68E"/>
                </a:solidFill>
                <a:latin typeface="Consolas"/>
              </a:defRPr>
            </a:pPr>
            <a:r>
              <a:t>// SET = aggiorna proprietà esistenti</a:t>
            </a:r>
          </a:p>
          <a:p>
            <a:pPr>
              <a:spcAft>
                <a:spcPts val="100"/>
              </a:spcAft>
              <a:defRPr sz="1000">
                <a:solidFill>
                  <a:srgbClr val="7EC68E"/>
                </a:solidFill>
                <a:latin typeface="Consolas"/>
              </a:defRPr>
            </a:pPr>
            <a:r>
              <a:t>MATCH (p:Person {employee_id: 1})</a:t>
            </a:r>
          </a:p>
          <a:p>
            <a:pPr>
              <a:spcAft>
                <a:spcPts val="100"/>
              </a:spcAft>
              <a:defRPr sz="1000">
                <a:solidFill>
                  <a:srgbClr val="7EC68E"/>
                </a:solidFill>
                <a:latin typeface="Consolas"/>
              </a:defRPr>
            </a:pPr>
            <a:r>
              <a:t>SET p.email = "mario.rossi@azienda.com";</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SET += unisce props (merge safe):</a:t>
            </a:r>
          </a:p>
          <a:p>
            <a:pPr>
              <a:spcAft>
                <a:spcPts val="100"/>
              </a:spcAft>
              <a:defRPr sz="1000">
                <a:solidFill>
                  <a:srgbClr val="7EC68E"/>
                </a:solidFill>
                <a:latin typeface="Consolas"/>
              </a:defRPr>
            </a:pPr>
            <a:r>
              <a:t>SET p += {email: "mario@co.com",</a:t>
            </a:r>
          </a:p>
          <a:p>
            <a:pPr>
              <a:spcAft>
                <a:spcPts val="100"/>
              </a:spcAft>
              <a:defRPr sz="1000">
                <a:solidFill>
                  <a:srgbClr val="7EC68E"/>
                </a:solidFill>
                <a:latin typeface="Consolas"/>
              </a:defRPr>
            </a:pPr>
            <a:r>
              <a:t>         phone: "+39 333 1234567"};</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ON CREATE / ON MATCH con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ON CREATE SET p.created = date()</a:t>
            </a:r>
          </a:p>
          <a:p>
            <a:pPr>
              <a:spcAft>
                <a:spcPts val="100"/>
              </a:spcAft>
              <a:defRPr sz="1000">
                <a:solidFill>
                  <a:srgbClr val="7EC68E"/>
                </a:solidFill>
                <a:latin typeface="Consolas"/>
              </a:defRPr>
            </a:pPr>
            <a:r>
              <a:t>  ON MATCH  SET p.updated = date();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DELETE (DETACH per nodi con relazioni):</a:t>
            </a:r>
          </a:p>
          <a:p>
            <a:pPr>
              <a:spcAft>
                <a:spcPts val="100"/>
              </a:spcAft>
              <a:defRPr sz="1000">
                <a:solidFill>
                  <a:srgbClr val="7EC68E"/>
                </a:solidFill>
                <a:latin typeface="Consolas"/>
              </a:defRPr>
            </a:pPr>
            <a:r>
              <a:t>MATCH (p:Person {employee_id: 999})</a:t>
            </a:r>
          </a:p>
          <a:p>
            <a:pPr>
              <a:spcAft>
                <a:spcPts val="100"/>
              </a:spcAft>
              <a:defRPr sz="1000">
                <a:solidFill>
                  <a:srgbClr val="7EC68E"/>
                </a:solidFill>
                <a:latin typeface="Consolas"/>
              </a:defRPr>
            </a:pPr>
            <a:r>
              <a:t>DETACH DELETE 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 constraint garantiscono l'integrità dei dati. Vanno creati PRIMA del caricamento.</a:t>
            </a:r>
          </a:p>
        </p:txBody>
      </p:sp>
      <p:sp>
        <p:nvSpPr>
          <p:cNvPr id="4" name="TextBox 3"/>
          <p:cNvSpPr txBox="1"/>
          <p:nvPr/>
        </p:nvSpPr>
        <p:spPr>
          <a:xfrm>
            <a:off x="731520" y="137160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UNIQUE — unicità su una proprietà (es: Person.employee_id)</a:t>
            </a:r>
          </a:p>
          <a:p>
            <a:pPr algn="l">
              <a:spcAft>
                <a:spcPts val="300"/>
              </a:spcAft>
              <a:defRPr sz="1200">
                <a:solidFill>
                  <a:srgbClr val="FFFFFF"/>
                </a:solidFill>
                <a:latin typeface="Calibri"/>
              </a:defRPr>
            </a:pPr>
            <a:r>
              <a:t>  Crea automaticamente un indice RANGE</a:t>
            </a:r>
          </a:p>
          <a:p>
            <a:pPr algn="l">
              <a:spcAft>
                <a:spcPts val="300"/>
              </a:spcAft>
              <a:defRPr sz="1200">
                <a:solidFill>
                  <a:srgbClr val="FFFFFF"/>
                </a:solidFill>
                <a:latin typeface="Calibri"/>
              </a:defRPr>
            </a:pPr>
            <a:r>
              <a:t>  Rilevante per MERGE: senza constraint, MERGE concorrente può duplicare</a:t>
            </a:r>
          </a:p>
          <a:p>
            <a:pPr algn="l">
              <a:spcAft>
                <a:spcPts val="300"/>
              </a:spcAft>
              <a:defRPr sz="1200">
                <a:solidFill>
                  <a:srgbClr val="FFFFFF"/>
                </a:solidFill>
                <a:latin typeface="Calibri"/>
              </a:defRPr>
            </a:pPr>
            <a:r>
              <a:t>•  EXISTS — proprietà obbligatoria (es: Person.name non può essere null)</a:t>
            </a:r>
          </a:p>
          <a:p>
            <a:pPr algn="l">
              <a:spcAft>
                <a:spcPts val="300"/>
              </a:spcAft>
              <a:defRPr sz="1200">
                <a:solidFill>
                  <a:srgbClr val="FFFFFF"/>
                </a:solidFill>
                <a:latin typeface="Calibri"/>
              </a:defRPr>
            </a:pPr>
            <a:r>
              <a:t>•  NODE KEY — unicità + exists combinati su una o più proprietà</a:t>
            </a:r>
          </a:p>
        </p:txBody>
      </p:sp>
      <p:sp>
        <p:nvSpPr>
          <p:cNvPr id="5" name="Rectangle 4"/>
          <p:cNvSpPr/>
          <p:nvPr/>
        </p:nvSpPr>
        <p:spPr>
          <a:xfrm>
            <a:off x="6096000" y="1280160"/>
            <a:ext cx="4846320" cy="2139696"/>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05728" y="1353312"/>
            <a:ext cx="4626864" cy="1865376"/>
          </a:xfrm>
          <a:prstGeom prst="rect">
            <a:avLst/>
          </a:prstGeom>
          <a:noFill/>
        </p:spPr>
        <p:txBody>
          <a:bodyPr wrap="square">
            <a:spAutoFit/>
          </a:bodyPr>
          <a:lstStyle/>
          <a:p>
            <a:pPr>
              <a:spcAft>
                <a:spcPts val="100"/>
              </a:spcAft>
              <a:defRPr sz="1000">
                <a:solidFill>
                  <a:srgbClr val="7EC68E"/>
                </a:solidFill>
                <a:latin typeface="Consolas"/>
              </a:defRPr>
            </a:pPr>
            <a:r>
              <a:rPr dirty="0"/>
              <a:t>CREATE CONSTRAINT </a:t>
            </a:r>
            <a:r>
              <a:rPr dirty="0" err="1"/>
              <a:t>person_id</a:t>
            </a:r>
            <a:r>
              <a:rPr dirty="0"/>
              <a:t> IF NOT EXISTS</a:t>
            </a:r>
          </a:p>
          <a:p>
            <a:pPr>
              <a:spcAft>
                <a:spcPts val="100"/>
              </a:spcAft>
              <a:defRPr sz="1000">
                <a:solidFill>
                  <a:srgbClr val="7EC68E"/>
                </a:solidFill>
                <a:latin typeface="Consolas"/>
              </a:defRPr>
            </a:pPr>
            <a:r>
              <a:rPr dirty="0"/>
              <a:t>  FOR (</a:t>
            </a:r>
            <a:r>
              <a:rPr dirty="0" err="1"/>
              <a:t>p:Person</a:t>
            </a:r>
            <a:r>
              <a:rPr dirty="0"/>
              <a:t>)</a:t>
            </a:r>
          </a:p>
          <a:p>
            <a:pPr>
              <a:spcAft>
                <a:spcPts val="100"/>
              </a:spcAft>
              <a:defRPr sz="1000">
                <a:solidFill>
                  <a:srgbClr val="7EC68E"/>
                </a:solidFill>
                <a:latin typeface="Consolas"/>
              </a:defRPr>
            </a:pPr>
            <a:r>
              <a:rPr dirty="0"/>
              <a:t>  REQUIRE </a:t>
            </a:r>
            <a:r>
              <a:rPr dirty="0" err="1"/>
              <a:t>p.employee_id</a:t>
            </a:r>
            <a:r>
              <a:rPr dirty="0"/>
              <a:t> IS UNIQUE;</a:t>
            </a:r>
          </a:p>
          <a:p>
            <a:pPr>
              <a:spcAft>
                <a:spcPts val="100"/>
              </a:spcAft>
              <a:defRPr sz="1000">
                <a:solidFill>
                  <a:srgbClr val="7EC68E"/>
                </a:solidFill>
                <a:latin typeface="Consolas"/>
              </a:defRPr>
            </a:pPr>
            <a:endParaRPr dirty="0"/>
          </a:p>
          <a:p>
            <a:pPr>
              <a:spcAft>
                <a:spcPts val="100"/>
              </a:spcAft>
              <a:defRPr sz="1000">
                <a:solidFill>
                  <a:srgbClr val="7EC68E"/>
                </a:solidFill>
                <a:latin typeface="Consolas"/>
              </a:defRPr>
            </a:pPr>
            <a:r>
              <a:rPr dirty="0"/>
              <a:t>CREATE CONSTRAINT </a:t>
            </a:r>
            <a:r>
              <a:rPr dirty="0" err="1"/>
              <a:t>person_name</a:t>
            </a:r>
            <a:r>
              <a:rPr dirty="0"/>
              <a:t> IF NOT EXISTS</a:t>
            </a:r>
          </a:p>
          <a:p>
            <a:pPr>
              <a:spcAft>
                <a:spcPts val="100"/>
              </a:spcAft>
              <a:defRPr sz="1000">
                <a:solidFill>
                  <a:srgbClr val="7EC68E"/>
                </a:solidFill>
                <a:latin typeface="Consolas"/>
              </a:defRPr>
            </a:pPr>
            <a:r>
              <a:rPr dirty="0"/>
              <a:t>  FOR (</a:t>
            </a:r>
            <a:r>
              <a:rPr dirty="0" err="1"/>
              <a:t>p:Person</a:t>
            </a:r>
            <a:r>
              <a:rPr dirty="0"/>
              <a:t>)</a:t>
            </a:r>
          </a:p>
          <a:p>
            <a:pPr>
              <a:spcAft>
                <a:spcPts val="100"/>
              </a:spcAft>
              <a:defRPr sz="1000">
                <a:solidFill>
                  <a:srgbClr val="7EC68E"/>
                </a:solidFill>
                <a:latin typeface="Consolas"/>
              </a:defRPr>
            </a:pPr>
            <a:r>
              <a:rPr dirty="0"/>
              <a:t>  REQUIRE p.name IS NOT NULL;</a:t>
            </a:r>
          </a:p>
          <a:p>
            <a:pPr>
              <a:spcAft>
                <a:spcPts val="100"/>
              </a:spcAft>
              <a:defRPr sz="1000">
                <a:solidFill>
                  <a:srgbClr val="7EC68E"/>
                </a:solidFill>
                <a:latin typeface="Consolas"/>
              </a:defRPr>
            </a:pPr>
            <a:endParaRPr dirty="0"/>
          </a:p>
          <a:p>
            <a:pPr>
              <a:spcAft>
                <a:spcPts val="100"/>
              </a:spcAft>
              <a:defRPr sz="1000">
                <a:solidFill>
                  <a:srgbClr val="7EC68E"/>
                </a:solidFill>
                <a:latin typeface="Consolas"/>
              </a:defRPr>
            </a:pPr>
            <a:r>
              <a:rPr dirty="0"/>
              <a:t>// Node Key </a:t>
            </a:r>
            <a:r>
              <a:rPr dirty="0" err="1"/>
              <a:t>composto</a:t>
            </a:r>
            <a:r>
              <a:rPr dirty="0"/>
              <a:t>:</a:t>
            </a:r>
          </a:p>
          <a:p>
            <a:pPr>
              <a:spcAft>
                <a:spcPts val="100"/>
              </a:spcAft>
              <a:defRPr sz="1000">
                <a:solidFill>
                  <a:srgbClr val="7EC68E"/>
                </a:solidFill>
                <a:latin typeface="Consolas"/>
              </a:defRPr>
            </a:pPr>
            <a:r>
              <a:rPr dirty="0"/>
              <a:t>CREATE CONSTRAINT </a:t>
            </a:r>
            <a:r>
              <a:rPr dirty="0" err="1"/>
              <a:t>project_key</a:t>
            </a:r>
            <a:r>
              <a:rPr dirty="0"/>
              <a:t> IF NOT EXISTS</a:t>
            </a:r>
          </a:p>
          <a:p>
            <a:pPr>
              <a:spcAft>
                <a:spcPts val="100"/>
              </a:spcAft>
              <a:defRPr sz="1000">
                <a:solidFill>
                  <a:srgbClr val="7EC68E"/>
                </a:solidFill>
                <a:latin typeface="Consolas"/>
              </a:defRPr>
            </a:pPr>
            <a:r>
              <a:rPr dirty="0"/>
              <a:t>  FOR (</a:t>
            </a:r>
            <a:r>
              <a:rPr dirty="0" err="1"/>
              <a:t>p:Project</a:t>
            </a:r>
            <a:r>
              <a:rPr dirty="0"/>
              <a:t>)</a:t>
            </a:r>
          </a:p>
          <a:p>
            <a:pPr>
              <a:spcAft>
                <a:spcPts val="100"/>
              </a:spcAft>
              <a:defRPr sz="1000">
                <a:solidFill>
                  <a:srgbClr val="7EC68E"/>
                </a:solidFill>
                <a:latin typeface="Consolas"/>
              </a:defRPr>
            </a:pPr>
            <a:r>
              <a:rPr dirty="0"/>
              <a:t>  REQUIRE (</a:t>
            </a:r>
            <a:r>
              <a:rPr dirty="0" err="1"/>
              <a:t>p.project_id</a:t>
            </a:r>
            <a:r>
              <a:rPr dirty="0"/>
              <a:t>, p.name) IS NODE KEY;</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8040"/>
                </a:solidFill>
                <a:latin typeface="Calibri"/>
              </a:defRPr>
            </a:pPr>
            <a:r>
              <a:t>Verificare i constraint esistenti:</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000">
                <a:solidFill>
                  <a:srgbClr val="7EC68E"/>
                </a:solidFill>
                <a:latin typeface="Consolas"/>
              </a:defRPr>
            </a:pPr>
            <a:r>
              <a:t>SHOW CONSTRAINTS;</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Output esempio:</a:t>
            </a:r>
          </a:p>
          <a:p>
            <a:pPr>
              <a:spcAft>
                <a:spcPts val="100"/>
              </a:spcAft>
              <a:defRPr sz="1000">
                <a:solidFill>
                  <a:srgbClr val="7EC68E"/>
                </a:solidFill>
                <a:latin typeface="Consolas"/>
              </a:defRPr>
            </a:pPr>
            <a:r>
              <a:t>// name          | type   | label    | properties</a:t>
            </a:r>
          </a:p>
          <a:p>
            <a:pPr>
              <a:spcAft>
                <a:spcPts val="100"/>
              </a:spcAft>
              <a:defRPr sz="1000">
                <a:solidFill>
                  <a:srgbClr val="7EC68E"/>
                </a:solidFill>
                <a:latin typeface="Consolas"/>
              </a:defRPr>
            </a:pPr>
            <a:r>
              <a:t>// person_id     | UNIQUE | Person   | employee_id</a:t>
            </a:r>
          </a:p>
          <a:p>
            <a:pPr>
              <a:spcAft>
                <a:spcPts val="100"/>
              </a:spcAft>
              <a:defRPr sz="1000">
                <a:solidFill>
                  <a:srgbClr val="7EC68E"/>
                </a:solidFill>
                <a:latin typeface="Consolas"/>
              </a:defRPr>
            </a:pPr>
            <a:r>
              <a:t>// person_name   | EXISTS | Person   | name</a:t>
            </a:r>
          </a:p>
          <a:p>
            <a:pPr>
              <a:spcAft>
                <a:spcPts val="100"/>
              </a:spcAft>
              <a:defRPr sz="1000">
                <a:solidFill>
                  <a:srgbClr val="7EC68E"/>
                </a:solidFill>
                <a:latin typeface="Consolas"/>
              </a:defRPr>
            </a:pPr>
            <a:r>
              <a:t>// project_key   | NODE KEY | Project | project_id, name</a:t>
            </a:r>
          </a:p>
        </p:txBody>
      </p:sp>
      <p:sp>
        <p:nvSpPr>
          <p:cNvPr id="11" name="TextBox 10"/>
          <p:cNvSpPr txBox="1"/>
          <p:nvPr/>
        </p:nvSpPr>
        <p:spPr>
          <a:xfrm>
            <a:off x="6096000" y="4297680"/>
            <a:ext cx="4846320" cy="1569660"/>
          </a:xfrm>
          <a:prstGeom prst="rect">
            <a:avLst/>
          </a:prstGeom>
          <a:noFill/>
        </p:spPr>
        <p:txBody>
          <a:bodyPr wrap="square">
            <a:spAutoFit/>
          </a:bodyPr>
          <a:lstStyle/>
          <a:p>
            <a:pPr algn="l">
              <a:defRPr sz="1200" b="0">
                <a:solidFill>
                  <a:srgbClr val="CCCCCC"/>
                </a:solidFill>
                <a:latin typeface="Calibri"/>
              </a:defRPr>
            </a:pPr>
            <a:r>
              <a:rPr dirty="0" err="1"/>
              <a:t>Perché</a:t>
            </a:r>
            <a:r>
              <a:rPr dirty="0"/>
              <a:t> </a:t>
            </a:r>
            <a:r>
              <a:rPr dirty="0" err="1"/>
              <a:t>creare</a:t>
            </a:r>
            <a:r>
              <a:rPr dirty="0"/>
              <a:t> constraint PRIMA?</a:t>
            </a:r>
            <a:br>
              <a:rPr dirty="0"/>
            </a:br>
            <a:br>
              <a:rPr dirty="0"/>
            </a:br>
            <a:r>
              <a:rPr dirty="0"/>
              <a:t>1. Il </a:t>
            </a:r>
            <a:r>
              <a:rPr dirty="0" err="1"/>
              <a:t>caricamento</a:t>
            </a:r>
            <a:r>
              <a:rPr dirty="0"/>
              <a:t> </a:t>
            </a:r>
            <a:r>
              <a:rPr dirty="0" err="1"/>
              <a:t>fallisce</a:t>
            </a:r>
            <a:r>
              <a:rPr dirty="0"/>
              <a:t> subito se</a:t>
            </a:r>
            <a:r>
              <a:rPr lang="en-US" dirty="0"/>
              <a:t> </a:t>
            </a:r>
            <a:r>
              <a:rPr dirty="0" err="1"/>
              <a:t>i</a:t>
            </a:r>
            <a:r>
              <a:rPr dirty="0"/>
              <a:t> </a:t>
            </a:r>
            <a:r>
              <a:rPr dirty="0" err="1"/>
              <a:t>dati</a:t>
            </a:r>
            <a:r>
              <a:rPr dirty="0"/>
              <a:t> </a:t>
            </a:r>
            <a:r>
              <a:rPr dirty="0" err="1"/>
              <a:t>violano</a:t>
            </a:r>
            <a:r>
              <a:rPr dirty="0"/>
              <a:t> </a:t>
            </a:r>
            <a:r>
              <a:rPr dirty="0" err="1"/>
              <a:t>i</a:t>
            </a:r>
            <a:r>
              <a:rPr dirty="0"/>
              <a:t> </a:t>
            </a:r>
            <a:r>
              <a:rPr dirty="0" err="1"/>
              <a:t>vincoli</a:t>
            </a:r>
            <a:br>
              <a:rPr dirty="0"/>
            </a:br>
            <a:r>
              <a:rPr dirty="0"/>
              <a:t>2. MERGE </a:t>
            </a:r>
            <a:r>
              <a:rPr dirty="0" err="1"/>
              <a:t>su</a:t>
            </a:r>
            <a:r>
              <a:rPr dirty="0"/>
              <a:t> </a:t>
            </a:r>
            <a:r>
              <a:rPr dirty="0" err="1"/>
              <a:t>proprietà</a:t>
            </a:r>
            <a:r>
              <a:rPr dirty="0"/>
              <a:t> UNIQUE è </a:t>
            </a:r>
            <a:r>
              <a:rPr dirty="0" err="1"/>
              <a:t>atomicamente</a:t>
            </a:r>
            <a:r>
              <a:rPr dirty="0"/>
              <a:t> </a:t>
            </a:r>
            <a:r>
              <a:rPr dirty="0" err="1"/>
              <a:t>sicuro</a:t>
            </a:r>
            <a:br>
              <a:rPr dirty="0"/>
            </a:br>
            <a:r>
              <a:rPr dirty="0"/>
              <a:t>3. </a:t>
            </a:r>
            <a:r>
              <a:rPr dirty="0" err="1"/>
              <a:t>L’indice</a:t>
            </a:r>
            <a:r>
              <a:rPr dirty="0"/>
              <a:t> </a:t>
            </a:r>
            <a:r>
              <a:rPr dirty="0" err="1"/>
              <a:t>sottostante</a:t>
            </a:r>
            <a:r>
              <a:rPr dirty="0"/>
              <a:t> </a:t>
            </a:r>
            <a:r>
              <a:rPr dirty="0" err="1"/>
              <a:t>accelera</a:t>
            </a:r>
            <a:r>
              <a:rPr dirty="0"/>
              <a:t> il </a:t>
            </a:r>
            <a:r>
              <a:rPr dirty="0" err="1"/>
              <a:t>caricamento</a:t>
            </a:r>
            <a:r>
              <a:rPr dirty="0"/>
              <a:t> (</a:t>
            </a:r>
            <a:r>
              <a:rPr dirty="0" err="1"/>
              <a:t>nessuna</a:t>
            </a:r>
            <a:r>
              <a:rPr dirty="0"/>
              <a:t> </a:t>
            </a:r>
            <a:r>
              <a:rPr dirty="0" err="1"/>
              <a:t>scansione</a:t>
            </a:r>
            <a:r>
              <a:rPr dirty="0"/>
              <a:t>)</a:t>
            </a:r>
            <a:br>
              <a:rPr dirty="0"/>
            </a:br>
            <a:br>
              <a:rPr dirty="0"/>
            </a:br>
            <a:r>
              <a:rPr dirty="0" err="1"/>
              <a:t>Regola</a:t>
            </a:r>
            <a:r>
              <a:rPr dirty="0"/>
              <a:t>: CREATE CONSTRAINT ... →</a:t>
            </a:r>
            <a:r>
              <a:rPr lang="en-US" dirty="0"/>
              <a:t> </a:t>
            </a:r>
            <a:r>
              <a:rPr dirty="0"/>
              <a:t>LOAD DATA → SHOW CONSTRAINTS</a:t>
            </a:r>
            <a:r>
              <a:rPr lang="en-US" dirty="0"/>
              <a:t> </a:t>
            </a:r>
            <a:r>
              <a:rPr dirty="0"/>
              <a:t>per </a:t>
            </a:r>
            <a:r>
              <a:rPr dirty="0" err="1"/>
              <a:t>verificare</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Gli indici accelerano la lettura. Senza indice, Neo4j esegue NodeByLabelScan (legge tutti i nodi).</a:t>
            </a:r>
          </a:p>
        </p:txBody>
      </p:sp>
      <p:sp>
        <p:nvSpPr>
          <p:cNvPr id="4" name="TextBox 3"/>
          <p:cNvSpPr txBox="1"/>
          <p:nvPr/>
        </p:nvSpPr>
        <p:spPr>
          <a:xfrm>
            <a:off x="731520" y="146304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RANGE (default) — per confronti esatti, range, ORDER BY</a:t>
            </a:r>
          </a:p>
          <a:p>
            <a:pPr algn="l">
              <a:spcAft>
                <a:spcPts val="300"/>
              </a:spcAft>
              <a:defRPr sz="1200">
                <a:solidFill>
                  <a:srgbClr val="FFFFFF"/>
                </a:solidFill>
                <a:latin typeface="Calibri"/>
              </a:defRPr>
            </a:pPr>
            <a:r>
              <a:t>•  TEXT — per CONTAINS, STARTS WITH, ENDS WITH</a:t>
            </a:r>
          </a:p>
          <a:p>
            <a:pPr algn="l">
              <a:spcAft>
                <a:spcPts val="300"/>
              </a:spcAft>
              <a:defRPr sz="1200">
                <a:solidFill>
                  <a:srgbClr val="FFFFFF"/>
                </a:solidFill>
                <a:latin typeface="Calibri"/>
              </a:defRPr>
            </a:pPr>
            <a:r>
              <a:t>•  POINT — per ricerche geospaziali</a:t>
            </a:r>
          </a:p>
          <a:p>
            <a:pPr algn="l">
              <a:spcAft>
                <a:spcPts val="300"/>
              </a:spcAft>
              <a:defRPr sz="1200">
                <a:solidFill>
                  <a:srgbClr val="FFFFFF"/>
                </a:solidFill>
                <a:latin typeface="Calibri"/>
              </a:defRPr>
            </a:pPr>
            <a:r>
              <a:t>•  FULLTEXT — per ricerca testuale avanzata (tokenizzazione)</a:t>
            </a:r>
          </a:p>
          <a:p>
            <a:pPr algn="l">
              <a:spcAft>
                <a:spcPts val="300"/>
              </a:spcAft>
              <a:defRPr sz="1200">
                <a:solidFill>
                  <a:srgbClr val="FFFFFF"/>
                </a:solidFill>
                <a:latin typeface="Calibri"/>
              </a:defRPr>
            </a:pPr>
            <a:r>
              <a:t>•  I constraint UNIQUE creano automaticamente un indice RANGE</a:t>
            </a:r>
          </a:p>
          <a:p>
            <a:pPr algn="l">
              <a:spcAft>
                <a:spcPts val="300"/>
              </a:spcAft>
              <a:defRPr sz="1200">
                <a:solidFill>
                  <a:srgbClr val="FFFFFF"/>
                </a:solidFill>
                <a:latin typeface="Calibri"/>
              </a:defRPr>
            </a:pPr>
            <a:r>
              <a:t>•  Gli indici migliorano la LETTURA ma rallentano leggermente la SCRITTURA</a:t>
            </a:r>
          </a:p>
        </p:txBody>
      </p:sp>
      <p:sp>
        <p:nvSpPr>
          <p:cNvPr id="5" name="Rectangle 4"/>
          <p:cNvSpPr/>
          <p:nvPr/>
        </p:nvSpPr>
        <p:spPr>
          <a:xfrm>
            <a:off x="6096000" y="1371600"/>
            <a:ext cx="4846320" cy="21488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05728" y="1444752"/>
            <a:ext cx="4626864" cy="1865376"/>
          </a:xfrm>
          <a:prstGeom prst="rect">
            <a:avLst/>
          </a:prstGeom>
          <a:noFill/>
        </p:spPr>
        <p:txBody>
          <a:bodyPr wrap="square">
            <a:spAutoFit/>
          </a:bodyPr>
          <a:lstStyle/>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CREATE TEXT INDEX skill_name IF NOT EXISTS</a:t>
            </a:r>
          </a:p>
          <a:p>
            <a:pPr>
              <a:spcAft>
                <a:spcPts val="100"/>
              </a:spcAft>
              <a:defRPr sz="1000">
                <a:solidFill>
                  <a:srgbClr val="7EC68E"/>
                </a:solidFill>
                <a:latin typeface="Consolas"/>
              </a:defRPr>
            </a:pPr>
            <a:r>
              <a:t>  FOR (s:Skill) ON (s.name);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Indice composito:</a:t>
            </a:r>
          </a:p>
          <a:p>
            <a:pPr>
              <a:spcAft>
                <a:spcPts val="100"/>
              </a:spcAft>
              <a:defRPr sz="1000">
                <a:solidFill>
                  <a:srgbClr val="7EC68E"/>
                </a:solidFill>
                <a:latin typeface="Consolas"/>
              </a:defRPr>
            </a:pPr>
            <a:r>
              <a:t>CREATE INDEX person_dept_role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ON (p.department, p.title);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SHOW INDEXES;</a:t>
            </a:r>
          </a:p>
        </p:txBody>
      </p:sp>
      <p:sp>
        <p:nvSpPr>
          <p:cNvPr id="7" name="Rectangle 6"/>
          <p:cNvSpPr/>
          <p:nvPr/>
        </p:nvSpPr>
        <p:spPr>
          <a:xfrm>
            <a:off x="731520" y="379476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977640"/>
            <a:ext cx="10515600" cy="365760"/>
          </a:xfrm>
          <a:prstGeom prst="rect">
            <a:avLst/>
          </a:prstGeom>
          <a:noFill/>
        </p:spPr>
        <p:txBody>
          <a:bodyPr wrap="square">
            <a:spAutoFit/>
          </a:bodyPr>
          <a:lstStyle/>
          <a:p>
            <a:pPr algn="l">
              <a:defRPr sz="1500" b="1">
                <a:solidFill>
                  <a:srgbClr val="F08040"/>
                </a:solidFill>
                <a:latin typeface="Calibri"/>
              </a:defRPr>
            </a:pPr>
            <a:r>
              <a:t>PROFILE: vedere se la query usa l’indice</a:t>
            </a:r>
          </a:p>
        </p:txBody>
      </p:sp>
      <p:sp>
        <p:nvSpPr>
          <p:cNvPr id="9" name="Rectangle 8"/>
          <p:cNvSpPr/>
          <p:nvPr/>
        </p:nvSpPr>
        <p:spPr>
          <a:xfrm>
            <a:off x="731520" y="4434840"/>
            <a:ext cx="50292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4507992"/>
            <a:ext cx="4809744" cy="1682496"/>
          </a:xfrm>
          <a:prstGeom prst="rect">
            <a:avLst/>
          </a:prstGeom>
          <a:noFill/>
        </p:spPr>
        <p:txBody>
          <a:bodyPr wrap="square">
            <a:spAutoFit/>
          </a:bodyPr>
          <a:lstStyle/>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Operatori nel piano:</a:t>
            </a:r>
          </a:p>
          <a:p>
            <a:pPr>
              <a:spcAft>
                <a:spcPts val="100"/>
              </a:spcAft>
              <a:defRPr sz="1000">
                <a:solidFill>
                  <a:srgbClr val="7EC68E"/>
                </a:solidFill>
                <a:latin typeface="Consolas"/>
              </a:defRPr>
            </a:pPr>
            <a:r>
              <a:t>// NodeIndexSeek    = BUONO (usa indice)</a:t>
            </a:r>
          </a:p>
          <a:p>
            <a:pPr>
              <a:spcAft>
                <a:spcPts val="100"/>
              </a:spcAft>
              <a:defRPr sz="1000">
                <a:solidFill>
                  <a:srgbClr val="7EC68E"/>
                </a:solidFill>
                <a:latin typeface="Consolas"/>
              </a:defRPr>
            </a:pPr>
            <a:r>
              <a:t>// NodeByLabelScan  = se legge TUTTI i nodi</a:t>
            </a:r>
          </a:p>
          <a:p>
            <a:pPr>
              <a:spcAft>
                <a:spcPts val="100"/>
              </a:spcAft>
              <a:defRPr sz="1000">
                <a:solidFill>
                  <a:srgbClr val="7EC68E"/>
                </a:solidFill>
                <a:latin typeface="Consolas"/>
              </a:defRPr>
            </a:pPr>
            <a:r>
              <a:t>// AllNodesScan     = MALE (nessun filtro)</a:t>
            </a:r>
          </a:p>
          <a:p>
            <a:pPr>
              <a:spcAft>
                <a:spcPts val="100"/>
              </a:spcAft>
              <a:defRPr sz="1000">
                <a:solidFill>
                  <a:srgbClr val="7EC68E"/>
                </a:solidFill>
                <a:latin typeface="Consolas"/>
              </a:defRPr>
            </a:pPr>
            <a:r>
              <a:t>// CartesianProduct = MALE (pattern errato)</a:t>
            </a:r>
          </a:p>
        </p:txBody>
      </p:sp>
      <p:sp>
        <p:nvSpPr>
          <p:cNvPr id="11" name="Rectangle 10"/>
          <p:cNvSpPr/>
          <p:nvPr/>
        </p:nvSpPr>
        <p:spPr>
          <a:xfrm>
            <a:off x="6096000" y="4434840"/>
            <a:ext cx="4846320" cy="2029968"/>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05728" y="4507992"/>
            <a:ext cx="4626864" cy="1956816"/>
          </a:xfrm>
          <a:prstGeom prst="rect">
            <a:avLst/>
          </a:prstGeom>
          <a:noFill/>
        </p:spPr>
        <p:txBody>
          <a:bodyPr wrap="square">
            <a:spAutoFit/>
          </a:bodyPr>
          <a:lstStyle/>
          <a:p>
            <a:pPr>
              <a:spcAft>
                <a:spcPts val="100"/>
              </a:spcAft>
              <a:defRPr sz="1000">
                <a:solidFill>
                  <a:srgbClr val="7EC68E"/>
                </a:solidFill>
                <a:latin typeface="Consolas"/>
              </a:defRPr>
            </a:pPr>
            <a:r>
              <a:t>// Confronto: con e senza indice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SENZA indice (NodeByLabelScan):</a:t>
            </a:r>
          </a:p>
          <a:p>
            <a:pPr>
              <a:spcAft>
                <a:spcPts val="100"/>
              </a:spcAft>
              <a:defRPr sz="1000">
                <a:solidFill>
                  <a:srgbClr val="7EC68E"/>
                </a:solidFill>
                <a:latin typeface="Consolas"/>
              </a:defRPr>
            </a:pPr>
            <a:r>
              <a:t>// dbHits: 238 (legge tutte le persone)</a:t>
            </a:r>
          </a:p>
          <a:p>
            <a:pPr>
              <a:spcAft>
                <a:spcPts val="100"/>
              </a:spcAft>
              <a:defRPr sz="1000">
                <a:solidFill>
                  <a:srgbClr val="7EC68E"/>
                </a:solidFill>
                <a:latin typeface="Consolas"/>
              </a:defRPr>
            </a:pPr>
            <a:r>
              <a:t>//  Poi filtra una per una in memoria</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CON indice (NodeIndexSeek):</a:t>
            </a:r>
          </a:p>
          <a:p>
            <a:pPr>
              <a:spcAft>
                <a:spcPts val="100"/>
              </a:spcAft>
              <a:defRPr sz="1000">
                <a:solidFill>
                  <a:srgbClr val="7EC68E"/>
                </a:solidFill>
                <a:latin typeface="Consolas"/>
              </a:defRPr>
            </a:pPr>
            <a:r>
              <a:t>// dbHits: ~3 (indice + recupero nodo)</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EXPLAIN = piano stimato (non esegue)</a:t>
            </a:r>
          </a:p>
          <a:p>
            <a:pPr>
              <a:spcAft>
                <a:spcPts val="100"/>
              </a:spcAft>
              <a:defRPr sz="1000">
                <a:solidFill>
                  <a:srgbClr val="7EC68E"/>
                </a:solidFill>
                <a:latin typeface="Consolas"/>
              </a:defRPr>
            </a:pPr>
            <a:r>
              <a:t>PROFILE = esegue + metriche reali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Caricare 238 persone uno alla volta vs in batch: la differenza è di 300x.</a:t>
            </a:r>
          </a:p>
        </p:txBody>
      </p:sp>
      <p:sp>
        <p:nvSpPr>
          <p:cNvPr id="4" name="TextBox 3"/>
          <p:cNvSpPr txBox="1"/>
          <p:nvPr/>
        </p:nvSpPr>
        <p:spPr>
          <a:xfrm>
            <a:off x="731520" y="141732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rPr dirty="0"/>
              <a:t>•  Row-by-row: </a:t>
            </a:r>
            <a:r>
              <a:rPr dirty="0" err="1"/>
              <a:t>una</a:t>
            </a:r>
            <a:r>
              <a:rPr dirty="0"/>
              <a:t> query per ogni </a:t>
            </a:r>
            <a:r>
              <a:rPr dirty="0" err="1"/>
              <a:t>riga</a:t>
            </a:r>
            <a:r>
              <a:rPr dirty="0"/>
              <a:t> → N </a:t>
            </a:r>
            <a:r>
              <a:rPr dirty="0" err="1"/>
              <a:t>chiamate</a:t>
            </a:r>
            <a:r>
              <a:rPr dirty="0"/>
              <a:t> al database</a:t>
            </a:r>
          </a:p>
          <a:p>
            <a:pPr algn="l">
              <a:spcAft>
                <a:spcPts val="300"/>
              </a:spcAft>
              <a:defRPr sz="1200">
                <a:solidFill>
                  <a:srgbClr val="FFFFFF"/>
                </a:solidFill>
                <a:latin typeface="Calibri"/>
              </a:defRPr>
            </a:pPr>
            <a:r>
              <a:rPr dirty="0"/>
              <a:t>  Costo: </a:t>
            </a:r>
            <a:r>
              <a:rPr dirty="0" err="1"/>
              <a:t>latenza</a:t>
            </a:r>
            <a:r>
              <a:rPr dirty="0"/>
              <a:t> di rete N volte + N </a:t>
            </a:r>
            <a:r>
              <a:rPr dirty="0" err="1"/>
              <a:t>transazioni</a:t>
            </a:r>
            <a:endParaRPr dirty="0"/>
          </a:p>
          <a:p>
            <a:pPr algn="l">
              <a:spcAft>
                <a:spcPts val="300"/>
              </a:spcAft>
              <a:defRPr sz="1200">
                <a:solidFill>
                  <a:srgbClr val="FFFFFF"/>
                </a:solidFill>
                <a:latin typeface="Calibri"/>
              </a:defRPr>
            </a:pPr>
            <a:r>
              <a:rPr dirty="0"/>
              <a:t>•  UNWIND batch: </a:t>
            </a:r>
            <a:r>
              <a:rPr dirty="0" err="1"/>
              <a:t>colleziona</a:t>
            </a:r>
            <a:r>
              <a:rPr dirty="0"/>
              <a:t> </a:t>
            </a:r>
            <a:r>
              <a:rPr dirty="0" err="1"/>
              <a:t>i</a:t>
            </a:r>
            <a:r>
              <a:rPr dirty="0"/>
              <a:t> </a:t>
            </a:r>
            <a:r>
              <a:rPr dirty="0" err="1"/>
              <a:t>dati</a:t>
            </a:r>
            <a:r>
              <a:rPr dirty="0"/>
              <a:t> in </a:t>
            </a:r>
            <a:r>
              <a:rPr dirty="0" err="1"/>
              <a:t>lista</a:t>
            </a:r>
            <a:r>
              <a:rPr dirty="0"/>
              <a:t>, </a:t>
            </a:r>
            <a:r>
              <a:rPr dirty="0" err="1"/>
              <a:t>invia</a:t>
            </a:r>
            <a:r>
              <a:rPr dirty="0"/>
              <a:t> in </a:t>
            </a:r>
            <a:r>
              <a:rPr dirty="0" err="1"/>
              <a:t>un’unica</a:t>
            </a:r>
            <a:r>
              <a:rPr dirty="0"/>
              <a:t> </a:t>
            </a:r>
            <a:r>
              <a:rPr dirty="0" err="1"/>
              <a:t>transazione</a:t>
            </a:r>
            <a:endParaRPr dirty="0"/>
          </a:p>
          <a:p>
            <a:pPr algn="l">
              <a:spcAft>
                <a:spcPts val="300"/>
              </a:spcAft>
              <a:defRPr sz="1200">
                <a:solidFill>
                  <a:srgbClr val="FFFFFF"/>
                </a:solidFill>
                <a:latin typeface="Calibri"/>
              </a:defRPr>
            </a:pPr>
            <a:r>
              <a:rPr dirty="0"/>
              <a:t>  Costo: 1 </a:t>
            </a:r>
            <a:r>
              <a:rPr dirty="0" err="1"/>
              <a:t>chiamata</a:t>
            </a:r>
            <a:r>
              <a:rPr dirty="0"/>
              <a:t> + 1 </a:t>
            </a:r>
            <a:r>
              <a:rPr dirty="0" err="1"/>
              <a:t>transazione</a:t>
            </a:r>
            <a:r>
              <a:rPr dirty="0"/>
              <a:t> + </a:t>
            </a:r>
            <a:r>
              <a:rPr dirty="0" err="1"/>
              <a:t>ciclo</a:t>
            </a:r>
            <a:r>
              <a:rPr dirty="0"/>
              <a:t> </a:t>
            </a:r>
            <a:r>
              <a:rPr dirty="0" err="1"/>
              <a:t>nel</a:t>
            </a:r>
            <a:r>
              <a:rPr dirty="0"/>
              <a:t> database</a:t>
            </a:r>
          </a:p>
          <a:p>
            <a:pPr algn="l">
              <a:spcAft>
                <a:spcPts val="300"/>
              </a:spcAft>
              <a:defRPr sz="1200">
                <a:solidFill>
                  <a:srgbClr val="FFFFFF"/>
                </a:solidFill>
                <a:latin typeface="Calibri"/>
              </a:defRPr>
            </a:pPr>
            <a:r>
              <a:rPr dirty="0"/>
              <a:t>•  MERGE è </a:t>
            </a:r>
            <a:r>
              <a:rPr dirty="0" err="1"/>
              <a:t>idempotente</a:t>
            </a:r>
            <a:r>
              <a:rPr dirty="0"/>
              <a:t> — </a:t>
            </a:r>
            <a:r>
              <a:rPr dirty="0" err="1"/>
              <a:t>si</a:t>
            </a:r>
            <a:r>
              <a:rPr dirty="0"/>
              <a:t> </a:t>
            </a:r>
            <a:r>
              <a:rPr dirty="0" err="1"/>
              <a:t>può</a:t>
            </a:r>
            <a:r>
              <a:rPr dirty="0"/>
              <a:t> </a:t>
            </a:r>
            <a:r>
              <a:rPr dirty="0" err="1"/>
              <a:t>rieseguire</a:t>
            </a:r>
            <a:r>
              <a:rPr dirty="0"/>
              <a:t> senza </a:t>
            </a:r>
            <a:r>
              <a:rPr dirty="0" err="1"/>
              <a:t>rischi</a:t>
            </a:r>
            <a:endParaRPr dirty="0"/>
          </a:p>
          <a:p>
            <a:pPr algn="l">
              <a:spcAft>
                <a:spcPts val="300"/>
              </a:spcAft>
              <a:defRPr sz="1200">
                <a:solidFill>
                  <a:srgbClr val="FFFFFF"/>
                </a:solidFill>
                <a:latin typeface="Calibri"/>
              </a:defRPr>
            </a:pPr>
            <a:r>
              <a:rPr dirty="0"/>
              <a:t>•  CREATE è </a:t>
            </a:r>
            <a:r>
              <a:rPr dirty="0" err="1"/>
              <a:t>più</a:t>
            </a:r>
            <a:r>
              <a:rPr dirty="0"/>
              <a:t> veloce ma non </a:t>
            </a:r>
            <a:r>
              <a:rPr dirty="0" err="1"/>
              <a:t>tollera</a:t>
            </a:r>
            <a:r>
              <a:rPr dirty="0"/>
              <a:t> </a:t>
            </a:r>
            <a:r>
              <a:rPr dirty="0" err="1"/>
              <a:t>duplicati</a:t>
            </a:r>
            <a:endParaRPr dirty="0"/>
          </a:p>
        </p:txBody>
      </p:sp>
      <p:sp>
        <p:nvSpPr>
          <p:cNvPr id="5" name="Rectangle 4"/>
          <p:cNvSpPr/>
          <p:nvPr/>
        </p:nvSpPr>
        <p:spPr>
          <a:xfrm>
            <a:off x="6096000" y="141732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05728" y="1490472"/>
            <a:ext cx="4626864" cy="1682496"/>
          </a:xfrm>
          <a:prstGeom prst="rect">
            <a:avLst/>
          </a:prstGeom>
          <a:noFill/>
        </p:spPr>
        <p:txBody>
          <a:bodyPr wrap="square">
            <a:spAutoFit/>
          </a:bodyPr>
          <a:lstStyle/>
          <a:p>
            <a:pPr>
              <a:spcAft>
                <a:spcPts val="100"/>
              </a:spcAft>
              <a:defRPr sz="1000">
                <a:solidFill>
                  <a:srgbClr val="7EC68E"/>
                </a:solidFill>
                <a:latin typeface="Consolas"/>
              </a:defRPr>
            </a:pPr>
            <a:r>
              <a:t># UNWIND con MERGE (pattern sicuro):</a:t>
            </a:r>
          </a:p>
          <a:p>
            <a:pPr>
              <a:spcAft>
                <a:spcPts val="100"/>
              </a:spcAft>
              <a:defRPr sz="1000">
                <a:solidFill>
                  <a:srgbClr val="7EC68E"/>
                </a:solidFill>
                <a:latin typeface="Consolas"/>
              </a:defRPr>
            </a:pPr>
            <a:r>
              <a:t>batch = df.to_dict("records")</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UNWIND $batch AS row</a:t>
            </a:r>
          </a:p>
          <a:p>
            <a:pPr>
              <a:spcAft>
                <a:spcPts val="100"/>
              </a:spcAft>
              <a:defRPr sz="1000">
                <a:solidFill>
                  <a:srgbClr val="7EC68E"/>
                </a:solidFill>
                <a:latin typeface="Consolas"/>
              </a:defRPr>
            </a:pPr>
            <a:r>
              <a:t>MERGE (p:Person {employee_id: row.employee_id})</a:t>
            </a:r>
          </a:p>
          <a:p>
            <a:pPr>
              <a:spcAft>
                <a:spcPts val="100"/>
              </a:spcAft>
              <a:defRPr sz="1000">
                <a:solidFill>
                  <a:srgbClr val="7EC68E"/>
                </a:solidFill>
                <a:latin typeface="Consolas"/>
              </a:defRPr>
            </a:pPr>
            <a:r>
              <a:t>  SET p.name = row.name,</a:t>
            </a:r>
          </a:p>
          <a:p>
            <a:pPr>
              <a:spcAft>
                <a:spcPts val="100"/>
              </a:spcAft>
              <a:defRPr sz="1000">
                <a:solidFill>
                  <a:srgbClr val="7EC68E"/>
                </a:solidFill>
                <a:latin typeface="Consolas"/>
              </a:defRPr>
            </a:pPr>
            <a:r>
              <a:t>      p.location = row.location,</a:t>
            </a:r>
          </a:p>
          <a:p>
            <a:pPr>
              <a:spcAft>
                <a:spcPts val="100"/>
              </a:spcAft>
              <a:defRPr sz="1000">
                <a:solidFill>
                  <a:srgbClr val="7EC68E"/>
                </a:solidFill>
                <a:latin typeface="Consolas"/>
              </a:defRPr>
            </a:pPr>
            <a:r>
              <a:t>      p.title = row.title</a:t>
            </a:r>
          </a:p>
          <a:p>
            <a:pPr>
              <a:spcAft>
                <a:spcPts val="100"/>
              </a:spcAft>
              <a:defRPr sz="1000">
                <a:solidFill>
                  <a:srgbClr val="7EC68E"/>
                </a:solidFill>
                <a:latin typeface="Consolas"/>
              </a:defRPr>
            </a:pPr>
            <a:r>
              <a:t>""", batch=batch)</a:t>
            </a:r>
          </a:p>
        </p:txBody>
      </p:sp>
      <p:sp>
        <p:nvSpPr>
          <p:cNvPr id="7" name="Rectangle 6"/>
          <p:cNvSpPr/>
          <p:nvPr/>
        </p:nvSpPr>
        <p:spPr>
          <a:xfrm>
            <a:off x="731520" y="3547872"/>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730752"/>
            <a:ext cx="10515600" cy="365760"/>
          </a:xfrm>
          <a:prstGeom prst="rect">
            <a:avLst/>
          </a:prstGeom>
          <a:noFill/>
        </p:spPr>
        <p:txBody>
          <a:bodyPr wrap="square">
            <a:spAutoFit/>
          </a:bodyPr>
          <a:lstStyle/>
          <a:p>
            <a:pPr algn="l">
              <a:defRPr sz="1500" b="1">
                <a:solidFill>
                  <a:srgbClr val="F08040"/>
                </a:solidFill>
                <a:latin typeface="Calibri"/>
              </a:defRPr>
            </a:pPr>
            <a:r>
              <a:t>Benchmark sul dataset Org Graph:</a:t>
            </a:r>
          </a:p>
        </p:txBody>
      </p:sp>
      <p:sp>
        <p:nvSpPr>
          <p:cNvPr id="9" name="TextBox 8"/>
          <p:cNvSpPr txBox="1"/>
          <p:nvPr/>
        </p:nvSpPr>
        <p:spPr>
          <a:xfrm>
            <a:off x="731520" y="4096512"/>
            <a:ext cx="5029200" cy="1828800"/>
          </a:xfrm>
          <a:prstGeom prst="rect">
            <a:avLst/>
          </a:prstGeom>
          <a:noFill/>
        </p:spPr>
        <p:txBody>
          <a:bodyPr wrap="square">
            <a:spAutoFit/>
          </a:bodyPr>
          <a:lstStyle/>
          <a:p>
            <a:pPr algn="l">
              <a:defRPr sz="1100" b="0">
                <a:solidFill>
                  <a:srgbClr val="7EC68E"/>
                </a:solidFill>
                <a:latin typeface="Consolas"/>
              </a:defRPr>
            </a:pPr>
            <a:r>
              <a:t>Metodo          Query    Tempo</a:t>
            </a:r>
            <a:br/>
            <a:r>
              <a:t>───────────────  ───────  ──────</a:t>
            </a:r>
            <a:br/>
            <a:r>
              <a:t>Row-by-row      31.500   440 sec</a:t>
            </a:r>
            <a:br/>
            <a:r>
              <a:t>UNWIND batch        7     1.4 sec</a:t>
            </a:r>
            <a:br/>
            <a:r>
              <a:t>                                ↑ 300x</a:t>
            </a:r>
            <a:br/>
            <a:br/>
            <a:r>
              <a:t>Perché tanto? La latenza di rete</a:t>
            </a:r>
            <a:br/>
            <a:r>
              <a:t>è il collo di bottiglia, non il DB.</a:t>
            </a:r>
            <a:br/>
            <a:r>
              <a:t>Con UNWIND paghiamo una latenza</a:t>
            </a:r>
            <a:br/>
            <a:r>
              <a:t>per 7 batch invece che 31.500 query.</a:t>
            </a:r>
          </a:p>
        </p:txBody>
      </p:sp>
      <p:sp>
        <p:nvSpPr>
          <p:cNvPr id="10" name="TextBox 9"/>
          <p:cNvSpPr txBox="1"/>
          <p:nvPr/>
        </p:nvSpPr>
        <p:spPr>
          <a:xfrm>
            <a:off x="6096000" y="4096512"/>
            <a:ext cx="5443728" cy="1938992"/>
          </a:xfrm>
          <a:prstGeom prst="rect">
            <a:avLst/>
          </a:prstGeom>
          <a:noFill/>
        </p:spPr>
        <p:txBody>
          <a:bodyPr wrap="square">
            <a:spAutoFit/>
          </a:bodyPr>
          <a:lstStyle/>
          <a:p>
            <a:pPr algn="l">
              <a:defRPr sz="1200" b="0">
                <a:solidFill>
                  <a:srgbClr val="CCCCCC"/>
                </a:solidFill>
                <a:latin typeface="Calibri"/>
              </a:defRPr>
            </a:pPr>
            <a:r>
              <a:rPr dirty="0"/>
              <a:t>Best practice per il </a:t>
            </a:r>
            <a:r>
              <a:rPr dirty="0" err="1"/>
              <a:t>caricamento</a:t>
            </a:r>
            <a:r>
              <a:rPr dirty="0"/>
              <a:t>:</a:t>
            </a:r>
            <a:br>
              <a:rPr dirty="0"/>
            </a:br>
            <a:br>
              <a:rPr dirty="0"/>
            </a:br>
            <a:r>
              <a:rPr dirty="0"/>
              <a:t>1. Crea constraint e </a:t>
            </a:r>
            <a:r>
              <a:rPr dirty="0" err="1"/>
              <a:t>indici</a:t>
            </a:r>
            <a:r>
              <a:rPr dirty="0"/>
              <a:t> PRIMA</a:t>
            </a:r>
            <a:br>
              <a:rPr dirty="0"/>
            </a:br>
            <a:r>
              <a:rPr dirty="0"/>
              <a:t>2. Usa UNWIND + MERGE</a:t>
            </a:r>
            <a:br>
              <a:rPr dirty="0"/>
            </a:br>
            <a:r>
              <a:rPr dirty="0"/>
              <a:t>3. Batch da 500-5000 </a:t>
            </a:r>
            <a:r>
              <a:rPr dirty="0" err="1"/>
              <a:t>righe</a:t>
            </a:r>
            <a:br>
              <a:rPr dirty="0"/>
            </a:br>
            <a:r>
              <a:rPr dirty="0"/>
              <a:t>4. Usa ON CREATE SET / ON MATCH SET per </a:t>
            </a:r>
            <a:r>
              <a:rPr dirty="0" err="1"/>
              <a:t>separare</a:t>
            </a:r>
            <a:r>
              <a:rPr dirty="0"/>
              <a:t> </a:t>
            </a:r>
            <a:r>
              <a:rPr dirty="0" err="1"/>
              <a:t>inserimento</a:t>
            </a:r>
            <a:r>
              <a:rPr dirty="0"/>
              <a:t> da</a:t>
            </a:r>
            <a:r>
              <a:rPr lang="en-US" dirty="0"/>
              <a:t> </a:t>
            </a:r>
            <a:r>
              <a:rPr dirty="0"/>
              <a:t>aggiornamento</a:t>
            </a:r>
            <a:br>
              <a:rPr dirty="0"/>
            </a:br>
            <a:r>
              <a:rPr dirty="0"/>
              <a:t>5. </a:t>
            </a:r>
            <a:r>
              <a:rPr dirty="0" err="1"/>
              <a:t>Verifica</a:t>
            </a:r>
            <a:r>
              <a:rPr dirty="0"/>
              <a:t> con MATCH ... RETURN count()</a:t>
            </a:r>
            <a:br>
              <a:rPr dirty="0"/>
            </a:br>
            <a:br>
              <a:rPr dirty="0"/>
            </a:br>
            <a:r>
              <a:rPr dirty="0"/>
              <a:t>Lo script di </a:t>
            </a:r>
            <a:r>
              <a:rPr dirty="0" err="1"/>
              <a:t>caricamento</a:t>
            </a:r>
            <a:r>
              <a:rPr dirty="0"/>
              <a:t> del </a:t>
            </a:r>
            <a:r>
              <a:rPr lang="en-US" dirty="0" err="1"/>
              <a:t>c</a:t>
            </a:r>
            <a:r>
              <a:rPr dirty="0" err="1"/>
              <a:t>orso</a:t>
            </a:r>
            <a:r>
              <a:rPr lang="en-US" dirty="0"/>
              <a:t> </a:t>
            </a:r>
            <a:r>
              <a:rPr dirty="0"/>
              <a:t>carica in ~1 secondo </a:t>
            </a:r>
            <a:r>
              <a:rPr dirty="0" err="1"/>
              <a:t>tutto</a:t>
            </a:r>
            <a:r>
              <a:rPr dirty="0"/>
              <a:t> </a:t>
            </a:r>
            <a:r>
              <a:rPr dirty="0" err="1"/>
              <a:t>l’Org</a:t>
            </a:r>
            <a:r>
              <a:rPr dirty="0"/>
              <a:t> Graph</a:t>
            </a:r>
            <a:br>
              <a:rPr dirty="0"/>
            </a:br>
            <a:r>
              <a:rPr dirty="0"/>
              <a:t>(238 </a:t>
            </a:r>
            <a:r>
              <a:rPr dirty="0" err="1"/>
              <a:t>persone</a:t>
            </a:r>
            <a:r>
              <a:rPr dirty="0"/>
              <a:t>, 93 </a:t>
            </a:r>
            <a:r>
              <a:rPr dirty="0" err="1"/>
              <a:t>progetti</a:t>
            </a:r>
            <a:r>
              <a:rPr dirty="0"/>
              <a:t>, 55 skill,</a:t>
            </a:r>
            <a:r>
              <a:rPr lang="en-US" dirty="0"/>
              <a:t> </a:t>
            </a:r>
            <a:r>
              <a:rPr dirty="0"/>
              <a:t>2 supervisor) con 7 query UNWIND.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Browser &amp; Bloom</a:t>
            </a:r>
          </a:p>
        </p:txBody>
      </p:sp>
      <p:sp>
        <p:nvSpPr>
          <p:cNvPr id="3" name="TextBox 2"/>
          <p:cNvSpPr txBox="1"/>
          <p:nvPr/>
        </p:nvSpPr>
        <p:spPr>
          <a:xfrm>
            <a:off x="731520" y="1051560"/>
            <a:ext cx="5029200" cy="1938992"/>
          </a:xfrm>
          <a:prstGeom prst="rect">
            <a:avLst/>
          </a:prstGeom>
          <a:noFill/>
        </p:spPr>
        <p:txBody>
          <a:bodyPr wrap="square">
            <a:spAutoFit/>
          </a:bodyPr>
          <a:lstStyle/>
          <a:p>
            <a:pPr algn="l">
              <a:spcAft>
                <a:spcPts val="0"/>
              </a:spcAft>
              <a:defRPr sz="1200">
                <a:solidFill>
                  <a:srgbClr val="FFFFFF"/>
                </a:solidFill>
                <a:latin typeface="Calibri"/>
              </a:defRPr>
            </a:pPr>
            <a:r>
              <a:rPr dirty="0"/>
              <a:t>Neo4j Browser — </a:t>
            </a:r>
            <a:r>
              <a:rPr dirty="0" err="1"/>
              <a:t>interfaccia</a:t>
            </a:r>
            <a:r>
              <a:rPr dirty="0"/>
              <a:t> web </a:t>
            </a:r>
            <a:r>
              <a:rPr dirty="0" err="1"/>
              <a:t>integrata</a:t>
            </a:r>
            <a:endParaRPr dirty="0"/>
          </a:p>
          <a:p>
            <a:pPr algn="l">
              <a:spcAft>
                <a:spcPts val="0"/>
              </a:spcAft>
              <a:defRPr sz="1200">
                <a:solidFill>
                  <a:srgbClr val="FFFFFF"/>
                </a:solidFill>
                <a:latin typeface="Calibri"/>
              </a:defRPr>
            </a:pPr>
            <a:r>
              <a:rPr dirty="0"/>
              <a:t>  • :play movie-graph per tutorial </a:t>
            </a:r>
            <a:r>
              <a:rPr dirty="0" err="1"/>
              <a:t>interattivo</a:t>
            </a:r>
            <a:endParaRPr dirty="0"/>
          </a:p>
          <a:p>
            <a:pPr algn="l">
              <a:spcAft>
                <a:spcPts val="0"/>
              </a:spcAft>
              <a:defRPr sz="1200">
                <a:solidFill>
                  <a:srgbClr val="FFFFFF"/>
                </a:solidFill>
                <a:latin typeface="Calibri"/>
              </a:defRPr>
            </a:pPr>
            <a:r>
              <a:rPr dirty="0"/>
              <a:t>  • </a:t>
            </a:r>
            <a:r>
              <a:rPr dirty="0" err="1"/>
              <a:t>Visualizzazione</a:t>
            </a:r>
            <a:r>
              <a:rPr dirty="0"/>
              <a:t> </a:t>
            </a:r>
            <a:r>
              <a:rPr dirty="0" err="1"/>
              <a:t>grafica</a:t>
            </a:r>
            <a:r>
              <a:rPr dirty="0"/>
              <a:t> a </a:t>
            </a:r>
            <a:r>
              <a:rPr dirty="0" err="1"/>
              <a:t>cerchi</a:t>
            </a:r>
            <a:r>
              <a:rPr dirty="0"/>
              <a:t> e </a:t>
            </a:r>
            <a:r>
              <a:rPr dirty="0" err="1"/>
              <a:t>frecce</a:t>
            </a:r>
            <a:endParaRPr dirty="0"/>
          </a:p>
          <a:p>
            <a:pPr algn="l">
              <a:spcAft>
                <a:spcPts val="0"/>
              </a:spcAft>
              <a:defRPr sz="1200">
                <a:solidFill>
                  <a:srgbClr val="FFFFFF"/>
                </a:solidFill>
                <a:latin typeface="Calibri"/>
              </a:defRPr>
            </a:pPr>
            <a:r>
              <a:rPr dirty="0"/>
              <a:t>  • </a:t>
            </a:r>
            <a:r>
              <a:rPr dirty="0" err="1"/>
              <a:t>Esportazione</a:t>
            </a:r>
            <a:r>
              <a:rPr dirty="0"/>
              <a:t> PNG, CSV, JSON</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Neo4j Bloom — drag &amp; drop, storytelling </a:t>
            </a:r>
            <a:r>
              <a:rPr dirty="0" err="1"/>
              <a:t>visuale</a:t>
            </a:r>
            <a:endParaRPr dirty="0"/>
          </a:p>
          <a:p>
            <a:pPr algn="l">
              <a:spcAft>
                <a:spcPts val="0"/>
              </a:spcAft>
              <a:defRPr sz="1200">
                <a:solidFill>
                  <a:srgbClr val="FFFFFF"/>
                </a:solidFill>
                <a:latin typeface="Calibri"/>
              </a:defRPr>
            </a:pPr>
            <a:r>
              <a:rPr dirty="0"/>
              <a:t>  • </a:t>
            </a:r>
            <a:r>
              <a:rPr dirty="0" err="1"/>
              <a:t>Ricerca</a:t>
            </a:r>
            <a:r>
              <a:rPr dirty="0"/>
              <a:t> in </a:t>
            </a:r>
            <a:r>
              <a:rPr dirty="0" err="1"/>
              <a:t>linguaggio</a:t>
            </a:r>
            <a:r>
              <a:rPr dirty="0"/>
              <a:t> </a:t>
            </a:r>
            <a:r>
              <a:rPr dirty="0" err="1"/>
              <a:t>naturale</a:t>
            </a:r>
            <a:endParaRPr dirty="0"/>
          </a:p>
          <a:p>
            <a:pPr algn="l">
              <a:spcAft>
                <a:spcPts val="0"/>
              </a:spcAft>
              <a:defRPr sz="1200">
                <a:solidFill>
                  <a:srgbClr val="FFFFFF"/>
                </a:solidFill>
                <a:latin typeface="Calibri"/>
              </a:defRPr>
            </a:pPr>
            <a:r>
              <a:rPr dirty="0"/>
              <a:t>  • Grafi </a:t>
            </a:r>
            <a:r>
              <a:rPr dirty="0" err="1"/>
              <a:t>animati</a:t>
            </a:r>
            <a:r>
              <a:rPr dirty="0"/>
              <a:t>, </a:t>
            </a:r>
            <a:r>
              <a:rPr dirty="0" err="1"/>
              <a:t>filtri</a:t>
            </a:r>
            <a:r>
              <a:rPr dirty="0"/>
              <a:t> </a:t>
            </a:r>
            <a:r>
              <a:rPr dirty="0" err="1"/>
              <a:t>visuali</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Neo4j Workspace — </a:t>
            </a:r>
            <a:r>
              <a:rPr dirty="0" err="1"/>
              <a:t>modellazione</a:t>
            </a:r>
            <a:r>
              <a:rPr dirty="0"/>
              <a:t> </a:t>
            </a:r>
            <a:r>
              <a:rPr dirty="0" err="1"/>
              <a:t>grafica</a:t>
            </a:r>
            <a:r>
              <a:rPr dirty="0"/>
              <a:t> </a:t>
            </a:r>
            <a:r>
              <a:rPr dirty="0" err="1"/>
              <a:t>collaborativa</a:t>
            </a:r>
            <a:endParaRPr dirty="0"/>
          </a:p>
        </p:txBody>
      </p:sp>
      <p:sp>
        <p:nvSpPr>
          <p:cNvPr id="4" name="TextBox 3"/>
          <p:cNvSpPr txBox="1"/>
          <p:nvPr/>
        </p:nvSpPr>
        <p:spPr>
          <a:xfrm>
            <a:off x="6096000" y="1051560"/>
            <a:ext cx="4846320" cy="411480"/>
          </a:xfrm>
          <a:prstGeom prst="rect">
            <a:avLst/>
          </a:prstGeom>
          <a:noFill/>
        </p:spPr>
        <p:txBody>
          <a:bodyPr wrap="square">
            <a:spAutoFit/>
          </a:bodyPr>
          <a:lstStyle/>
          <a:p>
            <a:pPr algn="l">
              <a:defRPr sz="1600" b="1">
                <a:solidFill>
                  <a:srgbClr val="F08040"/>
                </a:solidFill>
                <a:latin typeface="Calibri"/>
              </a:defRPr>
            </a:pPr>
            <a:r>
              <a:t>Suggerimenti Browser</a:t>
            </a:r>
          </a:p>
        </p:txBody>
      </p:sp>
      <p:sp>
        <p:nvSpPr>
          <p:cNvPr id="5" name="TextBox 4"/>
          <p:cNvSpPr txBox="1"/>
          <p:nvPr/>
        </p:nvSpPr>
        <p:spPr>
          <a:xfrm>
            <a:off x="6096000" y="1508760"/>
            <a:ext cx="4846320" cy="2194560"/>
          </a:xfrm>
          <a:prstGeom prst="rect">
            <a:avLst/>
          </a:prstGeom>
          <a:noFill/>
        </p:spPr>
        <p:txBody>
          <a:bodyPr wrap="square">
            <a:spAutoFit/>
          </a:bodyPr>
          <a:lstStyle/>
          <a:p>
            <a:pPr algn="l">
              <a:defRPr sz="1200" b="0">
                <a:solidFill>
                  <a:srgbClr val="CCCCCC"/>
                </a:solidFill>
                <a:latin typeface="Calibri"/>
              </a:defRPr>
            </a:pPr>
            <a:r>
              <a:t>• I nodi sono cerchi colorati per label</a:t>
            </a:r>
            <a:br/>
            <a:r>
              <a:t>• Le frecce sono le relazioni</a:t>
            </a:r>
            <a:br/>
            <a:r>
              <a:t>• Clicca su un nodo per vedere le props</a:t>
            </a:r>
            <a:br/>
            <a:r>
              <a:t>• Trascina i nodi per riorganizzare</a:t>
            </a:r>
            <a:br/>
            <a:r>
              <a:t>• Usa la lente di ingrandimento</a:t>
            </a:r>
            <a:br/>
            <a:r>
              <a:t>• Il pulsante full-screen è in alto</a:t>
            </a:r>
            <a:br/>
            <a:r>
              <a:t>• Esporta come PNG con la fotocamera</a:t>
            </a:r>
            <a:br/>
            <a:br/>
            <a:r>
              <a:t>Per dataset grandi usare LIMIT:</a:t>
            </a:r>
            <a:br/>
            <a:r>
              <a:t>MATCH (n) RETURN n LIMIT 100</a:t>
            </a:r>
            <a:br/>
            <a:r>
              <a:t>altrimenti il Browser si blocca.</a:t>
            </a:r>
          </a:p>
        </p:txBody>
      </p:sp>
      <p:sp>
        <p:nvSpPr>
          <p:cNvPr id="6" name="TextBox 5"/>
          <p:cNvSpPr txBox="1"/>
          <p:nvPr/>
        </p:nvSpPr>
        <p:spPr>
          <a:xfrm>
            <a:off x="731520" y="3108960"/>
            <a:ext cx="10515600" cy="411480"/>
          </a:xfrm>
          <a:prstGeom prst="rect">
            <a:avLst/>
          </a:prstGeom>
          <a:noFill/>
        </p:spPr>
        <p:txBody>
          <a:bodyPr wrap="square">
            <a:spAutoFit/>
          </a:bodyPr>
          <a:lstStyle/>
          <a:p>
            <a:pPr algn="l">
              <a:defRPr sz="1600" b="1">
                <a:solidFill>
                  <a:srgbClr val="F08040"/>
                </a:solidFill>
                <a:latin typeface="Calibri"/>
              </a:defRPr>
            </a:pPr>
            <a:r>
              <a:t>Comandi utili nel Browser</a:t>
            </a:r>
          </a:p>
        </p:txBody>
      </p:sp>
      <p:sp>
        <p:nvSpPr>
          <p:cNvPr id="7" name="Rectangle 6"/>
          <p:cNvSpPr/>
          <p:nvPr/>
        </p:nvSpPr>
        <p:spPr>
          <a:xfrm>
            <a:off x="731520" y="356616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3639312"/>
            <a:ext cx="4809744" cy="2414016"/>
          </a:xfrm>
          <a:prstGeom prst="rect">
            <a:avLst/>
          </a:prstGeom>
          <a:noFill/>
        </p:spPr>
        <p:txBody>
          <a:bodyPr wrap="square">
            <a:spAutoFit/>
          </a:bodyPr>
          <a:lstStyle/>
          <a:p>
            <a:pPr>
              <a:spcAft>
                <a:spcPts val="100"/>
              </a:spcAft>
              <a:defRPr sz="1000">
                <a:solidFill>
                  <a:srgbClr val="7EC68E"/>
                </a:solidFill>
                <a:latin typeface="Consolas"/>
              </a:defRPr>
            </a:pPr>
            <a:r>
              <a:t>:help cypher   // guida Cypher</a:t>
            </a:r>
          </a:p>
          <a:p>
            <a:pPr>
              <a:spcAft>
                <a:spcPts val="100"/>
              </a:spcAft>
              <a:defRPr sz="1000">
                <a:solidFill>
                  <a:srgbClr val="7EC68E"/>
                </a:solidFill>
                <a:latin typeface="Consolas"/>
              </a:defRPr>
            </a:pPr>
            <a:r>
              <a:t>:play movie-graph  // tutorial</a:t>
            </a:r>
          </a:p>
          <a:p>
            <a:pPr>
              <a:spcAft>
                <a:spcPts val="100"/>
              </a:spcAft>
              <a:defRPr sz="1000">
                <a:solidFill>
                  <a:srgbClr val="7EC68E"/>
                </a:solidFill>
                <a:latin typeface="Consolas"/>
              </a:defRPr>
            </a:pPr>
            <a:r>
              <a:t>:schema        // mostra il modello</a:t>
            </a:r>
          </a:p>
          <a:p>
            <a:pPr>
              <a:spcAft>
                <a:spcPts val="100"/>
              </a:spcAft>
              <a:defRPr sz="1000">
                <a:solidFill>
                  <a:srgbClr val="7EC68E"/>
                </a:solidFill>
                <a:latin typeface="Consolas"/>
              </a:defRPr>
            </a:pPr>
            <a:r>
              <a:t>SHOW CONSTRAINTS;  // vincoli attivi</a:t>
            </a:r>
          </a:p>
          <a:p>
            <a:pPr>
              <a:spcAft>
                <a:spcPts val="100"/>
              </a:spcAft>
              <a:defRPr sz="1000">
                <a:solidFill>
                  <a:srgbClr val="7EC68E"/>
                </a:solidFill>
                <a:latin typeface="Consolas"/>
              </a:defRPr>
            </a:pPr>
            <a:r>
              <a:t>SHOW INDEXES;      // indici</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Aprire Browser:</a:t>
            </a:r>
          </a:p>
          <a:p>
            <a:pPr>
              <a:spcAft>
                <a:spcPts val="100"/>
              </a:spcAft>
              <a:defRPr sz="1000">
                <a:solidFill>
                  <a:srgbClr val="7EC68E"/>
                </a:solidFill>
                <a:latin typeface="Consolas"/>
              </a:defRPr>
            </a:pPr>
            <a:r>
              <a:t>// Locale: http://localhost:7474</a:t>
            </a:r>
          </a:p>
          <a:p>
            <a:pPr>
              <a:spcAft>
                <a:spcPts val="100"/>
              </a:spcAft>
              <a:defRPr sz="1000">
                <a:solidFill>
                  <a:srgbClr val="7EC68E"/>
                </a:solidFill>
                <a:latin typeface="Consolas"/>
              </a:defRPr>
            </a:pPr>
            <a:r>
              <a:t>// Cloud: workspace.neo4j.io</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Eseguire query:</a:t>
            </a:r>
          </a:p>
          <a:p>
            <a:pPr>
              <a:spcAft>
                <a:spcPts val="100"/>
              </a:spcAft>
              <a:defRPr sz="1000">
                <a:solidFill>
                  <a:srgbClr val="7EC68E"/>
                </a:solidFill>
                <a:latin typeface="Consolas"/>
              </a:defRPr>
            </a:pPr>
            <a:r>
              <a:t>MATCH (n) RETURN n LIMIT 25</a:t>
            </a:r>
          </a:p>
          <a:p>
            <a:pPr>
              <a:spcAft>
                <a:spcPts val="100"/>
              </a:spcAft>
              <a:defRPr sz="1000">
                <a:solidFill>
                  <a:srgbClr val="7EC68E"/>
                </a:solidFill>
                <a:latin typeface="Consolas"/>
              </a:defRPr>
            </a:pPr>
            <a:r>
              <a:t>// Cliccare su "Graph" per vedere il grafo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Python</a:t>
            </a:r>
          </a:p>
        </p:txBody>
      </p:sp>
      <p:sp>
        <p:nvSpPr>
          <p:cNvPr id="3" name="TextBox 2"/>
          <p:cNvSpPr txBox="1"/>
          <p:nvPr/>
        </p:nvSpPr>
        <p:spPr>
          <a:xfrm>
            <a:off x="731520" y="1051560"/>
            <a:ext cx="5029200" cy="1371600"/>
          </a:xfrm>
          <a:prstGeom prst="rect">
            <a:avLst/>
          </a:prstGeom>
          <a:noFill/>
        </p:spPr>
        <p:txBody>
          <a:bodyPr wrap="square">
            <a:spAutoFit/>
          </a:bodyPr>
          <a:lstStyle/>
          <a:p>
            <a:pPr algn="l">
              <a:spcAft>
                <a:spcPts val="700"/>
              </a:spcAft>
              <a:defRPr sz="1300">
                <a:solidFill>
                  <a:srgbClr val="FFFFFF"/>
                </a:solidFill>
                <a:latin typeface="Calibri"/>
              </a:defRPr>
            </a:pPr>
            <a:r>
              <a:t>•  networkx + matplotlib — grafi statici (buono per analisi)</a:t>
            </a:r>
          </a:p>
          <a:p>
            <a:pPr algn="l">
              <a:spcAft>
                <a:spcPts val="700"/>
              </a:spcAft>
              <a:defRPr sz="1300">
                <a:solidFill>
                  <a:srgbClr val="FFFFFF"/>
                </a:solidFill>
                <a:latin typeface="Calibri"/>
              </a:defRPr>
            </a:pPr>
            <a:r>
              <a:t>•  pyvis — grafi interattivi HTML (buono per presentazioni)</a:t>
            </a:r>
          </a:p>
          <a:p>
            <a:pPr algn="l">
              <a:spcAft>
                <a:spcPts val="700"/>
              </a:spcAft>
              <a:defRPr sz="1300">
                <a:solidFill>
                  <a:srgbClr val="FFFFFF"/>
                </a:solidFill>
                <a:latin typeface="Calibri"/>
              </a:defRPr>
            </a:pPr>
            <a:r>
              <a:t>•  Entrambi leggono i dati dal driver Neo4j</a:t>
            </a:r>
          </a:p>
        </p:txBody>
      </p:sp>
      <p:sp>
        <p:nvSpPr>
          <p:cNvPr id="4" name="Rectangle 3"/>
          <p:cNvSpPr/>
          <p:nvPr/>
        </p:nvSpPr>
        <p:spPr>
          <a:xfrm>
            <a:off x="731520" y="2350008"/>
            <a:ext cx="5029200" cy="30175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2423160"/>
            <a:ext cx="4809744" cy="2871216"/>
          </a:xfrm>
          <a:prstGeom prst="rect">
            <a:avLst/>
          </a:prstGeom>
          <a:noFill/>
        </p:spPr>
        <p:txBody>
          <a:bodyPr wrap="square">
            <a:spAutoFit/>
          </a:bodyPr>
          <a:lstStyle/>
          <a:p>
            <a:pPr>
              <a:spcAft>
                <a:spcPts val="100"/>
              </a:spcAft>
              <a:defRPr sz="1000">
                <a:solidFill>
                  <a:srgbClr val="7EC68E"/>
                </a:solidFill>
                <a:latin typeface="Consolas"/>
              </a:defRPr>
            </a:pPr>
            <a:r>
              <a:t># Grafo statico con networkx + matplotlib:</a:t>
            </a:r>
          </a:p>
          <a:p>
            <a:pPr>
              <a:spcAft>
                <a:spcPts val="100"/>
              </a:spcAft>
              <a:defRPr sz="1000">
                <a:solidFill>
                  <a:srgbClr val="7EC68E"/>
                </a:solidFill>
                <a:latin typeface="Consolas"/>
              </a:defRPr>
            </a:pPr>
            <a:r>
              <a:t>import networkx as nx</a:t>
            </a:r>
          </a:p>
          <a:p>
            <a:pPr>
              <a:spcAft>
                <a:spcPts val="100"/>
              </a:spcAft>
              <a:defRPr sz="1000">
                <a:solidFill>
                  <a:srgbClr val="7EC68E"/>
                </a:solidFill>
                <a:latin typeface="Consolas"/>
              </a:defRPr>
            </a:pPr>
            <a:r>
              <a:t>import matplotlib.pyplot as plt</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G = nx.Graph()</a:t>
            </a:r>
          </a:p>
          <a:p>
            <a:pPr>
              <a:spcAft>
                <a:spcPts val="100"/>
              </a:spcAft>
              <a:defRPr sz="1000">
                <a:solidFill>
                  <a:srgbClr val="7EC68E"/>
                </a:solidFill>
                <a:latin typeface="Consolas"/>
              </a:defRPr>
            </a:pPr>
            <a:r>
              <a:t>G.add_edge("Alice",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"Java",</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nx.draw(G, with_labels=True,</a:t>
            </a:r>
          </a:p>
          <a:p>
            <a:pPr>
              <a:spcAft>
                <a:spcPts val="100"/>
              </a:spcAft>
              <a:defRPr sz="1000">
                <a:solidFill>
                  <a:srgbClr val="7EC68E"/>
                </a:solidFill>
                <a:latin typeface="Consolas"/>
              </a:defRPr>
            </a:pPr>
            <a:r>
              <a:t>        node_color="lightblue",</a:t>
            </a:r>
          </a:p>
          <a:p>
            <a:pPr>
              <a:spcAft>
                <a:spcPts val="100"/>
              </a:spcAft>
              <a:defRPr sz="1000">
                <a:solidFill>
                  <a:srgbClr val="7EC68E"/>
                </a:solidFill>
                <a:latin typeface="Consolas"/>
              </a:defRPr>
            </a:pPr>
            <a:r>
              <a:t>        node_size=2000)</a:t>
            </a:r>
          </a:p>
          <a:p>
            <a:pPr>
              <a:spcAft>
                <a:spcPts val="100"/>
              </a:spcAft>
              <a:defRPr sz="1000">
                <a:solidFill>
                  <a:srgbClr val="7EC68E"/>
                </a:solidFill>
                <a:latin typeface="Consolas"/>
              </a:defRPr>
            </a:pPr>
            <a:r>
              <a:t>plt.title("Skill Graph")</a:t>
            </a:r>
          </a:p>
          <a:p>
            <a:pPr>
              <a:spcAft>
                <a:spcPts val="100"/>
              </a:spcAft>
              <a:defRPr sz="1000">
                <a:solidFill>
                  <a:srgbClr val="7EC68E"/>
                </a:solidFill>
                <a:latin typeface="Consolas"/>
              </a:defRPr>
            </a:pPr>
            <a:r>
              <a:t>plt.show()</a:t>
            </a:r>
          </a:p>
        </p:txBody>
      </p:sp>
      <p:sp>
        <p:nvSpPr>
          <p:cNvPr id="6" name="Rectangle 5"/>
          <p:cNvSpPr/>
          <p:nvPr/>
        </p:nvSpPr>
        <p:spPr>
          <a:xfrm>
            <a:off x="6096000" y="2350008"/>
            <a:ext cx="4846320" cy="30175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05728" y="2423160"/>
            <a:ext cx="4626864" cy="2871216"/>
          </a:xfrm>
          <a:prstGeom prst="rect">
            <a:avLst/>
          </a:prstGeom>
          <a:noFill/>
        </p:spPr>
        <p:txBody>
          <a:bodyPr wrap="square">
            <a:spAutoFit/>
          </a:bodyPr>
          <a:lstStyle/>
          <a:p>
            <a:pPr>
              <a:spcAft>
                <a:spcPts val="100"/>
              </a:spcAft>
              <a:defRPr sz="1000">
                <a:solidFill>
                  <a:srgbClr val="7EC68E"/>
                </a:solidFill>
                <a:latin typeface="Consolas"/>
              </a:defRPr>
            </a:pPr>
            <a:r>
              <a:t># pyvis per grafo interattivo HTML:</a:t>
            </a:r>
          </a:p>
          <a:p>
            <a:pPr>
              <a:spcAft>
                <a:spcPts val="100"/>
              </a:spcAft>
              <a:defRPr sz="1000">
                <a:solidFill>
                  <a:srgbClr val="7EC68E"/>
                </a:solidFill>
                <a:latin typeface="Consolas"/>
              </a:defRPr>
            </a:pPr>
            <a:r>
              <a:t>from pyvis.network import Network</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net = Network(height="500px", width="100%")</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Aggiungi nodi con etichette:</a:t>
            </a:r>
          </a:p>
          <a:p>
            <a:pPr>
              <a:spcAft>
                <a:spcPts val="100"/>
              </a:spcAft>
              <a:defRPr sz="1000">
                <a:solidFill>
                  <a:srgbClr val="7EC68E"/>
                </a:solidFill>
                <a:latin typeface="Consolas"/>
              </a:defRPr>
            </a:pPr>
            <a:r>
              <a:t>net.add_node("Alice", label="Alice")</a:t>
            </a:r>
          </a:p>
          <a:p>
            <a:pPr>
              <a:spcAft>
                <a:spcPts val="100"/>
              </a:spcAft>
              <a:defRPr sz="1000">
                <a:solidFill>
                  <a:srgbClr val="7EC68E"/>
                </a:solidFill>
                <a:latin typeface="Consolas"/>
              </a:defRPr>
            </a:pPr>
            <a:r>
              <a:t>net.add_node("Python", label="Python")</a:t>
            </a:r>
          </a:p>
          <a:p>
            <a:pPr>
              <a:spcAft>
                <a:spcPts val="100"/>
              </a:spcAft>
              <a:defRPr sz="1000">
                <a:solidFill>
                  <a:srgbClr val="7EC68E"/>
                </a:solidFill>
                <a:latin typeface="Consolas"/>
              </a:defRPr>
            </a:pPr>
            <a:r>
              <a:t>net.add_node("Bob", label="Bob")</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Aggiungi relazioni:</a:t>
            </a:r>
          </a:p>
          <a:p>
            <a:pPr>
              <a:spcAft>
                <a:spcPts val="100"/>
              </a:spcAft>
              <a:defRPr sz="1000">
                <a:solidFill>
                  <a:srgbClr val="7EC68E"/>
                </a:solidFill>
                <a:latin typeface="Consolas"/>
              </a:defRPr>
            </a:pPr>
            <a:r>
              <a:t>net.add_edge("Alice", "Python")</a:t>
            </a:r>
          </a:p>
          <a:p>
            <a:pPr>
              <a:spcAft>
                <a:spcPts val="100"/>
              </a:spcAft>
              <a:defRPr sz="1000">
                <a:solidFill>
                  <a:srgbClr val="7EC68E"/>
                </a:solidFill>
                <a:latin typeface="Consolas"/>
              </a:defRPr>
            </a:pPr>
            <a:r>
              <a:t>net.add_edge("Bob", "Python")</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Salva come HTML e apri nel browser:</a:t>
            </a:r>
          </a:p>
          <a:p>
            <a:pPr>
              <a:spcAft>
                <a:spcPts val="100"/>
              </a:spcAft>
              <a:defRPr sz="1000">
                <a:solidFill>
                  <a:srgbClr val="7EC68E"/>
                </a:solidFill>
                <a:latin typeface="Consolas"/>
              </a:defRPr>
            </a:pPr>
            <a:r>
              <a:t>net.show("grafo.html")</a:t>
            </a:r>
          </a:p>
        </p:txBody>
      </p:sp>
      <p:sp>
        <p:nvSpPr>
          <p:cNvPr id="8" name="Rectangle 7"/>
          <p:cNvSpPr/>
          <p:nvPr/>
        </p:nvSpPr>
        <p:spPr>
          <a:xfrm>
            <a:off x="731520" y="5760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5943600"/>
            <a:ext cx="10515600" cy="365760"/>
          </a:xfrm>
          <a:prstGeom prst="rect">
            <a:avLst/>
          </a:prstGeom>
          <a:noFill/>
        </p:spPr>
        <p:txBody>
          <a:bodyPr wrap="square">
            <a:spAutoFit/>
          </a:bodyPr>
          <a:lstStyle/>
          <a:p>
            <a:pPr algn="l">
              <a:defRPr sz="1300" b="0">
                <a:solidFill>
                  <a:srgbClr val="F0C040"/>
                </a:solidFill>
                <a:latin typeface="Calibri"/>
              </a:defRPr>
            </a:pPr>
            <a:r>
              <a:t>Entrambi gli strumenti leggono i dati dal driver Neo4j e li trasformano in un grafo visuale.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Org Graph: Il Nostro Dataset</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500" b="0">
                <a:solidFill>
                  <a:srgbClr val="CCCCCC"/>
                </a:solidFill>
                <a:latin typeface="Calibri"/>
              </a:defRPr>
            </a:pPr>
            <a:r>
              <a:t>Un grafo aziendale reale che useremo per tutto il corso. Anonimizzato da dati HR reali.</a:t>
            </a:r>
          </a:p>
        </p:txBody>
      </p:sp>
      <p:sp>
        <p:nvSpPr>
          <p:cNvPr id="4" name="TextBox 3"/>
          <p:cNvSpPr txBox="1"/>
          <p:nvPr/>
        </p:nvSpPr>
        <p:spPr>
          <a:xfrm>
            <a:off x="731520" y="1463040"/>
            <a:ext cx="5029200" cy="2308324"/>
          </a:xfrm>
          <a:prstGeom prst="rect">
            <a:avLst/>
          </a:prstGeom>
          <a:noFill/>
        </p:spPr>
        <p:txBody>
          <a:bodyPr wrap="square">
            <a:spAutoFit/>
          </a:bodyPr>
          <a:lstStyle/>
          <a:p>
            <a:pPr algn="l">
              <a:spcAft>
                <a:spcPts val="0"/>
              </a:spcAft>
              <a:defRPr sz="1200">
                <a:solidFill>
                  <a:srgbClr val="FFFFFF"/>
                </a:solidFill>
                <a:latin typeface="Calibri"/>
              </a:defRPr>
            </a:pPr>
            <a:r>
              <a:rPr dirty="0"/>
              <a:t>238 </a:t>
            </a:r>
            <a:r>
              <a:rPr dirty="0" err="1"/>
              <a:t>persone</a:t>
            </a:r>
            <a:r>
              <a:rPr dirty="0"/>
              <a:t> (</a:t>
            </a:r>
            <a:r>
              <a:rPr dirty="0" err="1"/>
              <a:t>consulenti</a:t>
            </a:r>
            <a:r>
              <a:rPr dirty="0"/>
              <a:t>, manager, </a:t>
            </a:r>
            <a:r>
              <a:rPr dirty="0" err="1"/>
              <a:t>tecnici</a:t>
            </a:r>
            <a:r>
              <a:rPr dirty="0"/>
              <a:t>)</a:t>
            </a:r>
          </a:p>
          <a:p>
            <a:pPr algn="l">
              <a:spcAft>
                <a:spcPts val="0"/>
              </a:spcAft>
              <a:defRPr sz="1200">
                <a:solidFill>
                  <a:srgbClr val="FFFFFF"/>
                </a:solidFill>
                <a:latin typeface="Calibri"/>
              </a:defRPr>
            </a:pPr>
            <a:r>
              <a:rPr dirty="0"/>
              <a:t>93 </a:t>
            </a:r>
            <a:r>
              <a:rPr dirty="0" err="1"/>
              <a:t>progetti</a:t>
            </a:r>
            <a:r>
              <a:rPr dirty="0"/>
              <a:t> </a:t>
            </a:r>
            <a:r>
              <a:rPr dirty="0" err="1"/>
              <a:t>seguiti</a:t>
            </a:r>
            <a:r>
              <a:rPr dirty="0"/>
              <a:t> </a:t>
            </a:r>
            <a:r>
              <a:rPr dirty="0" err="1"/>
              <a:t>dalle</a:t>
            </a:r>
            <a:r>
              <a:rPr dirty="0"/>
              <a:t> </a:t>
            </a:r>
            <a:r>
              <a:rPr dirty="0" err="1"/>
              <a:t>persone</a:t>
            </a:r>
            <a:endParaRPr dirty="0"/>
          </a:p>
          <a:p>
            <a:pPr algn="l">
              <a:spcAft>
                <a:spcPts val="0"/>
              </a:spcAft>
              <a:defRPr sz="1200">
                <a:solidFill>
                  <a:srgbClr val="FFFFFF"/>
                </a:solidFill>
                <a:latin typeface="Calibri"/>
              </a:defRPr>
            </a:pPr>
            <a:r>
              <a:rPr dirty="0"/>
              <a:t>55 skill certificate (</a:t>
            </a:r>
            <a:r>
              <a:rPr dirty="0" err="1"/>
              <a:t>tecnologiche</a:t>
            </a:r>
            <a:r>
              <a:rPr dirty="0"/>
              <a:t> e </a:t>
            </a:r>
            <a:r>
              <a:rPr dirty="0" err="1"/>
              <a:t>trasversali</a:t>
            </a:r>
            <a:r>
              <a:rPr dirty="0"/>
              <a:t>)</a:t>
            </a:r>
          </a:p>
          <a:p>
            <a:pPr algn="l">
              <a:spcAft>
                <a:spcPts val="0"/>
              </a:spcAft>
              <a:defRPr sz="1200">
                <a:solidFill>
                  <a:srgbClr val="FFFFFF"/>
                </a:solidFill>
                <a:latin typeface="Calibri"/>
              </a:defRPr>
            </a:pPr>
            <a:r>
              <a:rPr dirty="0"/>
              <a:t>2 supervisor (</a:t>
            </a:r>
            <a:r>
              <a:rPr dirty="0" err="1"/>
              <a:t>direttori</a:t>
            </a:r>
            <a:r>
              <a:rPr dirty="0"/>
              <a:t> di area)</a:t>
            </a:r>
          </a:p>
          <a:p>
            <a:pPr algn="l">
              <a:spcAft>
                <a:spcPts val="0"/>
              </a:spcAft>
              <a:defRPr sz="1200">
                <a:solidFill>
                  <a:srgbClr val="FFFFFF"/>
                </a:solidFill>
                <a:latin typeface="Calibri"/>
              </a:defRPr>
            </a:pPr>
            <a:endParaRPr lang="en-US" dirty="0"/>
          </a:p>
          <a:p>
            <a:pPr algn="l">
              <a:spcAft>
                <a:spcPts val="0"/>
              </a:spcAft>
              <a:defRPr sz="1200">
                <a:solidFill>
                  <a:srgbClr val="FFFFFF"/>
                </a:solidFill>
                <a:latin typeface="Calibri"/>
              </a:defRPr>
            </a:pPr>
            <a:r>
              <a:rPr dirty="0" err="1"/>
              <a:t>Relazioni</a:t>
            </a:r>
            <a:r>
              <a:rPr dirty="0"/>
              <a:t>:</a:t>
            </a:r>
          </a:p>
          <a:p>
            <a:pPr algn="l">
              <a:spcAft>
                <a:spcPts val="0"/>
              </a:spcAft>
              <a:defRPr sz="1200">
                <a:solidFill>
                  <a:srgbClr val="FFFFFF"/>
                </a:solidFill>
                <a:latin typeface="Calibri"/>
              </a:defRPr>
            </a:pPr>
            <a:r>
              <a:rPr dirty="0"/>
              <a:t>  • HAS_SKILL {proficiency: 1-5}</a:t>
            </a:r>
          </a:p>
          <a:p>
            <a:pPr algn="l">
              <a:spcAft>
                <a:spcPts val="0"/>
              </a:spcAft>
              <a:defRPr sz="1200">
                <a:solidFill>
                  <a:srgbClr val="FFFFFF"/>
                </a:solidFill>
                <a:latin typeface="Calibri"/>
              </a:defRPr>
            </a:pPr>
            <a:r>
              <a:rPr dirty="0"/>
              <a:t>  • WORKED_ON {role: Developer/Architect/etc.}</a:t>
            </a:r>
          </a:p>
          <a:p>
            <a:pPr algn="l">
              <a:spcAft>
                <a:spcPts val="0"/>
              </a:spcAft>
              <a:defRPr sz="1200">
                <a:solidFill>
                  <a:srgbClr val="FFFFFF"/>
                </a:solidFill>
                <a:latin typeface="Calibri"/>
              </a:defRPr>
            </a:pPr>
            <a:r>
              <a:rPr dirty="0"/>
              <a:t>  • REPORTS_TO (Person → Supervisor)</a:t>
            </a:r>
            <a:endParaRPr lang="en-US" dirty="0"/>
          </a:p>
          <a:p>
            <a:pPr algn="l">
              <a:spcAft>
                <a:spcPts val="0"/>
              </a:spcAft>
              <a:defRPr sz="1200">
                <a:solidFill>
                  <a:srgbClr val="FFFFFF"/>
                </a:solidFill>
                <a:latin typeface="Calibri"/>
              </a:defRPr>
            </a:pPr>
            <a:endParaRPr dirty="0"/>
          </a:p>
          <a:p>
            <a:pPr algn="l">
              <a:spcAft>
                <a:spcPts val="0"/>
              </a:spcAft>
              <a:defRPr sz="1200">
                <a:solidFill>
                  <a:srgbClr val="FFFFFF"/>
                </a:solidFill>
                <a:latin typeface="Calibri"/>
              </a:defRPr>
            </a:pPr>
            <a:r>
              <a:rPr dirty="0"/>
              <a:t>Dati </a:t>
            </a:r>
            <a:r>
              <a:rPr dirty="0" err="1"/>
              <a:t>anonimizzati</a:t>
            </a:r>
            <a:r>
              <a:rPr dirty="0"/>
              <a:t> da </a:t>
            </a:r>
            <a:r>
              <a:rPr dirty="0" err="1"/>
              <a:t>foglio</a:t>
            </a:r>
            <a:r>
              <a:rPr dirty="0"/>
              <a:t> Excel </a:t>
            </a:r>
            <a:r>
              <a:rPr dirty="0" err="1"/>
              <a:t>aziendale</a:t>
            </a:r>
            <a:r>
              <a:rPr dirty="0"/>
              <a:t> </a:t>
            </a:r>
            <a:r>
              <a:rPr dirty="0" err="1"/>
              <a:t>reale</a:t>
            </a:r>
            <a:endParaRPr dirty="0"/>
          </a:p>
          <a:p>
            <a:pPr algn="l">
              <a:spcAft>
                <a:spcPts val="0"/>
              </a:spcAft>
              <a:defRPr sz="1200">
                <a:solidFill>
                  <a:srgbClr val="FFFFFF"/>
                </a:solidFill>
                <a:latin typeface="Calibri"/>
              </a:defRPr>
            </a:pPr>
            <a:r>
              <a:rPr dirty="0" err="1"/>
              <a:t>Ospitato</a:t>
            </a:r>
            <a:r>
              <a:rPr dirty="0"/>
              <a:t> </a:t>
            </a:r>
            <a:r>
              <a:rPr dirty="0" err="1"/>
              <a:t>su</a:t>
            </a:r>
            <a:r>
              <a:rPr dirty="0"/>
              <a:t> </a:t>
            </a:r>
            <a:r>
              <a:rPr dirty="0" err="1"/>
              <a:t>AuraDB</a:t>
            </a:r>
            <a:r>
              <a:rPr dirty="0"/>
              <a:t> Free Tier</a:t>
            </a:r>
          </a:p>
        </p:txBody>
      </p:sp>
      <p:sp>
        <p:nvSpPr>
          <p:cNvPr id="5" name="TextBox 4"/>
          <p:cNvSpPr txBox="1"/>
          <p:nvPr/>
        </p:nvSpPr>
        <p:spPr>
          <a:xfrm>
            <a:off x="6096000" y="1463040"/>
            <a:ext cx="4846320" cy="2377440"/>
          </a:xfrm>
          <a:prstGeom prst="rect">
            <a:avLst/>
          </a:prstGeom>
          <a:noFill/>
        </p:spPr>
        <p:txBody>
          <a:bodyPr wrap="square">
            <a:spAutoFit/>
          </a:bodyPr>
          <a:lstStyle/>
          <a:p>
            <a:pPr algn="l">
              <a:defRPr sz="1000" b="0">
                <a:solidFill>
                  <a:srgbClr val="7EC68E"/>
                </a:solidFill>
                <a:latin typeface="Consolas"/>
              </a:defRPr>
            </a:pPr>
            <a:r>
              <a:t>Esempio di riga CSV:</a:t>
            </a:r>
            <a:br/>
            <a:br/>
            <a:r>
              <a:t>employee_id | 1</a:t>
            </a:r>
            <a:br/>
            <a:r>
              <a:t>name        | Mario Rossi</a:t>
            </a:r>
            <a:br/>
            <a:r>
              <a:t>gender      | M</a:t>
            </a:r>
            <a:br/>
            <a:r>
              <a:t>discipline  | Technology</a:t>
            </a:r>
            <a:br/>
            <a:r>
              <a:t>department  | Digital</a:t>
            </a:r>
            <a:br/>
            <a:r>
              <a:t>code        | ITA-001</a:t>
            </a:r>
            <a:br/>
            <a:r>
              <a:t>location    | Roma</a:t>
            </a:r>
            <a:br/>
            <a:r>
              <a:t>title       | Senior Consultant</a:t>
            </a:r>
            <a:br/>
            <a:r>
              <a:t>supervisor_id | 200</a:t>
            </a:r>
            <a:br/>
            <a:r>
              <a:t>supervisor_name | Anna Bianchi</a:t>
            </a:r>
            <a:br/>
            <a:r>
              <a:t>project_id  | 10</a:t>
            </a:r>
            <a:br/>
            <a:r>
              <a:t>project_name | AI Platform</a:t>
            </a:r>
            <a:br/>
            <a:r>
              <a:t>role        | Developer</a:t>
            </a:r>
          </a:p>
        </p:txBody>
      </p:sp>
      <p:sp>
        <p:nvSpPr>
          <p:cNvPr id="6" name="TextBox 5"/>
          <p:cNvSpPr txBox="1"/>
          <p:nvPr/>
        </p:nvSpPr>
        <p:spPr>
          <a:xfrm>
            <a:off x="6096000" y="4142232"/>
            <a:ext cx="4846320" cy="1384995"/>
          </a:xfrm>
          <a:prstGeom prst="rect">
            <a:avLst/>
          </a:prstGeom>
          <a:noFill/>
        </p:spPr>
        <p:txBody>
          <a:bodyPr wrap="square">
            <a:spAutoFit/>
          </a:bodyPr>
          <a:lstStyle/>
          <a:p>
            <a:pPr algn="l">
              <a:defRPr sz="1200" b="0">
                <a:solidFill>
                  <a:srgbClr val="CCCCCC"/>
                </a:solidFill>
                <a:latin typeface="Calibri"/>
              </a:defRPr>
            </a:pPr>
            <a:r>
              <a:rPr dirty="0" err="1"/>
              <a:t>Struttura</a:t>
            </a:r>
            <a:r>
              <a:rPr dirty="0"/>
              <a:t> </a:t>
            </a:r>
            <a:r>
              <a:rPr dirty="0" err="1"/>
              <a:t>dati</a:t>
            </a:r>
            <a:r>
              <a:rPr dirty="0"/>
              <a:t>:</a:t>
            </a:r>
            <a:br>
              <a:rPr dirty="0"/>
            </a:br>
            <a:br>
              <a:rPr dirty="0"/>
            </a:br>
            <a:r>
              <a:rPr dirty="0"/>
              <a:t>Ogni </a:t>
            </a:r>
            <a:r>
              <a:rPr dirty="0" err="1"/>
              <a:t>riga</a:t>
            </a:r>
            <a:r>
              <a:rPr dirty="0"/>
              <a:t> CSV = </a:t>
            </a:r>
            <a:r>
              <a:rPr dirty="0" err="1"/>
              <a:t>una</a:t>
            </a:r>
            <a:r>
              <a:rPr dirty="0"/>
              <a:t> persona</a:t>
            </a:r>
            <a:r>
              <a:rPr lang="en-US" dirty="0"/>
              <a:t> </a:t>
            </a:r>
            <a:r>
              <a:rPr dirty="0"/>
              <a:t>con le skill in </a:t>
            </a:r>
            <a:r>
              <a:rPr dirty="0" err="1"/>
              <a:t>colonne</a:t>
            </a:r>
            <a:r>
              <a:rPr dirty="0"/>
              <a:t> separate.</a:t>
            </a:r>
            <a:br>
              <a:rPr dirty="0"/>
            </a:br>
            <a:r>
              <a:rPr dirty="0"/>
              <a:t>Il </a:t>
            </a:r>
            <a:r>
              <a:rPr dirty="0" err="1"/>
              <a:t>caricamento</a:t>
            </a:r>
            <a:r>
              <a:rPr dirty="0"/>
              <a:t> UNWIND </a:t>
            </a:r>
            <a:r>
              <a:rPr dirty="0" err="1"/>
              <a:t>trasforma</a:t>
            </a:r>
            <a:r>
              <a:rPr lang="en-US" dirty="0"/>
              <a:t> </a:t>
            </a:r>
            <a:r>
              <a:rPr dirty="0"/>
              <a:t>le </a:t>
            </a:r>
            <a:r>
              <a:rPr dirty="0" err="1"/>
              <a:t>righe</a:t>
            </a:r>
            <a:r>
              <a:rPr dirty="0"/>
              <a:t> in nodi e </a:t>
            </a:r>
            <a:r>
              <a:rPr dirty="0" err="1"/>
              <a:t>relazioni</a:t>
            </a:r>
            <a:r>
              <a:rPr dirty="0"/>
              <a:t>.</a:t>
            </a:r>
            <a:br>
              <a:rPr dirty="0"/>
            </a:br>
            <a:br>
              <a:rPr dirty="0"/>
            </a:br>
            <a:r>
              <a:rPr dirty="0"/>
              <a:t>Nei </a:t>
            </a:r>
            <a:r>
              <a:rPr dirty="0" err="1"/>
              <a:t>prossimi</a:t>
            </a:r>
            <a:r>
              <a:rPr dirty="0"/>
              <a:t> </a:t>
            </a:r>
            <a:r>
              <a:rPr dirty="0" err="1"/>
              <a:t>esercizi</a:t>
            </a:r>
            <a:r>
              <a:rPr dirty="0"/>
              <a:t> </a:t>
            </a:r>
            <a:r>
              <a:rPr dirty="0" err="1"/>
              <a:t>esploreremo</a:t>
            </a:r>
            <a:r>
              <a:rPr lang="en-US" dirty="0"/>
              <a:t> </a:t>
            </a:r>
            <a:r>
              <a:rPr dirty="0"/>
              <a:t>il dataset con Cypher dal Browser</a:t>
            </a:r>
            <a:r>
              <a:rPr lang="en-US" dirty="0"/>
              <a:t> </a:t>
            </a:r>
            <a:r>
              <a:rPr dirty="0"/>
              <a:t>e dal notebook Python.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Schema del Org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Il modello a grafo del nostro progetto: nodi, labels, relazioni e proprietà.</a:t>
            </a:r>
          </a:p>
        </p:txBody>
      </p:sp>
      <p:sp>
        <p:nvSpPr>
          <p:cNvPr id="4" name="TextBox 3"/>
          <p:cNvSpPr txBox="1"/>
          <p:nvPr/>
        </p:nvSpPr>
        <p:spPr>
          <a:xfrm>
            <a:off x="731520" y="1371600"/>
            <a:ext cx="5029200" cy="365760"/>
          </a:xfrm>
          <a:prstGeom prst="rect">
            <a:avLst/>
          </a:prstGeom>
          <a:noFill/>
        </p:spPr>
        <p:txBody>
          <a:bodyPr wrap="square">
            <a:spAutoFit/>
          </a:bodyPr>
          <a:lstStyle/>
          <a:p>
            <a:pPr algn="l">
              <a:defRPr sz="1600" b="1">
                <a:solidFill>
                  <a:srgbClr val="F08040"/>
                </a:solidFill>
                <a:latin typeface="Calibri"/>
              </a:defRPr>
            </a:pPr>
            <a:r>
              <a:t>(:Person)</a:t>
            </a:r>
          </a:p>
        </p:txBody>
      </p:sp>
      <p:sp>
        <p:nvSpPr>
          <p:cNvPr id="5" name="TextBox 4"/>
          <p:cNvSpPr txBox="1"/>
          <p:nvPr/>
        </p:nvSpPr>
        <p:spPr>
          <a:xfrm>
            <a:off x="731520" y="1783080"/>
            <a:ext cx="5029200" cy="731520"/>
          </a:xfrm>
          <a:prstGeom prst="rect">
            <a:avLst/>
          </a:prstGeom>
          <a:noFill/>
        </p:spPr>
        <p:txBody>
          <a:bodyPr wrap="square">
            <a:spAutoFit/>
          </a:bodyPr>
          <a:lstStyle/>
          <a:p>
            <a:pPr algn="l">
              <a:defRPr sz="1100" b="0">
                <a:solidFill>
                  <a:srgbClr val="7EC68E"/>
                </a:solidFill>
                <a:latin typeface="Consolas"/>
              </a:defRPr>
            </a:pPr>
            <a:r>
              <a:rPr dirty="0" err="1"/>
              <a:t>employee_id</a:t>
            </a:r>
            <a:r>
              <a:rPr dirty="0"/>
              <a:t>  name  gender  discipline</a:t>
            </a:r>
          </a:p>
        </p:txBody>
      </p:sp>
      <p:sp>
        <p:nvSpPr>
          <p:cNvPr id="6" name="TextBox 5"/>
          <p:cNvSpPr txBox="1"/>
          <p:nvPr/>
        </p:nvSpPr>
        <p:spPr>
          <a:xfrm>
            <a:off x="731520" y="2103120"/>
            <a:ext cx="5029200" cy="731520"/>
          </a:xfrm>
          <a:prstGeom prst="rect">
            <a:avLst/>
          </a:prstGeom>
          <a:noFill/>
        </p:spPr>
        <p:txBody>
          <a:bodyPr wrap="square">
            <a:spAutoFit/>
          </a:bodyPr>
          <a:lstStyle/>
          <a:p>
            <a:pPr algn="l">
              <a:defRPr sz="1100" b="0">
                <a:solidFill>
                  <a:srgbClr val="7EC68E"/>
                </a:solidFill>
                <a:latin typeface="Consolas"/>
              </a:defRPr>
            </a:pPr>
            <a:r>
              <a:t>department  code  location  title       </a:t>
            </a:r>
          </a:p>
        </p:txBody>
      </p:sp>
      <p:sp>
        <p:nvSpPr>
          <p:cNvPr id="7" name="TextBox 6"/>
          <p:cNvSpPr txBox="1"/>
          <p:nvPr/>
        </p:nvSpPr>
        <p:spPr>
          <a:xfrm>
            <a:off x="5669280" y="1371600"/>
            <a:ext cx="5029200" cy="365760"/>
          </a:xfrm>
          <a:prstGeom prst="rect">
            <a:avLst/>
          </a:prstGeom>
          <a:noFill/>
        </p:spPr>
        <p:txBody>
          <a:bodyPr wrap="square">
            <a:spAutoFit/>
          </a:bodyPr>
          <a:lstStyle/>
          <a:p>
            <a:pPr algn="l">
              <a:defRPr sz="1600" b="1">
                <a:solidFill>
                  <a:srgbClr val="F08040"/>
                </a:solidFill>
                <a:latin typeface="Calibri"/>
              </a:defRPr>
            </a:pPr>
            <a:r>
              <a:t>(:Skill)  e  (:Project)  e  (:Supervisor)</a:t>
            </a:r>
          </a:p>
        </p:txBody>
      </p:sp>
      <p:sp>
        <p:nvSpPr>
          <p:cNvPr id="8" name="TextBox 7"/>
          <p:cNvSpPr txBox="1"/>
          <p:nvPr/>
        </p:nvSpPr>
        <p:spPr>
          <a:xfrm>
            <a:off x="5669280" y="1783080"/>
            <a:ext cx="5029200" cy="731520"/>
          </a:xfrm>
          <a:prstGeom prst="rect">
            <a:avLst/>
          </a:prstGeom>
          <a:noFill/>
        </p:spPr>
        <p:txBody>
          <a:bodyPr wrap="square">
            <a:spAutoFit/>
          </a:bodyPr>
          <a:lstStyle/>
          <a:p>
            <a:pPr algn="l">
              <a:defRPr sz="1100" b="0">
                <a:solidFill>
                  <a:srgbClr val="7EC68E"/>
                </a:solidFill>
                <a:latin typeface="Consolas"/>
              </a:defRPr>
            </a:pPr>
            <a:r>
              <a:t>Skill: name</a:t>
            </a:r>
          </a:p>
        </p:txBody>
      </p:sp>
      <p:sp>
        <p:nvSpPr>
          <p:cNvPr id="9" name="TextBox 8"/>
          <p:cNvSpPr txBox="1"/>
          <p:nvPr/>
        </p:nvSpPr>
        <p:spPr>
          <a:xfrm>
            <a:off x="5669280" y="2103120"/>
            <a:ext cx="5029200" cy="731520"/>
          </a:xfrm>
          <a:prstGeom prst="rect">
            <a:avLst/>
          </a:prstGeom>
          <a:noFill/>
        </p:spPr>
        <p:txBody>
          <a:bodyPr wrap="square">
            <a:spAutoFit/>
          </a:bodyPr>
          <a:lstStyle/>
          <a:p>
            <a:pPr algn="l">
              <a:defRPr sz="1100" b="0">
                <a:solidFill>
                  <a:srgbClr val="7EC68E"/>
                </a:solidFill>
                <a:latin typeface="Consolas"/>
              </a:defRPr>
            </a:pPr>
            <a:r>
              <a:t>Project: project_id, name</a:t>
            </a:r>
          </a:p>
        </p:txBody>
      </p:sp>
      <p:sp>
        <p:nvSpPr>
          <p:cNvPr id="10" name="TextBox 9"/>
          <p:cNvSpPr txBox="1"/>
          <p:nvPr/>
        </p:nvSpPr>
        <p:spPr>
          <a:xfrm>
            <a:off x="5669280" y="2423160"/>
            <a:ext cx="5029200" cy="731520"/>
          </a:xfrm>
          <a:prstGeom prst="rect">
            <a:avLst/>
          </a:prstGeom>
          <a:noFill/>
        </p:spPr>
        <p:txBody>
          <a:bodyPr wrap="square">
            <a:spAutoFit/>
          </a:bodyPr>
          <a:lstStyle/>
          <a:p>
            <a:pPr algn="l">
              <a:defRPr sz="1100" b="0">
                <a:solidFill>
                  <a:srgbClr val="7EC68E"/>
                </a:solidFill>
                <a:latin typeface="Consolas"/>
              </a:defRPr>
            </a:pPr>
            <a:r>
              <a:t>Supervisor: supervisor_id, name</a:t>
            </a:r>
          </a:p>
        </p:txBody>
      </p:sp>
      <p:sp>
        <p:nvSpPr>
          <p:cNvPr id="11" name="Rectangle 10"/>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Relazioni:</a:t>
            </a:r>
          </a:p>
        </p:txBody>
      </p:sp>
      <p:sp>
        <p:nvSpPr>
          <p:cNvPr id="13" name="Rectangle 12"/>
          <p:cNvSpPr/>
          <p:nvPr/>
        </p:nvSpPr>
        <p:spPr>
          <a:xfrm>
            <a:off x="731520" y="393192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 y="4005072"/>
            <a:ext cx="10296144" cy="1499616"/>
          </a:xfrm>
          <a:prstGeom prst="rect">
            <a:avLst/>
          </a:prstGeom>
          <a:noFill/>
        </p:spPr>
        <p:txBody>
          <a:bodyPr wrap="square">
            <a:spAutoFit/>
          </a:bodyPr>
          <a:lstStyle/>
          <a:p>
            <a:pPr>
              <a:spcAft>
                <a:spcPts val="100"/>
              </a:spcAft>
              <a:defRPr sz="1000">
                <a:solidFill>
                  <a:srgbClr val="7EC68E"/>
                </a:solidFill>
                <a:latin typeface="Consolas"/>
              </a:defRPr>
            </a:pPr>
            <a:r>
              <a:t>// HAS_SKILL: competenza di una persona</a:t>
            </a:r>
          </a:p>
          <a:p>
            <a:pPr>
              <a:spcAft>
                <a:spcPts val="100"/>
              </a:spcAft>
              <a:defRPr sz="1000">
                <a:solidFill>
                  <a:srgbClr val="7EC68E"/>
                </a:solidFill>
                <a:latin typeface="Consolas"/>
              </a:defRPr>
            </a:pPr>
            <a:r>
              <a:t>(p:Person)-[h:HAS_SKILL {proficiency: 1-5}]-&gt;(s:Skill)</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WORKED_ON: esperienza lavorativa su progetto</a:t>
            </a:r>
          </a:p>
          <a:p>
            <a:pPr>
              <a:spcAft>
                <a:spcPts val="100"/>
              </a:spcAft>
              <a:defRPr sz="1000">
                <a:solidFill>
                  <a:srgbClr val="7EC68E"/>
                </a:solidFill>
                <a:latin typeface="Consolas"/>
              </a:defRPr>
            </a:pPr>
            <a:r>
              <a:t>(p:Person)-[w:WORKED_ON {role: "Developer"}]-&gt;(proj:Project)</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REPORTS_TO: gerarchia organizzativa</a:t>
            </a:r>
          </a:p>
          <a:p>
            <a:pPr>
              <a:spcAft>
                <a:spcPts val="100"/>
              </a:spcAft>
              <a:defRPr sz="1000">
                <a:solidFill>
                  <a:srgbClr val="7EC68E"/>
                </a:solidFill>
                <a:latin typeface="Consolas"/>
              </a:defRPr>
            </a:pPr>
            <a:r>
              <a:t>(p:Person)-[:REPORTS_TO]-&gt;(sup:Supervisor)</a:t>
            </a:r>
          </a:p>
        </p:txBody>
      </p:sp>
      <p:sp>
        <p:nvSpPr>
          <p:cNvPr id="15" name="TextBox 14"/>
          <p:cNvSpPr txBox="1"/>
          <p:nvPr/>
        </p:nvSpPr>
        <p:spPr>
          <a:xfrm>
            <a:off x="731520" y="5760720"/>
            <a:ext cx="10515600" cy="365760"/>
          </a:xfrm>
          <a:prstGeom prst="rect">
            <a:avLst/>
          </a:prstGeom>
          <a:noFill/>
        </p:spPr>
        <p:txBody>
          <a:bodyPr wrap="square">
            <a:spAutoFit/>
          </a:bodyPr>
          <a:lstStyle/>
          <a:p>
            <a:pPr algn="l">
              <a:defRPr sz="1100" b="0">
                <a:solidFill>
                  <a:srgbClr val="CCCCCC"/>
                </a:solidFill>
                <a:latin typeface="Calibri"/>
              </a:defRPr>
            </a:pPr>
            <a:r>
              <a:t>Una persona PUÒ non avere skill, non avere progetti, o non riportare a nessuno. Tutte le proprietà sono in INGLESE (name, non nome).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Esempio Completo: Movie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Dataset incluso in Neo4j Browser con nodi Movie e Person (attori/registi). Attivare con :play movie-graph.</a:t>
            </a:r>
          </a:p>
        </p:txBody>
      </p:sp>
      <p:sp>
        <p:nvSpPr>
          <p:cNvPr id="4" name="Rectangle 3"/>
          <p:cNvSpPr/>
          <p:nvPr/>
        </p:nvSpPr>
        <p:spPr>
          <a:xfrm>
            <a:off x="731520" y="137160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1444752"/>
            <a:ext cx="4809744" cy="2414016"/>
          </a:xfrm>
          <a:prstGeom prst="rect">
            <a:avLst/>
          </a:prstGeom>
          <a:noFill/>
        </p:spPr>
        <p:txBody>
          <a:bodyPr wrap="square">
            <a:spAutoFit/>
          </a:bodyPr>
          <a:lstStyle/>
          <a:p>
            <a:pPr>
              <a:spcAft>
                <a:spcPts val="100"/>
              </a:spcAft>
              <a:defRPr sz="1000">
                <a:solidFill>
                  <a:srgbClr val="7EC68E"/>
                </a:solidFill>
                <a:latin typeface="Consolas"/>
              </a:defRPr>
            </a:pPr>
            <a:r>
              <a:t>// Attori di film usciti dopo il 2000:</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WHERE m.released &gt; 2000</a:t>
            </a:r>
          </a:p>
          <a:p>
            <a:pPr>
              <a:spcAft>
                <a:spcPts val="100"/>
              </a:spcAft>
              <a:defRPr sz="1000">
                <a:solidFill>
                  <a:srgbClr val="7EC68E"/>
                </a:solidFill>
                <a:latin typeface="Consolas"/>
              </a:defRPr>
            </a:pPr>
            <a:r>
              <a:t>RETURN p.name, m.title, m.released</a:t>
            </a:r>
          </a:p>
          <a:p>
            <a:pPr>
              <a:spcAft>
                <a:spcPts val="100"/>
              </a:spcAft>
              <a:defRPr sz="1000">
                <a:solidFill>
                  <a:srgbClr val="7EC68E"/>
                </a:solidFill>
                <a:latin typeface="Consolas"/>
              </a:defRPr>
            </a:pPr>
            <a:r>
              <a:t>ORDER BY m.released DESC;</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Co-protagonisti di Tom Hanks:</a:t>
            </a:r>
          </a:p>
          <a:p>
            <a:pPr>
              <a:spcAft>
                <a:spcPts val="100"/>
              </a:spcAft>
              <a:defRPr sz="1000">
                <a:solidFill>
                  <a:srgbClr val="7EC68E"/>
                </a:solidFill>
                <a:latin typeface="Consolas"/>
              </a:defRPr>
            </a:pPr>
            <a:r>
              <a:t>MATCH (tom:Person {name: "Tom Hanks"})</a:t>
            </a:r>
          </a:p>
          <a:p>
            <a:pPr>
              <a:spcAft>
                <a:spcPts val="100"/>
              </a:spcAft>
              <a:defRPr sz="1000">
                <a:solidFill>
                  <a:srgbClr val="7EC68E"/>
                </a:solidFill>
                <a:latin typeface="Consolas"/>
              </a:defRPr>
            </a:pPr>
            <a:r>
              <a:t>  -[:ACTED_IN]-&gt;(m:Movie)&lt;-[:ACTED_IN]-(co:Person)</a:t>
            </a:r>
          </a:p>
          <a:p>
            <a:pPr>
              <a:spcAft>
                <a:spcPts val="100"/>
              </a:spcAft>
              <a:defRPr sz="1000">
                <a:solidFill>
                  <a:srgbClr val="7EC68E"/>
                </a:solidFill>
                <a:latin typeface="Consolas"/>
              </a:defRPr>
            </a:pPr>
            <a:r>
              <a:t>RETURN co.name, m.title ORDER BY m.title;</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Output: Meg Ryan | Sleepless in Seattle</a:t>
            </a:r>
          </a:p>
          <a:p>
            <a:pPr>
              <a:spcAft>
                <a:spcPts val="100"/>
              </a:spcAft>
              <a:defRPr sz="1000">
                <a:solidFill>
                  <a:srgbClr val="7EC68E"/>
                </a:solidFill>
                <a:latin typeface="Consolas"/>
              </a:defRPr>
            </a:pPr>
            <a:r>
              <a:t>//         Bill Paxton | Apollo 13</a:t>
            </a:r>
          </a:p>
        </p:txBody>
      </p:sp>
      <p:sp>
        <p:nvSpPr>
          <p:cNvPr id="6" name="Rectangle 5"/>
          <p:cNvSpPr/>
          <p:nvPr/>
        </p:nvSpPr>
        <p:spPr>
          <a:xfrm>
            <a:off x="6096000" y="1371600"/>
            <a:ext cx="4846320" cy="26517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05728" y="1444752"/>
            <a:ext cx="4626864" cy="2505456"/>
          </a:xfrm>
          <a:prstGeom prst="rect">
            <a:avLst/>
          </a:prstGeom>
          <a:noFill/>
        </p:spPr>
        <p:txBody>
          <a:bodyPr wrap="square">
            <a:spAutoFit/>
          </a:bodyPr>
          <a:lstStyle/>
          <a:p>
            <a:pPr>
              <a:spcAft>
                <a:spcPts val="100"/>
              </a:spcAft>
              <a:defRPr sz="1000">
                <a:solidFill>
                  <a:srgbClr val="7EC68E"/>
                </a:solidFill>
                <a:latin typeface="Consolas"/>
              </a:defRPr>
            </a:pPr>
            <a:r>
              <a:t>// Numero di film per attore:</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RETURN p.name, count(m) AS film</a:t>
            </a:r>
          </a:p>
          <a:p>
            <a:pPr>
              <a:spcAft>
                <a:spcPts val="100"/>
              </a:spcAft>
              <a:defRPr sz="1000">
                <a:solidFill>
                  <a:srgbClr val="7EC68E"/>
                </a:solidFill>
                <a:latin typeface="Consolas"/>
              </a:defRPr>
            </a:pPr>
            <a:r>
              <a:t>ORDER BY film DESC LIMIT 10;</a:t>
            </a:r>
          </a:p>
          <a:p>
            <a:pPr>
              <a:spcAft>
                <a:spcPts val="100"/>
              </a:spcAft>
              <a:defRPr sz="1000">
                <a:solidFill>
                  <a:srgbClr val="7EC68E"/>
                </a:solidFill>
                <a:latin typeface="Consolas"/>
              </a:defRPr>
            </a:pPr>
            <a:endParaRPr/>
          </a:p>
          <a:p>
            <a:pPr>
              <a:spcAft>
                <a:spcPts val="100"/>
              </a:spcAft>
              <a:defRPr sz="1000">
                <a:solidFill>
                  <a:srgbClr val="7EC68E"/>
                </a:solidFill>
                <a:latin typeface="Consolas"/>
              </a:defRPr>
            </a:pPr>
            <a:r>
              <a:t>// Registi e i loro attori:</a:t>
            </a:r>
          </a:p>
          <a:p>
            <a:pPr>
              <a:spcAft>
                <a:spcPts val="100"/>
              </a:spcAft>
              <a:defRPr sz="1000">
                <a:solidFill>
                  <a:srgbClr val="7EC68E"/>
                </a:solidFill>
                <a:latin typeface="Consolas"/>
              </a:defRPr>
            </a:pPr>
            <a:r>
              <a:t>MATCH (d:Person)-[:DIRECTED]-&gt;(m:Movie)</a:t>
            </a:r>
          </a:p>
          <a:p>
            <a:pPr>
              <a:spcAft>
                <a:spcPts val="100"/>
              </a:spcAft>
              <a:defRPr sz="1000">
                <a:solidFill>
                  <a:srgbClr val="7EC68E"/>
                </a:solidFill>
                <a:latin typeface="Consolas"/>
              </a:defRPr>
            </a:pPr>
            <a:r>
              <a:t>  &lt;-[:ACTED_IN]-(a:Person)</a:t>
            </a:r>
          </a:p>
          <a:p>
            <a:pPr>
              <a:spcAft>
                <a:spcPts val="100"/>
              </a:spcAft>
              <a:defRPr sz="1000">
                <a:solidFill>
                  <a:srgbClr val="7EC68E"/>
                </a:solidFill>
                <a:latin typeface="Consolas"/>
              </a:defRPr>
            </a:pPr>
            <a:r>
              <a:t>RETURN d.name AS regista,</a:t>
            </a:r>
          </a:p>
          <a:p>
            <a:pPr>
              <a:spcAft>
                <a:spcPts val="100"/>
              </a:spcAft>
              <a:defRPr sz="1000">
                <a:solidFill>
                  <a:srgbClr val="7EC68E"/>
                </a:solidFill>
                <a:latin typeface="Consolas"/>
              </a:defRPr>
            </a:pPr>
            <a:r>
              <a:t>       collect(DISTINCT a.name) AS attori,</a:t>
            </a:r>
          </a:p>
          <a:p>
            <a:pPr>
              <a:spcAft>
                <a:spcPts val="100"/>
              </a:spcAft>
              <a:defRPr sz="1000">
                <a:solidFill>
                  <a:srgbClr val="7EC68E"/>
                </a:solidFill>
                <a:latin typeface="Consolas"/>
              </a:defRPr>
            </a:pPr>
            <a:r>
              <a:t>       count(DISTINCT a.name) AS num</a:t>
            </a:r>
          </a:p>
          <a:p>
            <a:pPr>
              <a:spcAft>
                <a:spcPts val="100"/>
              </a:spcAft>
              <a:defRPr sz="1000">
                <a:solidFill>
                  <a:srgbClr val="7EC68E"/>
                </a:solidFill>
                <a:latin typeface="Consolas"/>
              </a:defRPr>
            </a:pPr>
            <a:r>
              <a:t>ORDER BY num DESC LIMIT 5;</a:t>
            </a:r>
          </a:p>
        </p:txBody>
      </p:sp>
      <p:sp>
        <p:nvSpPr>
          <p:cNvPr id="8" name="Rectangle 7"/>
          <p:cNvSpPr/>
          <p:nvPr/>
        </p:nvSpPr>
        <p:spPr>
          <a:xfrm>
            <a:off x="731520" y="41605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4343400"/>
            <a:ext cx="10515600" cy="365760"/>
          </a:xfrm>
          <a:prstGeom prst="rect">
            <a:avLst/>
          </a:prstGeom>
          <a:noFill/>
        </p:spPr>
        <p:txBody>
          <a:bodyPr wrap="square">
            <a:spAutoFit/>
          </a:bodyPr>
          <a:lstStyle/>
          <a:p>
            <a:pPr algn="l">
              <a:defRPr sz="1500" b="1">
                <a:solidFill>
                  <a:srgbClr val="F08040"/>
                </a:solidFill>
                <a:latin typeface="Calibri"/>
              </a:defRPr>
            </a:pPr>
            <a:r>
              <a:t>Perché Movie Graph è un buon esempio didattico:</a:t>
            </a:r>
          </a:p>
        </p:txBody>
      </p:sp>
      <p:sp>
        <p:nvSpPr>
          <p:cNvPr id="10" name="TextBox 9"/>
          <p:cNvSpPr txBox="1"/>
          <p:nvPr/>
        </p:nvSpPr>
        <p:spPr>
          <a:xfrm>
            <a:off x="731520" y="4800600"/>
            <a:ext cx="10515600" cy="1371600"/>
          </a:xfrm>
          <a:prstGeom prst="rect">
            <a:avLst/>
          </a:prstGeom>
          <a:noFill/>
        </p:spPr>
        <p:txBody>
          <a:bodyPr wrap="square">
            <a:spAutoFit/>
          </a:bodyPr>
          <a:lstStyle/>
          <a:p>
            <a:pPr algn="l">
              <a:spcAft>
                <a:spcPts val="300"/>
              </a:spcAft>
              <a:defRPr sz="1200">
                <a:solidFill>
                  <a:srgbClr val="FFFFFF"/>
                </a:solidFill>
                <a:latin typeface="Calibri"/>
              </a:defRPr>
            </a:pPr>
            <a:r>
              <a:t>•  Modello semplice: 2 labels (Movie, Person), 3 relazioni (ACTED_IN, DIRECTED, REVIEWED)</a:t>
            </a:r>
          </a:p>
          <a:p>
            <a:pPr algn="l">
              <a:spcAft>
                <a:spcPts val="300"/>
              </a:spcAft>
              <a:defRPr sz="1200">
                <a:solidFill>
                  <a:srgbClr val="FFFFFF"/>
                </a:solidFill>
                <a:latin typeface="Calibri"/>
              </a:defRPr>
            </a:pPr>
            <a:r>
              <a:t>•  Pattern matching immediato: "attori che hanno recitato con X"</a:t>
            </a:r>
          </a:p>
          <a:p>
            <a:pPr algn="l">
              <a:spcAft>
                <a:spcPts val="300"/>
              </a:spcAft>
              <a:defRPr sz="1200">
                <a:solidFill>
                  <a:srgbClr val="FFFFFF"/>
                </a:solidFill>
                <a:latin typeface="Calibri"/>
              </a:defRPr>
            </a:pPr>
            <a:r>
              <a:t>•  Aggregazioni naturali: film per attore, attori per regista</a:t>
            </a:r>
          </a:p>
          <a:p>
            <a:pPr algn="l">
              <a:spcAft>
                <a:spcPts val="300"/>
              </a:spcAft>
              <a:defRPr sz="1200">
                <a:solidFill>
                  <a:srgbClr val="FFFFFF"/>
                </a:solidFill>
                <a:latin typeface="Calibri"/>
              </a:defRPr>
            </a:pPr>
            <a:r>
              <a:t>•  ShortestPath: Bacon number (cammino minimo tra due attori)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sono nel notebook della Sessione 1.</a:t>
            </a:r>
          </a:p>
        </p:txBody>
      </p:sp>
      <p:sp>
        <p:nvSpPr>
          <p:cNvPr id="4" name="TextBox 3"/>
          <p:cNvSpPr txBox="1"/>
          <p:nvPr/>
        </p:nvSpPr>
        <p:spPr>
          <a:xfrm>
            <a:off x="731520" y="1371600"/>
            <a:ext cx="5029200" cy="4847481"/>
          </a:xfrm>
          <a:prstGeom prst="rect">
            <a:avLst/>
          </a:prstGeom>
          <a:noFill/>
        </p:spPr>
        <p:txBody>
          <a:bodyPr wrap="square">
            <a:spAutoFit/>
          </a:bodyPr>
          <a:lstStyle/>
          <a:p>
            <a:pPr algn="l">
              <a:spcAft>
                <a:spcPts val="0"/>
              </a:spcAft>
              <a:defRPr sz="1200">
                <a:solidFill>
                  <a:srgbClr val="FFFFFF"/>
                </a:solidFill>
                <a:latin typeface="Calibri"/>
              </a:defRPr>
            </a:pPr>
            <a:r>
              <a:rPr sz="1100" b="1" dirty="0"/>
              <a:t>1. </a:t>
            </a:r>
            <a:r>
              <a:rPr sz="1100" b="1" u="sng" dirty="0" err="1"/>
              <a:t>Connettiti</a:t>
            </a:r>
            <a:r>
              <a:rPr sz="1100" b="1" u="sng" dirty="0"/>
              <a:t> a Neo4j via Python driver</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driver = </a:t>
            </a:r>
            <a:r>
              <a:rPr sz="1100" dirty="0" err="1"/>
              <a:t>GraphDatabase.driver</a:t>
            </a:r>
            <a:r>
              <a:rPr sz="1100" dirty="0"/>
              <a:t>(URI, auth=(USER, PASS))</a:t>
            </a:r>
          </a:p>
          <a:p>
            <a:pPr algn="l">
              <a:spcAft>
                <a:spcPts val="0"/>
              </a:spcAft>
              <a:defRPr sz="1200">
                <a:solidFill>
                  <a:srgbClr val="FFFFFF"/>
                </a:solidFill>
                <a:latin typeface="Calibri"/>
              </a:defRPr>
            </a:pPr>
            <a:r>
              <a:rPr sz="1100" dirty="0"/>
              <a:t>  </a:t>
            </a:r>
            <a:r>
              <a:rPr sz="1100" dirty="0" err="1"/>
              <a:t>Esegui</a:t>
            </a:r>
            <a:r>
              <a:rPr sz="1100" dirty="0"/>
              <a:t>: MATCH (n) RETURN n LIMIT 25</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endParaRPr sz="1100" dirty="0"/>
          </a:p>
          <a:p>
            <a:pPr algn="l">
              <a:spcAft>
                <a:spcPts val="0"/>
              </a:spcAft>
              <a:defRPr sz="1200">
                <a:solidFill>
                  <a:srgbClr val="FFFFFF"/>
                </a:solidFill>
                <a:latin typeface="Calibri"/>
              </a:defRPr>
            </a:pPr>
            <a:r>
              <a:rPr sz="1100" b="1" dirty="0"/>
              <a:t>2. </a:t>
            </a:r>
            <a:r>
              <a:rPr sz="1100" b="1" u="sng" dirty="0"/>
              <a:t>Trova tutte le </a:t>
            </a:r>
            <a:r>
              <a:rPr sz="1100" b="1" u="sng" dirty="0" err="1"/>
              <a:t>persone</a:t>
            </a:r>
            <a:r>
              <a:rPr sz="1100" b="1" u="sng" dirty="0"/>
              <a:t> di Roma</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MATCH (</a:t>
            </a:r>
            <a:r>
              <a:rPr sz="1100" dirty="0" err="1"/>
              <a:t>p:Person</a:t>
            </a:r>
            <a:r>
              <a:rPr sz="1100" dirty="0"/>
              <a:t>) WHERE </a:t>
            </a:r>
            <a:r>
              <a:rPr sz="1100" dirty="0" err="1"/>
              <a:t>p.location</a:t>
            </a:r>
            <a:r>
              <a:rPr sz="1100" dirty="0"/>
              <a:t> = "Roma"</a:t>
            </a:r>
          </a:p>
          <a:p>
            <a:pPr algn="l">
              <a:spcAft>
                <a:spcPts val="0"/>
              </a:spcAft>
              <a:defRPr sz="1200">
                <a:solidFill>
                  <a:srgbClr val="FFFFFF"/>
                </a:solidFill>
                <a:latin typeface="Calibri"/>
              </a:defRPr>
            </a:pPr>
            <a:r>
              <a:rPr sz="1100" dirty="0"/>
              <a:t>  RETURN p.name, </a:t>
            </a:r>
            <a:r>
              <a:rPr sz="1100" dirty="0" err="1"/>
              <a:t>p.title</a:t>
            </a:r>
            <a:endParaRPr sz="1100" dirty="0"/>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a:t>
            </a:r>
          </a:p>
          <a:p>
            <a:pPr algn="l">
              <a:spcAft>
                <a:spcPts val="0"/>
              </a:spcAft>
              <a:defRPr sz="1200">
                <a:solidFill>
                  <a:srgbClr val="FFFFFF"/>
                </a:solidFill>
                <a:latin typeface="Calibri"/>
              </a:defRPr>
            </a:pPr>
            <a:r>
              <a:rPr sz="1100" b="1" dirty="0"/>
              <a:t>3. </a:t>
            </a:r>
            <a:r>
              <a:rPr sz="1100" b="1" u="sng" dirty="0"/>
              <a:t>Quante </a:t>
            </a:r>
            <a:r>
              <a:rPr sz="1100" b="1" u="sng" dirty="0" err="1"/>
              <a:t>persone</a:t>
            </a:r>
            <a:r>
              <a:rPr sz="1100" b="1" u="sng" dirty="0"/>
              <a:t> per ogni location?</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MATCH (</a:t>
            </a:r>
            <a:r>
              <a:rPr sz="1100" dirty="0" err="1"/>
              <a:t>p:Person</a:t>
            </a:r>
            <a:r>
              <a:rPr sz="1100" dirty="0"/>
              <a:t>) RETURN </a:t>
            </a:r>
            <a:r>
              <a:rPr sz="1100" dirty="0" err="1"/>
              <a:t>p.location</a:t>
            </a:r>
            <a:r>
              <a:rPr sz="1100" dirty="0"/>
              <a:t>, count(*)</a:t>
            </a:r>
          </a:p>
          <a:p>
            <a:pPr algn="l">
              <a:spcAft>
                <a:spcPts val="0"/>
              </a:spcAft>
              <a:defRPr sz="1200">
                <a:solidFill>
                  <a:srgbClr val="FFFFFF"/>
                </a:solidFill>
                <a:latin typeface="Calibri"/>
              </a:defRPr>
            </a:pPr>
            <a:r>
              <a:rPr sz="1100" dirty="0"/>
              <a:t>  ORDER BY count(*) DESC</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a:t>
            </a:r>
          </a:p>
          <a:p>
            <a:pPr algn="l">
              <a:spcAft>
                <a:spcPts val="0"/>
              </a:spcAft>
              <a:defRPr sz="1200">
                <a:solidFill>
                  <a:srgbClr val="FFFFFF"/>
                </a:solidFill>
                <a:latin typeface="Calibri"/>
              </a:defRPr>
            </a:pPr>
            <a:r>
              <a:rPr sz="1100" b="1" dirty="0"/>
              <a:t>4. </a:t>
            </a:r>
            <a:r>
              <a:rPr sz="1100" b="1" u="sng" dirty="0"/>
              <a:t>Trova tutte le skill di </a:t>
            </a:r>
            <a:r>
              <a:rPr sz="1100" b="1" u="sng" dirty="0" err="1"/>
              <a:t>una</a:t>
            </a:r>
            <a:r>
              <a:rPr sz="1100" b="1" u="sng" dirty="0"/>
              <a:t> persona </a:t>
            </a:r>
            <a:r>
              <a:rPr sz="1100" b="1" u="sng" dirty="0" err="1"/>
              <a:t>specifica</a:t>
            </a:r>
            <a:endParaRPr sz="1100" b="1" u="sng" dirty="0"/>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MATCH (</a:t>
            </a:r>
            <a:r>
              <a:rPr sz="1100" dirty="0" err="1"/>
              <a:t>p:Person</a:t>
            </a:r>
            <a:r>
              <a:rPr sz="1100" dirty="0"/>
              <a:t> {name: 'Mario Rossi'})</a:t>
            </a:r>
          </a:p>
          <a:p>
            <a:pPr algn="l">
              <a:spcAft>
                <a:spcPts val="0"/>
              </a:spcAft>
              <a:defRPr sz="1200">
                <a:solidFill>
                  <a:srgbClr val="FFFFFF"/>
                </a:solidFill>
                <a:latin typeface="Calibri"/>
              </a:defRPr>
            </a:pPr>
            <a:r>
              <a:rPr sz="1100" dirty="0"/>
              <a:t>  -[:HAS_SKILL]-&gt;(</a:t>
            </a:r>
            <a:r>
              <a:rPr sz="1100" dirty="0" err="1"/>
              <a:t>s:Skill</a:t>
            </a:r>
            <a:r>
              <a:rPr sz="1100" dirty="0"/>
              <a:t>) RETURN s.name</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a:t>
            </a:r>
          </a:p>
          <a:p>
            <a:pPr algn="l">
              <a:spcAft>
                <a:spcPts val="0"/>
              </a:spcAft>
              <a:defRPr sz="1200">
                <a:solidFill>
                  <a:srgbClr val="FFFFFF"/>
                </a:solidFill>
                <a:latin typeface="Calibri"/>
              </a:defRPr>
            </a:pPr>
            <a:r>
              <a:rPr sz="1100" b="1" dirty="0"/>
              <a:t>5. </a:t>
            </a:r>
            <a:r>
              <a:rPr sz="1100" b="1" u="sng" dirty="0" err="1"/>
              <a:t>Persone</a:t>
            </a:r>
            <a:r>
              <a:rPr sz="1100" b="1" u="sng" dirty="0"/>
              <a:t> </a:t>
            </a:r>
            <a:r>
              <a:rPr sz="1100" b="1" u="sng" dirty="0" err="1"/>
              <a:t>che</a:t>
            </a:r>
            <a:r>
              <a:rPr sz="1100" b="1" u="sng" dirty="0"/>
              <a:t> </a:t>
            </a:r>
            <a:r>
              <a:rPr sz="1100" b="1" u="sng" dirty="0" err="1"/>
              <a:t>hanno</a:t>
            </a:r>
            <a:r>
              <a:rPr sz="1100" b="1" u="sng" dirty="0"/>
              <a:t> Python come skill</a:t>
            </a:r>
          </a:p>
          <a:p>
            <a:pPr algn="l">
              <a:spcAft>
                <a:spcPts val="0"/>
              </a:spcAft>
              <a:defRPr sz="1200">
                <a:solidFill>
                  <a:srgbClr val="FFFFFF"/>
                </a:solidFill>
                <a:latin typeface="Calibri"/>
              </a:defRPr>
            </a:pPr>
            <a:endParaRPr lang="en-US" sz="1100" dirty="0"/>
          </a:p>
          <a:p>
            <a:pPr algn="l">
              <a:spcAft>
                <a:spcPts val="0"/>
              </a:spcAft>
              <a:defRPr sz="1200">
                <a:solidFill>
                  <a:srgbClr val="FFFFFF"/>
                </a:solidFill>
                <a:latin typeface="Calibri"/>
              </a:defRPr>
            </a:pPr>
            <a:r>
              <a:rPr sz="1100" dirty="0"/>
              <a:t>  MATCH (</a:t>
            </a:r>
            <a:r>
              <a:rPr sz="1100" dirty="0" err="1"/>
              <a:t>p:Person</a:t>
            </a:r>
            <a:r>
              <a:rPr sz="1100" dirty="0"/>
              <a:t>)-[:HAS_SKILL]-&gt;(</a:t>
            </a:r>
            <a:r>
              <a:rPr sz="1100" dirty="0" err="1"/>
              <a:t>s:Skill</a:t>
            </a:r>
            <a:r>
              <a:rPr sz="1100" dirty="0"/>
              <a:t> {name: 'Python'})</a:t>
            </a:r>
          </a:p>
          <a:p>
            <a:pPr algn="l">
              <a:spcAft>
                <a:spcPts val="0"/>
              </a:spcAft>
              <a:defRPr sz="1200">
                <a:solidFill>
                  <a:srgbClr val="FFFFFF"/>
                </a:solidFill>
                <a:latin typeface="Calibri"/>
              </a:defRPr>
            </a:pPr>
            <a:r>
              <a:rPr sz="1100" dirty="0"/>
              <a:t>  RETURN p.name ORDER BY p.name</a:t>
            </a:r>
          </a:p>
        </p:txBody>
      </p:sp>
      <p:sp>
        <p:nvSpPr>
          <p:cNvPr id="5" name="TextBox 4"/>
          <p:cNvSpPr txBox="1"/>
          <p:nvPr/>
        </p:nvSpPr>
        <p:spPr>
          <a:xfrm>
            <a:off x="5669280" y="1371600"/>
            <a:ext cx="4846320" cy="2462213"/>
          </a:xfrm>
          <a:prstGeom prst="rect">
            <a:avLst/>
          </a:prstGeom>
          <a:noFill/>
        </p:spPr>
        <p:txBody>
          <a:bodyPr wrap="square">
            <a:spAutoFit/>
          </a:bodyPr>
          <a:lstStyle/>
          <a:p>
            <a:pPr algn="l">
              <a:defRPr sz="1100" b="0">
                <a:solidFill>
                  <a:srgbClr val="7EC68E"/>
                </a:solidFill>
                <a:latin typeface="Consolas"/>
              </a:defRPr>
            </a:pPr>
            <a:r>
              <a:rPr dirty="0" err="1"/>
              <a:t>Suggerimenti</a:t>
            </a:r>
            <a:r>
              <a:rPr dirty="0"/>
              <a:t>:</a:t>
            </a:r>
            <a:br>
              <a:rPr dirty="0"/>
            </a:br>
            <a:br>
              <a:rPr dirty="0"/>
            </a:br>
            <a:r>
              <a:rPr dirty="0"/>
              <a:t>Usa il notebook per </a:t>
            </a:r>
            <a:r>
              <a:rPr dirty="0" err="1"/>
              <a:t>eseguire</a:t>
            </a:r>
            <a:r>
              <a:rPr dirty="0"/>
              <a:t> le</a:t>
            </a:r>
            <a:r>
              <a:rPr lang="en-US" dirty="0"/>
              <a:t> </a:t>
            </a:r>
            <a:r>
              <a:rPr dirty="0"/>
              <a:t>query con </a:t>
            </a:r>
            <a:r>
              <a:rPr dirty="0" err="1"/>
              <a:t>driver.execute_query</a:t>
            </a:r>
            <a:r>
              <a:rPr dirty="0"/>
              <a:t>()</a:t>
            </a:r>
            <a:br>
              <a:rPr dirty="0"/>
            </a:br>
            <a:br>
              <a:rPr dirty="0"/>
            </a:br>
            <a:r>
              <a:rPr dirty="0" err="1"/>
              <a:t>Oppure</a:t>
            </a:r>
            <a:r>
              <a:rPr dirty="0"/>
              <a:t> </a:t>
            </a:r>
            <a:r>
              <a:rPr dirty="0" err="1"/>
              <a:t>apri</a:t>
            </a:r>
            <a:r>
              <a:rPr dirty="0"/>
              <a:t> Neo4j Browser e </a:t>
            </a:r>
            <a:r>
              <a:rPr dirty="0" err="1"/>
              <a:t>incolla</a:t>
            </a:r>
            <a:r>
              <a:rPr lang="en-US" dirty="0"/>
              <a:t> </a:t>
            </a:r>
            <a:r>
              <a:rPr dirty="0" err="1"/>
              <a:t>direttamente</a:t>
            </a:r>
            <a:r>
              <a:rPr dirty="0"/>
              <a:t> il Cypher.</a:t>
            </a:r>
            <a:br>
              <a:rPr dirty="0"/>
            </a:br>
            <a:br>
              <a:rPr dirty="0"/>
            </a:br>
            <a:r>
              <a:rPr dirty="0"/>
              <a:t>Tutte le </a:t>
            </a:r>
            <a:r>
              <a:rPr dirty="0" err="1"/>
              <a:t>proprietà</a:t>
            </a:r>
            <a:r>
              <a:rPr dirty="0"/>
              <a:t> </a:t>
            </a:r>
            <a:r>
              <a:rPr dirty="0" err="1"/>
              <a:t>sono</a:t>
            </a:r>
            <a:r>
              <a:rPr dirty="0"/>
              <a:t> in inglese:</a:t>
            </a:r>
            <a:br>
              <a:rPr dirty="0"/>
            </a:br>
            <a:r>
              <a:rPr dirty="0"/>
              <a:t>  name, </a:t>
            </a:r>
            <a:r>
              <a:rPr dirty="0" err="1"/>
              <a:t>employee_id</a:t>
            </a:r>
            <a:r>
              <a:rPr dirty="0"/>
              <a:t>, location,</a:t>
            </a:r>
            <a:br>
              <a:rPr dirty="0"/>
            </a:br>
            <a:r>
              <a:rPr dirty="0"/>
              <a:t>  title, department, gender.</a:t>
            </a:r>
            <a:br>
              <a:rPr dirty="0"/>
            </a:br>
            <a:br>
              <a:rPr dirty="0"/>
            </a:br>
            <a:r>
              <a:rPr dirty="0"/>
              <a:t>Skill: HAS_SKILL {proficiency}</a:t>
            </a:r>
            <a:br>
              <a:rPr dirty="0"/>
            </a:br>
            <a:r>
              <a:rPr dirty="0" err="1"/>
              <a:t>Progetti</a:t>
            </a:r>
            <a:r>
              <a:rPr dirty="0"/>
              <a:t>: WORKED_ON {role}</a:t>
            </a:r>
            <a:br>
              <a:rPr dirty="0"/>
            </a:br>
            <a:r>
              <a:rPr dirty="0" err="1"/>
              <a:t>Riporti</a:t>
            </a:r>
            <a:r>
              <a:rPr dirty="0"/>
              <a:t>: REPORTS_TO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029200" cy="4493538"/>
          </a:xfrm>
          <a:prstGeom prst="rect">
            <a:avLst/>
          </a:prstGeom>
          <a:noFill/>
        </p:spPr>
        <p:txBody>
          <a:bodyPr wrap="square">
            <a:spAutoFit/>
          </a:bodyPr>
          <a:lstStyle/>
          <a:p>
            <a:pPr algn="l">
              <a:spcAft>
                <a:spcPts val="0"/>
              </a:spcAft>
              <a:defRPr sz="1100">
                <a:solidFill>
                  <a:srgbClr val="FFFFFF"/>
                </a:solidFill>
                <a:latin typeface="Calibri"/>
              </a:defRPr>
            </a:pPr>
            <a:r>
              <a:rPr b="1" dirty="0"/>
              <a:t>6. </a:t>
            </a:r>
            <a:r>
              <a:rPr b="1" u="sng" dirty="0"/>
              <a:t>Skill </a:t>
            </a:r>
            <a:r>
              <a:rPr b="1" u="sng" dirty="0" err="1"/>
              <a:t>più</a:t>
            </a:r>
            <a:r>
              <a:rPr b="1" u="sng" dirty="0"/>
              <a:t> diffuse (top 5)</a:t>
            </a:r>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r>
              <a:rPr dirty="0"/>
              <a:t>  MATCH (</a:t>
            </a:r>
            <a:r>
              <a:rPr dirty="0" err="1"/>
              <a:t>p:Person</a:t>
            </a:r>
            <a:r>
              <a:rPr dirty="0"/>
              <a:t>)-[:HAS_SKILL]-&gt;(</a:t>
            </a:r>
            <a:r>
              <a:rPr dirty="0" err="1"/>
              <a:t>s:Skill</a:t>
            </a:r>
            <a:r>
              <a:rPr dirty="0"/>
              <a:t>)</a:t>
            </a:r>
          </a:p>
          <a:p>
            <a:pPr algn="l">
              <a:spcAft>
                <a:spcPts val="0"/>
              </a:spcAft>
              <a:defRPr sz="1100">
                <a:solidFill>
                  <a:srgbClr val="FFFFFF"/>
                </a:solidFill>
                <a:latin typeface="Calibri"/>
              </a:defRPr>
            </a:pPr>
            <a:r>
              <a:rPr dirty="0"/>
              <a:t>  RETURN s.name, count(*) AS </a:t>
            </a:r>
            <a:r>
              <a:rPr dirty="0" err="1"/>
              <a:t>persone</a:t>
            </a:r>
            <a:endParaRPr dirty="0"/>
          </a:p>
          <a:p>
            <a:pPr algn="l">
              <a:spcAft>
                <a:spcPts val="0"/>
              </a:spcAft>
              <a:defRPr sz="1100">
                <a:solidFill>
                  <a:srgbClr val="FFFFFF"/>
                </a:solidFill>
                <a:latin typeface="Calibri"/>
              </a:defRPr>
            </a:pPr>
            <a:r>
              <a:rPr dirty="0"/>
              <a:t>  ORDER BY </a:t>
            </a:r>
            <a:r>
              <a:rPr dirty="0" err="1"/>
              <a:t>persone</a:t>
            </a:r>
            <a:r>
              <a:rPr dirty="0"/>
              <a:t> DESC LIMIT 5</a:t>
            </a:r>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endParaRPr dirty="0"/>
          </a:p>
          <a:p>
            <a:pPr algn="l">
              <a:spcAft>
                <a:spcPts val="0"/>
              </a:spcAft>
              <a:defRPr sz="1100">
                <a:solidFill>
                  <a:srgbClr val="FFFFFF"/>
                </a:solidFill>
                <a:latin typeface="Calibri"/>
              </a:defRPr>
            </a:pPr>
            <a:r>
              <a:rPr b="1" dirty="0"/>
              <a:t>7. </a:t>
            </a:r>
            <a:r>
              <a:rPr b="1" u="sng" dirty="0"/>
              <a:t>Media proficiency per skill</a:t>
            </a:r>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r>
              <a:rPr dirty="0"/>
              <a:t>  MATCH (</a:t>
            </a:r>
            <a:r>
              <a:rPr dirty="0" err="1"/>
              <a:t>p:Person</a:t>
            </a:r>
            <a:r>
              <a:rPr dirty="0"/>
              <a:t>)-[</a:t>
            </a:r>
            <a:r>
              <a:rPr dirty="0" err="1"/>
              <a:t>h:HAS_SKILL</a:t>
            </a:r>
            <a:r>
              <a:rPr dirty="0"/>
              <a:t>]-&gt;(</a:t>
            </a:r>
            <a:r>
              <a:rPr dirty="0" err="1"/>
              <a:t>s:Skill</a:t>
            </a:r>
            <a:r>
              <a:rPr dirty="0"/>
              <a:t>)</a:t>
            </a:r>
          </a:p>
          <a:p>
            <a:pPr algn="l">
              <a:spcAft>
                <a:spcPts val="0"/>
              </a:spcAft>
              <a:defRPr sz="1100">
                <a:solidFill>
                  <a:srgbClr val="FFFFFF"/>
                </a:solidFill>
                <a:latin typeface="Calibri"/>
              </a:defRPr>
            </a:pPr>
            <a:r>
              <a:rPr dirty="0"/>
              <a:t>  RETURN s.name, avg(</a:t>
            </a:r>
            <a:r>
              <a:rPr dirty="0" err="1"/>
              <a:t>h.proficiency</a:t>
            </a:r>
            <a:r>
              <a:rPr dirty="0"/>
              <a:t>), count(p)</a:t>
            </a:r>
          </a:p>
          <a:p>
            <a:pPr algn="l">
              <a:spcAft>
                <a:spcPts val="0"/>
              </a:spcAft>
              <a:defRPr sz="1100">
                <a:solidFill>
                  <a:srgbClr val="FFFFFF"/>
                </a:solidFill>
                <a:latin typeface="Calibri"/>
              </a:defRPr>
            </a:pPr>
            <a:r>
              <a:rPr dirty="0"/>
              <a:t>  ORDER BY avg(</a:t>
            </a:r>
            <a:r>
              <a:rPr dirty="0" err="1"/>
              <a:t>h.proficiency</a:t>
            </a:r>
            <a:r>
              <a:rPr dirty="0"/>
              <a:t>) DESC LIMIT 10</a:t>
            </a:r>
          </a:p>
          <a:p>
            <a:pPr algn="l">
              <a:spcAft>
                <a:spcPts val="0"/>
              </a:spcAft>
              <a:defRPr sz="1100">
                <a:solidFill>
                  <a:srgbClr val="FFFFFF"/>
                </a:solidFill>
                <a:latin typeface="Calibri"/>
              </a:defRPr>
            </a:pPr>
            <a:r>
              <a:rPr dirty="0"/>
              <a:t>  </a:t>
            </a:r>
          </a:p>
          <a:p>
            <a:pPr algn="l">
              <a:spcAft>
                <a:spcPts val="0"/>
              </a:spcAft>
              <a:defRPr sz="1100">
                <a:solidFill>
                  <a:srgbClr val="FFFFFF"/>
                </a:solidFill>
                <a:latin typeface="Calibri"/>
              </a:defRPr>
            </a:pPr>
            <a:r>
              <a:rPr b="1" dirty="0"/>
              <a:t>8. </a:t>
            </a:r>
            <a:r>
              <a:rPr b="1" u="sng" dirty="0" err="1"/>
              <a:t>Persone</a:t>
            </a:r>
            <a:r>
              <a:rPr b="1" u="sng" dirty="0"/>
              <a:t> </a:t>
            </a:r>
            <a:r>
              <a:rPr b="1" u="sng" dirty="0" err="1"/>
              <a:t>che</a:t>
            </a:r>
            <a:r>
              <a:rPr b="1" u="sng" dirty="0"/>
              <a:t> </a:t>
            </a:r>
            <a:r>
              <a:rPr b="1" u="sng" dirty="0" err="1"/>
              <a:t>condividono</a:t>
            </a:r>
            <a:r>
              <a:rPr b="1" u="sng" dirty="0"/>
              <a:t> un </a:t>
            </a:r>
            <a:r>
              <a:rPr b="1" u="sng" dirty="0" err="1"/>
              <a:t>progetto</a:t>
            </a:r>
            <a:endParaRPr b="1" u="sng" dirty="0"/>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r>
              <a:rPr dirty="0"/>
              <a:t>  MATCH (p1:Person)-[:WORKED_ON]-&gt;(</a:t>
            </a:r>
            <a:r>
              <a:rPr dirty="0" err="1"/>
              <a:t>proj:Project</a:t>
            </a:r>
            <a:r>
              <a:rPr dirty="0"/>
              <a:t>)</a:t>
            </a:r>
          </a:p>
          <a:p>
            <a:pPr algn="l">
              <a:spcAft>
                <a:spcPts val="0"/>
              </a:spcAft>
              <a:defRPr sz="1100">
                <a:solidFill>
                  <a:srgbClr val="FFFFFF"/>
                </a:solidFill>
                <a:latin typeface="Calibri"/>
              </a:defRPr>
            </a:pPr>
            <a:r>
              <a:rPr dirty="0"/>
              <a:t>    &lt;-[:WORKED_ON]-(p2:Person)</a:t>
            </a:r>
          </a:p>
          <a:p>
            <a:pPr algn="l">
              <a:spcAft>
                <a:spcPts val="0"/>
              </a:spcAft>
              <a:defRPr sz="1100">
                <a:solidFill>
                  <a:srgbClr val="FFFFFF"/>
                </a:solidFill>
                <a:latin typeface="Calibri"/>
              </a:defRPr>
            </a:pPr>
            <a:r>
              <a:rPr dirty="0"/>
              <a:t>  RETURN p1.name, p2.name, proj.name LIMIT 10</a:t>
            </a:r>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r>
              <a:rPr dirty="0"/>
              <a:t>  </a:t>
            </a:r>
          </a:p>
          <a:p>
            <a:pPr algn="l">
              <a:spcAft>
                <a:spcPts val="0"/>
              </a:spcAft>
              <a:defRPr sz="1100">
                <a:solidFill>
                  <a:srgbClr val="FFFFFF"/>
                </a:solidFill>
                <a:latin typeface="Calibri"/>
              </a:defRPr>
            </a:pPr>
            <a:r>
              <a:rPr lang="en-US" b="1" dirty="0"/>
              <a:t>9</a:t>
            </a:r>
            <a:r>
              <a:rPr b="1" dirty="0"/>
              <a:t>. </a:t>
            </a:r>
            <a:r>
              <a:rPr b="1" u="sng" dirty="0"/>
              <a:t>Crea un nuovo </a:t>
            </a:r>
            <a:r>
              <a:rPr b="1" u="sng" dirty="0" err="1"/>
              <a:t>nodo</a:t>
            </a:r>
            <a:r>
              <a:rPr b="1" u="sng" dirty="0"/>
              <a:t> Person e </a:t>
            </a:r>
            <a:r>
              <a:rPr b="1" u="sng" dirty="0" err="1"/>
              <a:t>dagli</a:t>
            </a:r>
            <a:r>
              <a:rPr b="1" u="sng" dirty="0"/>
              <a:t> </a:t>
            </a:r>
            <a:r>
              <a:rPr b="1" u="sng" dirty="0" err="1"/>
              <a:t>una</a:t>
            </a:r>
            <a:r>
              <a:rPr b="1" u="sng" dirty="0"/>
              <a:t> skill</a:t>
            </a:r>
          </a:p>
          <a:p>
            <a:pPr algn="l">
              <a:spcAft>
                <a:spcPts val="0"/>
              </a:spcAft>
              <a:defRPr sz="1100">
                <a:solidFill>
                  <a:srgbClr val="FFFFFF"/>
                </a:solidFill>
                <a:latin typeface="Calibri"/>
              </a:defRPr>
            </a:pPr>
            <a:endParaRPr lang="en-US" dirty="0"/>
          </a:p>
          <a:p>
            <a:pPr algn="l">
              <a:spcAft>
                <a:spcPts val="0"/>
              </a:spcAft>
              <a:defRPr sz="1100">
                <a:solidFill>
                  <a:srgbClr val="FFFFFF"/>
                </a:solidFill>
                <a:latin typeface="Calibri"/>
              </a:defRPr>
            </a:pPr>
            <a:r>
              <a:rPr dirty="0"/>
              <a:t>  MERGE (</a:t>
            </a:r>
            <a:r>
              <a:rPr dirty="0" err="1"/>
              <a:t>p:Person</a:t>
            </a:r>
            <a:r>
              <a:rPr dirty="0"/>
              <a:t> {</a:t>
            </a:r>
            <a:r>
              <a:rPr dirty="0" err="1"/>
              <a:t>employee_id</a:t>
            </a:r>
            <a:r>
              <a:rPr dirty="0"/>
              <a:t>: 999})</a:t>
            </a:r>
          </a:p>
          <a:p>
            <a:pPr algn="l">
              <a:spcAft>
                <a:spcPts val="0"/>
              </a:spcAft>
              <a:defRPr sz="1100">
                <a:solidFill>
                  <a:srgbClr val="FFFFFF"/>
                </a:solidFill>
                <a:latin typeface="Calibri"/>
              </a:defRPr>
            </a:pPr>
            <a:r>
              <a:rPr dirty="0"/>
              <a:t>  SET p.name = "Test"</a:t>
            </a:r>
          </a:p>
          <a:p>
            <a:pPr algn="l">
              <a:spcAft>
                <a:spcPts val="0"/>
              </a:spcAft>
              <a:defRPr sz="1100">
                <a:solidFill>
                  <a:srgbClr val="FFFFFF"/>
                </a:solidFill>
                <a:latin typeface="Calibri"/>
              </a:defRPr>
            </a:pPr>
            <a:r>
              <a:rPr dirty="0"/>
              <a:t>  MATCH (</a:t>
            </a:r>
            <a:r>
              <a:rPr dirty="0" err="1"/>
              <a:t>s:Skill</a:t>
            </a:r>
            <a:r>
              <a:rPr dirty="0"/>
              <a:t> {name: 'Python'})</a:t>
            </a:r>
          </a:p>
          <a:p>
            <a:pPr algn="l">
              <a:spcAft>
                <a:spcPts val="0"/>
              </a:spcAft>
              <a:defRPr sz="1100">
                <a:solidFill>
                  <a:srgbClr val="FFFFFF"/>
                </a:solidFill>
                <a:latin typeface="Calibri"/>
              </a:defRPr>
            </a:pPr>
            <a:r>
              <a:rPr dirty="0"/>
              <a:t>  MERGE (p)-[:HAS_SKILL {proficiency: 3}]-&gt;(s)</a:t>
            </a:r>
          </a:p>
        </p:txBody>
      </p:sp>
      <p:sp>
        <p:nvSpPr>
          <p:cNvPr id="4" name="TextBox 3"/>
          <p:cNvSpPr txBox="1"/>
          <p:nvPr/>
        </p:nvSpPr>
        <p:spPr>
          <a:xfrm>
            <a:off x="5669280" y="1097280"/>
            <a:ext cx="4846320" cy="2677656"/>
          </a:xfrm>
          <a:prstGeom prst="rect">
            <a:avLst/>
          </a:prstGeom>
          <a:noFill/>
        </p:spPr>
        <p:txBody>
          <a:bodyPr wrap="square">
            <a:spAutoFit/>
          </a:bodyPr>
          <a:lstStyle/>
          <a:p>
            <a:pPr algn="l">
              <a:defRPr sz="1200" b="0">
                <a:solidFill>
                  <a:srgbClr val="CCCCCC"/>
                </a:solidFill>
                <a:latin typeface="Calibri"/>
              </a:defRPr>
            </a:pPr>
            <a:r>
              <a:rPr dirty="0" err="1"/>
              <a:t>Obiettivi</a:t>
            </a:r>
            <a:r>
              <a:rPr dirty="0"/>
              <a:t> degli </a:t>
            </a:r>
            <a:r>
              <a:rPr dirty="0" err="1"/>
              <a:t>esercizi</a:t>
            </a:r>
            <a:r>
              <a:rPr dirty="0"/>
              <a:t>:</a:t>
            </a:r>
            <a:br>
              <a:rPr dirty="0"/>
            </a:br>
            <a:br>
              <a:rPr dirty="0"/>
            </a:br>
            <a:r>
              <a:rPr dirty="0"/>
              <a:t>1. </a:t>
            </a:r>
            <a:r>
              <a:rPr dirty="0" err="1"/>
              <a:t>Verificare</a:t>
            </a:r>
            <a:r>
              <a:rPr dirty="0"/>
              <a:t> la </a:t>
            </a:r>
            <a:r>
              <a:rPr dirty="0" err="1"/>
              <a:t>connessione</a:t>
            </a:r>
            <a:r>
              <a:rPr dirty="0"/>
              <a:t> al DB</a:t>
            </a:r>
            <a:br>
              <a:rPr dirty="0"/>
            </a:br>
            <a:r>
              <a:rPr dirty="0"/>
              <a:t>2. </a:t>
            </a:r>
            <a:r>
              <a:rPr dirty="0" err="1"/>
              <a:t>Filtrare</a:t>
            </a:r>
            <a:r>
              <a:rPr dirty="0"/>
              <a:t> con WHERE =, IN</a:t>
            </a:r>
            <a:br>
              <a:rPr dirty="0"/>
            </a:br>
            <a:r>
              <a:rPr dirty="0"/>
              <a:t>3. </a:t>
            </a:r>
            <a:r>
              <a:rPr dirty="0" err="1"/>
              <a:t>Raggruppare</a:t>
            </a:r>
            <a:r>
              <a:rPr dirty="0"/>
              <a:t> con count()</a:t>
            </a:r>
            <a:br>
              <a:rPr dirty="0"/>
            </a:br>
            <a:r>
              <a:rPr dirty="0"/>
              <a:t>4. </a:t>
            </a:r>
            <a:r>
              <a:rPr dirty="0" err="1"/>
              <a:t>Navigare</a:t>
            </a:r>
            <a:r>
              <a:rPr dirty="0"/>
              <a:t> </a:t>
            </a:r>
            <a:r>
              <a:rPr dirty="0" err="1"/>
              <a:t>relazioni</a:t>
            </a:r>
            <a:r>
              <a:rPr dirty="0"/>
              <a:t> HAS_SKILL</a:t>
            </a:r>
            <a:br>
              <a:rPr dirty="0"/>
            </a:br>
            <a:r>
              <a:rPr dirty="0"/>
              <a:t>5. </a:t>
            </a:r>
            <a:r>
              <a:rPr dirty="0" err="1"/>
              <a:t>Filtrare</a:t>
            </a:r>
            <a:r>
              <a:rPr dirty="0"/>
              <a:t> </a:t>
            </a:r>
            <a:r>
              <a:rPr dirty="0" err="1"/>
              <a:t>su</a:t>
            </a:r>
            <a:r>
              <a:rPr dirty="0"/>
              <a:t> nodi </a:t>
            </a:r>
            <a:r>
              <a:rPr dirty="0" err="1"/>
              <a:t>specifici</a:t>
            </a:r>
            <a:br>
              <a:rPr dirty="0"/>
            </a:br>
            <a:r>
              <a:rPr dirty="0"/>
              <a:t>6. </a:t>
            </a:r>
            <a:r>
              <a:rPr dirty="0" err="1"/>
              <a:t>Aggregare</a:t>
            </a:r>
            <a:r>
              <a:rPr dirty="0"/>
              <a:t> con ORDER BY + LIMIT</a:t>
            </a:r>
            <a:br>
              <a:rPr dirty="0"/>
            </a:br>
            <a:r>
              <a:rPr dirty="0"/>
              <a:t>7. Media </a:t>
            </a:r>
            <a:r>
              <a:rPr dirty="0" err="1"/>
              <a:t>su</a:t>
            </a:r>
            <a:r>
              <a:rPr dirty="0"/>
              <a:t> </a:t>
            </a:r>
            <a:r>
              <a:rPr dirty="0" err="1"/>
              <a:t>proprietà</a:t>
            </a:r>
            <a:r>
              <a:rPr dirty="0"/>
              <a:t> </a:t>
            </a:r>
            <a:r>
              <a:rPr dirty="0" err="1"/>
              <a:t>relazione</a:t>
            </a:r>
            <a:br>
              <a:rPr dirty="0"/>
            </a:br>
            <a:r>
              <a:rPr dirty="0"/>
              <a:t>8. Pattern multi-hop con </a:t>
            </a:r>
            <a:r>
              <a:rPr dirty="0" err="1"/>
              <a:t>progetto</a:t>
            </a:r>
            <a:r>
              <a:rPr dirty="0"/>
              <a:t> </a:t>
            </a:r>
            <a:r>
              <a:rPr dirty="0" err="1"/>
              <a:t>condiviso</a:t>
            </a:r>
            <a:br>
              <a:rPr dirty="0"/>
            </a:br>
            <a:r>
              <a:rPr dirty="0"/>
              <a:t>9. </a:t>
            </a:r>
            <a:r>
              <a:rPr dirty="0" err="1"/>
              <a:t>Scrivere</a:t>
            </a:r>
            <a:r>
              <a:rPr dirty="0"/>
              <a:t> </a:t>
            </a:r>
            <a:r>
              <a:rPr dirty="0" err="1"/>
              <a:t>dati</a:t>
            </a:r>
            <a:r>
              <a:rPr dirty="0"/>
              <a:t> con MERGE</a:t>
            </a:r>
            <a:br>
              <a:rPr dirty="0"/>
            </a:br>
            <a:br>
              <a:rPr dirty="0"/>
            </a:br>
            <a:r>
              <a:rPr dirty="0"/>
              <a:t>Tempo </a:t>
            </a:r>
            <a:r>
              <a:rPr dirty="0" err="1"/>
              <a:t>stimato</a:t>
            </a:r>
            <a:r>
              <a:rPr dirty="0"/>
              <a:t>: 20-30 </a:t>
            </a:r>
            <a:r>
              <a:rPr dirty="0" err="1"/>
              <a:t>minuti</a:t>
            </a:r>
            <a:r>
              <a:rPr dirty="0"/>
              <a:t>.</a:t>
            </a:r>
            <a:br>
              <a:rPr dirty="0"/>
            </a:br>
            <a:r>
              <a:rPr dirty="0"/>
              <a:t>Le </a:t>
            </a:r>
            <a:r>
              <a:rPr dirty="0" err="1"/>
              <a:t>soluzioni</a:t>
            </a:r>
            <a:r>
              <a:rPr dirty="0"/>
              <a:t> complete </a:t>
            </a:r>
            <a:r>
              <a:rPr dirty="0" err="1"/>
              <a:t>sono</a:t>
            </a:r>
            <a:r>
              <a:rPr dirty="0"/>
              <a:t> </a:t>
            </a:r>
            <a:r>
              <a:rPr dirty="0" err="1"/>
              <a:t>nel</a:t>
            </a:r>
            <a:r>
              <a:rPr lang="en-US" dirty="0"/>
              <a:t> </a:t>
            </a:r>
            <a:r>
              <a:rPr dirty="0"/>
              <a:t>notebook della </a:t>
            </a:r>
            <a:r>
              <a:rPr dirty="0" err="1"/>
              <a:t>Sessione</a:t>
            </a:r>
            <a:r>
              <a:rPr dirty="0"/>
              <a:t> 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51560"/>
            <a:ext cx="10515600" cy="5029200"/>
          </a:xfrm>
          <a:prstGeom prst="rect">
            <a:avLst/>
          </a:prstGeom>
          <a:noFill/>
        </p:spPr>
        <p:txBody>
          <a:bodyPr wrap="square">
            <a:spAutoFit/>
          </a:bodyPr>
          <a:lstStyle/>
          <a:p>
            <a:pPr algn="l">
              <a:spcAft>
                <a:spcPts val="800"/>
              </a:spcAft>
              <a:defRPr sz="1400">
                <a:solidFill>
                  <a:srgbClr val="FFFFFF"/>
                </a:solidFill>
                <a:latin typeface="Calibri"/>
              </a:defRPr>
            </a:pPr>
            <a:r>
              <a:rPr dirty="0"/>
              <a:t>•  DB a </a:t>
            </a:r>
            <a:r>
              <a:rPr dirty="0" err="1"/>
              <a:t>grafo</a:t>
            </a:r>
            <a:r>
              <a:rPr dirty="0"/>
              <a:t> </a:t>
            </a:r>
            <a:r>
              <a:rPr dirty="0" err="1"/>
              <a:t>eccellono</a:t>
            </a:r>
            <a:r>
              <a:rPr dirty="0"/>
              <a:t> con DATI CONNESSI — </a:t>
            </a:r>
            <a:r>
              <a:rPr dirty="0" err="1"/>
              <a:t>nessun</a:t>
            </a:r>
            <a:r>
              <a:rPr dirty="0"/>
              <a:t> JOIN </a:t>
            </a:r>
            <a:r>
              <a:rPr dirty="0" err="1"/>
              <a:t>costoso</a:t>
            </a:r>
            <a:r>
              <a:rPr dirty="0"/>
              <a:t>, traversal O(1) per hop</a:t>
            </a:r>
          </a:p>
          <a:p>
            <a:pPr algn="l">
              <a:spcAft>
                <a:spcPts val="800"/>
              </a:spcAft>
              <a:defRPr sz="1400">
                <a:solidFill>
                  <a:srgbClr val="FFFFFF"/>
                </a:solidFill>
                <a:latin typeface="Calibri"/>
              </a:defRPr>
            </a:pPr>
            <a:r>
              <a:rPr dirty="0"/>
              <a:t>•  Neo4j è un Property Graph: nodi + labels + </a:t>
            </a:r>
            <a:r>
              <a:rPr dirty="0" err="1"/>
              <a:t>relazioni</a:t>
            </a:r>
            <a:r>
              <a:rPr dirty="0"/>
              <a:t> + </a:t>
            </a:r>
            <a:r>
              <a:rPr dirty="0" err="1"/>
              <a:t>proprietà</a:t>
            </a:r>
            <a:r>
              <a:rPr dirty="0"/>
              <a:t> = </a:t>
            </a:r>
            <a:r>
              <a:rPr dirty="0" err="1"/>
              <a:t>tutto</a:t>
            </a:r>
            <a:r>
              <a:rPr dirty="0"/>
              <a:t> è </a:t>
            </a:r>
            <a:r>
              <a:rPr dirty="0" err="1"/>
              <a:t>dati</a:t>
            </a:r>
            <a:endParaRPr dirty="0"/>
          </a:p>
          <a:p>
            <a:pPr algn="l">
              <a:spcAft>
                <a:spcPts val="800"/>
              </a:spcAft>
              <a:defRPr sz="1400">
                <a:solidFill>
                  <a:srgbClr val="FFFFFF"/>
                </a:solidFill>
                <a:latin typeface="Calibri"/>
              </a:defRPr>
            </a:pPr>
            <a:r>
              <a:rPr dirty="0"/>
              <a:t>•  Le </a:t>
            </a:r>
            <a:r>
              <a:rPr dirty="0" err="1"/>
              <a:t>relazioni</a:t>
            </a:r>
            <a:r>
              <a:rPr dirty="0"/>
              <a:t> </a:t>
            </a:r>
            <a:r>
              <a:rPr dirty="0" err="1"/>
              <a:t>sono</a:t>
            </a:r>
            <a:r>
              <a:rPr dirty="0"/>
              <a:t> </a:t>
            </a:r>
            <a:r>
              <a:rPr dirty="0" err="1"/>
              <a:t>cittadini</a:t>
            </a:r>
            <a:r>
              <a:rPr dirty="0"/>
              <a:t> di prima </a:t>
            </a:r>
            <a:r>
              <a:rPr dirty="0" err="1"/>
              <a:t>classe</a:t>
            </a:r>
            <a:r>
              <a:rPr dirty="0"/>
              <a:t> — </a:t>
            </a:r>
            <a:r>
              <a:rPr dirty="0" err="1"/>
              <a:t>memorizzate</a:t>
            </a:r>
            <a:r>
              <a:rPr dirty="0"/>
              <a:t> </a:t>
            </a:r>
            <a:r>
              <a:rPr dirty="0" err="1"/>
              <a:t>fisicamente</a:t>
            </a:r>
            <a:r>
              <a:rPr dirty="0"/>
              <a:t>, non </a:t>
            </a:r>
            <a:r>
              <a:rPr dirty="0" err="1"/>
              <a:t>calcolate</a:t>
            </a:r>
            <a:endParaRPr dirty="0"/>
          </a:p>
          <a:p>
            <a:pPr algn="l">
              <a:spcAft>
                <a:spcPts val="800"/>
              </a:spcAft>
              <a:defRPr sz="1400">
                <a:solidFill>
                  <a:srgbClr val="FFFFFF"/>
                </a:solidFill>
                <a:latin typeface="Calibri"/>
              </a:defRPr>
            </a:pPr>
            <a:r>
              <a:rPr dirty="0"/>
              <a:t>•  Cypher è </a:t>
            </a:r>
            <a:r>
              <a:rPr dirty="0" err="1"/>
              <a:t>dichiarativo</a:t>
            </a:r>
            <a:r>
              <a:rPr dirty="0"/>
              <a:t>: </a:t>
            </a:r>
            <a:r>
              <a:rPr dirty="0" err="1"/>
              <a:t>descrivi</a:t>
            </a:r>
            <a:r>
              <a:rPr dirty="0"/>
              <a:t> il PATTERN, non il PERCORSO (MATCH (a)-[:R]-&gt;(b))</a:t>
            </a:r>
          </a:p>
          <a:p>
            <a:pPr algn="l">
              <a:spcAft>
                <a:spcPts val="800"/>
              </a:spcAft>
              <a:defRPr sz="1400">
                <a:solidFill>
                  <a:srgbClr val="FFFFFF"/>
                </a:solidFill>
                <a:latin typeface="Calibri"/>
              </a:defRPr>
            </a:pPr>
            <a:r>
              <a:rPr dirty="0"/>
              <a:t>•  MERGE è </a:t>
            </a:r>
            <a:r>
              <a:rPr dirty="0" err="1"/>
              <a:t>idempotente</a:t>
            </a:r>
            <a:r>
              <a:rPr dirty="0"/>
              <a:t> — </a:t>
            </a:r>
            <a:r>
              <a:rPr dirty="0" err="1"/>
              <a:t>preferiscilo</a:t>
            </a:r>
            <a:r>
              <a:rPr dirty="0"/>
              <a:t> a CREATE per </a:t>
            </a:r>
            <a:r>
              <a:rPr dirty="0" err="1"/>
              <a:t>caricamenti</a:t>
            </a:r>
            <a:r>
              <a:rPr dirty="0"/>
              <a:t> </a:t>
            </a:r>
            <a:r>
              <a:rPr dirty="0" err="1"/>
              <a:t>ripetuti</a:t>
            </a:r>
            <a:endParaRPr dirty="0"/>
          </a:p>
          <a:p>
            <a:pPr algn="l">
              <a:spcAft>
                <a:spcPts val="800"/>
              </a:spcAft>
              <a:defRPr sz="1400">
                <a:solidFill>
                  <a:srgbClr val="FFFFFF"/>
                </a:solidFill>
                <a:latin typeface="Calibri"/>
              </a:defRPr>
            </a:pPr>
            <a:r>
              <a:rPr dirty="0"/>
              <a:t>•  Constraint UNIQUE = </a:t>
            </a:r>
            <a:r>
              <a:rPr dirty="0" err="1"/>
              <a:t>indice</a:t>
            </a:r>
            <a:r>
              <a:rPr dirty="0"/>
              <a:t> </a:t>
            </a:r>
            <a:r>
              <a:rPr dirty="0" err="1"/>
              <a:t>automatico</a:t>
            </a:r>
            <a:r>
              <a:rPr dirty="0"/>
              <a:t> + </a:t>
            </a:r>
            <a:r>
              <a:rPr dirty="0" err="1"/>
              <a:t>protezione</a:t>
            </a:r>
            <a:r>
              <a:rPr dirty="0"/>
              <a:t> da </a:t>
            </a:r>
            <a:r>
              <a:rPr dirty="0" err="1"/>
              <a:t>duplicati</a:t>
            </a:r>
            <a:endParaRPr dirty="0"/>
          </a:p>
          <a:p>
            <a:pPr algn="l">
              <a:spcAft>
                <a:spcPts val="800"/>
              </a:spcAft>
              <a:defRPr sz="1400">
                <a:solidFill>
                  <a:srgbClr val="FFFFFF"/>
                </a:solidFill>
                <a:latin typeface="Calibri"/>
              </a:defRPr>
            </a:pPr>
            <a:r>
              <a:rPr dirty="0"/>
              <a:t>•  UNWIND batching = 300× </a:t>
            </a:r>
            <a:r>
              <a:rPr dirty="0" err="1"/>
              <a:t>più</a:t>
            </a:r>
            <a:r>
              <a:rPr dirty="0"/>
              <a:t> veloce del row-by-row (1.4s vs 440s)</a:t>
            </a:r>
          </a:p>
          <a:p>
            <a:pPr algn="l">
              <a:spcAft>
                <a:spcPts val="800"/>
              </a:spcAft>
              <a:defRPr sz="1400">
                <a:solidFill>
                  <a:srgbClr val="FFFFFF"/>
                </a:solidFill>
                <a:latin typeface="Calibri"/>
              </a:defRPr>
            </a:pPr>
            <a:r>
              <a:rPr dirty="0"/>
              <a:t>•  Neo4j Browser: </a:t>
            </a:r>
            <a:r>
              <a:rPr dirty="0" err="1"/>
              <a:t>esplorazione</a:t>
            </a:r>
            <a:r>
              <a:rPr dirty="0"/>
              <a:t> </a:t>
            </a:r>
            <a:r>
              <a:rPr dirty="0" err="1"/>
              <a:t>rapida</a:t>
            </a:r>
            <a:r>
              <a:rPr dirty="0"/>
              <a:t>, </a:t>
            </a:r>
            <a:r>
              <a:rPr dirty="0" err="1"/>
              <a:t>visualizzazione</a:t>
            </a:r>
            <a:r>
              <a:rPr dirty="0"/>
              <a:t> </a:t>
            </a:r>
            <a:r>
              <a:rPr dirty="0" err="1"/>
              <a:t>grafica</a:t>
            </a:r>
            <a:r>
              <a:rPr dirty="0"/>
              <a:t>, :play tutorial</a:t>
            </a:r>
          </a:p>
          <a:p>
            <a:pPr algn="l">
              <a:spcAft>
                <a:spcPts val="800"/>
              </a:spcAft>
              <a:defRPr sz="1400">
                <a:solidFill>
                  <a:srgbClr val="FFFFFF"/>
                </a:solidFill>
                <a:latin typeface="Calibri"/>
              </a:defRPr>
            </a:pPr>
            <a:r>
              <a:rPr dirty="0"/>
              <a:t>•  Il </a:t>
            </a:r>
            <a:r>
              <a:rPr dirty="0" err="1"/>
              <a:t>progetto</a:t>
            </a:r>
            <a:r>
              <a:rPr dirty="0"/>
              <a:t> Org Graph ci </a:t>
            </a:r>
            <a:r>
              <a:rPr dirty="0" err="1"/>
              <a:t>accompagnerà</a:t>
            </a:r>
            <a:r>
              <a:rPr dirty="0"/>
              <a:t> per </a:t>
            </a:r>
            <a:r>
              <a:rPr dirty="0" err="1"/>
              <a:t>tutto</a:t>
            </a:r>
            <a:r>
              <a:rPr dirty="0"/>
              <a:t> il </a:t>
            </a:r>
            <a:r>
              <a:rPr dirty="0" err="1"/>
              <a:t>corso</a:t>
            </a:r>
            <a:r>
              <a:rPr dirty="0"/>
              <a:t> — 238 </a:t>
            </a:r>
            <a:r>
              <a:rPr dirty="0" err="1"/>
              <a:t>persone</a:t>
            </a:r>
            <a:r>
              <a:rPr dirty="0"/>
              <a:t>, 93 </a:t>
            </a:r>
            <a:r>
              <a:rPr dirty="0" err="1"/>
              <a:t>progetti</a:t>
            </a:r>
            <a:r>
              <a:rPr dirty="0"/>
              <a:t>, 55 skill</a:t>
            </a:r>
          </a:p>
          <a:p>
            <a:pPr algn="l">
              <a:spcAft>
                <a:spcPts val="800"/>
              </a:spcAft>
              <a:defRPr sz="1400">
                <a:solidFill>
                  <a:srgbClr val="FFFFFF"/>
                </a:solidFill>
                <a:latin typeface="Calibri"/>
              </a:defRPr>
            </a:pPr>
            <a:r>
              <a:rPr dirty="0"/>
              <a:t>•  Tutte le </a:t>
            </a:r>
            <a:r>
              <a:rPr dirty="0" err="1"/>
              <a:t>proprietà</a:t>
            </a:r>
            <a:r>
              <a:rPr dirty="0"/>
              <a:t> </a:t>
            </a:r>
            <a:r>
              <a:rPr dirty="0" err="1"/>
              <a:t>sono</a:t>
            </a:r>
            <a:r>
              <a:rPr dirty="0"/>
              <a:t> in inglese (name, </a:t>
            </a:r>
            <a:r>
              <a:rPr dirty="0" err="1"/>
              <a:t>employee_id</a:t>
            </a:r>
            <a:r>
              <a:rPr dirty="0"/>
              <a:t>, location, title, proficiency)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272936"/>
        </a:solidFill>
        <a:effectLst/>
      </p:bgPr>
    </p:bg>
    <p:spTree>
      <p:nvGrpSpPr>
        <p:cNvPr id="1" name=""/>
        <p:cNvGrpSpPr/>
        <p:nvPr/>
      </p:nvGrpSpPr>
      <p:grpSpPr>
        <a:xfrm>
          <a:off x="0" y="0"/>
          <a:ext cx="0" cy="0"/>
          <a:chOff x="0" y="0"/>
          <a:chExt cx="0" cy="0"/>
        </a:xfrm>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Da Basi a Query Reali</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281</TotalTime>
  <Words>6127</Words>
  <Application>Microsoft Office PowerPoint</Application>
  <PresentationFormat>Widescreen</PresentationFormat>
  <Paragraphs>594</Paragraphs>
  <Slides>28</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28</vt:i4>
      </vt:variant>
    </vt:vector>
  </HeadingPairs>
  <TitlesOfParts>
    <vt:vector size="36" baseType="lpstr">
      <vt:lpstr>Amazon Ember Display</vt:lpstr>
      <vt:lpstr>Arial</vt:lpstr>
      <vt:lpstr>Calibri</vt:lpstr>
      <vt:lpstr>Helvetica Light</vt:lpstr>
      <vt:lpstr>Ubuntu</vt:lpstr>
      <vt:lpstr>Wingdings</vt:lpstr>
      <vt:lpstr>1_AWS Summit</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6</cp:revision>
  <dcterms:created xsi:type="dcterms:W3CDTF">2026-07-10T07:18:38Z</dcterms:created>
  <dcterms:modified xsi:type="dcterms:W3CDTF">2026-07-22T15:03:18Z</dcterms:modified>
</cp:coreProperties>
</file>