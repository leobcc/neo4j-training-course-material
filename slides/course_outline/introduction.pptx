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media/image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slideMaster" Target="../slideMasters/slideMaster1.xml"/><Relationship Id="rId6" Type="http://schemas.openxmlformats.org/officeDocument/2006/relationships/oleObject" Target="../embeddings/oleObject3.bin"/><Relationship Id="rId7"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 Id="rId3"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 Id="rId3"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linkedin.com/company/capgemini" TargetMode="External"/><Relationship Id="rId3" Type="http://schemas.openxmlformats.org/officeDocument/2006/relationships/image" Target="../media/image7.png"/><Relationship Id="rId4" Type="http://schemas.openxmlformats.org/officeDocument/2006/relationships/hyperlink" Target="http://www.slideshare.net/capgemini" TargetMode="External"/><Relationship Id="rId5" Type="http://schemas.openxmlformats.org/officeDocument/2006/relationships/image" Target="../media/image8.png"/><Relationship Id="rId6" Type="http://schemas.openxmlformats.org/officeDocument/2006/relationships/hyperlink" Target="http://www.twitter.com/capgemini" TargetMode="External"/><Relationship Id="rId7" Type="http://schemas.openxmlformats.org/officeDocument/2006/relationships/image" Target="../media/image9.png"/><Relationship Id="rId8" Type="http://schemas.openxmlformats.org/officeDocument/2006/relationships/hyperlink" Target="http://www.youtube.com/capgeminimedia" TargetMode="External"/><Relationship Id="rId9" Type="http://schemas.openxmlformats.org/officeDocument/2006/relationships/image" Target="../media/image10.png"/><Relationship Id="rId10" Type="http://schemas.openxmlformats.org/officeDocument/2006/relationships/hyperlink" Target="http://www.facebook.com/capgemini" TargetMode="External"/><Relationship Id="rId11" Type="http://schemas.openxmlformats.org/officeDocument/2006/relationships/image" Target="../media/image11.png"/><Relationship Id="rId12" Type="http://schemas.openxmlformats.org/officeDocument/2006/relationships/hyperlink" Target="http://www.capgemini.com/about/how-we-work/the-collaborative-business-experiencetm" TargetMode="External"/><Relationship Id="rId13" Type="http://schemas.openxmlformats.org/officeDocument/2006/relationships/hyperlink" Target="http://www.capgemini.com/about/how-we-work/rightshorer" TargetMode="External"/><Relationship Id="rId14" Type="http://schemas.openxmlformats.org/officeDocument/2006/relationships/hyperlink" Target="http://www.capgemini.com/" TargetMode="External"/><Relationship Id="rId15"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linkedin.com/company/capgemini" TargetMode="External"/><Relationship Id="rId3" Type="http://schemas.openxmlformats.org/officeDocument/2006/relationships/image" Target="../media/image7.png"/><Relationship Id="rId4" Type="http://schemas.openxmlformats.org/officeDocument/2006/relationships/hyperlink" Target="http://www.slideshare.net/capgemini" TargetMode="External"/><Relationship Id="rId5" Type="http://schemas.openxmlformats.org/officeDocument/2006/relationships/image" Target="../media/image8.png"/><Relationship Id="rId6" Type="http://schemas.openxmlformats.org/officeDocument/2006/relationships/hyperlink" Target="http://www.twitter.com/capgemini" TargetMode="External"/><Relationship Id="rId7" Type="http://schemas.openxmlformats.org/officeDocument/2006/relationships/image" Target="../media/image9.png"/><Relationship Id="rId8" Type="http://schemas.openxmlformats.org/officeDocument/2006/relationships/hyperlink" Target="http://www.youtube.com/capgeminimedia" TargetMode="External"/><Relationship Id="rId9" Type="http://schemas.openxmlformats.org/officeDocument/2006/relationships/image" Target="../media/image10.png"/><Relationship Id="rId10" Type="http://schemas.openxmlformats.org/officeDocument/2006/relationships/hyperlink" Target="http://www.facebook.com/capgemini" TargetMode="External"/><Relationship Id="rId11" Type="http://schemas.openxmlformats.org/officeDocument/2006/relationships/image" Target="../media/image11.png"/><Relationship Id="rId12" Type="http://schemas.openxmlformats.org/officeDocument/2006/relationships/hyperlink" Target="http://www.capgemini.com/about/how-we-work/the-collaborative-business-experiencetm" TargetMode="External"/><Relationship Id="rId13" Type="http://schemas.openxmlformats.org/officeDocument/2006/relationships/hyperlink" Target="http://www.capgemini.com/about/how-we-work/rightshore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7" name="Content Placeholder 16">
            <a:extLst>
              <a:ext uri="{FF2B5EF4-FFF2-40B4-BE49-F238E27FC236}">
                <a16:creationId xmlns:a16="http://schemas.microsoft.com/office/drawing/2014/main" id="{810E1061-A44A-A554-F24D-33361C93E53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279" r="18225"/>
          <a:stretch/>
        </p:blipFill>
        <p:spPr>
          <a:xfrm>
            <a:off x="6153150" y="1"/>
            <a:ext cx="6038850" cy="6858000"/>
          </a:xfrm>
          <a:prstGeom prst="rect">
            <a:avLst/>
          </a:prstGeom>
        </p:spPr>
      </p:pic>
      <p:pic>
        <p:nvPicPr>
          <p:cNvPr id="2" name="Picture 1" descr="A picture containing lamp&#10;&#10;Description automatically generated">
            <a:extLst>
              <a:ext uri="{FF2B5EF4-FFF2-40B4-BE49-F238E27FC236}">
                <a16:creationId xmlns:a16="http://schemas.microsoft.com/office/drawing/2014/main" id="{784FD2C4-7C76-FDA5-3DDA-6F3155DF742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rot="3600000">
            <a:off x="611517" y="-2"/>
            <a:ext cx="9695699" cy="6858000"/>
          </a:xfrm>
          <a:prstGeom prst="rect">
            <a:avLst/>
          </a:prstGeom>
        </p:spPr>
      </p:pic>
      <p:sp>
        <p:nvSpPr>
          <p:cNvPr id="3" name="Title 1">
            <a:extLst>
              <a:ext uri="{FF2B5EF4-FFF2-40B4-BE49-F238E27FC236}">
                <a16:creationId xmlns:a16="http://schemas.microsoft.com/office/drawing/2014/main" id="{E93AA952-AC13-ABF0-FA1E-8CA3E3C3A877}"/>
              </a:ext>
            </a:extLst>
          </p:cNvPr>
          <p:cNvSpPr>
            <a:spLocks noGrp="1"/>
          </p:cNvSpPr>
          <p:nvPr>
            <p:ph type="ctrTitle" hasCustomPrompt="1"/>
          </p:nvPr>
        </p:nvSpPr>
        <p:spPr bwMode="invGray">
          <a:xfrm>
            <a:off x="191344" y="3287890"/>
            <a:ext cx="4494765"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3200" b="0" cap="all" baseline="0" dirty="0">
                <a:solidFill>
                  <a:schemeClr val="tx1"/>
                </a:solidFill>
                <a:latin typeface="Ubuntu" panose="020B0504030602030204" pitchFamily="34" charset="0"/>
              </a:defRPr>
            </a:lvl1pPr>
          </a:lstStyle>
          <a:p>
            <a:pPr marL="0" lvl="0"/>
            <a:r>
              <a:rPr lang="en-US"/>
              <a:t>SECTION TITLE ALL CAPS, LOREM IPSUM DOLOR AMET.</a:t>
            </a:r>
          </a:p>
        </p:txBody>
      </p:sp>
    </p:spTree>
    <p:extLst>
      <p:ext uri="{BB962C8B-B14F-4D97-AF65-F5344CB8AC3E}">
        <p14:creationId xmlns:p14="http://schemas.microsoft.com/office/powerpoint/2010/main" val="1741874436"/>
      </p:ext>
    </p:extLst>
  </p:cSld>
  <p:clrMapOvr>
    <a:masterClrMapping/>
  </p:clrMapOvr>
  <p:extLst>
    <p:ext uri="{DCECCB84-F9BA-43D5-87BE-67443E8EF086}">
      <p15:sldGuideLst xmlns:p15="http://schemas.microsoft.com/office/powerpoint/2012/main">
        <p15:guide id="1" orient="horz" pos="2376">
          <p15:clr>
            <a:srgbClr val="FBAE40"/>
          </p15:clr>
        </p15:guide>
        <p15:guide id="2" pos="3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220E4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a:t>Title only layout</a:t>
            </a:r>
          </a:p>
        </p:txBody>
      </p:sp>
    </p:spTree>
    <p:extLst>
      <p:ext uri="{BB962C8B-B14F-4D97-AF65-F5344CB8AC3E}">
        <p14:creationId xmlns:p14="http://schemas.microsoft.com/office/powerpoint/2010/main" val="223048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04800" y="1899138"/>
            <a:ext cx="11582398" cy="1717393"/>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304799" y="822325"/>
            <a:ext cx="11582399" cy="424732"/>
          </a:xfrm>
          <a:prstGeom prst="rect">
            <a:avLst/>
          </a:prstGeom>
        </p:spPr>
        <p:txBody>
          <a:bodyPr anchor="ctr" anchorCtr="0"/>
          <a:lstStyle>
            <a:lvl1pPr marL="0" indent="0">
              <a:buNone/>
              <a:defRPr>
                <a:solidFill>
                  <a:srgbClr val="01AADD"/>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304800" y="304801"/>
            <a:ext cx="11582400" cy="495300"/>
          </a:xfrm>
        </p:spPr>
        <p:txBody>
          <a:bodyPr anchor="ctr" anchorCtr="0"/>
          <a:lstStyle>
            <a:lvl1pPr>
              <a:defRPr sz="2800" cap="all" baseline="0"/>
            </a:lvl1pPr>
          </a:lstStyle>
          <a:p>
            <a:r>
              <a:rPr lang="en-US"/>
              <a:t>Click to edit Master title style</a:t>
            </a:r>
            <a:endParaRPr lang="de-DE"/>
          </a:p>
        </p:txBody>
      </p:sp>
    </p:spTree>
    <p:extLst>
      <p:ext uri="{BB962C8B-B14F-4D97-AF65-F5344CB8AC3E}">
        <p14:creationId xmlns:p14="http://schemas.microsoft.com/office/powerpoint/2010/main" val="33899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C7EC611B-E20B-F9F1-FC23-540C98C6B806}"/>
              </a:ext>
            </a:extLst>
          </p:cNvPr>
          <p:cNvSpPr/>
          <p:nvPr userDrawn="1"/>
        </p:nvSpPr>
        <p:spPr>
          <a:xfrm>
            <a:off x="7469900" y="-1"/>
            <a:ext cx="4722676" cy="6858001"/>
          </a:xfrm>
          <a:custGeom>
            <a:avLst/>
            <a:gdLst>
              <a:gd name="connsiteX0" fmla="*/ 0 w 4722101"/>
              <a:gd name="connsiteY0" fmla="*/ 6858001 h 6858001"/>
              <a:gd name="connsiteX1" fmla="*/ 1180525 w 4722101"/>
              <a:gd name="connsiteY1" fmla="*/ 0 h 6858001"/>
              <a:gd name="connsiteX2" fmla="*/ 4722101 w 4722101"/>
              <a:gd name="connsiteY2" fmla="*/ 0 h 6858001"/>
              <a:gd name="connsiteX3" fmla="*/ 3541576 w 4722101"/>
              <a:gd name="connsiteY3" fmla="*/ 6858001 h 6858001"/>
              <a:gd name="connsiteX4" fmla="*/ 0 w 4722101"/>
              <a:gd name="connsiteY4" fmla="*/ 6858001 h 6858001"/>
              <a:gd name="connsiteX0" fmla="*/ 0 w 4722676"/>
              <a:gd name="connsiteY0" fmla="*/ 6858001 h 6858001"/>
              <a:gd name="connsiteX1" fmla="*/ 1180525 w 4722676"/>
              <a:gd name="connsiteY1" fmla="*/ 0 h 6858001"/>
              <a:gd name="connsiteX2" fmla="*/ 4722101 w 4722676"/>
              <a:gd name="connsiteY2" fmla="*/ 0 h 6858001"/>
              <a:gd name="connsiteX3" fmla="*/ 4722676 w 4722676"/>
              <a:gd name="connsiteY3" fmla="*/ 6858001 h 6858001"/>
              <a:gd name="connsiteX4" fmla="*/ 0 w 4722676"/>
              <a:gd name="connsiteY4" fmla="*/ 6858001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2676" h="6858001">
                <a:moveTo>
                  <a:pt x="0" y="6858001"/>
                </a:moveTo>
                <a:lnTo>
                  <a:pt x="1180525" y="0"/>
                </a:lnTo>
                <a:lnTo>
                  <a:pt x="4722101" y="0"/>
                </a:lnTo>
                <a:cubicBezTo>
                  <a:pt x="4722293" y="2286000"/>
                  <a:pt x="4722484" y="4572001"/>
                  <a:pt x="4722676" y="6858001"/>
                </a:cubicBezTo>
                <a:lnTo>
                  <a:pt x="0" y="6858001"/>
                </a:lnTo>
                <a:close/>
              </a:path>
            </a:pathLst>
          </a:custGeom>
          <a:gradFill flip="none" rotWithShape="1">
            <a:gsLst>
              <a:gs pos="0">
                <a:srgbClr val="C51248"/>
              </a:gs>
              <a:gs pos="50000">
                <a:srgbClr val="512677"/>
              </a:gs>
              <a:gs pos="100000">
                <a:srgbClr val="2C2A7A"/>
              </a:gs>
            </a:gsLst>
            <a:path path="circle">
              <a:fillToRect l="100000" b="100000"/>
            </a:path>
            <a:tileRect t="-100000" r="-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it-IT" sz="3200" b="0" i="0" u="none" strike="noStrike" cap="none" spc="0" normalizeH="0" baseline="0">
              <a:ln>
                <a:noFill/>
              </a:ln>
              <a:solidFill>
                <a:srgbClr val="FFFFFF"/>
              </a:solidFill>
              <a:effectLst/>
              <a:uFillTx/>
              <a:latin typeface="Helvetica Light"/>
              <a:ea typeface="Helvetica Light"/>
              <a:cs typeface="Helvetica Light"/>
              <a:sym typeface="Helvetica Light"/>
            </a:endParaRP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8769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rgbClr val="24134F"/>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938316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userDrawn="1"/>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userDrawn="1"/>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2352832821"/>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113219956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2664802671"/>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rgbClr val="E6E7E7"/>
        </a:solidFill>
        <a:effectLst/>
      </p:bgPr>
    </p:bg>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userDrawn="1"/>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err="1"/>
              <a:t>Cliquez</a:t>
            </a:r>
            <a:r>
              <a:rPr lang="en-US"/>
              <a:t> sur </a:t>
            </a:r>
            <a:r>
              <a:rPr lang="en-US" err="1"/>
              <a:t>l'icône</a:t>
            </a:r>
            <a:r>
              <a:rPr lang="en-US"/>
              <a:t> pour </a:t>
            </a:r>
            <a:r>
              <a:rPr lang="en-US" err="1"/>
              <a:t>ajouter</a:t>
            </a:r>
            <a:r>
              <a:rPr lang="en-US"/>
              <a:t> </a:t>
            </a:r>
            <a:r>
              <a:rPr lang="en-US" err="1"/>
              <a:t>une</a:t>
            </a:r>
            <a:r>
              <a:rPr lang="en-US"/>
              <a:t> image</a:t>
            </a:r>
          </a:p>
        </p:txBody>
      </p:sp>
      <p:grpSp>
        <p:nvGrpSpPr>
          <p:cNvPr id="17" name="Group 14"/>
          <p:cNvGrpSpPr>
            <a:grpSpLocks noChangeAspect="1"/>
          </p:cNvGrpSpPr>
          <p:nvPr userDrawn="1"/>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1503174146"/>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4" y="4"/>
          <a:ext cx="180998" cy="14398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 y="4"/>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2"/>
            </p:custDataLst>
          </p:nvPr>
        </p:nvSpPr>
        <p:spPr/>
        <p:txBody>
          <a:bodyPr/>
          <a:lstStyle>
            <a:lvl1pPr>
              <a:defRPr>
                <a:solidFill>
                  <a:schemeClr val="tx1"/>
                </a:solidFill>
              </a:defRPr>
            </a:lvl1pPr>
          </a:lstStyle>
          <a:p>
            <a:r>
              <a:rPr lang="en-US" noProof="0"/>
              <a:t>Click to edit Master title style</a:t>
            </a:r>
            <a:endParaRPr lang="en-US"/>
          </a:p>
        </p:txBody>
      </p:sp>
      <p:sp>
        <p:nvSpPr>
          <p:cNvPr id="3" name="Content Placeholder 2"/>
          <p:cNvSpPr>
            <a:spLocks noGrp="1"/>
          </p:cNvSpPr>
          <p:nvPr>
            <p:ph idx="1"/>
            <p:custDataLst>
              <p:tags r:id="rId3"/>
            </p:custDataLst>
          </p:nvPr>
        </p:nvSpPr>
        <p:spPr>
          <a:xfrm>
            <a:off x="420081" y="1882776"/>
            <a:ext cx="11351847" cy="4384675"/>
          </a:xfrm>
        </p:spPr>
        <p:txBody>
          <a:bodyPr/>
          <a:lstStyle>
            <a:lvl1pPr>
              <a:defRPr b="0"/>
            </a:lvl1pPr>
            <a:lvl2pPr marL="457083" indent="-223781">
              <a:defRPr/>
            </a:lvl2pPr>
            <a:lvl3pPr>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custDataLst>
              <p:tags r:id="rId4"/>
            </p:custDataLst>
          </p:nvPr>
        </p:nvSpPr>
        <p:spPr>
          <a:xfrm>
            <a:off x="420081" y="1309688"/>
            <a:ext cx="11351847" cy="548640"/>
          </a:xfrm>
        </p:spPr>
        <p:txBody>
          <a:bodyPr/>
          <a:lstStyle>
            <a:lvl1pPr marL="0" indent="0">
              <a:buNone/>
              <a:defRPr sz="2000" b="1">
                <a:solidFill>
                  <a:srgbClr val="E47E1A"/>
                </a:solidFill>
              </a:defRPr>
            </a:lvl1pPr>
          </a:lstStyle>
          <a:p>
            <a:pPr lvl="0"/>
            <a:r>
              <a:rPr lang="en-US"/>
              <a:t>Click to edit Master text styles</a:t>
            </a:r>
          </a:p>
        </p:txBody>
      </p:sp>
    </p:spTree>
    <p:extLst>
      <p:ext uri="{BB962C8B-B14F-4D97-AF65-F5344CB8AC3E}">
        <p14:creationId xmlns:p14="http://schemas.microsoft.com/office/powerpoint/2010/main" val="3509918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ig Table">
    <p:spTree>
      <p:nvGrpSpPr>
        <p:cNvPr id="1" name=""/>
        <p:cNvGrpSpPr/>
        <p:nvPr/>
      </p:nvGrpSpPr>
      <p:grpSpPr>
        <a:xfrm>
          <a:off x="0" y="0"/>
          <a:ext cx="0" cy="0"/>
          <a:chOff x="0" y="0"/>
          <a:chExt cx="0" cy="0"/>
        </a:xfrm>
      </p:grpSpPr>
      <p:sp>
        <p:nvSpPr>
          <p:cNvPr id="6" name="Retângulo 43">
            <a:extLst>
              <a:ext uri="{FF2B5EF4-FFF2-40B4-BE49-F238E27FC236}">
                <a16:creationId xmlns:a16="http://schemas.microsoft.com/office/drawing/2014/main" id="{25FC8637-25BD-4C09-AF25-56B4243DAB3D}"/>
              </a:ext>
            </a:extLst>
          </p:cNvPr>
          <p:cNvSpPr/>
          <p:nvPr userDrawn="1"/>
        </p:nvSpPr>
        <p:spPr>
          <a:xfrm>
            <a:off x="6924021" y="6592810"/>
            <a:ext cx="242375" cy="215444"/>
          </a:xfrm>
          <a:prstGeom prst="rect">
            <a:avLst/>
          </a:prstGeom>
        </p:spPr>
        <p:txBody>
          <a:bodyPr wrap="none">
            <a:spAutoFit/>
          </a:bodyPr>
          <a:lstStyle/>
          <a:p>
            <a:pPr algn="r" defTabSz="914400"/>
            <a:fld id="{0502E5A9-B53C-401E-A0E0-4A359BB0A9E5}" type="slidenum">
              <a:rPr lang="en-US" sz="800" smtClean="0">
                <a:solidFill>
                  <a:prstClr val="black">
                    <a:lumMod val="50000"/>
                    <a:lumOff val="50000"/>
                  </a:prstClr>
                </a:solidFill>
                <a:cs typeface="Arial" panose="020B0604020202020204" pitchFamily="34" charset="0"/>
              </a:rPr>
              <a:pPr algn="r" defTabSz="914400"/>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defTabSz="914400">
              <a:lnSpc>
                <a:spcPct val="85000"/>
              </a:lnSpc>
              <a:defRPr/>
            </a:pPr>
            <a:r>
              <a:rPr lang="en-US" sz="800" kern="0">
                <a:solidFill>
                  <a:srgbClr val="00458D"/>
                </a:solidFill>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defTabSz="914400"/>
            <a:r>
              <a:rPr lang="en-US" sz="800">
                <a:solidFill>
                  <a:srgbClr val="E6E7E7">
                    <a:lumMod val="50000"/>
                  </a:srgb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b="0" i="0" dirty="0">
                <a:latin typeface="+mn-lt"/>
              </a:defRPr>
            </a:lvl1pPr>
          </a:lstStyle>
          <a:p>
            <a:pPr lvl="0">
              <a:lnSpc>
                <a:spcPts val="3000"/>
              </a:lnSpc>
            </a:pPr>
            <a:r>
              <a:rPr lang="en-US"/>
              <a:t>Click to add title</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5676"/>
          <a:stretch/>
        </p:blipFill>
        <p:spPr>
          <a:xfrm>
            <a:off x="11635686" y="6398376"/>
            <a:ext cx="424356" cy="459624"/>
          </a:xfrm>
          <a:prstGeom prst="rect">
            <a:avLst/>
          </a:prstGeom>
        </p:spPr>
      </p:pic>
      <p:sp>
        <p:nvSpPr>
          <p:cNvPr id="14" name="Text Placeholder 2"/>
          <p:cNvSpPr>
            <a:spLocks noGrp="1"/>
          </p:cNvSpPr>
          <p:nvPr>
            <p:ph idx="1"/>
          </p:nvPr>
        </p:nvSpPr>
        <p:spPr>
          <a:xfrm>
            <a:off x="413067" y="1412875"/>
            <a:ext cx="11370945" cy="5040313"/>
          </a:xfrm>
          <a:prstGeom prst="rect">
            <a:avLst/>
          </a:prstGeom>
        </p:spPr>
        <p:txBody>
          <a:bodyPr vert="horz" lIns="0" tIns="0" rIns="0" bIns="0" rtlCol="0">
            <a:normAutofit/>
          </a:bodyPr>
          <a:lstStyle>
            <a:lvl1pPr>
              <a:defRPr lang="en-US" dirty="0">
                <a:latin typeface="+mn-lt"/>
                <a:ea typeface="+mn-ea"/>
                <a:cs typeface="+mn-cs"/>
              </a:defRPr>
            </a:lvl1pPr>
            <a:lvl2pPr>
              <a:defRPr lang="en-US" dirty="0">
                <a:latin typeface="+mn-lt"/>
                <a:ea typeface="+mn-ea"/>
                <a:cs typeface="+mn-cs"/>
              </a:defRPr>
            </a:lvl2pPr>
            <a:lvl3pPr>
              <a:defRPr lang="en-US" dirty="0">
                <a:latin typeface="+mn-lt"/>
                <a:ea typeface="+mn-ea"/>
                <a:cs typeface="+mn-cs"/>
              </a:defRPr>
            </a:lvl3pPr>
            <a:lvl4pPr>
              <a:defRPr lang="en-US" dirty="0">
                <a:latin typeface="+mn-lt"/>
                <a:ea typeface="+mn-ea"/>
                <a:cs typeface="+mn-cs"/>
              </a:defRPr>
            </a:lvl4pPr>
          </a:lstStyle>
          <a:p>
            <a:pPr lvl="0">
              <a:lnSpc>
                <a:spcPts val="2200"/>
              </a:lnSpc>
              <a:spcBef>
                <a:spcPts val="0"/>
              </a:spcBef>
              <a:spcAft>
                <a:spcPts val="600"/>
              </a:spcAft>
            </a:pPr>
            <a:r>
              <a:rPr lang="en-US"/>
              <a:t>Edit Master text styles</a:t>
            </a:r>
          </a:p>
          <a:p>
            <a:pPr marL="233363" lvl="1">
              <a:lnSpc>
                <a:spcPts val="2000"/>
              </a:lnSpc>
              <a:spcBef>
                <a:spcPts val="0"/>
              </a:spcBef>
              <a:spcAft>
                <a:spcPts val="600"/>
              </a:spcAft>
              <a:buClr>
                <a:schemeClr val="accent1"/>
              </a:buClr>
              <a:buFont typeface="Wingdings" panose="05000000000000000000" pitchFamily="2" charset="2"/>
              <a:buChar char="§"/>
            </a:pPr>
            <a:r>
              <a:rPr lang="en-US"/>
              <a:t>Second level</a:t>
            </a:r>
          </a:p>
          <a:p>
            <a:pPr marL="457200" lvl="2" indent="-223838">
              <a:lnSpc>
                <a:spcPts val="1600"/>
              </a:lnSpc>
              <a:spcBef>
                <a:spcPts val="0"/>
              </a:spcBef>
              <a:spcAft>
                <a:spcPts val="600"/>
              </a:spcAft>
              <a:buClr>
                <a:schemeClr val="accent1"/>
              </a:buClr>
            </a:pPr>
            <a:r>
              <a:rPr lang="en-US"/>
              <a:t>Third level</a:t>
            </a:r>
          </a:p>
          <a:p>
            <a:pPr marL="690563" lvl="3" indent="-233363">
              <a:spcBef>
                <a:spcPts val="0"/>
              </a:spcBef>
              <a:spcAft>
                <a:spcPts val="600"/>
              </a:spcAft>
              <a:buClr>
                <a:schemeClr val="accent1"/>
              </a:buClr>
              <a:buChar char="‒"/>
            </a:pPr>
            <a:r>
              <a:rPr lang="en-US"/>
              <a:t>Fourth level</a:t>
            </a:r>
          </a:p>
        </p:txBody>
      </p:sp>
    </p:spTree>
    <p:extLst>
      <p:ext uri="{BB962C8B-B14F-4D97-AF65-F5344CB8AC3E}">
        <p14:creationId xmlns:p14="http://schemas.microsoft.com/office/powerpoint/2010/main" val="243245036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titolo">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816555" y="2294992"/>
            <a:ext cx="8944075" cy="615552"/>
          </a:xfrm>
          <a:prstGeom prst="rect">
            <a:avLst/>
          </a:prstGeom>
        </p:spPr>
        <p:txBody>
          <a:bodyPr lIns="0" bIns="0"/>
          <a:lstStyle>
            <a:lvl1pPr>
              <a:defRPr>
                <a:solidFill>
                  <a:srgbClr val="C3231E"/>
                </a:solidFill>
              </a:defRPr>
            </a:lvl1pPr>
          </a:lstStyle>
          <a:p>
            <a:r>
              <a:rPr lang="en-US" noProof="0"/>
              <a:t>Presentation title</a:t>
            </a:r>
          </a:p>
        </p:txBody>
      </p:sp>
      <p:sp>
        <p:nvSpPr>
          <p:cNvPr id="3" name="Sottotitolo 2"/>
          <p:cNvSpPr>
            <a:spLocks noGrp="1"/>
          </p:cNvSpPr>
          <p:nvPr>
            <p:ph type="subTitle" idx="1" hasCustomPrompt="1"/>
          </p:nvPr>
        </p:nvSpPr>
        <p:spPr>
          <a:xfrm>
            <a:off x="2816555" y="2930059"/>
            <a:ext cx="8944075" cy="345637"/>
          </a:xfrm>
          <a:prstGeom prst="rect">
            <a:avLst/>
          </a:prstGeom>
        </p:spPr>
        <p:txBody>
          <a:bodyPr lIns="0" rIns="0" bIns="0" anchor="t"/>
          <a:lstStyle>
            <a:lvl1pPr marL="0" indent="0" algn="l">
              <a:buNone/>
              <a:defRPr>
                <a:solidFill>
                  <a:srgbClr val="6E6E6E"/>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Possible subtitle of the presentation</a:t>
            </a:r>
          </a:p>
        </p:txBody>
      </p:sp>
      <p:sp>
        <p:nvSpPr>
          <p:cNvPr id="15" name="Segnaposto testo 14"/>
          <p:cNvSpPr>
            <a:spLocks noGrp="1"/>
          </p:cNvSpPr>
          <p:nvPr>
            <p:ph type="body" sz="quarter" idx="13" hasCustomPrompt="1"/>
          </p:nvPr>
        </p:nvSpPr>
        <p:spPr>
          <a:xfrm>
            <a:off x="2816555" y="4725144"/>
            <a:ext cx="3149600" cy="457200"/>
          </a:xfrm>
          <a:prstGeom prst="rect">
            <a:avLst/>
          </a:prstGeom>
        </p:spPr>
        <p:txBody>
          <a:bodyPr vert="horz" lIns="0" tIns="0" rIns="0" bIns="0"/>
          <a:lstStyle>
            <a:lvl1pPr>
              <a:defRPr sz="1600">
                <a:solidFill>
                  <a:srgbClr val="6E6E6E"/>
                </a:solidFill>
              </a:defRPr>
            </a:lvl1pPr>
          </a:lstStyle>
          <a:p>
            <a:pPr lvl="0"/>
            <a:r>
              <a:rPr lang="en-US" noProof="0"/>
              <a:t>Name and title </a:t>
            </a:r>
          </a:p>
        </p:txBody>
      </p:sp>
      <p:sp>
        <p:nvSpPr>
          <p:cNvPr id="8" name="Segnaposto testo 7"/>
          <p:cNvSpPr>
            <a:spLocks noGrp="1"/>
          </p:cNvSpPr>
          <p:nvPr>
            <p:ph type="body" sz="quarter" idx="14" hasCustomPrompt="1"/>
          </p:nvPr>
        </p:nvSpPr>
        <p:spPr>
          <a:xfrm>
            <a:off x="2817283" y="5311357"/>
            <a:ext cx="3148871" cy="344806"/>
          </a:xfrm>
          <a:prstGeom prst="rect">
            <a:avLst/>
          </a:prstGeom>
        </p:spPr>
        <p:txBody>
          <a:bodyPr vert="horz" lIns="0" rIns="0"/>
          <a:lstStyle>
            <a:lvl1pPr>
              <a:defRPr>
                <a:solidFill>
                  <a:srgbClr val="C3231E"/>
                </a:solidFill>
              </a:defRPr>
            </a:lvl1pPr>
            <a:lvl2pPr>
              <a:defRPr>
                <a:solidFill>
                  <a:srgbClr val="C3231E"/>
                </a:solidFill>
              </a:defRPr>
            </a:lvl2pPr>
            <a:lvl3pPr>
              <a:defRPr>
                <a:solidFill>
                  <a:srgbClr val="C3231E"/>
                </a:solidFill>
              </a:defRPr>
            </a:lvl3pPr>
            <a:lvl4pPr>
              <a:defRPr>
                <a:solidFill>
                  <a:srgbClr val="C3231E"/>
                </a:solidFill>
              </a:defRPr>
            </a:lvl4pPr>
            <a:lvl5pPr>
              <a:defRPr>
                <a:solidFill>
                  <a:srgbClr val="C3231E"/>
                </a:solidFill>
              </a:defRPr>
            </a:lvl5pPr>
          </a:lstStyle>
          <a:p>
            <a:pPr lvl="0"/>
            <a:r>
              <a:rPr lang="en-US" noProof="0"/>
              <a:t>City, Nation</a:t>
            </a:r>
          </a:p>
        </p:txBody>
      </p:sp>
      <p:sp>
        <p:nvSpPr>
          <p:cNvPr id="10" name="Segnaposto testo 9"/>
          <p:cNvSpPr>
            <a:spLocks noGrp="1"/>
          </p:cNvSpPr>
          <p:nvPr>
            <p:ph type="body" sz="quarter" idx="16" hasCustomPrompt="1"/>
          </p:nvPr>
        </p:nvSpPr>
        <p:spPr>
          <a:xfrm>
            <a:off x="2841601" y="5943600"/>
            <a:ext cx="9374716" cy="288000"/>
          </a:xfrm>
          <a:prstGeom prst="rect">
            <a:avLst/>
          </a:prstGeom>
        </p:spPr>
        <p:txBody>
          <a:bodyPr vert="horz" wrap="none" lIns="0" tIns="0" rIns="0" bIns="0" anchor="ctr" anchorCtr="0"/>
          <a:lstStyle>
            <a:lvl1pPr marL="342900" marR="0" indent="-342900" algn="l" defTabSz="457200" rtl="0" eaLnBrk="1" fontAlgn="auto" latinLnBrk="0" hangingPunct="1">
              <a:lnSpc>
                <a:spcPct val="100000"/>
              </a:lnSpc>
              <a:spcBef>
                <a:spcPct val="20000"/>
              </a:spcBef>
              <a:spcAft>
                <a:spcPts val="0"/>
              </a:spcAft>
              <a:buClrTx/>
              <a:buSzTx/>
              <a:buFont typeface="Arial"/>
              <a:buNone/>
              <a:tabLst/>
              <a:defRPr sz="800"/>
            </a:lvl1pPr>
          </a:lstStyle>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r>
              <a:rPr lang="en-US" noProof="0"/>
              <a:t>Contains confidential proprietary and trade secrets information of CNH Industrial. Any use of this work without express written consent is strictly prohibited.</a:t>
            </a:r>
          </a:p>
          <a:p>
            <a:pPr lvl="0"/>
            <a:endParaRPr lang="en-US" noProof="0"/>
          </a:p>
        </p:txBody>
      </p:sp>
      <p:sp>
        <p:nvSpPr>
          <p:cNvPr id="14" name="Segnaposto testo 13"/>
          <p:cNvSpPr>
            <a:spLocks noGrp="1"/>
          </p:cNvSpPr>
          <p:nvPr>
            <p:ph type="body" sz="quarter" idx="17" hasCustomPrompt="1"/>
          </p:nvPr>
        </p:nvSpPr>
        <p:spPr>
          <a:xfrm>
            <a:off x="2817283" y="5689600"/>
            <a:ext cx="3148871" cy="228600"/>
          </a:xfrm>
          <a:prstGeom prst="rect">
            <a:avLst/>
          </a:prstGeom>
        </p:spPr>
        <p:txBody>
          <a:bodyPr vert="horz" lIns="0" tIns="0" rIns="0" bIns="0"/>
          <a:lstStyle>
            <a:lvl1pPr>
              <a:defRPr>
                <a:solidFill>
                  <a:srgbClr val="6E6E6E"/>
                </a:solidFill>
              </a:defRPr>
            </a:lvl1pPr>
          </a:lstStyle>
          <a:p>
            <a:r>
              <a:rPr lang="en-US" sz="1200" noProof="0">
                <a:solidFill>
                  <a:srgbClr val="6E6E6E"/>
                </a:solidFill>
                <a:latin typeface="Arial"/>
                <a:cs typeface="Arial"/>
              </a:rPr>
              <a:t>May 5th, 2017</a:t>
            </a:r>
          </a:p>
        </p:txBody>
      </p:sp>
    </p:spTree>
    <p:extLst>
      <p:ext uri="{BB962C8B-B14F-4D97-AF65-F5344CB8AC3E}">
        <p14:creationId xmlns:p14="http://schemas.microsoft.com/office/powerpoint/2010/main" val="392806277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Tree>
    <p:extLst>
      <p:ext uri="{BB962C8B-B14F-4D97-AF65-F5344CB8AC3E}">
        <p14:creationId xmlns:p14="http://schemas.microsoft.com/office/powerpoint/2010/main" val="135493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1">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userDrawn="1"/>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userDrawn="1"/>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1098424076"/>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345012534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1749621551"/>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4">
    <p:bg>
      <p:bgPr>
        <a:solidFill>
          <a:srgbClr val="E6E7E7"/>
        </a:solidFill>
        <a:effectLst/>
      </p:bgPr>
    </p:bg>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userDrawn="1"/>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err="1"/>
              <a:t>Cliquez</a:t>
            </a:r>
            <a:r>
              <a:rPr lang="en-US"/>
              <a:t> sur </a:t>
            </a:r>
            <a:r>
              <a:rPr lang="en-US" err="1"/>
              <a:t>l'icône</a:t>
            </a:r>
            <a:r>
              <a:rPr lang="en-US"/>
              <a:t> pour </a:t>
            </a:r>
            <a:r>
              <a:rPr lang="en-US" err="1"/>
              <a:t>ajouter</a:t>
            </a:r>
            <a:r>
              <a:rPr lang="en-US"/>
              <a:t> </a:t>
            </a:r>
            <a:r>
              <a:rPr lang="en-US" err="1"/>
              <a:t>une</a:t>
            </a:r>
            <a:r>
              <a:rPr lang="en-US"/>
              <a:t> image</a:t>
            </a:r>
          </a:p>
        </p:txBody>
      </p:sp>
      <p:grpSp>
        <p:nvGrpSpPr>
          <p:cNvPr id="17" name="Group 14"/>
          <p:cNvGrpSpPr>
            <a:grpSpLocks noChangeAspect="1"/>
          </p:cNvGrpSpPr>
          <p:nvPr userDrawn="1"/>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2053489804"/>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Big Table">
    <p:spTree>
      <p:nvGrpSpPr>
        <p:cNvPr id="1" name=""/>
        <p:cNvGrpSpPr/>
        <p:nvPr/>
      </p:nvGrpSpPr>
      <p:grpSpPr>
        <a:xfrm>
          <a:off x="0" y="0"/>
          <a:ext cx="0" cy="0"/>
          <a:chOff x="0" y="0"/>
          <a:chExt cx="0" cy="0"/>
        </a:xfrm>
      </p:grpSpPr>
      <p:sp>
        <p:nvSpPr>
          <p:cNvPr id="6" name="Retângulo 43">
            <a:extLst>
              <a:ext uri="{FF2B5EF4-FFF2-40B4-BE49-F238E27FC236}">
                <a16:creationId xmlns:a16="http://schemas.microsoft.com/office/drawing/2014/main" id="{25FC8637-25BD-4C09-AF25-56B4243DAB3D}"/>
              </a:ext>
            </a:extLst>
          </p:cNvPr>
          <p:cNvSpPr/>
          <p:nvPr userDrawn="1"/>
        </p:nvSpPr>
        <p:spPr>
          <a:xfrm>
            <a:off x="6924021" y="6592810"/>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pPr algn="r"/>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a:lnSpc>
                <a:spcPct val="85000"/>
              </a:lnSpc>
              <a:defRPr/>
            </a:pPr>
            <a:r>
              <a:rPr lang="en-US" sz="800" kern="0">
                <a:solidFill>
                  <a:srgbClr val="00458D"/>
                </a:solidFill>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r>
              <a:rPr lang="en-US" sz="800">
                <a:solidFill>
                  <a:srgbClr val="E6E7E7">
                    <a:lumMod val="50000"/>
                  </a:srgb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b="0" i="0" dirty="0">
                <a:latin typeface="+mn-lt"/>
              </a:defRPr>
            </a:lvl1pPr>
          </a:lstStyle>
          <a:p>
            <a:pPr lvl="0">
              <a:lnSpc>
                <a:spcPts val="3000"/>
              </a:lnSpc>
            </a:pPr>
            <a:r>
              <a:rPr lang="en-US"/>
              <a:t>Click to add title</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5676"/>
          <a:stretch/>
        </p:blipFill>
        <p:spPr>
          <a:xfrm>
            <a:off x="11635686" y="6398376"/>
            <a:ext cx="424356" cy="459624"/>
          </a:xfrm>
          <a:prstGeom prst="rect">
            <a:avLst/>
          </a:prstGeom>
        </p:spPr>
      </p:pic>
      <p:sp>
        <p:nvSpPr>
          <p:cNvPr id="14" name="Text Placeholder 2"/>
          <p:cNvSpPr>
            <a:spLocks noGrp="1"/>
          </p:cNvSpPr>
          <p:nvPr>
            <p:ph idx="1"/>
          </p:nvPr>
        </p:nvSpPr>
        <p:spPr>
          <a:xfrm>
            <a:off x="413067" y="1412875"/>
            <a:ext cx="11370945" cy="5040313"/>
          </a:xfrm>
          <a:prstGeom prst="rect">
            <a:avLst/>
          </a:prstGeom>
        </p:spPr>
        <p:txBody>
          <a:bodyPr vert="horz" lIns="0" tIns="0" rIns="0" bIns="0" rtlCol="0">
            <a:normAutofit/>
          </a:bodyPr>
          <a:lstStyle>
            <a:lvl1pPr>
              <a:defRPr lang="en-US" dirty="0">
                <a:latin typeface="+mn-lt"/>
                <a:ea typeface="+mn-ea"/>
                <a:cs typeface="+mn-cs"/>
              </a:defRPr>
            </a:lvl1pPr>
            <a:lvl2pPr>
              <a:defRPr lang="en-US" dirty="0">
                <a:latin typeface="+mn-lt"/>
                <a:ea typeface="+mn-ea"/>
                <a:cs typeface="+mn-cs"/>
              </a:defRPr>
            </a:lvl2pPr>
            <a:lvl3pPr>
              <a:defRPr lang="en-US" dirty="0">
                <a:latin typeface="+mn-lt"/>
                <a:ea typeface="+mn-ea"/>
                <a:cs typeface="+mn-cs"/>
              </a:defRPr>
            </a:lvl3pPr>
            <a:lvl4pPr>
              <a:defRPr lang="en-US" dirty="0">
                <a:latin typeface="+mn-lt"/>
                <a:ea typeface="+mn-ea"/>
                <a:cs typeface="+mn-cs"/>
              </a:defRPr>
            </a:lvl4pPr>
          </a:lstStyle>
          <a:p>
            <a:pPr lvl="0">
              <a:lnSpc>
                <a:spcPts val="2200"/>
              </a:lnSpc>
              <a:spcBef>
                <a:spcPts val="0"/>
              </a:spcBef>
              <a:spcAft>
                <a:spcPts val="600"/>
              </a:spcAft>
            </a:pPr>
            <a:r>
              <a:rPr lang="en-US"/>
              <a:t>Edit Master text styles</a:t>
            </a:r>
          </a:p>
          <a:p>
            <a:pPr marL="233363" lvl="1">
              <a:lnSpc>
                <a:spcPts val="2000"/>
              </a:lnSpc>
              <a:spcBef>
                <a:spcPts val="0"/>
              </a:spcBef>
              <a:spcAft>
                <a:spcPts val="600"/>
              </a:spcAft>
              <a:buClr>
                <a:schemeClr val="accent1"/>
              </a:buClr>
              <a:buFont typeface="Wingdings" panose="05000000000000000000" pitchFamily="2" charset="2"/>
              <a:buChar char="§"/>
            </a:pPr>
            <a:r>
              <a:rPr lang="en-US"/>
              <a:t>Second level</a:t>
            </a:r>
          </a:p>
          <a:p>
            <a:pPr marL="457200" lvl="2" indent="-223838">
              <a:lnSpc>
                <a:spcPts val="1600"/>
              </a:lnSpc>
              <a:spcBef>
                <a:spcPts val="0"/>
              </a:spcBef>
              <a:spcAft>
                <a:spcPts val="600"/>
              </a:spcAft>
              <a:buClr>
                <a:schemeClr val="accent1"/>
              </a:buClr>
            </a:pPr>
            <a:r>
              <a:rPr lang="en-US"/>
              <a:t>Third level</a:t>
            </a:r>
          </a:p>
          <a:p>
            <a:pPr marL="690563" lvl="3" indent="-233363">
              <a:spcBef>
                <a:spcPts val="0"/>
              </a:spcBef>
              <a:spcAft>
                <a:spcPts val="600"/>
              </a:spcAft>
              <a:buClr>
                <a:schemeClr val="accent1"/>
              </a:buClr>
              <a:buChar char="‒"/>
            </a:pPr>
            <a:r>
              <a:rPr lang="en-US"/>
              <a:t>Fourth level</a:t>
            </a:r>
          </a:p>
        </p:txBody>
      </p:sp>
    </p:spTree>
    <p:extLst>
      <p:ext uri="{BB962C8B-B14F-4D97-AF65-F5344CB8AC3E}">
        <p14:creationId xmlns:p14="http://schemas.microsoft.com/office/powerpoint/2010/main" val="9948612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err="1"/>
              <a:t>Modifiez</a:t>
            </a:r>
            <a:r>
              <a:rPr lang="en-US"/>
              <a:t> le style du </a:t>
            </a:r>
            <a:r>
              <a:rPr lang="en-US" err="1"/>
              <a:t>titre</a:t>
            </a:r>
            <a:endParaRPr lang="en-US"/>
          </a:p>
        </p:txBody>
      </p:sp>
    </p:spTree>
    <p:extLst>
      <p:ext uri="{BB962C8B-B14F-4D97-AF65-F5344CB8AC3E}">
        <p14:creationId xmlns:p14="http://schemas.microsoft.com/office/powerpoint/2010/main" val="3029437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5869852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4" y="2886346"/>
            <a:ext cx="5125720"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a:solidFill>
                  <a:schemeClr val="tx1"/>
                </a:solidFill>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a:solidFill>
                  <a:schemeClr val="accent1"/>
                </a:solidFill>
              </a:rPr>
              <a:t>the Collaborative Business Experience™</a:t>
            </a:r>
            <a:r>
              <a:rPr lang="en-US" sz="900">
                <a:solidFill>
                  <a:schemeClr val="tx1"/>
                </a:solidFill>
              </a:rPr>
              <a:t>, and draws on </a:t>
            </a:r>
            <a:r>
              <a:rPr lang="en-US" sz="900">
                <a:solidFill>
                  <a:schemeClr val="accent1"/>
                </a:solidFill>
              </a:rPr>
              <a:t>Rightshore</a:t>
            </a:r>
            <a:r>
              <a:rPr lang="en-US" sz="900" baseline="30000">
                <a:solidFill>
                  <a:schemeClr val="accent1"/>
                </a:solidFill>
              </a:rPr>
              <a:t>®</a:t>
            </a:r>
            <a:r>
              <a:rPr lang="en-US" sz="900">
                <a:solidFill>
                  <a:schemeClr val="tx1"/>
                </a:solidFill>
              </a:rPr>
              <a:t>, its worldwide delivery model.</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schemeClr val="tx1"/>
                </a:solidFill>
              </a:rPr>
              <a:t>Learn more about us at</a:t>
            </a:r>
          </a:p>
          <a:p>
            <a:pPr algn="just">
              <a:lnSpc>
                <a:spcPts val="1200"/>
              </a:lnSpc>
            </a:pPr>
            <a:r>
              <a:rPr lang="en-US" sz="140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br>
              <a:rPr lang="en-US" sz="800" noProof="0">
                <a:solidFill>
                  <a:schemeClr val="bg1"/>
                </a:solidFill>
                <a:latin typeface="+mn-lt"/>
                <a:cs typeface="Arial"/>
              </a:rPr>
            </a:br>
            <a:r>
              <a:rPr lang="en-US" sz="800" noProof="0">
                <a:solidFill>
                  <a:schemeClr val="bg1"/>
                </a:solidFill>
                <a:latin typeface="Arial"/>
                <a:cs typeface="Arial"/>
              </a:rPr>
              <a:t>Copyright © 2018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a:solidFill>
                  <a:schemeClr val="bg1"/>
                </a:solidFill>
                <a:latin typeface="Arial"/>
                <a:cs typeface="Arial"/>
              </a:rPr>
              <a:t>Rightshore</a:t>
            </a:r>
            <a:r>
              <a:rPr lang="en-US" sz="800" baseline="30000" noProof="0">
                <a:solidFill>
                  <a:schemeClr val="bg1"/>
                </a:solidFill>
                <a:latin typeface="Arial"/>
                <a:cs typeface="Arial"/>
              </a:rPr>
              <a:t>®</a:t>
            </a:r>
            <a:r>
              <a:rPr lang="en-US" sz="800" noProof="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hlinkClick r:id="rId14"/>
          </p:cNvPr>
          <p:cNvSpPr/>
          <p:nvPr userDrawn="1"/>
        </p:nvSpPr>
        <p:spPr>
          <a:xfrm>
            <a:off x="6532245" y="4445639"/>
            <a:ext cx="1851660"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Tree>
    <p:extLst>
      <p:ext uri="{BB962C8B-B14F-4D97-AF65-F5344CB8AC3E}">
        <p14:creationId xmlns:p14="http://schemas.microsoft.com/office/powerpoint/2010/main" val="40255028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defTabSz="914400"/>
            <a:fld id="{0502E5A9-B53C-401E-A0E0-4A359BB0A9E5}" type="slidenum">
              <a:rPr lang="en-US" sz="800" smtClean="0">
                <a:solidFill>
                  <a:prstClr val="black">
                    <a:lumMod val="50000"/>
                    <a:lumOff val="50000"/>
                  </a:prstClr>
                </a:solidFill>
                <a:cs typeface="Arial" panose="020B0604020202020204" pitchFamily="34" charset="0"/>
              </a:rPr>
              <a:pPr algn="r" defTabSz="914400"/>
              <a:t>‹#›</a:t>
            </a:fld>
            <a:endParaRPr lang="en-US" sz="800">
              <a:solidFill>
                <a:prstClr val="black">
                  <a:lumMod val="50000"/>
                  <a:lumOff val="50000"/>
                </a:prstClr>
              </a:solidFill>
              <a:cs typeface="Arial" panose="020B0604020202020204" pitchFamily="34" charset="0"/>
            </a:endParaRPr>
          </a:p>
        </p:txBody>
      </p:sp>
    </p:spTree>
    <p:extLst>
      <p:ext uri="{BB962C8B-B14F-4D97-AF65-F5344CB8AC3E}">
        <p14:creationId xmlns:p14="http://schemas.microsoft.com/office/powerpoint/2010/main" val="983185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5" y="2886346"/>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tx1"/>
              </a:solidFill>
              <a:effectLst/>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461866"/>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tx1"/>
                </a:solidFill>
                <a:effectLst/>
              </a:rPr>
              <a:t>Get the Future You Want </a:t>
            </a:r>
            <a:r>
              <a:rPr lang="en-US" sz="900">
                <a:solidFill>
                  <a:schemeClr val="tx1"/>
                </a:solidFill>
                <a:effectLst/>
              </a:rPr>
              <a:t>|</a:t>
            </a:r>
            <a:r>
              <a:rPr lang="en-GB" sz="900">
                <a:solidFill>
                  <a:schemeClr val="tx1"/>
                </a:solidFill>
                <a:effectLst/>
              </a:rPr>
              <a:t> </a:t>
            </a:r>
            <a:r>
              <a:rPr lang="en-US" sz="105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a:solidFill>
                  <a:schemeClr val="bg1"/>
                </a:solidFill>
                <a:latin typeface="Arial"/>
                <a:cs typeface="Arial"/>
              </a:rPr>
              <a:t>Copyright © 2021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77682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6577458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0" name="Groupe 1">
            <a:extLst>
              <a:ext uri="{FF2B5EF4-FFF2-40B4-BE49-F238E27FC236}">
                <a16:creationId xmlns:a16="http://schemas.microsoft.com/office/drawing/2014/main" id="{51FFF118-98EE-8DA3-DBD4-BAFD857D317B}"/>
              </a:ext>
            </a:extLst>
          </p:cNvPr>
          <p:cNvGrpSpPr>
            <a:grpSpLocks noChangeAspect="1"/>
          </p:cNvGrpSpPr>
          <p:nvPr userDrawn="1"/>
        </p:nvGrpSpPr>
        <p:grpSpPr>
          <a:xfrm>
            <a:off x="11562163" y="205059"/>
            <a:ext cx="419436" cy="388988"/>
            <a:chOff x="11501102" y="171573"/>
            <a:chExt cx="419436" cy="388988"/>
          </a:xfrm>
          <a:solidFill>
            <a:schemeClr val="tx1"/>
          </a:solidFill>
        </p:grpSpPr>
        <p:sp>
          <p:nvSpPr>
            <p:cNvPr id="11" name="Freeform 13">
              <a:extLst>
                <a:ext uri="{FF2B5EF4-FFF2-40B4-BE49-F238E27FC236}">
                  <a16:creationId xmlns:a16="http://schemas.microsoft.com/office/drawing/2014/main" id="{6B25F92B-C157-3ACB-55CE-8C228CF85F7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sp>
          <p:nvSpPr>
            <p:cNvPr id="12" name="Freeform 14">
              <a:extLst>
                <a:ext uri="{FF2B5EF4-FFF2-40B4-BE49-F238E27FC236}">
                  <a16:creationId xmlns:a16="http://schemas.microsoft.com/office/drawing/2014/main" id="{CF1B011F-6FE9-3EE4-8000-222C8F9DE23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grpSp>
      <p:sp>
        <p:nvSpPr>
          <p:cNvPr id="2" name="Title Placeholder 1">
            <a:extLst>
              <a:ext uri="{FF2B5EF4-FFF2-40B4-BE49-F238E27FC236}">
                <a16:creationId xmlns:a16="http://schemas.microsoft.com/office/drawing/2014/main" id="{3371DBC7-A563-4787-896F-A8C55AC39541}"/>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BD4A25B-ECC2-4D0E-BA51-828900AA1150}"/>
              </a:ext>
            </a:extLst>
          </p:cNvPr>
          <p:cNvSpPr>
            <a:spLocks noGrp="1"/>
          </p:cNvSpPr>
          <p:nvPr>
            <p:ph type="body" idx="1"/>
          </p:nvPr>
        </p:nvSpPr>
        <p:spPr>
          <a:xfrm>
            <a:off x="304801" y="1485900"/>
            <a:ext cx="11582400" cy="1855893"/>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3">
            <a:extLst>
              <a:ext uri="{FF2B5EF4-FFF2-40B4-BE49-F238E27FC236}">
                <a16:creationId xmlns:a16="http://schemas.microsoft.com/office/drawing/2014/main" id="{4CAD4279-FBF3-4755-ADA6-63C789BE8BA1}"/>
              </a:ext>
            </a:extLst>
          </p:cNvPr>
          <p:cNvSpPr txBox="1">
            <a:spLocks noChangeArrowheads="1"/>
          </p:cNvSpPr>
          <p:nvPr userDrawn="1"/>
        </p:nvSpPr>
        <p:spPr bwMode="white">
          <a:xfrm>
            <a:off x="7924801" y="6544949"/>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r" defTabSz="1097212" eaLnBrk="1" fontAlgn="auto" hangingPunct="1">
              <a:spcBef>
                <a:spcPts val="0"/>
              </a:spcBef>
              <a:spcAft>
                <a:spcPts val="0"/>
              </a:spcAft>
              <a:defRPr/>
            </a:pPr>
            <a:r>
              <a:rPr lang="en-US" altLang="x-none" sz="700" b="0" i="0">
                <a:solidFill>
                  <a:schemeClr val="tx1"/>
                </a:solidFill>
                <a:latin typeface="Ubuntu" panose="020B0504030602030204" pitchFamily="34" charset="0"/>
                <a:ea typeface="Amazon Ember Display" panose="020F0603020204020204" pitchFamily="34" charset="0"/>
                <a:cs typeface="Amazon Ember Display" panose="020F0603020204020204" pitchFamily="34" charset="0"/>
              </a:rPr>
              <a:t>© 2024, Capgemini S.p.A. or its affiliates. All rights reserved.</a:t>
            </a:r>
          </a:p>
        </p:txBody>
      </p:sp>
    </p:spTree>
    <p:extLst>
      <p:ext uri="{BB962C8B-B14F-4D97-AF65-F5344CB8AC3E}">
        <p14:creationId xmlns:p14="http://schemas.microsoft.com/office/powerpoint/2010/main" val="3854848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txStyles>
    <p:titleStyle>
      <a:lvl1pPr algn="l" defTabSz="914400" rtl="0" eaLnBrk="1" latinLnBrk="0" hangingPunct="1">
        <a:lnSpc>
          <a:spcPct val="90000"/>
        </a:lnSpc>
        <a:spcBef>
          <a:spcPct val="0"/>
        </a:spcBef>
        <a:buNone/>
        <a:defRPr sz="3600" kern="1200" spc="-100" baseline="0">
          <a:solidFill>
            <a:schemeClr val="tx1"/>
          </a:solidFill>
          <a:latin typeface="Ubuntu" panose="020B0504030602030204" pitchFamily="34" charset="0"/>
          <a:ea typeface="+mj-ea"/>
          <a:cs typeface="+mj-cs"/>
        </a:defRPr>
      </a:lvl1pPr>
    </p:titleStyle>
    <p:bodyStyle>
      <a:lvl1pPr marL="228600" indent="-228600" algn="l" defTabSz="914400" rtl="0" eaLnBrk="1" latinLnBrk="0" hangingPunct="1">
        <a:lnSpc>
          <a:spcPct val="90000"/>
        </a:lnSpc>
        <a:spcBef>
          <a:spcPts val="0"/>
        </a:spcBef>
        <a:spcAft>
          <a:spcPts val="1200"/>
        </a:spcAft>
        <a:buSzPct val="90000"/>
        <a:buFont typeface="Amazon Ember Display" panose="020F0603020204020204" pitchFamily="34" charset="0"/>
        <a:buChar char="•"/>
        <a:defRPr sz="2400" kern="1200">
          <a:solidFill>
            <a:schemeClr val="tx1"/>
          </a:solidFill>
          <a:latin typeface="Ubuntu" panose="020B0504030602030204" pitchFamily="34" charset="0"/>
          <a:ea typeface="+mn-ea"/>
          <a:cs typeface="+mn-cs"/>
        </a:defRPr>
      </a:lvl1pPr>
      <a:lvl2pPr marL="45720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Ubuntu" panose="020B0504030602030204" pitchFamily="34" charset="0"/>
          <a:ea typeface="+mn-ea"/>
          <a:cs typeface="+mn-cs"/>
        </a:defRPr>
      </a:lvl2pPr>
      <a:lvl3pPr marL="685800" indent="-228600" algn="l" defTabSz="914400" rtl="0" eaLnBrk="1" latinLnBrk="0" hangingPunct="1">
        <a:lnSpc>
          <a:spcPct val="90000"/>
        </a:lnSpc>
        <a:spcBef>
          <a:spcPts val="0"/>
        </a:spcBef>
        <a:spcAft>
          <a:spcPts val="600"/>
        </a:spcAft>
        <a:buFont typeface="Amazon Ember Display" panose="020F0603020204020204" pitchFamily="34" charset="0"/>
        <a:buChar char="–"/>
        <a:defRPr sz="1800" kern="1200">
          <a:solidFill>
            <a:schemeClr val="tx1"/>
          </a:solidFill>
          <a:latin typeface="Ubuntu" panose="020B0504030602030204" pitchFamily="34" charset="0"/>
          <a:ea typeface="+mn-ea"/>
          <a:cs typeface="+mn-cs"/>
        </a:defRPr>
      </a:lvl3pPr>
      <a:lvl4pPr marL="914400" indent="-228600" algn="l" defTabSz="914400" rtl="0" eaLnBrk="1" latinLnBrk="0" hangingPunct="1">
        <a:lnSpc>
          <a:spcPct val="90000"/>
        </a:lnSpc>
        <a:spcBef>
          <a:spcPts val="0"/>
        </a:spcBef>
        <a:spcAft>
          <a:spcPts val="600"/>
        </a:spcAft>
        <a:buFont typeface="Amazon Ember Display" panose="020F0603020204020204" pitchFamily="34" charset="0"/>
        <a:buChar char="•"/>
        <a:defRPr sz="1600" kern="1200">
          <a:solidFill>
            <a:schemeClr val="tx1"/>
          </a:solidFill>
          <a:latin typeface="Ubuntu" panose="020B0504030602030204" pitchFamily="34" charset="0"/>
          <a:ea typeface="+mn-ea"/>
          <a:cs typeface="+mn-cs"/>
        </a:defRPr>
      </a:lvl4pPr>
      <a:lvl5pPr marL="914400" indent="-228600" algn="l" defTabSz="914400" rtl="0" eaLnBrk="1" latinLnBrk="0" hangingPunct="1">
        <a:lnSpc>
          <a:spcPct val="90000"/>
        </a:lnSpc>
        <a:spcBef>
          <a:spcPts val="0"/>
        </a:spcBef>
        <a:buFont typeface="Amazon Ember Display" panose="020F0603020204020204" pitchFamily="34" charset="0"/>
        <a:buChar char="•"/>
        <a:defRPr sz="1600" kern="120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92">
          <p15:clr>
            <a:srgbClr val="F26B43"/>
          </p15:clr>
        </p15:guide>
        <p15:guide id="4" orient="horz" pos="3912">
          <p15:clr>
            <a:srgbClr val="F26B43"/>
          </p15:clr>
        </p15:guide>
        <p15:guide id="5" pos="192">
          <p15:clr>
            <a:srgbClr val="F26B43"/>
          </p15:clr>
        </p15:guide>
        <p15:guide id="6" pos="7488">
          <p15:clr>
            <a:srgbClr val="F26B43"/>
          </p15:clr>
        </p15:guide>
        <p15:guide id="7" orient="horz" pos="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Rectangle 1"/>
          <p:cNvSpPr/>
          <p:nvPr/>
        </p:nvSpPr>
        <p:spPr>
          <a:xfrm>
            <a:off x="731520" y="25603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1097280"/>
          </a:xfrm>
          <a:prstGeom prst="rect">
            <a:avLst/>
          </a:prstGeom>
          <a:noFill/>
        </p:spPr>
        <p:txBody>
          <a:bodyPr wrap="square">
            <a:spAutoFit/>
          </a:bodyPr>
          <a:lstStyle/>
          <a:p>
            <a:pPr algn="ctr">
              <a:defRPr sz="4400" b="1">
                <a:solidFill>
                  <a:srgbClr val="F0C040"/>
                </a:solidFill>
                <a:latin typeface="Calibri"/>
              </a:defRPr>
            </a:pPr>
            <a:r>
              <a:t>Neo4j Training Course</a:t>
            </a:r>
          </a:p>
        </p:txBody>
      </p:sp>
      <p:sp>
        <p:nvSpPr>
          <p:cNvPr id="4" name="TextBox 3"/>
          <p:cNvSpPr txBox="1"/>
          <p:nvPr/>
        </p:nvSpPr>
        <p:spPr>
          <a:xfrm>
            <a:off x="914400" y="2926080"/>
            <a:ext cx="10058400" cy="640080"/>
          </a:xfrm>
          <a:prstGeom prst="rect">
            <a:avLst/>
          </a:prstGeom>
          <a:noFill/>
        </p:spPr>
        <p:txBody>
          <a:bodyPr wrap="square">
            <a:spAutoFit/>
          </a:bodyPr>
          <a:lstStyle/>
          <a:p>
            <a:pPr algn="ctr">
              <a:defRPr sz="2600" b="0">
                <a:solidFill>
                  <a:srgbClr val="FFFFFF"/>
                </a:solidFill>
                <a:latin typeface="Calibri"/>
              </a:defRPr>
            </a:pPr>
            <a:r>
              <a:t>Panoramica del Corso</a:t>
            </a:r>
          </a:p>
        </p:txBody>
      </p:sp>
      <p:sp>
        <p:nvSpPr>
          <p:cNvPr id="5" name="TextBox 4"/>
          <p:cNvSpPr txBox="1"/>
          <p:nvPr/>
        </p:nvSpPr>
        <p:spPr>
          <a:xfrm>
            <a:off x="914400" y="3840480"/>
            <a:ext cx="10058400" cy="640080"/>
          </a:xfrm>
          <a:prstGeom prst="rect">
            <a:avLst/>
          </a:prstGeom>
          <a:noFill/>
        </p:spPr>
        <p:txBody>
          <a:bodyPr wrap="square">
            <a:spAutoFit/>
          </a:bodyPr>
          <a:lstStyle/>
          <a:p>
            <a:pPr algn="ctr">
              <a:defRPr sz="1600" b="0">
                <a:solidFill>
                  <a:srgbClr val="CCCCCC"/>
                </a:solidFill>
                <a:latin typeface="Calibri"/>
              </a:defRPr>
            </a:pPr>
            <a:r>
              <a:t>5 sessioni  |   Slides + Notebook  |  Progetto Org Graph</a:t>
            </a:r>
          </a:p>
        </p:txBody>
      </p:sp>
      <p:sp>
        <p:nvSpPr>
          <p:cNvPr id="6" name="TextBox 5"/>
          <p:cNvSpPr txBox="1"/>
          <p:nvPr/>
        </p:nvSpPr>
        <p:spPr>
          <a:xfrm>
            <a:off x="914400" y="5029200"/>
            <a:ext cx="10058400" cy="457200"/>
          </a:xfrm>
          <a:prstGeom prst="rect">
            <a:avLst/>
          </a:prstGeom>
          <a:noFill/>
        </p:spPr>
        <p:txBody>
          <a:bodyPr wrap="square">
            <a:spAutoFit/>
          </a:bodyPr>
          <a:lstStyle/>
          <a:p>
            <a:pPr algn="ctr">
              <a:defRPr sz="1500" b="0">
                <a:solidFill>
                  <a:srgbClr val="CCCCCC"/>
                </a:solidFill>
                <a:latin typeface="Calibri"/>
              </a:defRPr>
            </a:pPr>
            <a:r>
              <a:t>Database a grafo, Cypher, Graph Data Science, AI &amp; GraphRAG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Destinatari</a:t>
            </a:r>
          </a:p>
        </p:txBody>
      </p:sp>
      <p:sp>
        <p:nvSpPr>
          <p:cNvPr id="3" name="TextBox 2"/>
          <p:cNvSpPr txBox="1"/>
          <p:nvPr/>
        </p:nvSpPr>
        <p:spPr>
          <a:xfrm>
            <a:off x="731520" y="1097280"/>
            <a:ext cx="10515600" cy="731520"/>
          </a:xfrm>
          <a:prstGeom prst="rect">
            <a:avLst/>
          </a:prstGeom>
          <a:noFill/>
        </p:spPr>
        <p:txBody>
          <a:bodyPr wrap="square">
            <a:spAutoFit/>
          </a:bodyPr>
          <a:lstStyle/>
          <a:p>
            <a:pPr algn="l">
              <a:spcAft>
                <a:spcPts val="1200"/>
              </a:spcAft>
              <a:defRPr sz="1400">
                <a:solidFill>
                  <a:srgbClr val="FFFFFF"/>
                </a:solidFill>
                <a:latin typeface="Calibri"/>
              </a:defRPr>
            </a:pPr>
            <a:r>
              <a:t>•  Senior, già esperti di DB relazionali e API</a:t>
            </a:r>
          </a:p>
          <a:p>
            <a:pPr algn="l">
              <a:spcAft>
                <a:spcPts val="1200"/>
              </a:spcAft>
              <a:defRPr sz="1400">
                <a:solidFill>
                  <a:srgbClr val="FFFFFF"/>
                </a:solidFill>
                <a:latin typeface="Calibri"/>
              </a:defRPr>
            </a:pPr>
            <a:r>
              <a:t>•  Nessuna o poca esperienza pregressa con database a grafo</a:t>
            </a:r>
          </a:p>
        </p:txBody>
      </p:sp>
      <p:sp>
        <p:nvSpPr>
          <p:cNvPr id="4" name="Rectangle 3"/>
          <p:cNvSpPr/>
          <p:nvPr/>
        </p:nvSpPr>
        <p:spPr>
          <a:xfrm>
            <a:off x="731520" y="21031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10515600" cy="457200"/>
          </a:xfrm>
          <a:prstGeom prst="rect">
            <a:avLst/>
          </a:prstGeom>
          <a:noFill/>
        </p:spPr>
        <p:txBody>
          <a:bodyPr wrap="square">
            <a:spAutoFit/>
          </a:bodyPr>
          <a:lstStyle/>
          <a:p>
            <a:pPr algn="l">
              <a:defRPr sz="2000" b="1">
                <a:solidFill>
                  <a:srgbClr val="F08040"/>
                </a:solidFill>
                <a:latin typeface="Calibri"/>
              </a:defRPr>
            </a:pPr>
            <a:r>
              <a:t>Struttura del corso</a:t>
            </a:r>
          </a:p>
        </p:txBody>
      </p:sp>
      <p:sp>
        <p:nvSpPr>
          <p:cNvPr id="6" name="TextBox 5"/>
          <p:cNvSpPr txBox="1"/>
          <p:nvPr/>
        </p:nvSpPr>
        <p:spPr>
          <a:xfrm>
            <a:off x="731520" y="3017520"/>
            <a:ext cx="10515600" cy="1371600"/>
          </a:xfrm>
          <a:prstGeom prst="rect">
            <a:avLst/>
          </a:prstGeom>
          <a:noFill/>
        </p:spPr>
        <p:txBody>
          <a:bodyPr wrap="square">
            <a:spAutoFit/>
          </a:bodyPr>
          <a:lstStyle/>
          <a:p>
            <a:pPr algn="l">
              <a:spcAft>
                <a:spcPts val="700"/>
              </a:spcAft>
              <a:defRPr sz="1300">
                <a:solidFill>
                  <a:srgbClr val="FFFFFF"/>
                </a:solidFill>
                <a:latin typeface="Calibri"/>
              </a:defRPr>
            </a:pPr>
            <a:r>
              <a:t>•  5 sessioni da 2 ore ciascuna (con possibilità di estendere ad una sessione aggiuntiva)</a:t>
            </a:r>
          </a:p>
          <a:p>
            <a:pPr algn="l">
              <a:spcAft>
                <a:spcPts val="700"/>
              </a:spcAft>
              <a:defRPr sz="1300">
                <a:solidFill>
                  <a:srgbClr val="FFFFFF"/>
                </a:solidFill>
                <a:latin typeface="Calibri"/>
              </a:defRPr>
            </a:pPr>
            <a:r>
              <a:t>•  Ogni sessione: Slides (30-40%) + Notebook + Progetto (50-60%)</a:t>
            </a:r>
          </a:p>
          <a:p>
            <a:pPr algn="l">
              <a:spcAft>
                <a:spcPts val="700"/>
              </a:spcAft>
              <a:defRPr sz="1300">
                <a:solidFill>
                  <a:srgbClr val="FFFFFF"/>
                </a:solidFill>
                <a:latin typeface="Calibri"/>
              </a:defRPr>
            </a:pPr>
            <a:r>
              <a:t>•  Progetto comune: Org Graph (grafo delle competenze aziendali)</a:t>
            </a:r>
          </a:p>
          <a:p>
            <a:pPr algn="l">
              <a:spcAft>
                <a:spcPts val="700"/>
              </a:spcAft>
              <a:defRPr sz="1300">
                <a:solidFill>
                  <a:srgbClr val="FFFFFF"/>
                </a:solidFill>
                <a:latin typeface="Calibri"/>
              </a:defRPr>
            </a:pPr>
            <a:r>
              <a:t>•  Materiali riutilizzabili per edizioni future</a:t>
            </a:r>
          </a:p>
        </p:txBody>
      </p:sp>
      <p:sp>
        <p:nvSpPr>
          <p:cNvPr id="7" name="Rectangle 6"/>
          <p:cNvSpPr/>
          <p:nvPr/>
        </p:nvSpPr>
        <p:spPr>
          <a:xfrm>
            <a:off x="731520" y="46634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892040"/>
            <a:ext cx="10515600" cy="457200"/>
          </a:xfrm>
          <a:prstGeom prst="rect">
            <a:avLst/>
          </a:prstGeom>
          <a:noFill/>
        </p:spPr>
        <p:txBody>
          <a:bodyPr wrap="square">
            <a:spAutoFit/>
          </a:bodyPr>
          <a:lstStyle/>
          <a:p>
            <a:pPr algn="l">
              <a:defRPr sz="2000" b="1">
                <a:solidFill>
                  <a:srgbClr val="F08040"/>
                </a:solidFill>
                <a:latin typeface="Calibri"/>
              </a:defRPr>
            </a:pPr>
            <a:r>
              <a:t>Calendario</a:t>
            </a:r>
          </a:p>
        </p:txBody>
      </p:sp>
      <p:sp>
        <p:nvSpPr>
          <p:cNvPr id="9" name="TextBox 8"/>
          <p:cNvSpPr txBox="1"/>
          <p:nvPr/>
        </p:nvSpPr>
        <p:spPr>
          <a:xfrm>
            <a:off x="731520" y="5440680"/>
            <a:ext cx="3474720" cy="1097280"/>
          </a:xfrm>
          <a:prstGeom prst="rect">
            <a:avLst/>
          </a:prstGeom>
          <a:noFill/>
        </p:spPr>
        <p:txBody>
          <a:bodyPr wrap="square">
            <a:spAutoFit/>
          </a:bodyPr>
          <a:lstStyle/>
          <a:p>
            <a:pPr algn="l">
              <a:spcAft>
                <a:spcPts val="700"/>
              </a:spcAft>
              <a:defRPr sz="1300">
                <a:solidFill>
                  <a:srgbClr val="FFFFFF"/>
                </a:solidFill>
                <a:latin typeface="Calibri"/>
              </a:defRPr>
            </a:pPr>
            <a:r>
              <a:t>•  15 luglio 2026 – Introduzione al corso</a:t>
            </a:r>
          </a:p>
          <a:p>
            <a:pPr algn="l">
              <a:spcAft>
                <a:spcPts val="700"/>
              </a:spcAft>
              <a:defRPr sz="1300">
                <a:solidFill>
                  <a:srgbClr val="FFFFFF"/>
                </a:solidFill>
                <a:latin typeface="Calibri"/>
              </a:defRPr>
            </a:pPr>
            <a:r>
              <a:t>•  21 luglio 2026 – Sessione 1</a:t>
            </a:r>
          </a:p>
          <a:p>
            <a:pPr algn="l">
              <a:spcAft>
                <a:spcPts val="700"/>
              </a:spcAft>
              <a:defRPr sz="1300">
                <a:solidFill>
                  <a:srgbClr val="FFFFFF"/>
                </a:solidFill>
                <a:latin typeface="Calibri"/>
              </a:defRPr>
            </a:pPr>
            <a:r>
              <a:t>•  23 luglio 2026 – Sessione 2</a:t>
            </a:r>
          </a:p>
        </p:txBody>
      </p:sp>
      <p:sp>
        <p:nvSpPr>
          <p:cNvPr id="10" name="TextBox 9"/>
          <p:cNvSpPr txBox="1"/>
          <p:nvPr/>
        </p:nvSpPr>
        <p:spPr>
          <a:xfrm>
            <a:off x="4206240" y="5440680"/>
            <a:ext cx="3657600" cy="1097280"/>
          </a:xfrm>
          <a:prstGeom prst="rect">
            <a:avLst/>
          </a:prstGeom>
          <a:noFill/>
        </p:spPr>
        <p:txBody>
          <a:bodyPr wrap="square">
            <a:spAutoFit/>
          </a:bodyPr>
          <a:lstStyle/>
          <a:p>
            <a:pPr algn="l">
              <a:spcAft>
                <a:spcPts val="700"/>
              </a:spcAft>
              <a:defRPr sz="1300">
                <a:solidFill>
                  <a:srgbClr val="FFFFFF"/>
                </a:solidFill>
                <a:latin typeface="Calibri"/>
              </a:defRPr>
            </a:pPr>
            <a:r>
              <a:t>•  dd Settembre – Sessione 3</a:t>
            </a:r>
          </a:p>
          <a:p>
            <a:pPr algn="l">
              <a:spcAft>
                <a:spcPts val="700"/>
              </a:spcAft>
              <a:defRPr sz="1300">
                <a:solidFill>
                  <a:srgbClr val="FFFFFF"/>
                </a:solidFill>
                <a:latin typeface="Calibri"/>
              </a:defRPr>
            </a:pPr>
            <a:r>
              <a:t>•  dd Settembre – Sessione 4</a:t>
            </a:r>
          </a:p>
          <a:p>
            <a:pPr algn="l">
              <a:spcAft>
                <a:spcPts val="700"/>
              </a:spcAft>
              <a:defRPr sz="1300">
                <a:solidFill>
                  <a:srgbClr val="FFFFFF"/>
                </a:solidFill>
                <a:latin typeface="Calibri"/>
              </a:defRPr>
            </a:pPr>
            <a:r>
              <a:t>•  dd Settembre – Sessione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Modalità del Corso</a:t>
            </a:r>
          </a:p>
        </p:txBody>
      </p:sp>
      <p:sp>
        <p:nvSpPr>
          <p:cNvPr id="3" name="Rectangle 2"/>
          <p:cNvSpPr/>
          <p:nvPr/>
        </p:nvSpPr>
        <p:spPr>
          <a:xfrm>
            <a:off x="731520" y="1188720"/>
            <a:ext cx="73152" cy="1188720"/>
          </a:xfrm>
          <a:prstGeom prst="rect">
            <a:avLst/>
          </a:prstGeom>
          <a:solidFill>
            <a:srgbClr val="F0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188720"/>
            <a:ext cx="10515600" cy="365760"/>
          </a:xfrm>
          <a:prstGeom prst="rect">
            <a:avLst/>
          </a:prstGeom>
          <a:noFill/>
        </p:spPr>
        <p:txBody>
          <a:bodyPr wrap="square">
            <a:spAutoFit/>
          </a:bodyPr>
          <a:lstStyle/>
          <a:p>
            <a:pPr algn="l">
              <a:defRPr sz="1700" b="1">
                <a:solidFill>
                  <a:srgbClr val="F08040"/>
                </a:solidFill>
                <a:latin typeface="Calibri"/>
              </a:defRPr>
            </a:pPr>
            <a:r>
              <a:t>1  Lezione frontale (slides)</a:t>
            </a:r>
          </a:p>
        </p:txBody>
      </p:sp>
      <p:sp>
        <p:nvSpPr>
          <p:cNvPr id="5" name="TextBox 4"/>
          <p:cNvSpPr txBox="1"/>
          <p:nvPr/>
        </p:nvSpPr>
        <p:spPr>
          <a:xfrm>
            <a:off x="960120" y="1554480"/>
            <a:ext cx="10515600" cy="731520"/>
          </a:xfrm>
          <a:prstGeom prst="rect">
            <a:avLst/>
          </a:prstGeom>
          <a:noFill/>
        </p:spPr>
        <p:txBody>
          <a:bodyPr wrap="square">
            <a:spAutoFit/>
          </a:bodyPr>
          <a:lstStyle/>
          <a:p>
            <a:pPr algn="l">
              <a:defRPr sz="1300" b="0">
                <a:solidFill>
                  <a:srgbClr val="CCCCCC"/>
                </a:solidFill>
                <a:latin typeface="Calibri"/>
              </a:defRPr>
            </a:pPr>
            <a:r>
              <a:t>Concetti, modelli, esempi dal vivo</a:t>
            </a:r>
            <a:br/>
            <a:r>
              <a:t>20–30 minuti</a:t>
            </a:r>
          </a:p>
        </p:txBody>
      </p:sp>
      <p:sp>
        <p:nvSpPr>
          <p:cNvPr id="6" name="Rectangle 5"/>
          <p:cNvSpPr/>
          <p:nvPr/>
        </p:nvSpPr>
        <p:spPr>
          <a:xfrm>
            <a:off x="731520" y="2697480"/>
            <a:ext cx="73152" cy="1188720"/>
          </a:xfrm>
          <a:prstGeom prst="rect">
            <a:avLst/>
          </a:prstGeom>
          <a:solidFill>
            <a:srgbClr val="2D4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97480"/>
            <a:ext cx="10515600" cy="365760"/>
          </a:xfrm>
          <a:prstGeom prst="rect">
            <a:avLst/>
          </a:prstGeom>
          <a:noFill/>
        </p:spPr>
        <p:txBody>
          <a:bodyPr wrap="square">
            <a:spAutoFit/>
          </a:bodyPr>
          <a:lstStyle/>
          <a:p>
            <a:pPr algn="l">
              <a:defRPr sz="1700" b="1">
                <a:solidFill>
                  <a:srgbClr val="2D4F7A"/>
                </a:solidFill>
                <a:latin typeface="Calibri"/>
              </a:defRPr>
            </a:pPr>
            <a:r>
              <a:t>2  Laboratorio (notebook)</a:t>
            </a:r>
          </a:p>
        </p:txBody>
      </p:sp>
      <p:sp>
        <p:nvSpPr>
          <p:cNvPr id="8" name="TextBox 7"/>
          <p:cNvSpPr txBox="1"/>
          <p:nvPr/>
        </p:nvSpPr>
        <p:spPr>
          <a:xfrm>
            <a:off x="960120" y="3063240"/>
            <a:ext cx="10515600" cy="731520"/>
          </a:xfrm>
          <a:prstGeom prst="rect">
            <a:avLst/>
          </a:prstGeom>
          <a:noFill/>
        </p:spPr>
        <p:txBody>
          <a:bodyPr wrap="square">
            <a:spAutoFit/>
          </a:bodyPr>
          <a:lstStyle/>
          <a:p>
            <a:pPr algn="l">
              <a:defRPr sz="1300" b="0">
                <a:solidFill>
                  <a:srgbClr val="CCCCCC"/>
                </a:solidFill>
                <a:latin typeface="Calibri"/>
              </a:defRPr>
            </a:pPr>
            <a:r>
              <a:t>Query interattive, esercitazioni guidate</a:t>
            </a:r>
            <a:br/>
            <a:r>
              <a:t>30–40 minuti</a:t>
            </a:r>
          </a:p>
        </p:txBody>
      </p:sp>
      <p:sp>
        <p:nvSpPr>
          <p:cNvPr id="9" name="Rectangle 8"/>
          <p:cNvSpPr/>
          <p:nvPr/>
        </p:nvSpPr>
        <p:spPr>
          <a:xfrm>
            <a:off x="731520" y="4206240"/>
            <a:ext cx="73152" cy="11887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06240"/>
            <a:ext cx="10515600" cy="365760"/>
          </a:xfrm>
          <a:prstGeom prst="rect">
            <a:avLst/>
          </a:prstGeom>
          <a:noFill/>
        </p:spPr>
        <p:txBody>
          <a:bodyPr wrap="square">
            <a:spAutoFit/>
          </a:bodyPr>
          <a:lstStyle/>
          <a:p>
            <a:pPr algn="l">
              <a:defRPr sz="1700" b="1">
                <a:solidFill>
                  <a:srgbClr val="CCCCCC"/>
                </a:solidFill>
                <a:latin typeface="Calibri"/>
              </a:defRPr>
            </a:pPr>
            <a:r>
              <a:t>3  Progetto Org Graph</a:t>
            </a:r>
          </a:p>
        </p:txBody>
      </p:sp>
      <p:sp>
        <p:nvSpPr>
          <p:cNvPr id="11" name="TextBox 10"/>
          <p:cNvSpPr txBox="1"/>
          <p:nvPr/>
        </p:nvSpPr>
        <p:spPr>
          <a:xfrm>
            <a:off x="960120" y="4572000"/>
            <a:ext cx="10515600" cy="731520"/>
          </a:xfrm>
          <a:prstGeom prst="rect">
            <a:avLst/>
          </a:prstGeom>
          <a:noFill/>
        </p:spPr>
        <p:txBody>
          <a:bodyPr wrap="square">
            <a:spAutoFit/>
          </a:bodyPr>
          <a:lstStyle/>
          <a:p>
            <a:pPr algn="l">
              <a:defRPr sz="1300" b="0">
                <a:solidFill>
                  <a:srgbClr val="CCCCCC"/>
                </a:solidFill>
                <a:latin typeface="Calibri"/>
              </a:defRPr>
            </a:pPr>
            <a:r>
              <a:t>Applicazione dei concetti al dataset aziendale</a:t>
            </a:r>
            <a:br/>
            <a:r>
              <a:t>20–30 minuti</a:t>
            </a:r>
          </a:p>
        </p:txBody>
      </p:sp>
      <p:sp>
        <p:nvSpPr>
          <p:cNvPr id="12" name="Rectangle 11"/>
          <p:cNvSpPr/>
          <p:nvPr/>
        </p:nvSpPr>
        <p:spPr>
          <a:xfrm>
            <a:off x="731520" y="56692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852160"/>
            <a:ext cx="10515600" cy="457200"/>
          </a:xfrm>
          <a:prstGeom prst="rect">
            <a:avLst/>
          </a:prstGeom>
          <a:noFill/>
        </p:spPr>
        <p:txBody>
          <a:bodyPr wrap="square">
            <a:spAutoFit/>
          </a:bodyPr>
          <a:lstStyle/>
          <a:p>
            <a:pPr algn="l">
              <a:defRPr sz="1300" b="0">
                <a:solidFill>
                  <a:srgbClr val="F0C040"/>
                </a:solidFill>
                <a:latin typeface="Calibri"/>
              </a:defRPr>
            </a:pPr>
            <a:r>
              <a:t>Ogni sessione è autonoma: materiali, slide e notebook sempre disponibili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2800" b="1">
                <a:solidFill>
                  <a:srgbClr val="F0C040"/>
                </a:solidFill>
                <a:latin typeface="Calibri"/>
              </a:defRPr>
            </a:pPr>
            <a:r>
              <a:t>Sessione 1 — Jump Start: Grafi &amp; Primo Database</a:t>
            </a:r>
          </a:p>
        </p:txBody>
      </p:sp>
      <p:sp>
        <p:nvSpPr>
          <p:cNvPr id="3" name="TextBox 2"/>
          <p:cNvSpPr txBox="1"/>
          <p:nvPr/>
        </p:nvSpPr>
        <p:spPr>
          <a:xfrm>
            <a:off x="731520" y="1005840"/>
            <a:ext cx="10515600" cy="365760"/>
          </a:xfrm>
          <a:prstGeom prst="rect">
            <a:avLst/>
          </a:prstGeom>
          <a:noFill/>
        </p:spPr>
        <p:txBody>
          <a:bodyPr wrap="square">
            <a:spAutoFit/>
          </a:bodyPr>
          <a:lstStyle/>
          <a:p>
            <a:pPr algn="l">
              <a:defRPr sz="1500" b="0">
                <a:solidFill>
                  <a:srgbClr val="CCCCCC"/>
                </a:solidFill>
                <a:latin typeface="Calibri"/>
              </a:defRPr>
            </a:pPr>
            <a:r>
              <a:t>Obiettivo: capire cosa è un database a grafo e caricare dati reali già nella prima sessione</a:t>
            </a:r>
          </a:p>
        </p:txBody>
      </p:sp>
      <p:sp>
        <p:nvSpPr>
          <p:cNvPr id="4" name="Rectangle 3"/>
          <p:cNvSpPr/>
          <p:nvPr/>
        </p:nvSpPr>
        <p:spPr>
          <a:xfrm>
            <a:off x="731520" y="15544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846320" cy="365760"/>
          </a:xfrm>
          <a:prstGeom prst="rect">
            <a:avLst/>
          </a:prstGeom>
          <a:noFill/>
        </p:spPr>
        <p:txBody>
          <a:bodyPr wrap="square">
            <a:spAutoFit/>
          </a:bodyPr>
          <a:lstStyle/>
          <a:p>
            <a:pPr algn="l">
              <a:defRPr sz="1800" b="1">
                <a:solidFill>
                  <a:srgbClr val="F08040"/>
                </a:solidFill>
                <a:latin typeface="Calibri"/>
              </a:defRPr>
            </a:pPr>
            <a:r>
              <a:t>Lezione frontale (slides)</a:t>
            </a:r>
          </a:p>
        </p:txBody>
      </p:sp>
      <p:sp>
        <p:nvSpPr>
          <p:cNvPr id="6" name="TextBox 5"/>
          <p:cNvSpPr txBox="1"/>
          <p:nvPr/>
        </p:nvSpPr>
        <p:spPr>
          <a:xfrm>
            <a:off x="73152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Perché i grafi? Confronto con DB relazionali</a:t>
            </a:r>
          </a:p>
          <a:p>
            <a:pPr algn="l">
              <a:spcAft>
                <a:spcPts val="700"/>
              </a:spcAft>
              <a:defRPr sz="1300">
                <a:solidFill>
                  <a:srgbClr val="FFFFFF"/>
                </a:solidFill>
                <a:latin typeface="Calibri"/>
              </a:defRPr>
            </a:pPr>
            <a:r>
              <a:t>•  Property Graph Model: nodi, relazioni, proprietà</a:t>
            </a:r>
          </a:p>
          <a:p>
            <a:pPr algn="l">
              <a:spcAft>
                <a:spcPts val="700"/>
              </a:spcAft>
              <a:defRPr sz="1300">
                <a:solidFill>
                  <a:srgbClr val="FFFFFF"/>
                </a:solidFill>
                <a:latin typeface="Calibri"/>
              </a:defRPr>
            </a:pPr>
            <a:r>
              <a:t>•  Quando usare Neo4j (casi d’uso)</a:t>
            </a:r>
          </a:p>
          <a:p>
            <a:pPr algn="l">
              <a:spcAft>
                <a:spcPts val="700"/>
              </a:spcAft>
              <a:defRPr sz="1300">
                <a:solidFill>
                  <a:srgbClr val="FFFFFF"/>
                </a:solidFill>
                <a:latin typeface="Calibri"/>
              </a:defRPr>
            </a:pPr>
            <a:r>
              <a:t>•  Ecosistema Neo4j: AuraDB, Browser, Bloom, Drivers</a:t>
            </a:r>
          </a:p>
          <a:p>
            <a:pPr algn="l">
              <a:spcAft>
                <a:spcPts val="700"/>
              </a:spcAft>
              <a:defRPr sz="1300">
                <a:solidFill>
                  <a:srgbClr val="FFFFFF"/>
                </a:solidFill>
                <a:latin typeface="Calibri"/>
              </a:defRPr>
            </a:pPr>
            <a:r>
              <a:t>•  Pattern Cypher di base (MATCH, RETURN)</a:t>
            </a:r>
          </a:p>
        </p:txBody>
      </p:sp>
      <p:sp>
        <p:nvSpPr>
          <p:cNvPr id="7" name="TextBox 6"/>
          <p:cNvSpPr txBox="1"/>
          <p:nvPr/>
        </p:nvSpPr>
        <p:spPr>
          <a:xfrm>
            <a:off x="6035040" y="1737360"/>
            <a:ext cx="4846320" cy="365760"/>
          </a:xfrm>
          <a:prstGeom prst="rect">
            <a:avLst/>
          </a:prstGeom>
          <a:noFill/>
        </p:spPr>
        <p:txBody>
          <a:bodyPr wrap="square">
            <a:spAutoFit/>
          </a:bodyPr>
          <a:lstStyle/>
          <a:p>
            <a:pPr algn="l">
              <a:defRPr sz="1800" b="1">
                <a:solidFill>
                  <a:srgbClr val="F08040"/>
                </a:solidFill>
                <a:latin typeface="Calibri"/>
              </a:defRPr>
            </a:pPr>
            <a:r>
              <a:t>Progetto (notebook)</a:t>
            </a:r>
          </a:p>
        </p:txBody>
      </p:sp>
      <p:sp>
        <p:nvSpPr>
          <p:cNvPr id="8" name="TextBox 7"/>
          <p:cNvSpPr txBox="1"/>
          <p:nvPr/>
        </p:nvSpPr>
        <p:spPr>
          <a:xfrm>
            <a:off x="603504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Connessione a Neo4j (AuraDB o Docker)</a:t>
            </a:r>
          </a:p>
          <a:p>
            <a:pPr algn="l">
              <a:spcAft>
                <a:spcPts val="700"/>
              </a:spcAft>
              <a:defRPr sz="1300">
                <a:solidFill>
                  <a:srgbClr val="FFFFFF"/>
                </a:solidFill>
                <a:latin typeface="Calibri"/>
              </a:defRPr>
            </a:pPr>
            <a:r>
              <a:t>•  Esplorazione dati con Pandas</a:t>
            </a:r>
          </a:p>
          <a:p>
            <a:pPr algn="l">
              <a:spcAft>
                <a:spcPts val="700"/>
              </a:spcAft>
              <a:defRPr sz="1300">
                <a:solidFill>
                  <a:srgbClr val="FFFFFF"/>
                </a:solidFill>
                <a:latin typeface="Calibri"/>
              </a:defRPr>
            </a:pPr>
            <a:r>
              <a:t>•  Design del modello Org Graph</a:t>
            </a:r>
          </a:p>
          <a:p>
            <a:pPr algn="l">
              <a:spcAft>
                <a:spcPts val="700"/>
              </a:spcAft>
              <a:defRPr sz="1300">
                <a:solidFill>
                  <a:srgbClr val="FFFFFF"/>
                </a:solidFill>
                <a:latin typeface="Calibri"/>
              </a:defRPr>
            </a:pPr>
            <a:r>
              <a:t>•  Caricamento CSV con UNWIND batching</a:t>
            </a:r>
          </a:p>
          <a:p>
            <a:pPr algn="l">
              <a:spcAft>
                <a:spcPts val="700"/>
              </a:spcAft>
              <a:defRPr sz="1300">
                <a:solidFill>
                  <a:srgbClr val="FFFFFF"/>
                </a:solidFill>
                <a:latin typeface="Calibri"/>
              </a:defRPr>
            </a:pPr>
            <a:r>
              <a:t>•  Prime query: skill per persona, progetti, location</a:t>
            </a:r>
          </a:p>
        </p:txBody>
      </p:sp>
      <p:sp>
        <p:nvSpPr>
          <p:cNvPr id="9" name="Rectangle 8"/>
          <p:cNvSpPr/>
          <p:nvPr/>
        </p:nvSpPr>
        <p:spPr>
          <a:xfrm>
            <a:off x="731520" y="45720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754880"/>
            <a:ext cx="10515600" cy="365760"/>
          </a:xfrm>
          <a:prstGeom prst="rect">
            <a:avLst/>
          </a:prstGeom>
          <a:noFill/>
        </p:spPr>
        <p:txBody>
          <a:bodyPr wrap="square">
            <a:spAutoFit/>
          </a:bodyPr>
          <a:lstStyle/>
          <a:p>
            <a:pPr algn="l">
              <a:defRPr sz="1300" b="0">
                <a:solidFill>
                  <a:srgbClr val="CCCCCC"/>
                </a:solidFill>
                <a:latin typeface="Calibri"/>
              </a:defRPr>
            </a:pPr>
            <a:r>
              <a:t>Tecnologie: Cypher, Python Driver, Pandas, networkx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2800" b="1">
                <a:solidFill>
                  <a:srgbClr val="F0C040"/>
                </a:solidFill>
                <a:latin typeface="Calibri"/>
              </a:defRPr>
            </a:pPr>
            <a:r>
              <a:t>Sessione 2 — Cypher: Da Basi a Query Reali</a:t>
            </a:r>
          </a:p>
        </p:txBody>
      </p:sp>
      <p:sp>
        <p:nvSpPr>
          <p:cNvPr id="3" name="TextBox 2"/>
          <p:cNvSpPr txBox="1"/>
          <p:nvPr/>
        </p:nvSpPr>
        <p:spPr>
          <a:xfrm>
            <a:off x="731520" y="1005840"/>
            <a:ext cx="10515600" cy="365760"/>
          </a:xfrm>
          <a:prstGeom prst="rect">
            <a:avLst/>
          </a:prstGeom>
          <a:noFill/>
        </p:spPr>
        <p:txBody>
          <a:bodyPr wrap="square">
            <a:spAutoFit/>
          </a:bodyPr>
          <a:lstStyle/>
          <a:p>
            <a:pPr algn="l">
              <a:defRPr sz="1500" b="0">
                <a:solidFill>
                  <a:srgbClr val="CCCCCC"/>
                </a:solidFill>
                <a:latin typeface="Calibri"/>
              </a:defRPr>
            </a:pPr>
            <a:r>
              <a:t>Obiettivo: scrivere query Cypher reali sul Org Graph con sicurezza</a:t>
            </a:r>
          </a:p>
        </p:txBody>
      </p:sp>
      <p:sp>
        <p:nvSpPr>
          <p:cNvPr id="4" name="Rectangle 3"/>
          <p:cNvSpPr/>
          <p:nvPr/>
        </p:nvSpPr>
        <p:spPr>
          <a:xfrm>
            <a:off x="731520" y="15544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846320" cy="365760"/>
          </a:xfrm>
          <a:prstGeom prst="rect">
            <a:avLst/>
          </a:prstGeom>
          <a:noFill/>
        </p:spPr>
        <p:txBody>
          <a:bodyPr wrap="square">
            <a:spAutoFit/>
          </a:bodyPr>
          <a:lstStyle/>
          <a:p>
            <a:pPr algn="l">
              <a:defRPr sz="1800" b="1">
                <a:solidFill>
                  <a:srgbClr val="F08040"/>
                </a:solidFill>
                <a:latin typeface="Calibri"/>
              </a:defRPr>
            </a:pPr>
            <a:r>
              <a:t>Lezione frontale (slides)</a:t>
            </a:r>
          </a:p>
        </p:txBody>
      </p:sp>
      <p:sp>
        <p:nvSpPr>
          <p:cNvPr id="6" name="TextBox 5"/>
          <p:cNvSpPr txBox="1"/>
          <p:nvPr/>
        </p:nvSpPr>
        <p:spPr>
          <a:xfrm>
            <a:off x="73152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Pattern MATCH avanzati</a:t>
            </a:r>
          </a:p>
          <a:p>
            <a:pPr algn="l">
              <a:spcAft>
                <a:spcPts val="700"/>
              </a:spcAft>
              <a:defRPr sz="1300">
                <a:solidFill>
                  <a:srgbClr val="FFFFFF"/>
                </a:solidFill>
                <a:latin typeface="Calibri"/>
              </a:defRPr>
            </a:pPr>
            <a:r>
              <a:t>•  MERGE vs CREATE: idempotenza</a:t>
            </a:r>
          </a:p>
          <a:p>
            <a:pPr algn="l">
              <a:spcAft>
                <a:spcPts val="700"/>
              </a:spcAft>
              <a:defRPr sz="1300">
                <a:solidFill>
                  <a:srgbClr val="FFFFFF"/>
                </a:solidFill>
                <a:latin typeface="Calibri"/>
              </a:defRPr>
            </a:pPr>
            <a:r>
              <a:t>•  Filtri con WHERE (AND, OR, IN, CONTAINS)</a:t>
            </a:r>
          </a:p>
          <a:p>
            <a:pPr algn="l">
              <a:spcAft>
                <a:spcPts val="700"/>
              </a:spcAft>
              <a:defRPr sz="1300">
                <a:solidFill>
                  <a:srgbClr val="FFFFFF"/>
                </a:solidFill>
                <a:latin typeface="Calibri"/>
              </a:defRPr>
            </a:pPr>
            <a:r>
              <a:t>•  Aggregazioni: COUNT, COLLECT, AVG</a:t>
            </a:r>
          </a:p>
          <a:p>
            <a:pPr algn="l">
              <a:spcAft>
                <a:spcPts val="700"/>
              </a:spcAft>
              <a:defRPr sz="1300">
                <a:solidFill>
                  <a:srgbClr val="FFFFFF"/>
                </a:solidFill>
                <a:latin typeface="Calibri"/>
              </a:defRPr>
            </a:pPr>
            <a:r>
              <a:t>•  Ordinamento, LIMIT, SKIP</a:t>
            </a:r>
          </a:p>
        </p:txBody>
      </p:sp>
      <p:sp>
        <p:nvSpPr>
          <p:cNvPr id="7" name="TextBox 6"/>
          <p:cNvSpPr txBox="1"/>
          <p:nvPr/>
        </p:nvSpPr>
        <p:spPr>
          <a:xfrm>
            <a:off x="6035040" y="1737360"/>
            <a:ext cx="4846320" cy="365760"/>
          </a:xfrm>
          <a:prstGeom prst="rect">
            <a:avLst/>
          </a:prstGeom>
          <a:noFill/>
        </p:spPr>
        <p:txBody>
          <a:bodyPr wrap="square">
            <a:spAutoFit/>
          </a:bodyPr>
          <a:lstStyle/>
          <a:p>
            <a:pPr algn="l">
              <a:defRPr sz="1800" b="1">
                <a:solidFill>
                  <a:srgbClr val="F08040"/>
                </a:solidFill>
                <a:latin typeface="Calibri"/>
              </a:defRPr>
            </a:pPr>
            <a:r>
              <a:t>Progetto (notebook)</a:t>
            </a:r>
          </a:p>
        </p:txBody>
      </p:sp>
      <p:sp>
        <p:nvSpPr>
          <p:cNvPr id="8" name="TextBox 7"/>
          <p:cNvSpPr txBox="1"/>
          <p:nvPr/>
        </p:nvSpPr>
        <p:spPr>
          <a:xfrm>
            <a:off x="603504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Query: trova persone per skill, team per progetto</a:t>
            </a:r>
          </a:p>
          <a:p>
            <a:pPr algn="l">
              <a:spcAft>
                <a:spcPts val="700"/>
              </a:spcAft>
              <a:defRPr sz="1300">
                <a:solidFill>
                  <a:srgbClr val="FFFFFF"/>
                </a:solidFill>
                <a:latin typeface="Calibri"/>
              </a:defRPr>
            </a:pPr>
            <a:r>
              <a:t>•  Conte certificazioni per persona</a:t>
            </a:r>
          </a:p>
          <a:p>
            <a:pPr algn="l">
              <a:spcAft>
                <a:spcPts val="700"/>
              </a:spcAft>
              <a:defRPr sz="1300">
                <a:solidFill>
                  <a:srgbClr val="FFFFFF"/>
                </a:solidFill>
                <a:latin typeface="Calibri"/>
              </a:defRPr>
            </a:pPr>
            <a:r>
              <a:t>•  Path a lunghezza variabile (catena di comando)</a:t>
            </a:r>
          </a:p>
          <a:p>
            <a:pPr algn="l">
              <a:spcAft>
                <a:spcPts val="700"/>
              </a:spcAft>
              <a:defRPr sz="1300">
                <a:solidFill>
                  <a:srgbClr val="FFFFFF"/>
                </a:solidFill>
                <a:latin typeface="Calibri"/>
              </a:defRPr>
            </a:pPr>
            <a:r>
              <a:t>•  Cammino minimo tra due impiegati</a:t>
            </a:r>
          </a:p>
          <a:p>
            <a:pPr algn="l">
              <a:spcAft>
                <a:spcPts val="700"/>
              </a:spcAft>
              <a:defRPr sz="1300">
                <a:solidFill>
                  <a:srgbClr val="FFFFFF"/>
                </a:solidFill>
                <a:latin typeface="Calibri"/>
              </a:defRPr>
            </a:pPr>
            <a:r>
              <a:t>•  Skill overlap tra team diversi</a:t>
            </a:r>
          </a:p>
        </p:txBody>
      </p:sp>
      <p:sp>
        <p:nvSpPr>
          <p:cNvPr id="9" name="Rectangle 8"/>
          <p:cNvSpPr/>
          <p:nvPr/>
        </p:nvSpPr>
        <p:spPr>
          <a:xfrm>
            <a:off x="731520" y="45720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754880"/>
            <a:ext cx="10515600" cy="365760"/>
          </a:xfrm>
          <a:prstGeom prst="rect">
            <a:avLst/>
          </a:prstGeom>
          <a:noFill/>
        </p:spPr>
        <p:txBody>
          <a:bodyPr wrap="square">
            <a:spAutoFit/>
          </a:bodyPr>
          <a:lstStyle/>
          <a:p>
            <a:pPr algn="l">
              <a:defRPr sz="1300" b="0">
                <a:solidFill>
                  <a:srgbClr val="CCCCCC"/>
                </a:solidFill>
                <a:latin typeface="Calibri"/>
              </a:defRPr>
            </a:pPr>
            <a:r>
              <a:t>Tecnologie: Cypher avanzato, Python Driver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2800" b="1">
                <a:solidFill>
                  <a:srgbClr val="F0C040"/>
                </a:solidFill>
                <a:latin typeface="Calibri"/>
              </a:defRPr>
            </a:pPr>
            <a:r>
              <a:t>Sessione 3 — Data Modeling &amp; Import</a:t>
            </a:r>
          </a:p>
        </p:txBody>
      </p:sp>
      <p:sp>
        <p:nvSpPr>
          <p:cNvPr id="3" name="TextBox 2"/>
          <p:cNvSpPr txBox="1"/>
          <p:nvPr/>
        </p:nvSpPr>
        <p:spPr>
          <a:xfrm>
            <a:off x="731520" y="1005840"/>
            <a:ext cx="10515600" cy="365760"/>
          </a:xfrm>
          <a:prstGeom prst="rect">
            <a:avLst/>
          </a:prstGeom>
          <a:noFill/>
        </p:spPr>
        <p:txBody>
          <a:bodyPr wrap="square">
            <a:spAutoFit/>
          </a:bodyPr>
          <a:lstStyle/>
          <a:p>
            <a:pPr algn="l">
              <a:defRPr sz="1500" b="0">
                <a:solidFill>
                  <a:srgbClr val="CCCCCC"/>
                </a:solidFill>
                <a:latin typeface="Calibri"/>
              </a:defRPr>
            </a:pPr>
            <a:r>
              <a:t>Obiettivo: progettare modelli a grafo robusti e caricare dati su larga scala</a:t>
            </a:r>
          </a:p>
        </p:txBody>
      </p:sp>
      <p:sp>
        <p:nvSpPr>
          <p:cNvPr id="4" name="Rectangle 3"/>
          <p:cNvSpPr/>
          <p:nvPr/>
        </p:nvSpPr>
        <p:spPr>
          <a:xfrm>
            <a:off x="731520" y="15544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846320" cy="365760"/>
          </a:xfrm>
          <a:prstGeom prst="rect">
            <a:avLst/>
          </a:prstGeom>
          <a:noFill/>
        </p:spPr>
        <p:txBody>
          <a:bodyPr wrap="square">
            <a:spAutoFit/>
          </a:bodyPr>
          <a:lstStyle/>
          <a:p>
            <a:pPr algn="l">
              <a:defRPr sz="1800" b="1">
                <a:solidFill>
                  <a:srgbClr val="F08040"/>
                </a:solidFill>
                <a:latin typeface="Calibri"/>
              </a:defRPr>
            </a:pPr>
            <a:r>
              <a:t>Lezione frontale (slides)</a:t>
            </a:r>
          </a:p>
        </p:txBody>
      </p:sp>
      <p:sp>
        <p:nvSpPr>
          <p:cNvPr id="6" name="TextBox 5"/>
          <p:cNvSpPr txBox="1"/>
          <p:nvPr/>
        </p:nvSpPr>
        <p:spPr>
          <a:xfrm>
            <a:off x="73152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Pattern di modellazione: fan-out, hyperedge</a:t>
            </a:r>
          </a:p>
          <a:p>
            <a:pPr algn="l">
              <a:spcAft>
                <a:spcPts val="700"/>
              </a:spcAft>
              <a:defRPr sz="1300">
                <a:solidFill>
                  <a:srgbClr val="FFFFFF"/>
                </a:solidFill>
                <a:latin typeface="Calibri"/>
              </a:defRPr>
            </a:pPr>
            <a:r>
              <a:t>•  Da relazione a grafo: mappatura tabella → nodi/relazioni</a:t>
            </a:r>
          </a:p>
          <a:p>
            <a:pPr algn="l">
              <a:spcAft>
                <a:spcPts val="700"/>
              </a:spcAft>
              <a:defRPr sz="1300">
                <a:solidFill>
                  <a:srgbClr val="FFFFFF"/>
                </a:solidFill>
                <a:latin typeface="Calibri"/>
              </a:defRPr>
            </a:pPr>
            <a:r>
              <a:t>•  Antipattern: supernodi, abuso di proprietà</a:t>
            </a:r>
          </a:p>
          <a:p>
            <a:pPr algn="l">
              <a:spcAft>
                <a:spcPts val="700"/>
              </a:spcAft>
              <a:defRPr sz="1300">
                <a:solidFill>
                  <a:srgbClr val="FFFFFF"/>
                </a:solidFill>
                <a:latin typeface="Calibri"/>
              </a:defRPr>
            </a:pPr>
            <a:r>
              <a:t>•  Constraints e indici (UNIQUE, RANGE, TEXT)</a:t>
            </a:r>
          </a:p>
          <a:p>
            <a:pPr algn="l">
              <a:spcAft>
                <a:spcPts val="700"/>
              </a:spcAft>
              <a:defRPr sz="1300">
                <a:solidFill>
                  <a:srgbClr val="FFFFFF"/>
                </a:solidFill>
                <a:latin typeface="Calibri"/>
              </a:defRPr>
            </a:pPr>
            <a:r>
              <a:t>•  PROFILE e EXPLAIN per tuning</a:t>
            </a:r>
          </a:p>
        </p:txBody>
      </p:sp>
      <p:sp>
        <p:nvSpPr>
          <p:cNvPr id="7" name="TextBox 6"/>
          <p:cNvSpPr txBox="1"/>
          <p:nvPr/>
        </p:nvSpPr>
        <p:spPr>
          <a:xfrm>
            <a:off x="6035040" y="1737360"/>
            <a:ext cx="4846320" cy="365760"/>
          </a:xfrm>
          <a:prstGeom prst="rect">
            <a:avLst/>
          </a:prstGeom>
          <a:noFill/>
        </p:spPr>
        <p:txBody>
          <a:bodyPr wrap="square">
            <a:spAutoFit/>
          </a:bodyPr>
          <a:lstStyle/>
          <a:p>
            <a:pPr algn="l">
              <a:defRPr sz="1800" b="1">
                <a:solidFill>
                  <a:srgbClr val="F08040"/>
                </a:solidFill>
                <a:latin typeface="Calibri"/>
              </a:defRPr>
            </a:pPr>
            <a:r>
              <a:t>Progetto (notebook)</a:t>
            </a:r>
          </a:p>
        </p:txBody>
      </p:sp>
      <p:sp>
        <p:nvSpPr>
          <p:cNvPr id="8" name="TextBox 7"/>
          <p:cNvSpPr txBox="1"/>
          <p:nvPr/>
        </p:nvSpPr>
        <p:spPr>
          <a:xfrm>
            <a:off x="603504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Refactoring Org Graph: nuove labels e relazioni</a:t>
            </a:r>
          </a:p>
          <a:p>
            <a:pPr algn="l">
              <a:spcAft>
                <a:spcPts val="700"/>
              </a:spcAft>
              <a:defRPr sz="1300">
                <a:solidFill>
                  <a:srgbClr val="FFFFFF"/>
                </a:solidFill>
                <a:latin typeface="Calibri"/>
              </a:defRPr>
            </a:pPr>
            <a:r>
              <a:t>•  Migrazione proprietà a relazioni dove appropriato</a:t>
            </a:r>
          </a:p>
          <a:p>
            <a:pPr algn="l">
              <a:spcAft>
                <a:spcPts val="700"/>
              </a:spcAft>
              <a:defRPr sz="1300">
                <a:solidFill>
                  <a:srgbClr val="FFFFFF"/>
                </a:solidFill>
                <a:latin typeface="Calibri"/>
              </a:defRPr>
            </a:pPr>
            <a:r>
              <a:t>•  Creazione constraint e indici</a:t>
            </a:r>
          </a:p>
          <a:p>
            <a:pPr algn="l">
              <a:spcAft>
                <a:spcPts val="700"/>
              </a:spcAft>
              <a:defRPr sz="1300">
                <a:solidFill>
                  <a:srgbClr val="FFFFFF"/>
                </a:solidFill>
                <a:latin typeface="Calibri"/>
              </a:defRPr>
            </a:pPr>
            <a:r>
              <a:t>•  LOAD CSV con dati esistenti (batch, error handling)</a:t>
            </a:r>
          </a:p>
          <a:p>
            <a:pPr algn="l">
              <a:spcAft>
                <a:spcPts val="700"/>
              </a:spcAft>
              <a:defRPr sz="1300">
                <a:solidFill>
                  <a:srgbClr val="FFFFFF"/>
                </a:solidFill>
                <a:latin typeface="Calibri"/>
              </a:defRPr>
            </a:pPr>
            <a:r>
              <a:t>•  PROFILE e EXPLAIN per ottimizzare le query</a:t>
            </a:r>
          </a:p>
        </p:txBody>
      </p:sp>
      <p:sp>
        <p:nvSpPr>
          <p:cNvPr id="9" name="Rectangle 8"/>
          <p:cNvSpPr/>
          <p:nvPr/>
        </p:nvSpPr>
        <p:spPr>
          <a:xfrm>
            <a:off x="731520" y="45720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754880"/>
            <a:ext cx="10515600" cy="365760"/>
          </a:xfrm>
          <a:prstGeom prst="rect">
            <a:avLst/>
          </a:prstGeom>
          <a:noFill/>
        </p:spPr>
        <p:txBody>
          <a:bodyPr wrap="square">
            <a:spAutoFit/>
          </a:bodyPr>
          <a:lstStyle/>
          <a:p>
            <a:pPr algn="l">
              <a:defRPr sz="1300" b="0">
                <a:solidFill>
                  <a:srgbClr val="CCCCCC"/>
                </a:solidFill>
                <a:latin typeface="Calibri"/>
              </a:defRPr>
            </a:pPr>
            <a:r>
              <a:t>Tecnologie: LOAD CSV, PROFILE, APOC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2800" b="1">
                <a:solidFill>
                  <a:srgbClr val="F0C040"/>
                </a:solidFill>
                <a:latin typeface="Calibri"/>
              </a:defRPr>
            </a:pPr>
            <a:r>
              <a:t>Sessione 4 — Graph Data Science</a:t>
            </a:r>
          </a:p>
        </p:txBody>
      </p:sp>
      <p:sp>
        <p:nvSpPr>
          <p:cNvPr id="3" name="TextBox 2"/>
          <p:cNvSpPr txBox="1"/>
          <p:nvPr/>
        </p:nvSpPr>
        <p:spPr>
          <a:xfrm>
            <a:off x="731520" y="1005840"/>
            <a:ext cx="10515600" cy="365760"/>
          </a:xfrm>
          <a:prstGeom prst="rect">
            <a:avLst/>
          </a:prstGeom>
          <a:noFill/>
        </p:spPr>
        <p:txBody>
          <a:bodyPr wrap="square">
            <a:spAutoFit/>
          </a:bodyPr>
          <a:lstStyle/>
          <a:p>
            <a:pPr algn="l">
              <a:defRPr sz="1500" b="0">
                <a:solidFill>
                  <a:srgbClr val="CCCCCC"/>
                </a:solidFill>
                <a:latin typeface="Calibri"/>
              </a:defRPr>
            </a:pPr>
            <a:r>
              <a:t>Obiettivo: eseguire algoritmi di analisi per estrarre insight dall’Org Graph</a:t>
            </a:r>
          </a:p>
        </p:txBody>
      </p:sp>
      <p:sp>
        <p:nvSpPr>
          <p:cNvPr id="4" name="Rectangle 3"/>
          <p:cNvSpPr/>
          <p:nvPr/>
        </p:nvSpPr>
        <p:spPr>
          <a:xfrm>
            <a:off x="731520" y="15544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846320" cy="365760"/>
          </a:xfrm>
          <a:prstGeom prst="rect">
            <a:avLst/>
          </a:prstGeom>
          <a:noFill/>
        </p:spPr>
        <p:txBody>
          <a:bodyPr wrap="square">
            <a:spAutoFit/>
          </a:bodyPr>
          <a:lstStyle/>
          <a:p>
            <a:pPr algn="l">
              <a:defRPr sz="1800" b="1">
                <a:solidFill>
                  <a:srgbClr val="F08040"/>
                </a:solidFill>
                <a:latin typeface="Calibri"/>
              </a:defRPr>
            </a:pPr>
            <a:r>
              <a:t>Lezione frontale (slides)</a:t>
            </a:r>
          </a:p>
        </p:txBody>
      </p:sp>
      <p:sp>
        <p:nvSpPr>
          <p:cNvPr id="6" name="TextBox 5"/>
          <p:cNvSpPr txBox="1"/>
          <p:nvPr/>
        </p:nvSpPr>
        <p:spPr>
          <a:xfrm>
            <a:off x="73152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Community detection: Louvain, Weakly Connected Components</a:t>
            </a:r>
          </a:p>
          <a:p>
            <a:pPr algn="l">
              <a:spcAft>
                <a:spcPts val="700"/>
              </a:spcAft>
              <a:defRPr sz="1300">
                <a:solidFill>
                  <a:srgbClr val="FFFFFF"/>
                </a:solidFill>
                <a:latin typeface="Calibri"/>
              </a:defRPr>
            </a:pPr>
            <a:r>
              <a:t>•  Centralità: PageRank, Betweenness Centrality</a:t>
            </a:r>
          </a:p>
          <a:p>
            <a:pPr algn="l">
              <a:spcAft>
                <a:spcPts val="700"/>
              </a:spcAft>
              <a:defRPr sz="1300">
                <a:solidFill>
                  <a:srgbClr val="FFFFFF"/>
                </a:solidFill>
                <a:latin typeface="Calibri"/>
              </a:defRPr>
            </a:pPr>
            <a:r>
              <a:t>•  Similarità: Node Similarity, KNN</a:t>
            </a:r>
          </a:p>
          <a:p>
            <a:pPr algn="l">
              <a:spcAft>
                <a:spcPts val="700"/>
              </a:spcAft>
              <a:defRPr sz="1300">
                <a:solidFill>
                  <a:srgbClr val="FFFFFF"/>
                </a:solidFill>
                <a:latin typeface="Calibri"/>
              </a:defRPr>
            </a:pPr>
            <a:r>
              <a:t>•  Cosa rivela ogni algoritmo</a:t>
            </a:r>
          </a:p>
          <a:p>
            <a:pPr algn="l">
              <a:spcAft>
                <a:spcPts val="700"/>
              </a:spcAft>
              <a:defRPr sz="1300">
                <a:solidFill>
                  <a:srgbClr val="FFFFFF"/>
                </a:solidFill>
                <a:latin typeface="Calibri"/>
              </a:defRPr>
            </a:pPr>
            <a:r>
              <a:t>•  Proiezione in grafo GDS</a:t>
            </a:r>
          </a:p>
        </p:txBody>
      </p:sp>
      <p:sp>
        <p:nvSpPr>
          <p:cNvPr id="7" name="TextBox 6"/>
          <p:cNvSpPr txBox="1"/>
          <p:nvPr/>
        </p:nvSpPr>
        <p:spPr>
          <a:xfrm>
            <a:off x="6035040" y="1737360"/>
            <a:ext cx="4846320" cy="365760"/>
          </a:xfrm>
          <a:prstGeom prst="rect">
            <a:avLst/>
          </a:prstGeom>
          <a:noFill/>
        </p:spPr>
        <p:txBody>
          <a:bodyPr wrap="square">
            <a:spAutoFit/>
          </a:bodyPr>
          <a:lstStyle/>
          <a:p>
            <a:pPr algn="l">
              <a:defRPr sz="1800" b="1">
                <a:solidFill>
                  <a:srgbClr val="F08040"/>
                </a:solidFill>
                <a:latin typeface="Calibri"/>
              </a:defRPr>
            </a:pPr>
            <a:r>
              <a:t>Progetto (notebook)</a:t>
            </a:r>
          </a:p>
        </p:txBody>
      </p:sp>
      <p:sp>
        <p:nvSpPr>
          <p:cNvPr id="8" name="TextBox 7"/>
          <p:cNvSpPr txBox="1"/>
          <p:nvPr/>
        </p:nvSpPr>
        <p:spPr>
          <a:xfrm>
            <a:off x="603504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Proiezione Org Graph in GDS</a:t>
            </a:r>
          </a:p>
          <a:p>
            <a:pPr algn="l">
              <a:spcAft>
                <a:spcPts val="700"/>
              </a:spcAft>
              <a:defRPr sz="1300">
                <a:solidFill>
                  <a:srgbClr val="FFFFFF"/>
                </a:solidFill>
                <a:latin typeface="Calibri"/>
              </a:defRPr>
            </a:pPr>
            <a:r>
              <a:t>•  PageRank: impiegati influenti</a:t>
            </a:r>
          </a:p>
          <a:p>
            <a:pPr algn="l">
              <a:spcAft>
                <a:spcPts val="700"/>
              </a:spcAft>
              <a:defRPr sz="1300">
                <a:solidFill>
                  <a:srgbClr val="FFFFFF"/>
                </a:solidFill>
                <a:latin typeface="Calibri"/>
              </a:defRPr>
            </a:pPr>
            <a:r>
              <a:t>•  Louvain: comunità di skill</a:t>
            </a:r>
          </a:p>
          <a:p>
            <a:pPr algn="l">
              <a:spcAft>
                <a:spcPts val="700"/>
              </a:spcAft>
              <a:defRPr sz="1300">
                <a:solidFill>
                  <a:srgbClr val="FFFFFF"/>
                </a:solidFill>
                <a:latin typeface="Calibri"/>
              </a:defRPr>
            </a:pPr>
            <a:r>
              <a:t>•  Similarità tra impiegati per skill condivise</a:t>
            </a:r>
          </a:p>
          <a:p>
            <a:pPr algn="l">
              <a:spcAft>
                <a:spcPts val="700"/>
              </a:spcAft>
              <a:defRPr sz="1300">
                <a:solidFill>
                  <a:srgbClr val="FFFFFF"/>
                </a:solidFill>
                <a:latin typeface="Calibri"/>
              </a:defRPr>
            </a:pPr>
            <a:r>
              <a:t>•  Insight: "chi può sostituire questo ruolo?"</a:t>
            </a:r>
          </a:p>
        </p:txBody>
      </p:sp>
      <p:sp>
        <p:nvSpPr>
          <p:cNvPr id="9" name="Rectangle 8"/>
          <p:cNvSpPr/>
          <p:nvPr/>
        </p:nvSpPr>
        <p:spPr>
          <a:xfrm>
            <a:off x="731520" y="45720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754880"/>
            <a:ext cx="10515600" cy="365760"/>
          </a:xfrm>
          <a:prstGeom prst="rect">
            <a:avLst/>
          </a:prstGeom>
          <a:noFill/>
        </p:spPr>
        <p:txBody>
          <a:bodyPr wrap="square">
            <a:spAutoFit/>
          </a:bodyPr>
          <a:lstStyle/>
          <a:p>
            <a:pPr algn="l">
              <a:defRPr sz="1300" b="0">
                <a:solidFill>
                  <a:srgbClr val="CCCCCC"/>
                </a:solidFill>
                <a:latin typeface="Calibri"/>
              </a:defRPr>
            </a:pPr>
            <a:r>
              <a:t>Tecnologie: GDS, PageRank, Louvain, Node Similarity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2800" b="1">
                <a:solidFill>
                  <a:srgbClr val="F0C040"/>
                </a:solidFill>
                <a:latin typeface="Calibri"/>
              </a:defRPr>
            </a:pPr>
            <a:r>
              <a:t>Sessione 5 — AI &amp; Applicazioni Grafo</a:t>
            </a:r>
          </a:p>
        </p:txBody>
      </p:sp>
      <p:sp>
        <p:nvSpPr>
          <p:cNvPr id="3" name="TextBox 2"/>
          <p:cNvSpPr txBox="1"/>
          <p:nvPr/>
        </p:nvSpPr>
        <p:spPr>
          <a:xfrm>
            <a:off x="731520" y="1005840"/>
            <a:ext cx="10515600" cy="365760"/>
          </a:xfrm>
          <a:prstGeom prst="rect">
            <a:avLst/>
          </a:prstGeom>
          <a:noFill/>
        </p:spPr>
        <p:txBody>
          <a:bodyPr wrap="square">
            <a:spAutoFit/>
          </a:bodyPr>
          <a:lstStyle/>
          <a:p>
            <a:pPr algn="l">
              <a:defRPr sz="1500" b="0">
                <a:solidFill>
                  <a:srgbClr val="CCCCCC"/>
                </a:solidFill>
                <a:latin typeface="Calibri"/>
              </a:defRPr>
            </a:pPr>
            <a:r>
              <a:t>Obiettivo: collegare Neo4j ad applicazioni reali e aggiungere ricerca AI</a:t>
            </a:r>
          </a:p>
        </p:txBody>
      </p:sp>
      <p:sp>
        <p:nvSpPr>
          <p:cNvPr id="4" name="Rectangle 3"/>
          <p:cNvSpPr/>
          <p:nvPr/>
        </p:nvSpPr>
        <p:spPr>
          <a:xfrm>
            <a:off x="731520" y="15544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846320" cy="365760"/>
          </a:xfrm>
          <a:prstGeom prst="rect">
            <a:avLst/>
          </a:prstGeom>
          <a:noFill/>
        </p:spPr>
        <p:txBody>
          <a:bodyPr wrap="square">
            <a:spAutoFit/>
          </a:bodyPr>
          <a:lstStyle/>
          <a:p>
            <a:pPr algn="l">
              <a:defRPr sz="1800" b="1">
                <a:solidFill>
                  <a:srgbClr val="F08040"/>
                </a:solidFill>
                <a:latin typeface="Calibri"/>
              </a:defRPr>
            </a:pPr>
            <a:r>
              <a:t>Lezione frontale (slides)</a:t>
            </a:r>
          </a:p>
        </p:txBody>
      </p:sp>
      <p:sp>
        <p:nvSpPr>
          <p:cNvPr id="6" name="TextBox 5"/>
          <p:cNvSpPr txBox="1"/>
          <p:nvPr/>
        </p:nvSpPr>
        <p:spPr>
          <a:xfrm>
            <a:off x="73152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Indici vettoriali e ricerca semantica</a:t>
            </a:r>
          </a:p>
          <a:p>
            <a:pPr algn="l">
              <a:spcAft>
                <a:spcPts val="700"/>
              </a:spcAft>
              <a:defRPr sz="1300">
                <a:solidFill>
                  <a:srgbClr val="FFFFFF"/>
                </a:solidFill>
                <a:latin typeface="Calibri"/>
              </a:defRPr>
            </a:pPr>
            <a:r>
              <a:t>•  Pattern GraphRAG: Knowledge Graph + LLM</a:t>
            </a:r>
          </a:p>
          <a:p>
            <a:pPr algn="l">
              <a:spcAft>
                <a:spcPts val="700"/>
              </a:spcAft>
              <a:defRPr sz="1300">
                <a:solidFill>
                  <a:srgbClr val="FFFFFF"/>
                </a:solidFill>
                <a:latin typeface="Calibri"/>
              </a:defRPr>
            </a:pPr>
            <a:r>
              <a:t>•  Driver Neo4j per Python e JavaScript</a:t>
            </a:r>
          </a:p>
          <a:p>
            <a:pPr algn="l">
              <a:spcAft>
                <a:spcPts val="700"/>
              </a:spcAft>
              <a:defRPr sz="1300">
                <a:solidFill>
                  <a:srgbClr val="FFFFFF"/>
                </a:solidFill>
                <a:latin typeface="Calibri"/>
              </a:defRPr>
            </a:pPr>
            <a:r>
              <a:t>•  Plugin genai per Cypher generato da LLM</a:t>
            </a:r>
          </a:p>
          <a:p>
            <a:pPr algn="l">
              <a:spcAft>
                <a:spcPts val="700"/>
              </a:spcAft>
              <a:defRPr sz="1300">
                <a:solidFill>
                  <a:srgbClr val="FFFFFF"/>
                </a:solidFill>
                <a:latin typeface="Calibri"/>
              </a:defRPr>
            </a:pPr>
            <a:r>
              <a:t>•  Best practice per applicazioni in produzione</a:t>
            </a:r>
          </a:p>
        </p:txBody>
      </p:sp>
      <p:sp>
        <p:nvSpPr>
          <p:cNvPr id="7" name="TextBox 6"/>
          <p:cNvSpPr txBox="1"/>
          <p:nvPr/>
        </p:nvSpPr>
        <p:spPr>
          <a:xfrm>
            <a:off x="6035040" y="1737360"/>
            <a:ext cx="4846320" cy="365760"/>
          </a:xfrm>
          <a:prstGeom prst="rect">
            <a:avLst/>
          </a:prstGeom>
          <a:noFill/>
        </p:spPr>
        <p:txBody>
          <a:bodyPr wrap="square">
            <a:spAutoFit/>
          </a:bodyPr>
          <a:lstStyle/>
          <a:p>
            <a:pPr algn="l">
              <a:defRPr sz="1800" b="1">
                <a:solidFill>
                  <a:srgbClr val="F08040"/>
                </a:solidFill>
                <a:latin typeface="Calibri"/>
              </a:defRPr>
            </a:pPr>
            <a:r>
              <a:t>Progetto (notebook)</a:t>
            </a:r>
          </a:p>
        </p:txBody>
      </p:sp>
      <p:sp>
        <p:nvSpPr>
          <p:cNvPr id="8" name="TextBox 7"/>
          <p:cNvSpPr txBox="1"/>
          <p:nvPr/>
        </p:nvSpPr>
        <p:spPr>
          <a:xfrm>
            <a:off x="6035040" y="2194560"/>
            <a:ext cx="4846320" cy="2286000"/>
          </a:xfrm>
          <a:prstGeom prst="rect">
            <a:avLst/>
          </a:prstGeom>
          <a:noFill/>
        </p:spPr>
        <p:txBody>
          <a:bodyPr wrap="square">
            <a:spAutoFit/>
          </a:bodyPr>
          <a:lstStyle/>
          <a:p>
            <a:pPr algn="l">
              <a:spcAft>
                <a:spcPts val="700"/>
              </a:spcAft>
              <a:defRPr sz="1300">
                <a:solidFill>
                  <a:srgbClr val="FFFFFF"/>
                </a:solidFill>
                <a:latin typeface="Calibri"/>
              </a:defRPr>
            </a:pPr>
            <a:r>
              <a:t>•  Creazione indice vettoriale su skill description</a:t>
            </a:r>
          </a:p>
          <a:p>
            <a:pPr algn="l">
              <a:spcAft>
                <a:spcPts val="700"/>
              </a:spcAft>
              <a:defRPr sz="1300">
                <a:solidFill>
                  <a:srgbClr val="FFFFFF"/>
                </a:solidFill>
                <a:latin typeface="Calibri"/>
              </a:defRPr>
            </a:pPr>
            <a:r>
              <a:t>•  Ricerca semantica: "trova esperto in cloud"</a:t>
            </a:r>
          </a:p>
          <a:p>
            <a:pPr algn="l">
              <a:spcAft>
                <a:spcPts val="700"/>
              </a:spcAft>
              <a:defRPr sz="1300">
                <a:solidFill>
                  <a:srgbClr val="FFFFFF"/>
                </a:solidFill>
                <a:latin typeface="Calibri"/>
              </a:defRPr>
            </a:pPr>
            <a:r>
              <a:t>•  API Python minima per query Org Graph</a:t>
            </a:r>
          </a:p>
          <a:p>
            <a:pPr algn="l">
              <a:spcAft>
                <a:spcPts val="700"/>
              </a:spcAft>
              <a:defRPr sz="1300">
                <a:solidFill>
                  <a:srgbClr val="FFFFFF"/>
                </a:solidFill>
                <a:latin typeface="Calibri"/>
              </a:defRPr>
            </a:pPr>
            <a:r>
              <a:t>•  Plugin genai: Cypher da linguaggio naturale</a:t>
            </a:r>
          </a:p>
          <a:p>
            <a:pPr algn="l">
              <a:spcAft>
                <a:spcPts val="700"/>
              </a:spcAft>
              <a:defRPr sz="1300">
                <a:solidFill>
                  <a:srgbClr val="FFFFFF"/>
                </a:solidFill>
                <a:latin typeface="Calibri"/>
              </a:defRPr>
            </a:pPr>
            <a:r>
              <a:t>•  Agente "trova esperto" in linguaggio naturale</a:t>
            </a:r>
          </a:p>
        </p:txBody>
      </p:sp>
      <p:sp>
        <p:nvSpPr>
          <p:cNvPr id="9" name="Rectangle 8"/>
          <p:cNvSpPr/>
          <p:nvPr/>
        </p:nvSpPr>
        <p:spPr>
          <a:xfrm>
            <a:off x="731520" y="45720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754880"/>
            <a:ext cx="10515600" cy="365760"/>
          </a:xfrm>
          <a:prstGeom prst="rect">
            <a:avLst/>
          </a:prstGeom>
          <a:noFill/>
        </p:spPr>
        <p:txBody>
          <a:bodyPr wrap="square">
            <a:spAutoFit/>
          </a:bodyPr>
          <a:lstStyle/>
          <a:p>
            <a:pPr algn="l">
              <a:defRPr sz="1300" b="0">
                <a:solidFill>
                  <a:srgbClr val="CCCCCC"/>
                </a:solidFill>
                <a:latin typeface="Calibri"/>
              </a:defRPr>
            </a:pPr>
            <a:r>
              <a:t>Tecnologie: Vector Index, GraphRAG, genai plugin, Python/JS Driver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Materiali del Corso</a:t>
            </a:r>
          </a:p>
        </p:txBody>
      </p:sp>
      <p:sp>
        <p:nvSpPr>
          <p:cNvPr id="3" name="TextBox 2"/>
          <p:cNvSpPr txBox="1"/>
          <p:nvPr/>
        </p:nvSpPr>
        <p:spPr>
          <a:xfrm>
            <a:off x="731520" y="1097280"/>
            <a:ext cx="10515600" cy="2286000"/>
          </a:xfrm>
          <a:prstGeom prst="rect">
            <a:avLst/>
          </a:prstGeom>
          <a:noFill/>
        </p:spPr>
        <p:txBody>
          <a:bodyPr wrap="square">
            <a:spAutoFit/>
          </a:bodyPr>
          <a:lstStyle/>
          <a:p>
            <a:pPr algn="l">
              <a:spcAft>
                <a:spcPts val="1200"/>
              </a:spcAft>
              <a:defRPr sz="1400">
                <a:solidFill>
                  <a:srgbClr val="FFFFFF"/>
                </a:solidFill>
                <a:latin typeface="Calibri"/>
              </a:defRPr>
            </a:pPr>
            <a:r>
              <a:t>•  slides/session-XX/ — Slide deck (PPTX con template Capgemini)</a:t>
            </a:r>
          </a:p>
          <a:p>
            <a:pPr algn="l">
              <a:spcAft>
                <a:spcPts val="1200"/>
              </a:spcAft>
              <a:defRPr sz="1400">
                <a:solidFill>
                  <a:srgbClr val="FFFFFF"/>
                </a:solidFill>
                <a:latin typeface="Calibri"/>
              </a:defRPr>
            </a:pPr>
            <a:r>
              <a:t>•  notebooks/session-XX/ — Jupyter Notebook con celle Cypher eseguibili</a:t>
            </a:r>
          </a:p>
          <a:p>
            <a:pPr algn="l">
              <a:spcAft>
                <a:spcPts val="1200"/>
              </a:spcAft>
              <a:defRPr sz="1400">
                <a:solidFill>
                  <a:srgbClr val="FFFFFF"/>
                </a:solidFill>
                <a:latin typeface="Calibri"/>
              </a:defRPr>
            </a:pPr>
            <a:r>
              <a:t>•  project/ — Progetto Org Graph, costruito incrementalmente</a:t>
            </a:r>
          </a:p>
          <a:p>
            <a:pPr algn="l">
              <a:spcAft>
                <a:spcPts val="1200"/>
              </a:spcAft>
              <a:defRPr sz="1400">
                <a:solidFill>
                  <a:srgbClr val="FFFFFF"/>
                </a:solidFill>
                <a:latin typeface="Calibri"/>
              </a:defRPr>
            </a:pPr>
            <a:r>
              <a:t>•  data/ — Dati CSV anonimizzati (I&amp;D HDP Skill Mapping)</a:t>
            </a:r>
          </a:p>
          <a:p>
            <a:pPr algn="l">
              <a:spcAft>
                <a:spcPts val="1200"/>
              </a:spcAft>
              <a:defRPr sz="1400">
                <a:solidFill>
                  <a:srgbClr val="FFFFFF"/>
                </a:solidFill>
                <a:latin typeface="Calibri"/>
              </a:defRPr>
            </a:pPr>
            <a:r>
              <a:t>•  scripts/ — Utility di generazione e setup</a:t>
            </a:r>
          </a:p>
        </p:txBody>
      </p:sp>
      <p:sp>
        <p:nvSpPr>
          <p:cNvPr id="4" name="Rectangle 3"/>
          <p:cNvSpPr/>
          <p:nvPr/>
        </p:nvSpPr>
        <p:spPr>
          <a:xfrm>
            <a:off x="731520" y="34747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0"/>
            <a:ext cx="10515600" cy="457200"/>
          </a:xfrm>
          <a:prstGeom prst="rect">
            <a:avLst/>
          </a:prstGeom>
          <a:noFill/>
        </p:spPr>
        <p:txBody>
          <a:bodyPr wrap="square">
            <a:spAutoFit/>
          </a:bodyPr>
          <a:lstStyle/>
          <a:p>
            <a:pPr algn="l">
              <a:defRPr sz="2200" b="1">
                <a:solidFill>
                  <a:srgbClr val="F08040"/>
                </a:solidFill>
                <a:latin typeface="Calibri"/>
              </a:defRPr>
            </a:pPr>
            <a:r>
              <a:t>Progetto Org Graph</a:t>
            </a:r>
          </a:p>
        </p:txBody>
      </p:sp>
      <p:sp>
        <p:nvSpPr>
          <p:cNvPr id="6" name="TextBox 5"/>
          <p:cNvSpPr txBox="1"/>
          <p:nvPr/>
        </p:nvSpPr>
        <p:spPr>
          <a:xfrm>
            <a:off x="731520" y="4206240"/>
            <a:ext cx="10515600" cy="2286000"/>
          </a:xfrm>
          <a:prstGeom prst="rect">
            <a:avLst/>
          </a:prstGeom>
          <a:noFill/>
        </p:spPr>
        <p:txBody>
          <a:bodyPr wrap="square">
            <a:spAutoFit/>
          </a:bodyPr>
          <a:lstStyle/>
          <a:p>
            <a:pPr algn="l">
              <a:spcAft>
                <a:spcPts val="1200"/>
              </a:spcAft>
              <a:defRPr sz="1400">
                <a:solidFill>
                  <a:srgbClr val="FFFFFF"/>
                </a:solidFill>
                <a:latin typeface="Calibri"/>
              </a:defRPr>
            </a:pPr>
            <a:r>
              <a:t>•  238 persone, 93 progetti, 55 skill, 2 supervisor</a:t>
            </a:r>
          </a:p>
          <a:p>
            <a:pPr algn="l">
              <a:spcAft>
                <a:spcPts val="1200"/>
              </a:spcAft>
              <a:defRPr sz="1400">
                <a:solidFill>
                  <a:srgbClr val="FFFFFF"/>
                </a:solidFill>
                <a:latin typeface="Calibri"/>
              </a:defRPr>
            </a:pPr>
            <a:r>
              <a:t>•  Relazioni: HAS_SKILL, WORKED_ON, REPORTS_TO</a:t>
            </a:r>
          </a:p>
          <a:p>
            <a:pPr algn="l">
              <a:spcAft>
                <a:spcPts val="1200"/>
              </a:spcAft>
              <a:defRPr sz="1400">
                <a:solidFill>
                  <a:srgbClr val="FFFFFF"/>
                </a:solidFill>
                <a:latin typeface="Calibri"/>
              </a:defRPr>
            </a:pPr>
            <a:r>
              <a:t>•  Dati reali anonimizzati da foglio Excel aziendale</a:t>
            </a:r>
          </a:p>
          <a:p>
            <a:pPr algn="l">
              <a:spcAft>
                <a:spcPts val="1200"/>
              </a:spcAft>
              <a:defRPr sz="1400">
                <a:solidFill>
                  <a:srgbClr val="FFFFFF"/>
                </a:solidFill>
                <a:latin typeface="Calibri"/>
              </a:defRPr>
            </a:pPr>
            <a:r>
              <a:t>•  Costruito su AuraDB Free Tier (bolt+s://...)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Setup: Repository</a:t>
            </a:r>
          </a:p>
        </p:txBody>
      </p:sp>
      <p:sp>
        <p:nvSpPr>
          <p:cNvPr id="3" name="TextBox 2"/>
          <p:cNvSpPr txBox="1"/>
          <p:nvPr/>
        </p:nvSpPr>
        <p:spPr>
          <a:xfrm>
            <a:off x="731520" y="1097280"/>
            <a:ext cx="10515600" cy="1371600"/>
          </a:xfrm>
          <a:prstGeom prst="rect">
            <a:avLst/>
          </a:prstGeom>
          <a:noFill/>
        </p:spPr>
        <p:txBody>
          <a:bodyPr wrap="square">
            <a:spAutoFit/>
          </a:bodyPr>
          <a:lstStyle/>
          <a:p>
            <a:pPr algn="l">
              <a:spcAft>
                <a:spcPts val="1200"/>
              </a:spcAft>
              <a:defRPr sz="1400">
                <a:solidFill>
                  <a:srgbClr val="FFFFFF"/>
                </a:solidFill>
                <a:latin typeface="Calibri"/>
              </a:defRPr>
            </a:pPr>
            <a:r>
              <a:t>•  Repo pubblico: github.com/leobcc/neo4j-training-course-material</a:t>
            </a:r>
          </a:p>
          <a:p>
            <a:pPr algn="l">
              <a:spcAft>
                <a:spcPts val="1200"/>
              </a:spcAft>
              <a:defRPr sz="1400">
                <a:solidFill>
                  <a:srgbClr val="FFFFFF"/>
                </a:solidFill>
                <a:latin typeface="Calibri"/>
              </a:defRPr>
            </a:pPr>
            <a:r>
              <a:t>•  git clone https://github.com/leobcc/neo4j-training-course-material.git</a:t>
            </a:r>
          </a:p>
          <a:p>
            <a:pPr algn="l">
              <a:spcAft>
                <a:spcPts val="1200"/>
              </a:spcAft>
              <a:defRPr sz="1400">
                <a:solidFill>
                  <a:srgbClr val="FFFFFF"/>
                </a:solidFill>
                <a:latin typeface="Calibri"/>
              </a:defRPr>
            </a:pPr>
            <a:r>
              <a:t>•  Struttura: slides/, notebooks/, project/, data/, scripts/</a:t>
            </a:r>
          </a:p>
          <a:p>
            <a:pPr algn="l">
              <a:spcAft>
                <a:spcPts val="1200"/>
              </a:spcAft>
              <a:defRPr sz="1400">
                <a:solidFill>
                  <a:srgbClr val="FFFFFF"/>
                </a:solidFill>
                <a:latin typeface="Calibri"/>
              </a:defRPr>
            </a:pPr>
            <a:r>
              <a:t>•  Tutto il materiale del corso è qui: slide, notebook, dati</a:t>
            </a:r>
          </a:p>
        </p:txBody>
      </p:sp>
      <p:sp>
        <p:nvSpPr>
          <p:cNvPr id="4" name="Rectangle 3"/>
          <p:cNvSpPr/>
          <p:nvPr/>
        </p:nvSpPr>
        <p:spPr>
          <a:xfrm>
            <a:off x="731520" y="30175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91840"/>
            <a:ext cx="10515600" cy="457200"/>
          </a:xfrm>
          <a:prstGeom prst="rect">
            <a:avLst/>
          </a:prstGeom>
          <a:noFill/>
        </p:spPr>
        <p:txBody>
          <a:bodyPr wrap="square">
            <a:spAutoFit/>
          </a:bodyPr>
          <a:lstStyle/>
          <a:p>
            <a:pPr algn="l">
              <a:defRPr sz="2000" b="1">
                <a:solidFill>
                  <a:srgbClr val="F08040"/>
                </a:solidFill>
                <a:latin typeface="Calibri"/>
              </a:defRPr>
            </a:pPr>
            <a:r>
              <a:t>Struttura del repository</a:t>
            </a:r>
          </a:p>
        </p:txBody>
      </p:sp>
      <p:sp>
        <p:nvSpPr>
          <p:cNvPr id="6" name="Rectangle 5"/>
          <p:cNvSpPr/>
          <p:nvPr/>
        </p:nvSpPr>
        <p:spPr>
          <a:xfrm>
            <a:off x="731520" y="3840480"/>
            <a:ext cx="5029200" cy="237744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931920"/>
            <a:ext cx="4754880" cy="2194560"/>
          </a:xfrm>
          <a:prstGeom prst="rect">
            <a:avLst/>
          </a:prstGeom>
          <a:noFill/>
        </p:spPr>
        <p:txBody>
          <a:bodyPr wrap="square">
            <a:spAutoFit/>
          </a:bodyPr>
          <a:lstStyle/>
          <a:p>
            <a:pPr algn="l">
              <a:defRPr sz="1100" b="0">
                <a:solidFill>
                  <a:srgbClr val="7EC68E"/>
                </a:solidFill>
                <a:latin typeface="Consolas"/>
              </a:defRPr>
            </a:pPr>
            <a:r>
              <a:t>neo4j-training-course-material/</a:t>
            </a:r>
            <a:br/>
            <a:r>
              <a:t>├── slides/          # Slide deck (PPTX)</a:t>
            </a:r>
            <a:br/>
            <a:r>
              <a:t>├── notebooks/       # Jupyter Notebook per sessione</a:t>
            </a:r>
            <a:br/>
            <a:r>
              <a:t>├── project/         # Progetto Org Graph</a:t>
            </a:r>
            <a:br/>
            <a:r>
              <a:t>├── data/            # CSV anonimizzati</a:t>
            </a:r>
            <a:br/>
            <a:r>
              <a:t>├── scripts/         # Utility Python</a:t>
            </a:r>
            <a:br/>
            <a:r>
              <a:t>├── requirements.txt # Dipendenze Python</a:t>
            </a:r>
            <a:br/>
            <a:r>
              <a:t>└── .env.example     # Template configurazione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Setup: Ambiente Python</a:t>
            </a:r>
          </a:p>
        </p:txBody>
      </p:sp>
      <p:sp>
        <p:nvSpPr>
          <p:cNvPr id="3" name="TextBox 2"/>
          <p:cNvSpPr txBox="1"/>
          <p:nvPr/>
        </p:nvSpPr>
        <p:spPr>
          <a:xfrm>
            <a:off x="731520" y="1097280"/>
            <a:ext cx="10515600" cy="1371600"/>
          </a:xfrm>
          <a:prstGeom prst="rect">
            <a:avLst/>
          </a:prstGeom>
          <a:noFill/>
        </p:spPr>
        <p:txBody>
          <a:bodyPr wrap="square">
            <a:spAutoFit/>
          </a:bodyPr>
          <a:lstStyle/>
          <a:p>
            <a:pPr algn="l">
              <a:spcAft>
                <a:spcPts val="1200"/>
              </a:spcAft>
              <a:defRPr sz="1400">
                <a:solidFill>
                  <a:srgbClr val="FFFFFF"/>
                </a:solidFill>
                <a:latin typeface="Calibri"/>
              </a:defRPr>
            </a:pPr>
            <a:r>
              <a:t>•  Python 3.10+ richiesto (verifica: python --version)</a:t>
            </a:r>
          </a:p>
          <a:p>
            <a:pPr algn="l">
              <a:spcAft>
                <a:spcPts val="1200"/>
              </a:spcAft>
              <a:defRPr sz="1400">
                <a:solidFill>
                  <a:srgbClr val="FFFFFF"/>
                </a:solidFill>
                <a:latin typeface="Calibri"/>
              </a:defRPr>
            </a:pPr>
            <a:r>
              <a:t>•  Creare ambiente virtuale: python -m venv .venv</a:t>
            </a:r>
          </a:p>
          <a:p>
            <a:pPr algn="l">
              <a:spcAft>
                <a:spcPts val="1200"/>
              </a:spcAft>
              <a:defRPr sz="1400">
                <a:solidFill>
                  <a:srgbClr val="FFFFFF"/>
                </a:solidFill>
                <a:latin typeface="Calibri"/>
              </a:defRPr>
            </a:pPr>
            <a:r>
              <a:t>•  Attivare: .venv\Scripts\activate (Windows) o source .venv/bin/activate (Mac/Linux)</a:t>
            </a:r>
          </a:p>
          <a:p>
            <a:pPr algn="l">
              <a:spcAft>
                <a:spcPts val="1200"/>
              </a:spcAft>
              <a:defRPr sz="1400">
                <a:solidFill>
                  <a:srgbClr val="FFFFFF"/>
                </a:solidFill>
                <a:latin typeface="Calibri"/>
              </a:defRPr>
            </a:pPr>
            <a:r>
              <a:t>•  Installare dipendenze: pip install -r requirements.txt</a:t>
            </a:r>
          </a:p>
        </p:txBody>
      </p:sp>
      <p:sp>
        <p:nvSpPr>
          <p:cNvPr id="4" name="Rectangle 3"/>
          <p:cNvSpPr/>
          <p:nvPr/>
        </p:nvSpPr>
        <p:spPr>
          <a:xfrm>
            <a:off x="731520" y="30175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91840"/>
            <a:ext cx="10515600" cy="457200"/>
          </a:xfrm>
          <a:prstGeom prst="rect">
            <a:avLst/>
          </a:prstGeom>
          <a:noFill/>
        </p:spPr>
        <p:txBody>
          <a:bodyPr wrap="square">
            <a:spAutoFit/>
          </a:bodyPr>
          <a:lstStyle/>
          <a:p>
            <a:pPr algn="l">
              <a:defRPr sz="2000" b="1">
                <a:solidFill>
                  <a:srgbClr val="F08040"/>
                </a:solidFill>
                <a:latin typeface="Calibri"/>
              </a:defRPr>
            </a:pPr>
            <a:r>
              <a:t>Dipendenze principali</a:t>
            </a:r>
          </a:p>
        </p:txBody>
      </p:sp>
      <p:sp>
        <p:nvSpPr>
          <p:cNvPr id="6" name="TextBox 5"/>
          <p:cNvSpPr txBox="1"/>
          <p:nvPr/>
        </p:nvSpPr>
        <p:spPr>
          <a:xfrm>
            <a:off x="731520" y="3840480"/>
            <a:ext cx="4846320" cy="1828800"/>
          </a:xfrm>
          <a:prstGeom prst="rect">
            <a:avLst/>
          </a:prstGeom>
          <a:noFill/>
        </p:spPr>
        <p:txBody>
          <a:bodyPr wrap="square">
            <a:spAutoFit/>
          </a:bodyPr>
          <a:lstStyle/>
          <a:p>
            <a:pPr algn="l">
              <a:spcAft>
                <a:spcPts val="700"/>
              </a:spcAft>
              <a:defRPr sz="1300">
                <a:solidFill>
                  <a:srgbClr val="FFFFFF"/>
                </a:solidFill>
                <a:latin typeface="Calibri"/>
              </a:defRPr>
            </a:pPr>
            <a:r>
              <a:t>•  neo4j — Driver Python ufficiale per Neo4j</a:t>
            </a:r>
          </a:p>
          <a:p>
            <a:pPr algn="l">
              <a:spcAft>
                <a:spcPts val="700"/>
              </a:spcAft>
              <a:defRPr sz="1300">
                <a:solidFill>
                  <a:srgbClr val="FFFFFF"/>
                </a:solidFill>
                <a:latin typeface="Calibri"/>
              </a:defRPr>
            </a:pPr>
            <a:r>
              <a:t>•  pandas, openpyxl — Analisi e lettura Excel/CSV</a:t>
            </a:r>
          </a:p>
          <a:p>
            <a:pPr algn="l">
              <a:spcAft>
                <a:spcPts val="700"/>
              </a:spcAft>
              <a:defRPr sz="1300">
                <a:solidFill>
                  <a:srgbClr val="FFFFFF"/>
                </a:solidFill>
                <a:latin typeface="Calibri"/>
              </a:defRPr>
            </a:pPr>
            <a:r>
              <a:t>•  matplotlib, networkx — Visualizzazione dati</a:t>
            </a:r>
          </a:p>
          <a:p>
            <a:pPr algn="l">
              <a:spcAft>
                <a:spcPts val="700"/>
              </a:spcAft>
              <a:defRPr sz="1300">
                <a:solidFill>
                  <a:srgbClr val="FFFFFF"/>
                </a:solidFill>
                <a:latin typeface="Calibri"/>
              </a:defRPr>
            </a:pPr>
            <a:r>
              <a:t>•  python-pptx — Generazione slide</a:t>
            </a:r>
          </a:p>
          <a:p>
            <a:pPr algn="l">
              <a:spcAft>
                <a:spcPts val="700"/>
              </a:spcAft>
              <a:defRPr sz="1300">
                <a:solidFill>
                  <a:srgbClr val="FFFFFF"/>
                </a:solidFill>
                <a:latin typeface="Calibri"/>
              </a:defRPr>
            </a:pPr>
            <a:r>
              <a:t>•  python-dotenv — Config via file .env</a:t>
            </a:r>
          </a:p>
        </p:txBody>
      </p:sp>
      <p:sp>
        <p:nvSpPr>
          <p:cNvPr id="7" name="Rectangle 6"/>
          <p:cNvSpPr/>
          <p:nvPr/>
        </p:nvSpPr>
        <p:spPr>
          <a:xfrm>
            <a:off x="6035040" y="3840480"/>
            <a:ext cx="4114800" cy="13716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44768" y="3913632"/>
            <a:ext cx="3895344" cy="1225296"/>
          </a:xfrm>
          <a:prstGeom prst="rect">
            <a:avLst/>
          </a:prstGeom>
          <a:noFill/>
        </p:spPr>
        <p:txBody>
          <a:bodyPr wrap="square">
            <a:spAutoFit/>
          </a:bodyPr>
          <a:lstStyle/>
          <a:p>
            <a:pPr>
              <a:spcAft>
                <a:spcPts val="100"/>
              </a:spcAft>
              <a:defRPr sz="1200">
                <a:solidFill>
                  <a:srgbClr val="7EC68E"/>
                </a:solidFill>
                <a:latin typeface="Consolas"/>
              </a:defRPr>
            </a:pPr>
            <a:r>
              <a:t>pip install -r requirements.txt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Setup: Neo4j AuraDB</a:t>
            </a:r>
          </a:p>
        </p:txBody>
      </p:sp>
      <p:sp>
        <p:nvSpPr>
          <p:cNvPr id="3" name="TextBox 2"/>
          <p:cNvSpPr txBox="1"/>
          <p:nvPr/>
        </p:nvSpPr>
        <p:spPr>
          <a:xfrm>
            <a:off x="731520" y="1097280"/>
            <a:ext cx="10515600" cy="1828800"/>
          </a:xfrm>
          <a:prstGeom prst="rect">
            <a:avLst/>
          </a:prstGeom>
          <a:noFill/>
        </p:spPr>
        <p:txBody>
          <a:bodyPr wrap="square">
            <a:spAutoFit/>
          </a:bodyPr>
          <a:lstStyle/>
          <a:p>
            <a:pPr algn="l">
              <a:spcAft>
                <a:spcPts val="1200"/>
              </a:spcAft>
              <a:defRPr sz="1400">
                <a:solidFill>
                  <a:srgbClr val="FFFFFF"/>
                </a:solidFill>
                <a:latin typeface="Calibri"/>
              </a:defRPr>
            </a:pPr>
            <a:r>
              <a:t>•  Registrarsi su console.neo4j.io (gratuito)</a:t>
            </a:r>
          </a:p>
          <a:p>
            <a:pPr algn="l">
              <a:spcAft>
                <a:spcPts val="1200"/>
              </a:spcAft>
              <a:defRPr sz="1400">
                <a:solidFill>
                  <a:srgbClr val="FFFFFF"/>
                </a:solidFill>
                <a:latin typeface="Calibri"/>
              </a:defRPr>
            </a:pPr>
            <a:r>
              <a:t>•  Creare istanza Free Tier (max 200k nodi, 500k relazioni)</a:t>
            </a:r>
          </a:p>
          <a:p>
            <a:pPr algn="l">
              <a:spcAft>
                <a:spcPts val="1200"/>
              </a:spcAft>
              <a:defRPr sz="1400">
                <a:solidFill>
                  <a:srgbClr val="FFFFFF"/>
                </a:solidFill>
                <a:latin typeface="Calibri"/>
              </a:defRPr>
            </a:pPr>
            <a:r>
              <a:t>•  Scaricare il file .env con le credenziali (URI, username, password)</a:t>
            </a:r>
          </a:p>
          <a:p>
            <a:pPr algn="l">
              <a:spcAft>
                <a:spcPts val="1200"/>
              </a:spcAft>
              <a:defRPr sz="1400">
                <a:solidFill>
                  <a:srgbClr val="FFFFFF"/>
                </a:solidFill>
                <a:latin typeface="Calibri"/>
              </a:defRPr>
            </a:pPr>
            <a:r>
              <a:t>•  L’istanza si attiva in 2–3 minuti</a:t>
            </a:r>
          </a:p>
          <a:p>
            <a:pPr algn="l">
              <a:spcAft>
                <a:spcPts val="1200"/>
              </a:spcAft>
              <a:defRPr sz="1400">
                <a:solidFill>
                  <a:srgbClr val="FFFFFF"/>
                </a:solidFill>
                <a:latin typeface="Calibri"/>
              </a:defRPr>
            </a:pPr>
            <a:r>
              <a:t>•  Collegarsi via Neo4j Browser (https://workspace.neo4j.io)</a:t>
            </a:r>
          </a:p>
        </p:txBody>
      </p:sp>
      <p:sp>
        <p:nvSpPr>
          <p:cNvPr id="4" name="Rectangle 3"/>
          <p:cNvSpPr/>
          <p:nvPr/>
        </p:nvSpPr>
        <p:spPr>
          <a:xfrm>
            <a:off x="731520" y="32004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10515600" cy="457200"/>
          </a:xfrm>
          <a:prstGeom prst="rect">
            <a:avLst/>
          </a:prstGeom>
          <a:noFill/>
        </p:spPr>
        <p:txBody>
          <a:bodyPr wrap="square">
            <a:spAutoFit/>
          </a:bodyPr>
          <a:lstStyle/>
          <a:p>
            <a:pPr algn="l">
              <a:defRPr sz="2000" b="1">
                <a:solidFill>
                  <a:srgbClr val="F08040"/>
                </a:solidFill>
                <a:latin typeface="Calibri"/>
              </a:defRPr>
            </a:pPr>
            <a:r>
              <a:t>Connessione</a:t>
            </a:r>
          </a:p>
        </p:txBody>
      </p:sp>
      <p:sp>
        <p:nvSpPr>
          <p:cNvPr id="6" name="Rectangle 5"/>
          <p:cNvSpPr/>
          <p:nvPr/>
        </p:nvSpPr>
        <p:spPr>
          <a:xfrm>
            <a:off x="731520" y="3931920"/>
            <a:ext cx="8229600" cy="18288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4005072"/>
            <a:ext cx="8010144" cy="1682496"/>
          </a:xfrm>
          <a:prstGeom prst="rect">
            <a:avLst/>
          </a:prstGeom>
          <a:noFill/>
        </p:spPr>
        <p:txBody>
          <a:bodyPr wrap="square">
            <a:spAutoFit/>
          </a:bodyPr>
          <a:lstStyle/>
          <a:p>
            <a:pPr>
              <a:spcAft>
                <a:spcPts val="100"/>
              </a:spcAft>
              <a:defRPr sz="1100">
                <a:solidFill>
                  <a:srgbClr val="7EC68E"/>
                </a:solidFill>
                <a:latin typeface="Consolas"/>
              </a:defRPr>
            </a:pPr>
            <a:r>
              <a:t># File .env (scaricato da Aura Console)</a:t>
            </a:r>
          </a:p>
          <a:p>
            <a:pPr>
              <a:spcAft>
                <a:spcPts val="100"/>
              </a:spcAft>
              <a:defRPr sz="1100">
                <a:solidFill>
                  <a:srgbClr val="7EC68E"/>
                </a:solidFill>
                <a:latin typeface="Consolas"/>
              </a:defRPr>
            </a:pPr>
            <a:r>
              <a:t>NEO4J_URI=neo4j+s://&lt;instance-id&gt;.databases.neo4j.io:7687</a:t>
            </a:r>
          </a:p>
          <a:p>
            <a:pPr>
              <a:spcAft>
                <a:spcPts val="100"/>
              </a:spcAft>
              <a:defRPr sz="1100">
                <a:solidFill>
                  <a:srgbClr val="7EC68E"/>
                </a:solidFill>
                <a:latin typeface="Consolas"/>
              </a:defRPr>
            </a:pPr>
            <a:r>
              <a:t>NEO4J_USERNAME=neo4j</a:t>
            </a:r>
          </a:p>
          <a:p>
            <a:pPr>
              <a:spcAft>
                <a:spcPts val="100"/>
              </a:spcAft>
              <a:defRPr sz="1100">
                <a:solidFill>
                  <a:srgbClr val="7EC68E"/>
                </a:solidFill>
                <a:latin typeface="Consolas"/>
              </a:defRPr>
            </a:pPr>
            <a:r>
              <a:t>NEO4J_PASSWORD=&lt;your-password&gt;</a:t>
            </a:r>
          </a:p>
          <a:p>
            <a:pPr>
              <a:spcAft>
                <a:spcPts val="100"/>
              </a:spcAft>
              <a:defRPr sz="1100">
                <a:solidFill>
                  <a:srgbClr val="7EC68E"/>
                </a:solidFill>
                <a:latin typeface="Consolas"/>
              </a:defRPr>
            </a:pPr>
          </a:p>
          <a:p>
            <a:pPr>
              <a:spcAft>
                <a:spcPts val="100"/>
              </a:spcAft>
              <a:defRPr sz="1100">
                <a:solidFill>
                  <a:srgbClr val="7EC68E"/>
                </a:solidFill>
                <a:latin typeface="Consolas"/>
              </a:defRPr>
            </a:pPr>
            <a:r>
              <a:t># Verifica connessione in Python</a:t>
            </a:r>
          </a:p>
          <a:p>
            <a:pPr>
              <a:spcAft>
                <a:spcPts val="100"/>
              </a:spcAft>
              <a:defRPr sz="1100">
                <a:solidFill>
                  <a:srgbClr val="7EC68E"/>
                </a:solidFill>
                <a:latin typeface="Consolas"/>
              </a:defRPr>
            </a:pPr>
            <a:r>
              <a:t>driver = GraphDatabase.driver(URI, auth=(USER, PASS))</a:t>
            </a:r>
          </a:p>
          <a:p>
            <a:pPr>
              <a:spcAft>
                <a:spcPts val="100"/>
              </a:spcAft>
              <a:defRPr sz="1100">
                <a:solidFill>
                  <a:srgbClr val="7EC68E"/>
                </a:solidFill>
                <a:latin typeface="Consolas"/>
              </a:defRPr>
            </a:pPr>
            <a:r>
              <a:t>driver.verify_connectivity()  # "Connected!"</a:t>
            </a:r>
          </a:p>
        </p:txBody>
      </p:sp>
      <p:sp>
        <p:nvSpPr>
          <p:cNvPr id="8" name="TextBox 7"/>
          <p:cNvSpPr txBox="1"/>
          <p:nvPr/>
        </p:nvSpPr>
        <p:spPr>
          <a:xfrm>
            <a:off x="731520" y="6035040"/>
            <a:ext cx="10515600" cy="365760"/>
          </a:xfrm>
          <a:prstGeom prst="rect">
            <a:avLst/>
          </a:prstGeom>
          <a:noFill/>
        </p:spPr>
        <p:txBody>
          <a:bodyPr wrap="square">
            <a:spAutoFit/>
          </a:bodyPr>
          <a:lstStyle/>
          <a:p>
            <a:pPr algn="l">
              <a:defRPr sz="1300" b="0">
                <a:solidFill>
                  <a:srgbClr val="F0C040"/>
                </a:solidFill>
                <a:latin typeface="Calibri"/>
              </a:defRPr>
            </a:pPr>
            <a:r>
              <a:t>La connessione verrà testata insieme durante la Sessione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72936"/>
        </a:solidFill>
        <a:effectLst/>
      </p:bgPr>
    </p:bg>
    <p:spTree>
      <p:nvGrpSpPr>
        <p:cNvPr id="1" name=""/>
        <p:cNvGrpSpPr/>
        <p:nvPr/>
      </p:nvGrpSpPr>
      <p:grpSpPr/>
      <p:sp>
        <p:nvSpPr>
          <p:cNvPr id="2" name="Rectangle 1"/>
          <p:cNvSpPr/>
          <p:nvPr/>
        </p:nvSpPr>
        <p:spPr>
          <a:xfrm>
            <a:off x="731520" y="25603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1097280"/>
          </a:xfrm>
          <a:prstGeom prst="rect">
            <a:avLst/>
          </a:prstGeom>
          <a:noFill/>
        </p:spPr>
        <p:txBody>
          <a:bodyPr wrap="square">
            <a:spAutoFit/>
          </a:bodyPr>
          <a:lstStyle/>
          <a:p>
            <a:pPr algn="ctr">
              <a:defRPr sz="4000" b="1">
                <a:solidFill>
                  <a:srgbClr val="F0C040"/>
                </a:solidFill>
                <a:latin typeface="Calibri"/>
              </a:defRPr>
            </a:pPr>
            <a:r>
              <a:t>Pronti per iniziare?</a:t>
            </a:r>
          </a:p>
        </p:txBody>
      </p:sp>
      <p:sp>
        <p:nvSpPr>
          <p:cNvPr id="4" name="TextBox 3"/>
          <p:cNvSpPr txBox="1"/>
          <p:nvPr/>
        </p:nvSpPr>
        <p:spPr>
          <a:xfrm>
            <a:off x="914400" y="2743200"/>
            <a:ext cx="10058400" cy="548640"/>
          </a:xfrm>
          <a:prstGeom prst="rect">
            <a:avLst/>
          </a:prstGeom>
          <a:noFill/>
        </p:spPr>
        <p:txBody>
          <a:bodyPr wrap="square">
            <a:spAutoFit/>
          </a:bodyPr>
          <a:lstStyle/>
          <a:p>
            <a:pPr algn="ctr">
              <a:defRPr sz="2200" b="0">
                <a:solidFill>
                  <a:srgbClr val="FFFFFF"/>
                </a:solidFill>
                <a:latin typeface="Calibri"/>
              </a:defRPr>
            </a:pPr>
            <a:r>
              <a:t>Sessione 1: Primi Passi con i Grafi</a:t>
            </a:r>
          </a:p>
        </p:txBody>
      </p:sp>
      <p:sp>
        <p:nvSpPr>
          <p:cNvPr id="5" name="TextBox 4"/>
          <p:cNvSpPr txBox="1"/>
          <p:nvPr/>
        </p:nvSpPr>
        <p:spPr>
          <a:xfrm>
            <a:off x="914400" y="3657600"/>
            <a:ext cx="10058400" cy="457200"/>
          </a:xfrm>
          <a:prstGeom prst="rect">
            <a:avLst/>
          </a:prstGeom>
          <a:noFill/>
        </p:spPr>
        <p:txBody>
          <a:bodyPr wrap="square">
            <a:spAutoFit/>
          </a:bodyPr>
          <a:lstStyle/>
          <a:p>
            <a:pPr algn="ctr">
              <a:defRPr sz="1500" b="0">
                <a:solidFill>
                  <a:srgbClr val="CCCCCC"/>
                </a:solidFill>
                <a:latin typeface="Calibri"/>
              </a:defRPr>
            </a:pPr>
            <a:r>
              <a:t>Neo4j AuraDB  |  Python Driver  |  Cypher  |  Org Graph</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AWS Summit">
  <a:themeElements>
    <a:clrScheme name="Summits 2023">
      <a:dk1>
        <a:sysClr val="windowText" lastClr="000000"/>
      </a:dk1>
      <a:lt1>
        <a:sysClr val="window" lastClr="FFFFFF"/>
      </a:lt1>
      <a:dk2>
        <a:srgbClr val="000036"/>
      </a:dk2>
      <a:lt2>
        <a:srgbClr val="F2F4F4"/>
      </a:lt2>
      <a:accent1>
        <a:srgbClr val="289EFF"/>
      </a:accent1>
      <a:accent2>
        <a:srgbClr val="0D9F91"/>
      </a:accent2>
      <a:accent3>
        <a:srgbClr val="7E4FF3"/>
      </a:accent3>
      <a:accent4>
        <a:srgbClr val="DB2BB6"/>
      </a:accent4>
      <a:accent5>
        <a:srgbClr val="3B3BA8"/>
      </a:accent5>
      <a:accent6>
        <a:srgbClr val="FFAE00"/>
      </a:accent6>
      <a:hlink>
        <a:srgbClr val="289EFF"/>
      </a:hlink>
      <a:folHlink>
        <a:srgbClr val="289EFF"/>
      </a:folHlink>
    </a:clrScheme>
    <a:fontScheme name="Ember Display Heavy Normal">
      <a:majorFont>
        <a:latin typeface="Amazon Ember Display Heav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extLst>
    <a:ext uri="{05A4C25C-085E-4340-85A3-A5531E510DB2}">
      <thm15:themeFamily xmlns:thm15="http://schemas.microsoft.com/office/thememl/2012/main" name="Summits2023_Template_E5_20221104.potx" id="{A56BE9F4-D30D-4077-9DE6-56BC56D8BE09}" vid="{A27EAEEB-49CB-4ED0-B294-A2D0142F5203}"/>
    </a:ext>
  </a:extLst>
</a:theme>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2</TotalTime>
  <Words>0</Words>
  <Application>Microsoft Office PowerPoint</Application>
  <PresentationFormat>Widescreen</PresentationFormat>
  <Paragraphs>0</Paragraphs>
  <Slides>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Amazon Ember Display</vt:lpstr>
      <vt:lpstr>Arial</vt:lpstr>
      <vt:lpstr>Helvetica Light</vt:lpstr>
      <vt:lpstr>Ubuntu</vt:lpstr>
      <vt:lpstr>Wingdings</vt:lpstr>
      <vt:lpstr>1_AWS Summit</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BOCCHI, LEONARDO</dc:creator>
  <cp:lastModifiedBy>BOCCHI, LEONARDO</cp:lastModifiedBy>
  <cp:revision>1</cp:revision>
  <dcterms:created xsi:type="dcterms:W3CDTF">2026-07-10T07:18:38Z</dcterms:created>
  <dcterms:modified xsi:type="dcterms:W3CDTF">2026-07-10T07:20:50Z</dcterms:modified>
</cp:coreProperties>
</file>