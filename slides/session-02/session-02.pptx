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5.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8.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5" Type="http://schemas.openxmlformats.org/officeDocument/2006/relationships/image" Target="../media/image12.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 Id="rId14" Type="http://schemas.openxmlformats.org/officeDocument/2006/relationships/hyperlink" Target="http://www.capgemini.com/"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Content Placeholder 16">
            <a:extLst>
              <a:ext uri="{FF2B5EF4-FFF2-40B4-BE49-F238E27FC236}">
                <a16:creationId xmlns:a16="http://schemas.microsoft.com/office/drawing/2014/main" id="{810E1061-A44A-A554-F24D-33361C93E5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279" r="18225"/>
          <a:stretch/>
        </p:blipFill>
        <p:spPr>
          <a:xfrm>
            <a:off x="6153150" y="1"/>
            <a:ext cx="6038850" cy="6858000"/>
          </a:xfrm>
          <a:prstGeom prst="rect">
            <a:avLst/>
          </a:prstGeom>
        </p:spPr>
      </p:pic>
      <p:pic>
        <p:nvPicPr>
          <p:cNvPr id="2" name="Picture 1" descr="A picture containing lamp&#10;&#10;Description automatically generated">
            <a:extLst>
              <a:ext uri="{FF2B5EF4-FFF2-40B4-BE49-F238E27FC236}">
                <a16:creationId xmlns:a16="http://schemas.microsoft.com/office/drawing/2014/main" id="{784FD2C4-7C76-FDA5-3DDA-6F3155DF742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rot="3600000">
            <a:off x="611517" y="-2"/>
            <a:ext cx="9695699" cy="6858000"/>
          </a:xfrm>
          <a:prstGeom prst="rect">
            <a:avLst/>
          </a:prstGeom>
        </p:spPr>
      </p:pic>
      <p:sp>
        <p:nvSpPr>
          <p:cNvPr id="3" name="Title 1">
            <a:extLst>
              <a:ext uri="{FF2B5EF4-FFF2-40B4-BE49-F238E27FC236}">
                <a16:creationId xmlns:a16="http://schemas.microsoft.com/office/drawing/2014/main" id="{E93AA952-AC13-ABF0-FA1E-8CA3E3C3A877}"/>
              </a:ext>
            </a:extLst>
          </p:cNvPr>
          <p:cNvSpPr>
            <a:spLocks noGrp="1"/>
          </p:cNvSpPr>
          <p:nvPr>
            <p:ph type="ctrTitle" hasCustomPrompt="1"/>
          </p:nvPr>
        </p:nvSpPr>
        <p:spPr bwMode="invGray">
          <a:xfrm>
            <a:off x="191344" y="3287890"/>
            <a:ext cx="4494765"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3200" b="0" cap="all" baseline="0" dirty="0">
                <a:solidFill>
                  <a:schemeClr val="tx1"/>
                </a:solidFill>
                <a:latin typeface="Ubuntu" panose="020B0504030602030204" pitchFamily="34" charset="0"/>
              </a:defRPr>
            </a:lvl1pPr>
          </a:lstStyle>
          <a:p>
            <a:pPr marL="0" lvl="0"/>
            <a:r>
              <a:rPr lang="en-US"/>
              <a:t>SECTION TITLE ALL CAPS, LOREM IPSUM DOLOR AMET.</a:t>
            </a:r>
          </a:p>
        </p:txBody>
      </p:sp>
    </p:spTree>
    <p:extLst>
      <p:ext uri="{BB962C8B-B14F-4D97-AF65-F5344CB8AC3E}">
        <p14:creationId xmlns:p14="http://schemas.microsoft.com/office/powerpoint/2010/main" val="1741874436"/>
      </p:ext>
    </p:extLst>
  </p:cSld>
  <p:clrMapOvr>
    <a:masterClrMapping/>
  </p:clrMapOvr>
  <p:extLst>
    <p:ext uri="{DCECCB84-F9BA-43D5-87BE-67443E8EF086}">
      <p15:sldGuideLst xmlns:p15="http://schemas.microsoft.com/office/powerpoint/2012/main">
        <p15:guide id="1" orient="horz" pos="2376">
          <p15:clr>
            <a:srgbClr val="FBAE40"/>
          </p15:clr>
        </p15:guide>
        <p15:guide id="2" pos="3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220E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223048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04800" y="1899138"/>
            <a:ext cx="11582398" cy="1717393"/>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304799" y="822325"/>
            <a:ext cx="11582399" cy="424732"/>
          </a:xfrm>
          <a:prstGeom prst="rect">
            <a:avLst/>
          </a:prstGeom>
        </p:spPr>
        <p:txBody>
          <a:bodyPr anchor="ctr" anchorCtr="0"/>
          <a:lstStyle>
            <a:lvl1pPr marL="0" indent="0">
              <a:buNone/>
              <a:defRPr>
                <a:solidFill>
                  <a:srgbClr val="01AADD"/>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304800" y="304801"/>
            <a:ext cx="11582400" cy="495300"/>
          </a:xfrm>
        </p:spPr>
        <p:txBody>
          <a:bodyPr anchor="ctr" anchorCtr="0"/>
          <a:lstStyle>
            <a:lvl1pPr>
              <a:defRPr sz="2800" cap="all" baseline="0"/>
            </a:lvl1pPr>
          </a:lstStyle>
          <a:p>
            <a:r>
              <a:rPr lang="en-US"/>
              <a:t>Click to edit Master title style</a:t>
            </a:r>
            <a:endParaRPr lang="de-DE"/>
          </a:p>
        </p:txBody>
      </p:sp>
    </p:spTree>
    <p:extLst>
      <p:ext uri="{BB962C8B-B14F-4D97-AF65-F5344CB8AC3E}">
        <p14:creationId xmlns:p14="http://schemas.microsoft.com/office/powerpoint/2010/main" val="33899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C7EC611B-E20B-F9F1-FC23-540C98C6B806}"/>
              </a:ext>
            </a:extLst>
          </p:cNvPr>
          <p:cNvSpPr/>
          <p:nvPr userDrawn="1"/>
        </p:nvSpPr>
        <p:spPr>
          <a:xfrm>
            <a:off x="7469900" y="-1"/>
            <a:ext cx="4722676" cy="6858001"/>
          </a:xfrm>
          <a:custGeom>
            <a:avLst/>
            <a:gdLst>
              <a:gd name="connsiteX0" fmla="*/ 0 w 4722101"/>
              <a:gd name="connsiteY0" fmla="*/ 6858001 h 6858001"/>
              <a:gd name="connsiteX1" fmla="*/ 1180525 w 4722101"/>
              <a:gd name="connsiteY1" fmla="*/ 0 h 6858001"/>
              <a:gd name="connsiteX2" fmla="*/ 4722101 w 4722101"/>
              <a:gd name="connsiteY2" fmla="*/ 0 h 6858001"/>
              <a:gd name="connsiteX3" fmla="*/ 3541576 w 4722101"/>
              <a:gd name="connsiteY3" fmla="*/ 6858001 h 6858001"/>
              <a:gd name="connsiteX4" fmla="*/ 0 w 4722101"/>
              <a:gd name="connsiteY4" fmla="*/ 6858001 h 6858001"/>
              <a:gd name="connsiteX0" fmla="*/ 0 w 4722676"/>
              <a:gd name="connsiteY0" fmla="*/ 6858001 h 6858001"/>
              <a:gd name="connsiteX1" fmla="*/ 1180525 w 4722676"/>
              <a:gd name="connsiteY1" fmla="*/ 0 h 6858001"/>
              <a:gd name="connsiteX2" fmla="*/ 4722101 w 4722676"/>
              <a:gd name="connsiteY2" fmla="*/ 0 h 6858001"/>
              <a:gd name="connsiteX3" fmla="*/ 4722676 w 4722676"/>
              <a:gd name="connsiteY3" fmla="*/ 6858001 h 6858001"/>
              <a:gd name="connsiteX4" fmla="*/ 0 w 4722676"/>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2676" h="6858001">
                <a:moveTo>
                  <a:pt x="0" y="6858001"/>
                </a:moveTo>
                <a:lnTo>
                  <a:pt x="1180525" y="0"/>
                </a:lnTo>
                <a:lnTo>
                  <a:pt x="4722101" y="0"/>
                </a:lnTo>
                <a:cubicBezTo>
                  <a:pt x="4722293" y="2286000"/>
                  <a:pt x="4722484" y="4572001"/>
                  <a:pt x="4722676" y="6858001"/>
                </a:cubicBezTo>
                <a:lnTo>
                  <a:pt x="0" y="6858001"/>
                </a:lnTo>
                <a:close/>
              </a:path>
            </a:pathLst>
          </a:custGeom>
          <a:gradFill flip="none" rotWithShape="1">
            <a:gsLst>
              <a:gs pos="0">
                <a:srgbClr val="C51248"/>
              </a:gs>
              <a:gs pos="50000">
                <a:srgbClr val="512677"/>
              </a:gs>
              <a:gs pos="100000">
                <a:srgbClr val="2C2A7A"/>
              </a:gs>
            </a:gsLst>
            <a:path path="circle">
              <a:fillToRect l="100000" b="100000"/>
            </a:path>
            <a:tileRect t="-100000" r="-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it-IT" sz="3200" b="0" i="0" u="none" strike="noStrike" cap="none" spc="0" normalizeH="0" baseline="0">
              <a:ln>
                <a:noFill/>
              </a:ln>
              <a:solidFill>
                <a:srgbClr val="FFFFFF"/>
              </a:solidFill>
              <a:effectLst/>
              <a:uFillTx/>
              <a:latin typeface="Helvetica Light"/>
              <a:ea typeface="Helvetica Light"/>
              <a:cs typeface="Helvetica Light"/>
              <a:sym typeface="Helvetica Light"/>
            </a:endParaRP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8769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rgbClr val="24134F"/>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93831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35283282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3219956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66480267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150317414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4" y="4"/>
          <a:ext cx="180998"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 y="4"/>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2"/>
            </p:custDataLst>
          </p:nvPr>
        </p:nvSpPr>
        <p:spPr/>
        <p:txBody>
          <a:bodyPr/>
          <a:lstStyle>
            <a:lvl1pPr>
              <a:defRPr>
                <a:solidFill>
                  <a:schemeClr val="tx1"/>
                </a:solidFill>
              </a:defRPr>
            </a:lvl1pPr>
          </a:lstStyle>
          <a:p>
            <a:r>
              <a:rPr lang="en-US" noProof="0"/>
              <a:t>Click to edit Master title style</a:t>
            </a:r>
            <a:endParaRPr lang="en-US"/>
          </a:p>
        </p:txBody>
      </p:sp>
      <p:sp>
        <p:nvSpPr>
          <p:cNvPr id="3" name="Content Placeholder 2"/>
          <p:cNvSpPr>
            <a:spLocks noGrp="1"/>
          </p:cNvSpPr>
          <p:nvPr>
            <p:ph idx="1"/>
            <p:custDataLst>
              <p:tags r:id="rId3"/>
            </p:custDataLst>
          </p:nvPr>
        </p:nvSpPr>
        <p:spPr>
          <a:xfrm>
            <a:off x="420081" y="1882776"/>
            <a:ext cx="11351847" cy="4384675"/>
          </a:xfrm>
        </p:spPr>
        <p:txBody>
          <a:bodyPr/>
          <a:lstStyle>
            <a:lvl1pPr>
              <a:defRPr b="0"/>
            </a:lvl1pPr>
            <a:lvl2pPr marL="457083" indent="-223781">
              <a:defRPr/>
            </a:lvl2pPr>
            <a:lvl3pPr>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4"/>
            </p:custDataLst>
          </p:nvPr>
        </p:nvSpPr>
        <p:spPr>
          <a:xfrm>
            <a:off x="420081" y="1309688"/>
            <a:ext cx="11351847" cy="548640"/>
          </a:xfr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350991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defTabSz="914400">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defTabSz="914400"/>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243245036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titolo">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816555" y="2294992"/>
            <a:ext cx="8944075" cy="615552"/>
          </a:xfrm>
          <a:prstGeom prst="rect">
            <a:avLst/>
          </a:prstGeom>
        </p:spPr>
        <p:txBody>
          <a:bodyPr lIns="0" bIns="0"/>
          <a:lstStyle>
            <a:lvl1pPr>
              <a:defRPr>
                <a:solidFill>
                  <a:srgbClr val="C3231E"/>
                </a:solidFill>
              </a:defRPr>
            </a:lvl1pPr>
          </a:lstStyle>
          <a:p>
            <a:r>
              <a:rPr lang="en-US" noProof="0"/>
              <a:t>Presentation title</a:t>
            </a:r>
          </a:p>
        </p:txBody>
      </p:sp>
      <p:sp>
        <p:nvSpPr>
          <p:cNvPr id="3" name="Sottotitolo 2"/>
          <p:cNvSpPr>
            <a:spLocks noGrp="1"/>
          </p:cNvSpPr>
          <p:nvPr>
            <p:ph type="subTitle" idx="1" hasCustomPrompt="1"/>
          </p:nvPr>
        </p:nvSpPr>
        <p:spPr>
          <a:xfrm>
            <a:off x="2816555" y="2930059"/>
            <a:ext cx="8944075" cy="345637"/>
          </a:xfrm>
          <a:prstGeom prst="rect">
            <a:avLst/>
          </a:prstGeom>
        </p:spPr>
        <p:txBody>
          <a:bodyPr lIns="0" rIns="0" bIns="0" anchor="t"/>
          <a:lstStyle>
            <a:lvl1pPr marL="0" indent="0" algn="l">
              <a:buNone/>
              <a:defRPr>
                <a:solidFill>
                  <a:srgbClr val="6E6E6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Possible subtitle of the presentation</a:t>
            </a:r>
          </a:p>
        </p:txBody>
      </p:sp>
      <p:sp>
        <p:nvSpPr>
          <p:cNvPr id="15" name="Segnaposto testo 14"/>
          <p:cNvSpPr>
            <a:spLocks noGrp="1"/>
          </p:cNvSpPr>
          <p:nvPr>
            <p:ph type="body" sz="quarter" idx="13" hasCustomPrompt="1"/>
          </p:nvPr>
        </p:nvSpPr>
        <p:spPr>
          <a:xfrm>
            <a:off x="2816555" y="4725144"/>
            <a:ext cx="3149600" cy="457200"/>
          </a:xfrm>
          <a:prstGeom prst="rect">
            <a:avLst/>
          </a:prstGeom>
        </p:spPr>
        <p:txBody>
          <a:bodyPr vert="horz" lIns="0" tIns="0" rIns="0" bIns="0"/>
          <a:lstStyle>
            <a:lvl1pPr>
              <a:defRPr sz="1600">
                <a:solidFill>
                  <a:srgbClr val="6E6E6E"/>
                </a:solidFill>
              </a:defRPr>
            </a:lvl1pPr>
          </a:lstStyle>
          <a:p>
            <a:pPr lvl="0"/>
            <a:r>
              <a:rPr lang="en-US" noProof="0"/>
              <a:t>Name and title </a:t>
            </a:r>
          </a:p>
        </p:txBody>
      </p:sp>
      <p:sp>
        <p:nvSpPr>
          <p:cNvPr id="8" name="Segnaposto testo 7"/>
          <p:cNvSpPr>
            <a:spLocks noGrp="1"/>
          </p:cNvSpPr>
          <p:nvPr>
            <p:ph type="body" sz="quarter" idx="14" hasCustomPrompt="1"/>
          </p:nvPr>
        </p:nvSpPr>
        <p:spPr>
          <a:xfrm>
            <a:off x="2817283" y="5311357"/>
            <a:ext cx="3148871" cy="344806"/>
          </a:xfrm>
          <a:prstGeom prst="rect">
            <a:avLst/>
          </a:prstGeom>
        </p:spPr>
        <p:txBody>
          <a:bodyPr vert="horz" lIns="0" rIns="0"/>
          <a:lstStyle>
            <a:lvl1pPr>
              <a:defRPr>
                <a:solidFill>
                  <a:srgbClr val="C3231E"/>
                </a:solidFill>
              </a:defRPr>
            </a:lvl1pPr>
            <a:lvl2pPr>
              <a:defRPr>
                <a:solidFill>
                  <a:srgbClr val="C3231E"/>
                </a:solidFill>
              </a:defRPr>
            </a:lvl2pPr>
            <a:lvl3pPr>
              <a:defRPr>
                <a:solidFill>
                  <a:srgbClr val="C3231E"/>
                </a:solidFill>
              </a:defRPr>
            </a:lvl3pPr>
            <a:lvl4pPr>
              <a:defRPr>
                <a:solidFill>
                  <a:srgbClr val="C3231E"/>
                </a:solidFill>
              </a:defRPr>
            </a:lvl4pPr>
            <a:lvl5pPr>
              <a:defRPr>
                <a:solidFill>
                  <a:srgbClr val="C3231E"/>
                </a:solidFill>
              </a:defRPr>
            </a:lvl5pPr>
          </a:lstStyle>
          <a:p>
            <a:pPr lvl="0"/>
            <a:r>
              <a:rPr lang="en-US" noProof="0"/>
              <a:t>City, Nation</a:t>
            </a:r>
          </a:p>
        </p:txBody>
      </p:sp>
      <p:sp>
        <p:nvSpPr>
          <p:cNvPr id="10" name="Segnaposto testo 9"/>
          <p:cNvSpPr>
            <a:spLocks noGrp="1"/>
          </p:cNvSpPr>
          <p:nvPr>
            <p:ph type="body" sz="quarter" idx="16" hasCustomPrompt="1"/>
          </p:nvPr>
        </p:nvSpPr>
        <p:spPr>
          <a:xfrm>
            <a:off x="2841601" y="5943600"/>
            <a:ext cx="9374716" cy="288000"/>
          </a:xfrm>
          <a:prstGeom prst="rect">
            <a:avLst/>
          </a:prstGeom>
        </p:spPr>
        <p:txBody>
          <a:bodyPr vert="horz" wrap="none" lIns="0" tIns="0" rIns="0" bIns="0" anchor="ctr" anchorCtr="0"/>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800"/>
            </a:lvl1pPr>
          </a:lstStyle>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lang="en-US" noProof="0"/>
              <a:t>Contains confidential proprietary and trade secrets information of CNH Industrial. Any use of this work without express written consent is strictly prohibited.</a:t>
            </a:r>
          </a:p>
          <a:p>
            <a:pPr lvl="0"/>
            <a:endParaRPr lang="en-US" noProof="0"/>
          </a:p>
        </p:txBody>
      </p:sp>
      <p:sp>
        <p:nvSpPr>
          <p:cNvPr id="14" name="Segnaposto testo 13"/>
          <p:cNvSpPr>
            <a:spLocks noGrp="1"/>
          </p:cNvSpPr>
          <p:nvPr>
            <p:ph type="body" sz="quarter" idx="17" hasCustomPrompt="1"/>
          </p:nvPr>
        </p:nvSpPr>
        <p:spPr>
          <a:xfrm>
            <a:off x="2817283" y="5689600"/>
            <a:ext cx="3148871" cy="228600"/>
          </a:xfrm>
          <a:prstGeom prst="rect">
            <a:avLst/>
          </a:prstGeom>
        </p:spPr>
        <p:txBody>
          <a:bodyPr vert="horz" lIns="0" tIns="0" rIns="0" bIns="0"/>
          <a:lstStyle>
            <a:lvl1pPr>
              <a:defRPr>
                <a:solidFill>
                  <a:srgbClr val="6E6E6E"/>
                </a:solidFill>
              </a:defRPr>
            </a:lvl1pPr>
          </a:lstStyle>
          <a:p>
            <a:r>
              <a:rPr lang="en-US" sz="1200" noProof="0">
                <a:solidFill>
                  <a:srgbClr val="6E6E6E"/>
                </a:solidFill>
                <a:latin typeface="Arial"/>
                <a:cs typeface="Arial"/>
              </a:rPr>
              <a:t>May 5th, 2017</a:t>
            </a:r>
          </a:p>
        </p:txBody>
      </p:sp>
    </p:spTree>
    <p:extLst>
      <p:ext uri="{BB962C8B-B14F-4D97-AF65-F5344CB8AC3E}">
        <p14:creationId xmlns:p14="http://schemas.microsoft.com/office/powerpoint/2010/main" val="39280627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Tree>
    <p:extLst>
      <p:ext uri="{BB962C8B-B14F-4D97-AF65-F5344CB8AC3E}">
        <p14:creationId xmlns:p14="http://schemas.microsoft.com/office/powerpoint/2010/main" val="135493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09842407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45012534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74962155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2053489804"/>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9948612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3029437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586985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4" y="2886346"/>
            <a:ext cx="5125720"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a:solidFill>
                  <a:schemeClr val="accent1"/>
                </a:solidFill>
              </a:rPr>
              <a:t>the Collaborative Business Experience™</a:t>
            </a:r>
            <a:r>
              <a:rPr lang="en-US" sz="900">
                <a:solidFill>
                  <a:schemeClr val="tx1"/>
                </a:solidFill>
              </a:rPr>
              <a:t>, and draws on </a:t>
            </a:r>
            <a:r>
              <a:rPr lang="en-US" sz="900">
                <a:solidFill>
                  <a:schemeClr val="accent1"/>
                </a:solidFill>
              </a:rPr>
              <a:t>Rightshore</a:t>
            </a:r>
            <a:r>
              <a:rPr lang="en-US" sz="900" baseline="30000">
                <a:solidFill>
                  <a:schemeClr val="accent1"/>
                </a:solidFill>
              </a:rPr>
              <a:t>®</a:t>
            </a:r>
            <a:r>
              <a:rPr lang="en-US" sz="900">
                <a:solidFill>
                  <a:schemeClr val="tx1"/>
                </a:solidFill>
              </a:rPr>
              <a:t>, its worldwide delivery model.</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2018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hlinkClick r:id="rId14"/>
          </p:cNvPr>
          <p:cNvSpPr/>
          <p:nvPr userDrawn="1"/>
        </p:nvSpPr>
        <p:spPr>
          <a:xfrm>
            <a:off x="6532245" y="4445639"/>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Tree>
    <p:extLst>
      <p:ext uri="{BB962C8B-B14F-4D97-AF65-F5344CB8AC3E}">
        <p14:creationId xmlns:p14="http://schemas.microsoft.com/office/powerpoint/2010/main" val="4025502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spTree>
    <p:extLst>
      <p:ext uri="{BB962C8B-B14F-4D97-AF65-F5344CB8AC3E}">
        <p14:creationId xmlns:p14="http://schemas.microsoft.com/office/powerpoint/2010/main" val="983185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tx1"/>
                </a:solidFill>
                <a:effectLst/>
              </a:rPr>
              <a:t>Get the Future You Want </a:t>
            </a:r>
            <a:r>
              <a:rPr lang="en-US" sz="900">
                <a:solidFill>
                  <a:schemeClr val="tx1"/>
                </a:solidFill>
                <a:effectLst/>
              </a:rPr>
              <a:t>|</a:t>
            </a:r>
            <a:r>
              <a:rPr lang="en-GB" sz="900">
                <a:solidFill>
                  <a:schemeClr val="tx1"/>
                </a:solidFill>
                <a:effectLst/>
              </a:rPr>
              <a:t> </a:t>
            </a:r>
            <a:r>
              <a:rPr lang="en-US" sz="105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7682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657745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 name="Groupe 1">
            <a:extLst>
              <a:ext uri="{FF2B5EF4-FFF2-40B4-BE49-F238E27FC236}">
                <a16:creationId xmlns:a16="http://schemas.microsoft.com/office/drawing/2014/main" id="{51FFF118-98EE-8DA3-DBD4-BAFD857D317B}"/>
              </a:ext>
            </a:extLst>
          </p:cNvPr>
          <p:cNvGrpSpPr>
            <a:grpSpLocks noChangeAspect="1"/>
          </p:cNvGrpSpPr>
          <p:nvPr userDrawn="1"/>
        </p:nvGrpSpPr>
        <p:grpSpPr>
          <a:xfrm>
            <a:off x="11562163" y="205059"/>
            <a:ext cx="419436" cy="388988"/>
            <a:chOff x="11501102" y="171573"/>
            <a:chExt cx="419436" cy="388988"/>
          </a:xfrm>
          <a:solidFill>
            <a:schemeClr val="tx1"/>
          </a:solidFill>
        </p:grpSpPr>
        <p:sp>
          <p:nvSpPr>
            <p:cNvPr id="11" name="Freeform 13">
              <a:extLst>
                <a:ext uri="{FF2B5EF4-FFF2-40B4-BE49-F238E27FC236}">
                  <a16:creationId xmlns:a16="http://schemas.microsoft.com/office/drawing/2014/main" id="{6B25F92B-C157-3ACB-55CE-8C228CF85F7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sp>
          <p:nvSpPr>
            <p:cNvPr id="12" name="Freeform 14">
              <a:extLst>
                <a:ext uri="{FF2B5EF4-FFF2-40B4-BE49-F238E27FC236}">
                  <a16:creationId xmlns:a16="http://schemas.microsoft.com/office/drawing/2014/main" id="{CF1B011F-6FE9-3EE4-8000-222C8F9DE23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grpSp>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304801" y="1485900"/>
            <a:ext cx="11582400" cy="1855893"/>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3">
            <a:extLst>
              <a:ext uri="{FF2B5EF4-FFF2-40B4-BE49-F238E27FC236}">
                <a16:creationId xmlns:a16="http://schemas.microsoft.com/office/drawing/2014/main" id="{4CAD4279-FBF3-4755-ADA6-63C789BE8BA1}"/>
              </a:ext>
            </a:extLst>
          </p:cNvPr>
          <p:cNvSpPr txBox="1">
            <a:spLocks noChangeArrowheads="1"/>
          </p:cNvSpPr>
          <p:nvPr userDrawn="1"/>
        </p:nvSpPr>
        <p:spPr bwMode="white">
          <a:xfrm>
            <a:off x="7924801" y="6544949"/>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r" defTabSz="1097212" eaLnBrk="1" fontAlgn="auto" hangingPunct="1">
              <a:spcBef>
                <a:spcPts val="0"/>
              </a:spcBef>
              <a:spcAft>
                <a:spcPts val="0"/>
              </a:spcAft>
              <a:defRPr/>
            </a:pPr>
            <a:r>
              <a:rPr lang="en-US" altLang="x-none" sz="700" b="0" i="0">
                <a:solidFill>
                  <a:schemeClr val="tx1"/>
                </a:solidFill>
                <a:latin typeface="Ubuntu" panose="020B0504030602030204" pitchFamily="34" charset="0"/>
                <a:ea typeface="Amazon Ember Display" panose="020F0603020204020204" pitchFamily="34" charset="0"/>
                <a:cs typeface="Amazon Ember Display" panose="020F0603020204020204" pitchFamily="34" charset="0"/>
              </a:rPr>
              <a:t>© 2024, Capgemini S.p.A. or its affiliates. All rights reserved.</a:t>
            </a:r>
          </a:p>
        </p:txBody>
      </p:sp>
    </p:spTree>
    <p:extLst>
      <p:ext uri="{BB962C8B-B14F-4D97-AF65-F5344CB8AC3E}">
        <p14:creationId xmlns:p14="http://schemas.microsoft.com/office/powerpoint/2010/main" val="3854848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xStyles>
    <p:titleStyle>
      <a:lvl1pPr algn="l" defTabSz="914400" rtl="0" eaLnBrk="1" latinLnBrk="0" hangingPunct="1">
        <a:lnSpc>
          <a:spcPct val="90000"/>
        </a:lnSpc>
        <a:spcBef>
          <a:spcPct val="0"/>
        </a:spcBef>
        <a:buNone/>
        <a:defRPr sz="3600" kern="1200" spc="-100" baseline="0">
          <a:solidFill>
            <a:schemeClr val="tx1"/>
          </a:solidFill>
          <a:latin typeface="Ubuntu" panose="020B0504030602030204" pitchFamily="34" charset="0"/>
          <a:ea typeface="+mj-ea"/>
          <a:cs typeface="+mj-cs"/>
        </a:defRPr>
      </a:lvl1pPr>
    </p:titleStyle>
    <p:bodyStyle>
      <a:lvl1pPr marL="228600" indent="-228600" algn="l" defTabSz="914400" rtl="0" eaLnBrk="1" latinLnBrk="0" hangingPunct="1">
        <a:lnSpc>
          <a:spcPct val="90000"/>
        </a:lnSpc>
        <a:spcBef>
          <a:spcPts val="0"/>
        </a:spcBef>
        <a:spcAft>
          <a:spcPts val="1200"/>
        </a:spcAft>
        <a:buSzPct val="90000"/>
        <a:buFont typeface="Amazon Ember Display" panose="020F0603020204020204" pitchFamily="34" charset="0"/>
        <a:buChar char="•"/>
        <a:defRPr sz="2400" kern="1200">
          <a:solidFill>
            <a:schemeClr val="tx1"/>
          </a:solidFill>
          <a:latin typeface="Ubuntu" panose="020B0504030602030204" pitchFamily="34" charset="0"/>
          <a:ea typeface="+mn-ea"/>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Ubuntu" panose="020B0504030602030204" pitchFamily="34" charset="0"/>
          <a:ea typeface="+mn-ea"/>
          <a:cs typeface="+mn-cs"/>
        </a:defRPr>
      </a:lvl2pPr>
      <a:lvl3pPr marL="685800" indent="-228600" algn="l" defTabSz="914400" rtl="0" eaLnBrk="1" latinLnBrk="0" hangingPunct="1">
        <a:lnSpc>
          <a:spcPct val="90000"/>
        </a:lnSpc>
        <a:spcBef>
          <a:spcPts val="0"/>
        </a:spcBef>
        <a:spcAft>
          <a:spcPts val="600"/>
        </a:spcAft>
        <a:buFont typeface="Amazon Ember Display" panose="020F0603020204020204" pitchFamily="34" charset="0"/>
        <a:buChar char="–"/>
        <a:defRPr sz="1800" kern="1200">
          <a:solidFill>
            <a:schemeClr val="tx1"/>
          </a:solidFill>
          <a:latin typeface="Ubuntu" panose="020B0504030602030204" pitchFamily="34" charset="0"/>
          <a:ea typeface="+mn-ea"/>
          <a:cs typeface="+mn-cs"/>
        </a:defRPr>
      </a:lvl3pPr>
      <a:lvl4pPr marL="914400" indent="-228600" algn="l" defTabSz="914400" rtl="0" eaLnBrk="1" latinLnBrk="0" hangingPunct="1">
        <a:lnSpc>
          <a:spcPct val="90000"/>
        </a:lnSpc>
        <a:spcBef>
          <a:spcPts val="0"/>
        </a:spcBef>
        <a:spcAft>
          <a:spcPts val="600"/>
        </a:spcAft>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4pPr>
      <a:lvl5pPr marL="914400" indent="-228600" algn="l" defTabSz="914400" rtl="0" eaLnBrk="1" latinLnBrk="0" hangingPunct="1">
        <a:lnSpc>
          <a:spcPct val="90000"/>
        </a:lnSpc>
        <a:spcBef>
          <a:spcPts val="0"/>
        </a:spcBef>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92">
          <p15:clr>
            <a:srgbClr val="F26B43"/>
          </p15:clr>
        </p15:guide>
        <p15:guide id="4" orient="horz" pos="3912">
          <p15:clr>
            <a:srgbClr val="F26B43"/>
          </p15:clr>
        </p15:guide>
        <p15:guide id="5" pos="192">
          <p15:clr>
            <a:srgbClr val="F26B43"/>
          </p15:clr>
        </p15:guide>
        <p15:guide id="6" pos="7488">
          <p15:clr>
            <a:srgbClr val="F26B43"/>
          </p15:clr>
        </p15:guide>
        <p15:guide id="7" orient="horz" pos="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Rectangle 1"/>
          <p:cNvSpPr/>
          <p:nvPr/>
        </p:nvSpPr>
        <p:spPr>
          <a:xfrm>
            <a:off x="731520" y="27432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188720"/>
            <a:ext cx="10058400" cy="1097280"/>
          </a:xfrm>
          <a:prstGeom prst="rect">
            <a:avLst/>
          </a:prstGeom>
          <a:noFill/>
        </p:spPr>
        <p:txBody>
          <a:bodyPr wrap="square">
            <a:spAutoFit/>
          </a:bodyPr>
          <a:lstStyle/>
          <a:p>
            <a:pPr algn="ctr">
              <a:defRPr sz="4400" b="1">
                <a:solidFill>
                  <a:srgbClr val="F0C040"/>
                </a:solidFill>
                <a:latin typeface="Calibri"/>
              </a:defRPr>
            </a:pPr>
            <a:r>
              <a:t>Cypher: Da Basi a Query Reali</a:t>
            </a:r>
          </a:p>
        </p:txBody>
      </p:sp>
      <p:sp>
        <p:nvSpPr>
          <p:cNvPr id="4" name="TextBox 3"/>
          <p:cNvSpPr txBox="1"/>
          <p:nvPr/>
        </p:nvSpPr>
        <p:spPr>
          <a:xfrm>
            <a:off x="914400" y="3017520"/>
            <a:ext cx="10058400" cy="731520"/>
          </a:xfrm>
          <a:prstGeom prst="rect">
            <a:avLst/>
          </a:prstGeom>
          <a:noFill/>
        </p:spPr>
        <p:txBody>
          <a:bodyPr wrap="square">
            <a:spAutoFit/>
          </a:bodyPr>
          <a:lstStyle/>
          <a:p>
            <a:pPr algn="ctr">
              <a:defRPr sz="2600" b="0">
                <a:solidFill>
                  <a:srgbClr val="FFFFFF"/>
                </a:solidFill>
                <a:latin typeface="Calibri"/>
              </a:defRPr>
            </a:pPr>
            <a:r>
              <a:t>Sessione 2</a:t>
            </a:r>
          </a:p>
        </p:txBody>
      </p:sp>
      <p:sp>
        <p:nvSpPr>
          <p:cNvPr id="5" name="TextBox 4"/>
          <p:cNvSpPr txBox="1"/>
          <p:nvPr/>
        </p:nvSpPr>
        <p:spPr>
          <a:xfrm>
            <a:off x="914400" y="4389120"/>
            <a:ext cx="10058400" cy="457200"/>
          </a:xfrm>
          <a:prstGeom prst="rect">
            <a:avLst/>
          </a:prstGeom>
          <a:noFill/>
        </p:spPr>
        <p:txBody>
          <a:bodyPr wrap="square">
            <a:spAutoFit/>
          </a:bodyPr>
          <a:lstStyle/>
          <a:p>
            <a:pPr algn="ctr">
              <a:defRPr sz="1700" b="0">
                <a:solidFill>
                  <a:srgbClr val="CCCCCC"/>
                </a:solidFill>
                <a:latin typeface="Calibri"/>
              </a:defRPr>
            </a:pPr>
            <a:r>
              <a:t>Pattern matching, filtri, aggregazioni, subquery, tuning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Agenda</a:t>
            </a:r>
          </a:p>
        </p:txBody>
      </p:sp>
      <p:sp>
        <p:nvSpPr>
          <p:cNvPr id="3" name="TextBox 2"/>
          <p:cNvSpPr txBox="1"/>
          <p:nvPr/>
        </p:nvSpPr>
        <p:spPr>
          <a:xfrm>
            <a:off x="731520" y="1188720"/>
            <a:ext cx="10515600" cy="365760"/>
          </a:xfrm>
          <a:prstGeom prst="rect">
            <a:avLst/>
          </a:prstGeom>
          <a:noFill/>
        </p:spPr>
        <p:txBody>
          <a:bodyPr wrap="square">
            <a:spAutoFit/>
          </a:bodyPr>
          <a:lstStyle/>
          <a:p>
            <a:pPr algn="l">
              <a:defRPr sz="1800" b="1">
                <a:solidFill>
                  <a:srgbClr val="F08040"/>
                </a:solidFill>
                <a:latin typeface="Calibri"/>
              </a:defRPr>
            </a:pPr>
            <a:r>
              <a:t>Teoria</a:t>
            </a:r>
          </a:p>
        </p:txBody>
      </p:sp>
      <p:sp>
        <p:nvSpPr>
          <p:cNvPr id="4" name="TextBox 3"/>
          <p:cNvSpPr txBox="1"/>
          <p:nvPr/>
        </p:nvSpPr>
        <p:spPr>
          <a:xfrm>
            <a:off x="731520" y="1645920"/>
            <a:ext cx="3840480" cy="3474720"/>
          </a:xfrm>
          <a:prstGeom prst="rect">
            <a:avLst/>
          </a:prstGeom>
          <a:noFill/>
        </p:spPr>
        <p:txBody>
          <a:bodyPr wrap="square">
            <a:spAutoFit/>
          </a:bodyPr>
          <a:lstStyle/>
          <a:p>
            <a:pPr algn="l">
              <a:spcAft>
                <a:spcPts val="1100"/>
              </a:spcAft>
              <a:defRPr sz="1500">
                <a:solidFill>
                  <a:srgbClr val="FFFFFF"/>
                </a:solidFill>
                <a:latin typeface="Calibri"/>
              </a:defRPr>
            </a:pPr>
            <a:r>
              <a:t>•  Pattern matching avanzato (path variables)</a:t>
            </a:r>
          </a:p>
          <a:p>
            <a:pPr algn="l">
              <a:spcAft>
                <a:spcPts val="1100"/>
              </a:spcAft>
              <a:defRPr sz="1500">
                <a:solidFill>
                  <a:srgbClr val="FFFFFF"/>
                </a:solidFill>
                <a:latin typeface="Calibri"/>
              </a:defRPr>
            </a:pPr>
            <a:r>
              <a:t>•  Lunghezza variabile e quantified path patterns</a:t>
            </a:r>
          </a:p>
          <a:p>
            <a:pPr algn="l">
              <a:spcAft>
                <a:spcPts val="1100"/>
              </a:spcAft>
              <a:defRPr sz="1500">
                <a:solidFill>
                  <a:srgbClr val="FFFFFF"/>
                </a:solidFill>
                <a:latin typeface="Calibri"/>
              </a:defRPr>
            </a:pPr>
            <a:r>
              <a:t>•  shortestPath: il cammino minimo</a:t>
            </a:r>
          </a:p>
          <a:p>
            <a:pPr algn="l">
              <a:spcAft>
                <a:spcPts val="1100"/>
              </a:spcAft>
              <a:defRPr sz="1500">
                <a:solidFill>
                  <a:srgbClr val="FFFFFF"/>
                </a:solidFill>
                <a:latin typeface="Calibri"/>
              </a:defRPr>
            </a:pPr>
            <a:r>
              <a:t>•  MERGE vs CREATE: idempotenza</a:t>
            </a:r>
          </a:p>
          <a:p>
            <a:pPr algn="l">
              <a:spcAft>
                <a:spcPts val="1100"/>
              </a:spcAft>
              <a:defRPr sz="1500">
                <a:solidFill>
                  <a:srgbClr val="FFFFFF"/>
                </a:solidFill>
                <a:latin typeface="Calibri"/>
              </a:defRPr>
            </a:pPr>
            <a:r>
              <a:t>•  Filtri WHERE: logica, testo, NULL</a:t>
            </a:r>
          </a:p>
          <a:p>
            <a:pPr algn="l">
              <a:spcAft>
                <a:spcPts val="1100"/>
              </a:spcAft>
              <a:defRPr sz="1500">
                <a:solidFill>
                  <a:srgbClr val="FFFFFF"/>
                </a:solidFill>
                <a:latin typeface="Calibri"/>
              </a:defRPr>
            </a:pPr>
            <a:r>
              <a:t>•  Aggregazioni: COUNT, COLLECT, AVG</a:t>
            </a:r>
          </a:p>
          <a:p>
            <a:pPr algn="l">
              <a:spcAft>
                <a:spcPts val="1100"/>
              </a:spcAft>
              <a:defRPr sz="1500">
                <a:solidFill>
                  <a:srgbClr val="FFFFFF"/>
                </a:solidFill>
                <a:latin typeface="Calibri"/>
              </a:defRPr>
            </a:pPr>
            <a:r>
              <a:t>•  Subquery CALL { ... } e UNION</a:t>
            </a:r>
          </a:p>
        </p:txBody>
      </p:sp>
      <p:sp>
        <p:nvSpPr>
          <p:cNvPr id="5" name="TextBox 4"/>
          <p:cNvSpPr txBox="1"/>
          <p:nvPr/>
        </p:nvSpPr>
        <p:spPr>
          <a:xfrm>
            <a:off x="4754880" y="1188720"/>
            <a:ext cx="3840480" cy="365760"/>
          </a:xfrm>
          <a:prstGeom prst="rect">
            <a:avLst/>
          </a:prstGeom>
          <a:noFill/>
        </p:spPr>
        <p:txBody>
          <a:bodyPr wrap="square">
            <a:spAutoFit/>
          </a:bodyPr>
          <a:lstStyle/>
          <a:p>
            <a:pPr algn="l">
              <a:defRPr sz="1800" b="1">
                <a:solidFill>
                  <a:srgbClr val="F08040"/>
                </a:solidFill>
                <a:latin typeface="Calibri"/>
              </a:defRPr>
            </a:pPr>
            <a:r>
              <a:t>Pratica</a:t>
            </a:r>
          </a:p>
        </p:txBody>
      </p:sp>
      <p:sp>
        <p:nvSpPr>
          <p:cNvPr id="6" name="TextBox 5"/>
          <p:cNvSpPr txBox="1"/>
          <p:nvPr/>
        </p:nvSpPr>
        <p:spPr>
          <a:xfrm>
            <a:off x="4754880" y="1645920"/>
            <a:ext cx="3840480" cy="3474720"/>
          </a:xfrm>
          <a:prstGeom prst="rect">
            <a:avLst/>
          </a:prstGeom>
          <a:noFill/>
        </p:spPr>
        <p:txBody>
          <a:bodyPr wrap="square">
            <a:spAutoFit/>
          </a:bodyPr>
          <a:lstStyle/>
          <a:p>
            <a:pPr algn="l">
              <a:spcAft>
                <a:spcPts val="1100"/>
              </a:spcAft>
              <a:defRPr sz="1500">
                <a:solidFill>
                  <a:srgbClr val="FFFFFF"/>
                </a:solidFill>
                <a:latin typeface="Calibri"/>
              </a:defRPr>
            </a:pPr>
            <a:r>
              <a:t>•  Date, liste, mappe in Cypher</a:t>
            </a:r>
          </a:p>
          <a:p>
            <a:pPr algn="l">
              <a:spcAft>
                <a:spcPts val="1100"/>
              </a:spcAft>
              <a:defRPr sz="1500">
                <a:solidFill>
                  <a:srgbClr val="FFFFFF"/>
                </a:solidFill>
                <a:latin typeface="Calibri"/>
              </a:defRPr>
            </a:pPr>
            <a:r>
              <a:t>•  Ordinamento e paginazione</a:t>
            </a:r>
          </a:p>
          <a:p>
            <a:pPr algn="l">
              <a:spcAft>
                <a:spcPts val="1100"/>
              </a:spcAft>
              <a:defRPr sz="1500">
                <a:solidFill>
                  <a:srgbClr val="FFFFFF"/>
                </a:solidFill>
                <a:latin typeface="Calibri"/>
              </a:defRPr>
            </a:pPr>
            <a:r>
              <a:t>•  EXPLAIN / PROFILE: query tuning</a:t>
            </a:r>
          </a:p>
          <a:p>
            <a:pPr algn="l">
              <a:spcAft>
                <a:spcPts val="1100"/>
              </a:spcAft>
              <a:defRPr sz="1500">
                <a:solidFill>
                  <a:srgbClr val="FFFFFF"/>
                </a:solidFill>
                <a:latin typeface="Calibri"/>
              </a:defRPr>
            </a:pPr>
            <a:r>
              <a:t>•  Indici e parametri ($loc)</a:t>
            </a:r>
          </a:p>
          <a:p>
            <a:pPr algn="l">
              <a:spcAft>
                <a:spcPts val="1100"/>
              </a:spcAft>
              <a:defRPr sz="1500">
                <a:solidFill>
                  <a:srgbClr val="FFFFFF"/>
                </a:solidFill>
                <a:latin typeface="Calibri"/>
              </a:defRPr>
            </a:pPr>
            <a:r>
              <a:t>•  APOC essentials</a:t>
            </a:r>
          </a:p>
          <a:p>
            <a:pPr algn="l">
              <a:spcAft>
                <a:spcPts val="1100"/>
              </a:spcAft>
              <a:defRPr sz="1500">
                <a:solidFill>
                  <a:srgbClr val="FFFFFF"/>
                </a:solidFill>
                <a:latin typeface="Calibri"/>
              </a:defRPr>
            </a:pPr>
            <a:r>
              <a:t>•  Esercizi guidati sul Org Graph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Recap Sessione 1</a:t>
            </a:r>
          </a:p>
        </p:txBody>
      </p:sp>
      <p:sp>
        <p:nvSpPr>
          <p:cNvPr id="3" name="TextBox 2"/>
          <p:cNvSpPr txBox="1"/>
          <p:nvPr/>
        </p:nvSpPr>
        <p:spPr>
          <a:xfrm>
            <a:off x="731520" y="1051560"/>
            <a:ext cx="10515600" cy="2377440"/>
          </a:xfrm>
          <a:prstGeom prst="rect">
            <a:avLst/>
          </a:prstGeom>
          <a:noFill/>
        </p:spPr>
        <p:txBody>
          <a:bodyPr wrap="square">
            <a:spAutoFit/>
          </a:bodyPr>
          <a:lstStyle/>
          <a:p>
            <a:pPr algn="l">
              <a:spcAft>
                <a:spcPts val="1100"/>
              </a:spcAft>
              <a:defRPr sz="1500">
                <a:solidFill>
                  <a:srgbClr val="FFFFFF"/>
                </a:solidFill>
                <a:latin typeface="Calibri"/>
              </a:defRPr>
            </a:pPr>
            <a:r>
              <a:t>•  Property Graph Model: nodi, relazioni, labels, proprietà</a:t>
            </a:r>
          </a:p>
          <a:p>
            <a:pPr algn="l">
              <a:spcAft>
                <a:spcPts val="1100"/>
              </a:spcAft>
              <a:defRPr sz="1500">
                <a:solidFill>
                  <a:srgbClr val="FFFFFF"/>
                </a:solidFill>
                <a:latin typeface="Calibri"/>
              </a:defRPr>
            </a:pPr>
            <a:r>
              <a:t>•  Connessione a Neo4j con Python Driver (driver.execute_query)</a:t>
            </a:r>
          </a:p>
          <a:p>
            <a:pPr algn="l">
              <a:spcAft>
                <a:spcPts val="1100"/>
              </a:spcAft>
              <a:defRPr sz="1500">
                <a:solidFill>
                  <a:srgbClr val="FFFFFF"/>
                </a:solidFill>
                <a:latin typeface="Calibri"/>
              </a:defRPr>
            </a:pPr>
            <a:r>
              <a:t>•  MATCH + RETURN: pattern matching base</a:t>
            </a:r>
          </a:p>
          <a:p>
            <a:pPr algn="l">
              <a:spcAft>
                <a:spcPts val="1100"/>
              </a:spcAft>
              <a:defRPr sz="1500">
                <a:solidFill>
                  <a:srgbClr val="FFFFFF"/>
                </a:solidFill>
                <a:latin typeface="Calibri"/>
              </a:defRPr>
            </a:pPr>
            <a:r>
              <a:t>•  MERGE / CREATE per scrivere dati</a:t>
            </a:r>
          </a:p>
          <a:p>
            <a:pPr algn="l">
              <a:spcAft>
                <a:spcPts val="1100"/>
              </a:spcAft>
              <a:defRPr sz="1500">
                <a:solidFill>
                  <a:srgbClr val="FFFFFF"/>
                </a:solidFill>
                <a:latin typeface="Calibri"/>
              </a:defRPr>
            </a:pPr>
            <a:r>
              <a:t>•  UNWIND batching per caricamenti bulk (300× più veloce)</a:t>
            </a:r>
          </a:p>
          <a:p>
            <a:pPr algn="l">
              <a:spcAft>
                <a:spcPts val="1100"/>
              </a:spcAft>
              <a:defRPr sz="1500">
                <a:solidFill>
                  <a:srgbClr val="FFFFFF"/>
                </a:solidFill>
                <a:latin typeface="Calibri"/>
              </a:defRPr>
            </a:pPr>
            <a:r>
              <a:t>•  Constraints e indici per integrità e performance</a:t>
            </a:r>
          </a:p>
        </p:txBody>
      </p:sp>
      <p:sp>
        <p:nvSpPr>
          <p:cNvPr id="4" name="Rectangle 3"/>
          <p:cNvSpPr/>
          <p:nvPr/>
        </p:nvSpPr>
        <p:spPr>
          <a:xfrm>
            <a:off x="731520" y="39319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206240"/>
            <a:ext cx="10515600" cy="365760"/>
          </a:xfrm>
          <a:prstGeom prst="rect">
            <a:avLst/>
          </a:prstGeom>
          <a:noFill/>
        </p:spPr>
        <p:txBody>
          <a:bodyPr wrap="square">
            <a:spAutoFit/>
          </a:bodyPr>
          <a:lstStyle/>
          <a:p>
            <a:pPr algn="l">
              <a:defRPr sz="1800" b="1">
                <a:solidFill>
                  <a:srgbClr val="F08040"/>
                </a:solidFill>
                <a:latin typeface="Calibri"/>
              </a:defRPr>
            </a:pPr>
            <a:r>
              <a:t>Org Graph: il nostro dataset di riferimento</a:t>
            </a:r>
          </a:p>
        </p:txBody>
      </p:sp>
      <p:sp>
        <p:nvSpPr>
          <p:cNvPr id="6" name="TextBox 5"/>
          <p:cNvSpPr txBox="1"/>
          <p:nvPr/>
        </p:nvSpPr>
        <p:spPr>
          <a:xfrm>
            <a:off x="731520" y="4663440"/>
            <a:ext cx="10515600" cy="1645920"/>
          </a:xfrm>
          <a:prstGeom prst="rect">
            <a:avLst/>
          </a:prstGeom>
          <a:noFill/>
        </p:spPr>
        <p:txBody>
          <a:bodyPr wrap="square">
            <a:spAutoFit/>
          </a:bodyPr>
          <a:lstStyle/>
          <a:p>
            <a:pPr algn="l">
              <a:spcAft>
                <a:spcPts val="500"/>
              </a:spcAft>
              <a:defRPr sz="1300">
                <a:solidFill>
                  <a:srgbClr val="CCCCCC"/>
                </a:solidFill>
                <a:latin typeface="Calibri"/>
              </a:defRPr>
            </a:pPr>
            <a:r>
              <a:t>•  238 persone, 92 progetti, 54 skill, 2 supervisor</a:t>
            </a:r>
          </a:p>
          <a:p>
            <a:pPr algn="l">
              <a:spcAft>
                <a:spcPts val="500"/>
              </a:spcAft>
              <a:defRPr sz="1300">
                <a:solidFill>
                  <a:srgbClr val="CCCCCC"/>
                </a:solidFill>
                <a:latin typeface="Calibri"/>
              </a:defRPr>
            </a:pPr>
            <a:r>
              <a:t>•  Relazioni: HAS_SKILL {proficiency}, WORKED_ON {role}, REPORTS_TO</a:t>
            </a:r>
          </a:p>
          <a:p>
            <a:pPr algn="l">
              <a:spcAft>
                <a:spcPts val="500"/>
              </a:spcAft>
              <a:defRPr sz="1300">
                <a:solidFill>
                  <a:srgbClr val="CCCCCC"/>
                </a:solidFill>
                <a:latin typeface="Calibri"/>
              </a:defRPr>
            </a:pPr>
            <a:r>
              <a:t>•  Tutte le proprietà in INGLESE: name, employee_id, location, title, department</a:t>
            </a:r>
          </a:p>
          <a:p>
            <a:pPr algn="l">
              <a:spcAft>
                <a:spcPts val="500"/>
              </a:spcAft>
              <a:defRPr sz="1300">
                <a:solidFill>
                  <a:srgbClr val="CCCCCC"/>
                </a:solidFill>
                <a:latin typeface="Calibri"/>
              </a:defRPr>
            </a:pPr>
            <a:r>
              <a:t>•  Hosting su AuraDB Free Tier — le query le eseguiremo noi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Pattern MATCH Avanzati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In Cypher non si scrive COME navigare il grafo, ma QUALE forma si cerca. È il database a trovare il percorso.</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300"/>
              </a:spcAft>
              <a:defRPr sz="1200">
                <a:solidFill>
                  <a:srgbClr val="FFFFFF"/>
                </a:solidFill>
                <a:latin typeface="Calibri"/>
              </a:defRPr>
            </a:pPr>
            <a:r>
              <a:t>•  MATCH descrive una FORMA (template), non un algoritmo</a:t>
            </a:r>
          </a:p>
          <a:p>
            <a:pPr algn="l">
              <a:spcAft>
                <a:spcPts val="300"/>
              </a:spcAft>
              <a:defRPr sz="1200">
                <a:solidFill>
                  <a:srgbClr val="FFFFFF"/>
                </a:solidFill>
                <a:latin typeface="Calibri"/>
              </a:defRPr>
            </a:pPr>
            <a:r>
              <a:t>•  Pattern interi: nodi e relazioni si scrivono insieme</a:t>
            </a:r>
          </a:p>
          <a:p>
            <a:pPr algn="l">
              <a:spcAft>
                <a:spcPts val="300"/>
              </a:spcAft>
              <a:defRPr sz="1200">
                <a:solidFill>
                  <a:srgbClr val="FFFFFF"/>
                </a:solidFill>
                <a:latin typeface="Calibri"/>
              </a:defRPr>
            </a:pPr>
            <a:r>
              <a:t>•  Le variabili (p1, proj, p2) sono 'etichette' sui nodi trovati</a:t>
            </a:r>
          </a:p>
          <a:p>
            <a:pPr algn="l">
              <a:spcAft>
                <a:spcPts val="300"/>
              </a:spcAft>
              <a:defRPr sz="1200">
                <a:solidFill>
                  <a:srgbClr val="FFFFFF"/>
                </a:solidFill>
                <a:latin typeface="Calibri"/>
              </a:defRPr>
            </a:pPr>
            <a:r>
              <a:t>•  Un nodo può avere relazioni in entrata e in uscita</a:t>
            </a:r>
          </a:p>
          <a:p>
            <a:pPr algn="l">
              <a:spcAft>
                <a:spcPts val="300"/>
              </a:spcAft>
              <a:defRPr sz="1200">
                <a:solidFill>
                  <a:srgbClr val="FFFFFF"/>
                </a:solidFill>
                <a:latin typeface="Calibri"/>
              </a:defRPr>
            </a:pPr>
            <a:r>
              <a:t>•  Neo4j trova TUTTE le occorrenze della forma nel grafo</a:t>
            </a:r>
          </a:p>
          <a:p>
            <a:pPr algn="l">
              <a:spcAft>
                <a:spcPts val="300"/>
              </a:spcAft>
              <a:defRPr sz="1200">
                <a:solidFill>
                  <a:srgbClr val="FFFFFF"/>
                </a:solidFill>
                <a:latin typeface="Calibri"/>
              </a:defRPr>
            </a:pPr>
            <a:r>
              <a:t>•  Il pattern si legge come una frase: p1 ha lavorato a un progetto a cui ha lavorato p2</a:t>
            </a:r>
          </a:p>
        </p:txBody>
      </p:sp>
      <p:sp>
        <p:nvSpPr>
          <p:cNvPr id="5" name="Rectangle 4"/>
          <p:cNvSpPr/>
          <p:nvPr/>
        </p:nvSpPr>
        <p:spPr>
          <a:xfrm>
            <a:off x="5669280" y="1463040"/>
            <a:ext cx="4846320" cy="292608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2779776"/>
          </a:xfrm>
          <a:prstGeom prst="rect">
            <a:avLst/>
          </a:prstGeom>
          <a:noFill/>
        </p:spPr>
        <p:txBody>
          <a:bodyPr wrap="square">
            <a:spAutoFit/>
          </a:bodyPr>
          <a:lstStyle/>
          <a:p>
            <a:pPr>
              <a:spcAft>
                <a:spcPts val="100"/>
              </a:spcAft>
              <a:defRPr sz="1000">
                <a:solidFill>
                  <a:srgbClr val="7EC68E"/>
                </a:solidFill>
                <a:latin typeface="Consolas"/>
              </a:defRPr>
            </a:pPr>
            <a:r>
              <a:t>// Persone che lavorano INSIEME a un progetto:</a:t>
            </a:r>
          </a:p>
          <a:p>
            <a:pPr>
              <a:spcAft>
                <a:spcPts val="100"/>
              </a:spcAft>
              <a:defRPr sz="1000">
                <a:solidFill>
                  <a:srgbClr val="7EC68E"/>
                </a:solidFill>
                <a:latin typeface="Consolas"/>
              </a:defRPr>
            </a:pPr>
            <a:r>
              <a:t>MATCH (p1:Person)-[:WORKED_ON]-&gt;(proj:Project)</a:t>
            </a:r>
          </a:p>
          <a:p>
            <a:pPr>
              <a:spcAft>
                <a:spcPts val="100"/>
              </a:spcAft>
              <a:defRPr sz="1000">
                <a:solidFill>
                  <a:srgbClr val="7EC68E"/>
                </a:solidFill>
                <a:latin typeface="Consolas"/>
              </a:defRPr>
            </a:pPr>
            <a:r>
              <a:t>      &lt;-[:WORKED_ON]-(p2:Person)</a:t>
            </a:r>
          </a:p>
          <a:p>
            <a:pPr>
              <a:spcAft>
                <a:spcPts val="100"/>
              </a:spcAft>
              <a:defRPr sz="1000">
                <a:solidFill>
                  <a:srgbClr val="7EC68E"/>
                </a:solidFill>
                <a:latin typeface="Consolas"/>
              </a:defRPr>
            </a:pPr>
            <a:r>
              <a:t>RETURN p1.name, p2.name, proj.name</a:t>
            </a:r>
          </a:p>
          <a:p>
            <a:pPr>
              <a:spcAft>
                <a:spcPts val="100"/>
              </a:spcAft>
              <a:defRPr sz="1000">
                <a:solidFill>
                  <a:srgbClr val="7EC68E"/>
                </a:solidFill>
                <a:latin typeface="Consolas"/>
              </a:defRPr>
            </a:pPr>
            <a:r>
              <a:t>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Lettura del pattern:</a:t>
            </a:r>
          </a:p>
          <a:p>
            <a:pPr>
              <a:spcAft>
                <a:spcPts val="100"/>
              </a:spcAft>
              <a:defRPr sz="1000">
                <a:solidFill>
                  <a:srgbClr val="7EC68E"/>
                </a:solidFill>
                <a:latin typeface="Consolas"/>
              </a:defRPr>
            </a:pPr>
            <a:r>
              <a:t>// p1 -[:WORKED_ON]-&gt; proj &lt;-[:WORKED_ON]- p2</a:t>
            </a:r>
          </a:p>
          <a:p>
            <a:pPr>
              <a:spcAft>
                <a:spcPts val="100"/>
              </a:spcAft>
              <a:defRPr sz="1000">
                <a:solidFill>
                  <a:srgbClr val="7EC68E"/>
                </a:solidFill>
                <a:latin typeface="Consolas"/>
              </a:defRPr>
            </a:pPr>
            <a:r>
              <a:t>// proj è il nodo CONDIVISO tra i due:</a:t>
            </a:r>
          </a:p>
          <a:p>
            <a:pPr>
              <a:spcAft>
                <a:spcPts val="100"/>
              </a:spcAft>
              <a:defRPr sz="1000">
                <a:solidFill>
                  <a:srgbClr val="7EC68E"/>
                </a:solidFill>
                <a:latin typeface="Consolas"/>
              </a:defRPr>
            </a:pPr>
            <a:r>
              <a:t>// il "punto di incontro" sul progetto.</a:t>
            </a:r>
          </a:p>
        </p:txBody>
      </p:sp>
      <p:sp>
        <p:nvSpPr>
          <p:cNvPr id="7" name="Rectangle 6"/>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846320"/>
            <a:ext cx="10515600" cy="1097280"/>
          </a:xfrm>
          <a:prstGeom prst="rect">
            <a:avLst/>
          </a:prstGeom>
          <a:noFill/>
        </p:spPr>
        <p:txBody>
          <a:bodyPr wrap="square">
            <a:spAutoFit/>
          </a:bodyPr>
          <a:lstStyle/>
          <a:p>
            <a:pPr algn="l">
              <a:defRPr sz="1300" b="0">
                <a:solidFill>
                  <a:srgbClr val="F0C040"/>
                </a:solidFill>
                <a:latin typeface="Calibri"/>
              </a:defRPr>
            </a:pPr>
            <a:r>
              <a:t>Differenza chiave vs SQL: nessun JOIN da scrivere. Il pattern (p1)-[:WORKED_ON]-&gt;(proj)&lt;-[:WORKED_ON]-(p2) fa da 'self-join' naturale — le relazioni sono già nel grafo.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Path Variables</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Assegnando un PATH a una variabile si può analizzare l'intero percorso, non solo i singoli nodi.</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300"/>
              </a:spcAft>
              <a:defRPr sz="1300">
                <a:solidFill>
                  <a:srgbClr val="FFFFFF"/>
                </a:solidFill>
                <a:latin typeface="Calibri"/>
              </a:defRPr>
            </a:pPr>
            <a:r>
              <a:t>•  path = pattern — cattura l'INTERO percorso</a:t>
            </a:r>
          </a:p>
          <a:p>
            <a:pPr algn="l">
              <a:spcAft>
                <a:spcPts val="300"/>
              </a:spcAft>
              <a:defRPr sz="1300">
                <a:solidFill>
                  <a:srgbClr val="FFFFFF"/>
                </a:solidFill>
                <a:latin typeface="Calibri"/>
              </a:defRPr>
            </a:pPr>
            <a:r>
              <a:t>•  nodes(path) → lista dei nodi attraversati</a:t>
            </a:r>
          </a:p>
          <a:p>
            <a:pPr algn="l">
              <a:spcAft>
                <a:spcPts val="300"/>
              </a:spcAft>
              <a:defRPr sz="1300">
                <a:solidFill>
                  <a:srgbClr val="FFFFFF"/>
                </a:solidFill>
                <a:latin typeface="Calibri"/>
              </a:defRPr>
            </a:pPr>
            <a:r>
              <a:t>•  relationships(path) → lista delle relazioni</a:t>
            </a:r>
          </a:p>
          <a:p>
            <a:pPr algn="l">
              <a:spcAft>
                <a:spcPts val="300"/>
              </a:spcAft>
              <a:defRPr sz="1300">
                <a:solidFill>
                  <a:srgbClr val="FFFFFF"/>
                </a:solidFill>
                <a:latin typeface="Calibri"/>
              </a:defRPr>
            </a:pPr>
            <a:r>
              <a:t>•  length(path) → numero di relazioni (hop)</a:t>
            </a:r>
          </a:p>
          <a:p>
            <a:pPr algn="l">
              <a:spcAft>
                <a:spcPts val="300"/>
              </a:spcAft>
              <a:defRPr sz="1300">
                <a:solidFill>
                  <a:srgbClr val="FFFFFF"/>
                </a:solidFill>
                <a:latin typeface="Calibri"/>
              </a:defRPr>
            </a:pPr>
            <a:r>
              <a:t>•  [n IN nodes(path) | n.name] → lista dei nomi</a:t>
            </a:r>
          </a:p>
          <a:p>
            <a:pPr algn="l">
              <a:spcAft>
                <a:spcPts val="300"/>
              </a:spcAft>
              <a:defRPr sz="1300">
                <a:solidFill>
                  <a:srgbClr val="FFFFFF"/>
                </a:solidFill>
                <a:latin typeface="Calibri"/>
              </a:defRPr>
            </a:pPr>
            <a:r>
              <a:t>•  Le liste restituite si lavorano come liste</a:t>
            </a:r>
          </a:p>
          <a:p>
            <a:pPr algn="l">
              <a:spcAft>
                <a:spcPts val="300"/>
              </a:spcAft>
              <a:defRPr sz="1300">
                <a:solidFill>
                  <a:srgbClr val="FFFFFF"/>
                </a:solidFill>
                <a:latin typeface="Calibri"/>
              </a:defRPr>
            </a:pPr>
            <a:r>
              <a:t>•  Utile per ripercorrere e mostrare il cammino</a:t>
            </a:r>
          </a:p>
        </p:txBody>
      </p:sp>
      <p:sp>
        <p:nvSpPr>
          <p:cNvPr id="5" name="Rectangle 4"/>
          <p:cNvSpPr/>
          <p:nvPr/>
        </p:nvSpPr>
        <p:spPr>
          <a:xfrm>
            <a:off x="5669280" y="1463040"/>
            <a:ext cx="4846320" cy="310896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2962656"/>
          </a:xfrm>
          <a:prstGeom prst="rect">
            <a:avLst/>
          </a:prstGeom>
          <a:noFill/>
        </p:spPr>
        <p:txBody>
          <a:bodyPr wrap="square">
            <a:spAutoFit/>
          </a:bodyPr>
          <a:lstStyle/>
          <a:p>
            <a:pPr>
              <a:spcAft>
                <a:spcPts val="100"/>
              </a:spcAft>
              <a:defRPr sz="1000">
                <a:solidFill>
                  <a:srgbClr val="7EC68E"/>
                </a:solidFill>
                <a:latin typeface="Consolas"/>
              </a:defRPr>
            </a:pPr>
            <a:r>
              <a:t>// Percorso completo con path variable:</a:t>
            </a:r>
          </a:p>
          <a:p>
            <a:pPr>
              <a:spcAft>
                <a:spcPts val="100"/>
              </a:spcAft>
              <a:defRPr sz="1000">
                <a:solidFill>
                  <a:srgbClr val="7EC68E"/>
                </a:solidFill>
                <a:latin typeface="Consolas"/>
              </a:defRPr>
            </a:pPr>
            <a:r>
              <a:t>MATCH path = (a:Person {employee_id: 8907})</a:t>
            </a:r>
          </a:p>
          <a:p>
            <a:pPr>
              <a:spcAft>
                <a:spcPts val="100"/>
              </a:spcAft>
              <a:defRPr sz="1000">
                <a:solidFill>
                  <a:srgbClr val="7EC68E"/>
                </a:solidFill>
                <a:latin typeface="Consolas"/>
              </a:defRPr>
            </a:pPr>
            <a:r>
              <a:t>      -[:WORKED_ON]-&gt;(proj:Project)</a:t>
            </a:r>
          </a:p>
          <a:p>
            <a:pPr>
              <a:spcAft>
                <a:spcPts val="100"/>
              </a:spcAft>
              <a:defRPr sz="1000">
                <a:solidFill>
                  <a:srgbClr val="7EC68E"/>
                </a:solidFill>
                <a:latin typeface="Consolas"/>
              </a:defRPr>
            </a:pPr>
            <a:r>
              <a:t>      &lt;-[:WORKED_ON]-(b:Person)</a:t>
            </a:r>
          </a:p>
          <a:p>
            <a:pPr>
              <a:spcAft>
                <a:spcPts val="100"/>
              </a:spcAft>
              <a:defRPr sz="1000">
                <a:solidFill>
                  <a:srgbClr val="7EC68E"/>
                </a:solidFill>
                <a:latin typeface="Consolas"/>
              </a:defRPr>
            </a:pPr>
            <a:r>
              <a:t>RETURN length(path) AS hop,</a:t>
            </a:r>
          </a:p>
          <a:p>
            <a:pPr>
              <a:spcAft>
                <a:spcPts val="100"/>
              </a:spcAft>
              <a:defRPr sz="1000">
                <a:solidFill>
                  <a:srgbClr val="7EC68E"/>
                </a:solidFill>
                <a:latin typeface="Consolas"/>
              </a:defRPr>
            </a:pPr>
            <a:r>
              <a:t>       [n IN nodes(path) | n.name] AS percorsi,</a:t>
            </a:r>
          </a:p>
          <a:p>
            <a:pPr>
              <a:spcAft>
                <a:spcPts val="100"/>
              </a:spcAft>
              <a:defRPr sz="1000">
                <a:solidFill>
                  <a:srgbClr val="7EC68E"/>
                </a:solidFill>
                <a:latin typeface="Consolas"/>
              </a:defRPr>
            </a:pPr>
            <a:r>
              <a:t>       [r IN relationships(path) | type(r)] AS tipi;</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OUTPUT:</a:t>
            </a:r>
          </a:p>
          <a:p>
            <a:pPr>
              <a:spcAft>
                <a:spcPts val="100"/>
              </a:spcAft>
              <a:defRPr sz="1000">
                <a:solidFill>
                  <a:srgbClr val="7EC68E"/>
                </a:solidFill>
                <a:latin typeface="Consolas"/>
              </a:defRPr>
            </a:pPr>
            <a:r>
              <a:t>// hop=2, percorsi=[Monica Gallo, Piattaforma Saturno,</a:t>
            </a:r>
          </a:p>
          <a:p>
            <a:pPr>
              <a:spcAft>
                <a:spcPts val="100"/>
              </a:spcAft>
              <a:defRPr sz="1000">
                <a:solidFill>
                  <a:srgbClr val="7EC68E"/>
                </a:solidFill>
                <a:latin typeface="Consolas"/>
              </a:defRPr>
            </a:pPr>
            <a:r>
              <a:t>//                  Enrico Bianchi]</a:t>
            </a:r>
          </a:p>
          <a:p>
            <a:pPr>
              <a:spcAft>
                <a:spcPts val="100"/>
              </a:spcAft>
              <a:defRPr sz="1000">
                <a:solidFill>
                  <a:srgbClr val="7EC68E"/>
                </a:solidFill>
                <a:latin typeface="Consolas"/>
              </a:defRPr>
            </a:pPr>
            <a:r>
              <a:t>// tipi=[WORKED_ON, WORKED_ON]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Path a Lunghezza Variabile</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Quanti hop servono? Non sempre lo sappiamo a priori. Con *min..max si esprime un intervallo di profondità.</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300"/>
              </a:spcAft>
              <a:defRPr sz="1300">
                <a:solidFill>
                  <a:srgbClr val="FFFFFF"/>
                </a:solidFill>
                <a:latin typeface="Calibri"/>
              </a:defRPr>
            </a:pPr>
            <a:r>
              <a:t>•  -[:R*1..3]  → da 1 a 3 relazioni</a:t>
            </a:r>
          </a:p>
          <a:p>
            <a:pPr algn="l">
              <a:spcAft>
                <a:spcPts val="300"/>
              </a:spcAft>
              <a:defRPr sz="1300">
                <a:solidFill>
                  <a:srgbClr val="FFFFFF"/>
                </a:solidFill>
                <a:latin typeface="Calibri"/>
              </a:defRPr>
            </a:pPr>
            <a:r>
              <a:t>•  -[:R*]      → 1 o più (illimitato — attenzione)</a:t>
            </a:r>
          </a:p>
          <a:p>
            <a:pPr algn="l">
              <a:spcAft>
                <a:spcPts val="300"/>
              </a:spcAft>
              <a:defRPr sz="1300">
                <a:solidFill>
                  <a:srgbClr val="FFFFFF"/>
                </a:solidFill>
                <a:latin typeface="Calibri"/>
              </a:defRPr>
            </a:pPr>
            <a:r>
              <a:t>•  -[:R*0..2]  → 0, 1 o 2 (è opzionale fino a 2)</a:t>
            </a:r>
          </a:p>
          <a:p>
            <a:pPr algn="l">
              <a:spcAft>
                <a:spcPts val="300"/>
              </a:spcAft>
              <a:defRPr sz="1300">
                <a:solidFill>
                  <a:srgbClr val="FFFFFF"/>
                </a:solidFill>
                <a:latin typeface="Calibri"/>
              </a:defRPr>
            </a:pPr>
            <a:r>
              <a:t>•  La direzione conta: --&gt; in avanti, -- in entrambi i versi</a:t>
            </a:r>
          </a:p>
          <a:p>
            <a:pPr algn="l">
              <a:spcAft>
                <a:spcPts val="300"/>
              </a:spcAft>
              <a:defRPr sz="1300">
                <a:solidFill>
                  <a:srgbClr val="FFFFFF"/>
                </a:solidFill>
                <a:latin typeface="Calibri"/>
              </a:defRPr>
            </a:pPr>
            <a:r>
              <a:t>•  L'esplorazione avanza hop per hop (BFS)</a:t>
            </a:r>
          </a:p>
          <a:p>
            <a:pPr algn="l">
              <a:spcAft>
                <a:spcPts val="300"/>
              </a:spcAft>
              <a:defRPr sz="1300">
                <a:solidFill>
                  <a:srgbClr val="FFFFFF"/>
                </a:solidFill>
                <a:latin typeface="Calibri"/>
              </a:defRPr>
            </a:pPr>
            <a:r>
              <a:t>•  Su grafi bipartiti (Person↔Project) alterna i tipi di nodo</a:t>
            </a:r>
          </a:p>
          <a:p>
            <a:pPr algn="l">
              <a:spcAft>
                <a:spcPts val="300"/>
              </a:spcAft>
              <a:defRPr sz="1300">
                <a:solidFill>
                  <a:srgbClr val="FFFFFF"/>
                </a:solidFill>
                <a:latin typeface="Calibri"/>
              </a:defRPr>
            </a:pPr>
            <a:r>
              <a:t>•  Senza limite massimo, i cicli esplodono</a:t>
            </a:r>
          </a:p>
        </p:txBody>
      </p:sp>
      <p:sp>
        <p:nvSpPr>
          <p:cNvPr id="5" name="Rectangle 4"/>
          <p:cNvSpPr/>
          <p:nvPr/>
        </p:nvSpPr>
        <p:spPr>
          <a:xfrm>
            <a:off x="5669280" y="1463040"/>
            <a:ext cx="4846320" cy="310896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2962656"/>
          </a:xfrm>
          <a:prstGeom prst="rect">
            <a:avLst/>
          </a:prstGeom>
          <a:noFill/>
        </p:spPr>
        <p:txBody>
          <a:bodyPr wrap="square">
            <a:spAutoFit/>
          </a:bodyPr>
          <a:lstStyle/>
          <a:p>
            <a:pPr>
              <a:spcAft>
                <a:spcPts val="100"/>
              </a:spcAft>
              <a:defRPr sz="1000">
                <a:solidFill>
                  <a:srgbClr val="7EC68E"/>
                </a:solidFill>
                <a:latin typeface="Consolas"/>
              </a:defRPr>
            </a:pPr>
            <a:r>
              <a:t>// Chi è raggiungibile da Monica in max 3 hop?</a:t>
            </a:r>
          </a:p>
          <a:p>
            <a:pPr>
              <a:spcAft>
                <a:spcPts val="100"/>
              </a:spcAft>
              <a:defRPr sz="1000">
                <a:solidFill>
                  <a:srgbClr val="7EC68E"/>
                </a:solidFill>
                <a:latin typeface="Consolas"/>
              </a:defRPr>
            </a:pPr>
            <a:r>
              <a:t>MATCH path = (a:Person {name: "Monica Gallo"})</a:t>
            </a:r>
          </a:p>
          <a:p>
            <a:pPr>
              <a:spcAft>
                <a:spcPts val="100"/>
              </a:spcAft>
              <a:defRPr sz="1000">
                <a:solidFill>
                  <a:srgbClr val="7EC68E"/>
                </a:solidFill>
                <a:latin typeface="Consolas"/>
              </a:defRPr>
            </a:pPr>
            <a:r>
              <a:t>      -[:WORKED_ON*1..3]-(b:Person)</a:t>
            </a:r>
          </a:p>
          <a:p>
            <a:pPr>
              <a:spcAft>
                <a:spcPts val="100"/>
              </a:spcAft>
              <a:defRPr sz="1000">
                <a:solidFill>
                  <a:srgbClr val="7EC68E"/>
                </a:solidFill>
                <a:latin typeface="Consolas"/>
              </a:defRPr>
            </a:pPr>
            <a:r>
              <a:t>RETURN [n IN nodes(path) | n.name] AS percorso,</a:t>
            </a:r>
          </a:p>
          <a:p>
            <a:pPr>
              <a:spcAft>
                <a:spcPts val="100"/>
              </a:spcAft>
              <a:defRPr sz="1000">
                <a:solidFill>
                  <a:srgbClr val="7EC68E"/>
                </a:solidFill>
                <a:latin typeface="Consolas"/>
              </a:defRPr>
            </a:pPr>
            <a:r>
              <a:t>       length(path) AS salti</a:t>
            </a:r>
          </a:p>
          <a:p>
            <a:pPr>
              <a:spcAft>
                <a:spcPts val="100"/>
              </a:spcAft>
              <a:defRPr sz="1000">
                <a:solidFill>
                  <a:srgbClr val="7EC68E"/>
                </a:solidFill>
                <a:latin typeface="Consolas"/>
              </a:defRPr>
            </a:pPr>
            <a:r>
              <a:t>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1 hop: Monica → Piattaforma Saturno (Project)</a:t>
            </a:r>
          </a:p>
          <a:p>
            <a:pPr>
              <a:spcAft>
                <a:spcPts val="100"/>
              </a:spcAft>
              <a:defRPr sz="1000">
                <a:solidFill>
                  <a:srgbClr val="7EC68E"/>
                </a:solidFill>
                <a:latin typeface="Consolas"/>
              </a:defRPr>
            </a:pPr>
            <a:r>
              <a:t>// 2 hop: Piattaforma Saturno ← Enrico (Person, ok)</a:t>
            </a:r>
          </a:p>
          <a:p>
            <a:pPr>
              <a:spcAft>
                <a:spcPts val="100"/>
              </a:spcAft>
              <a:defRPr sz="1000">
                <a:solidFill>
                  <a:srgbClr val="7EC68E"/>
                </a:solidFill>
                <a:latin typeface="Consolas"/>
              </a:defRPr>
            </a:pPr>
            <a:r>
              <a:t>// WORKED_ON alterna Person ↔ Project:</a:t>
            </a:r>
          </a:p>
          <a:p>
            <a:pPr>
              <a:spcAft>
                <a:spcPts val="100"/>
              </a:spcAft>
              <a:defRPr sz="1000">
                <a:solidFill>
                  <a:srgbClr val="7EC68E"/>
                </a:solidFill>
                <a:latin typeface="Consolas"/>
              </a:defRPr>
            </a:pPr>
            <a:r>
              <a:t>// per chiudere su un Person servono hop pari</a:t>
            </a:r>
          </a:p>
        </p:txBody>
      </p:sp>
      <p:sp>
        <p:nvSpPr>
          <p:cNvPr id="7" name="Rectangle 6"/>
          <p:cNvSpPr/>
          <p:nvPr/>
        </p:nvSpPr>
        <p:spPr>
          <a:xfrm>
            <a:off x="731520" y="47548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029200"/>
            <a:ext cx="10515600" cy="1097280"/>
          </a:xfrm>
          <a:prstGeom prst="rect">
            <a:avLst/>
          </a:prstGeom>
          <a:noFill/>
        </p:spPr>
        <p:txBody>
          <a:bodyPr wrap="square">
            <a:spAutoFit/>
          </a:bodyPr>
          <a:lstStyle/>
          <a:p>
            <a:pPr algn="l">
              <a:defRPr sz="1300" b="1">
                <a:solidFill>
                  <a:srgbClr val="E05050"/>
                </a:solidFill>
                <a:latin typeface="Calibri"/>
              </a:defRPr>
            </a:pPr>
            <a:r>
              <a:t>ATTENZIONE: su grafi con CICLI, * senza limite superiore può esplorare percorsi infiniti. Imposta sempre un massimo: *1..N oppure {1,N}.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Quantified Path Patterns (GQL)</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La sintassi moderna (standard GQL, Neo4j 5.9+). Un quantificatore ripete un intero segmento di pattern.</a:t>
            </a:r>
          </a:p>
        </p:txBody>
      </p:sp>
      <p:sp>
        <p:nvSpPr>
          <p:cNvPr id="4" name="TextBox 3"/>
          <p:cNvSpPr txBox="1"/>
          <p:nvPr/>
        </p:nvSpPr>
        <p:spPr>
          <a:xfrm>
            <a:off x="731520" y="1463040"/>
            <a:ext cx="5029200" cy="3108960"/>
          </a:xfrm>
          <a:prstGeom prst="rect">
            <a:avLst/>
          </a:prstGeom>
          <a:noFill/>
        </p:spPr>
        <p:txBody>
          <a:bodyPr wrap="square">
            <a:spAutoFit/>
          </a:bodyPr>
          <a:lstStyle/>
          <a:p>
            <a:pPr algn="l">
              <a:spcAft>
                <a:spcPts val="300"/>
              </a:spcAft>
              <a:defRPr sz="1300">
                <a:solidFill>
                  <a:srgbClr val="FFFFFF"/>
                </a:solidFill>
                <a:latin typeface="Calibri"/>
              </a:defRPr>
            </a:pPr>
            <a:r>
              <a:t>•  -[:WORKED_ON]-&gt;{1,3} → quantified relationship</a:t>
            </a:r>
          </a:p>
          <a:p>
            <a:pPr algn="l">
              <a:spcAft>
                <a:spcPts val="300"/>
              </a:spcAft>
              <a:defRPr sz="1300">
                <a:solidFill>
                  <a:srgbClr val="FFFFFF"/>
                </a:solidFill>
                <a:latin typeface="Calibri"/>
              </a:defRPr>
            </a:pPr>
            <a:r>
              <a:t>  (equivalente moderno di *1..3)</a:t>
            </a:r>
          </a:p>
          <a:p>
            <a:pPr algn="l">
              <a:spcAft>
                <a:spcPts val="300"/>
              </a:spcAft>
              <a:defRPr sz="1300">
                <a:solidFill>
                  <a:srgbClr val="FFFFFF"/>
                </a:solidFill>
                <a:latin typeface="Calibri"/>
              </a:defRPr>
            </a:pPr>
            <a:r>
              <a:t>•  ((...)){1,3} → ripete un segmento multi-nodo</a:t>
            </a:r>
          </a:p>
          <a:p>
            <a:pPr algn="l">
              <a:spcAft>
                <a:spcPts val="300"/>
              </a:spcAft>
              <a:defRPr sz="1300">
                <a:solidFill>
                  <a:srgbClr val="FFFFFF"/>
                </a:solidFill>
                <a:latin typeface="Calibri"/>
              </a:defRPr>
            </a:pPr>
            <a:r>
              <a:t>•  Segmenti consecutivi CONDIVIDONO il nodo di confine</a:t>
            </a:r>
          </a:p>
          <a:p>
            <a:pPr algn="l">
              <a:spcAft>
                <a:spcPts val="300"/>
              </a:spcAft>
              <a:defRPr sz="1300">
                <a:solidFill>
                  <a:srgbClr val="FFFFFF"/>
                </a:solidFill>
                <a:latin typeface="Calibri"/>
              </a:defRPr>
            </a:pPr>
            <a:r>
              <a:t>•  Il nodo di partenza sta FUORI dalle ( )</a:t>
            </a:r>
          </a:p>
          <a:p>
            <a:pPr algn="l">
              <a:spcAft>
                <a:spcPts val="300"/>
              </a:spcAft>
              <a:defRPr sz="1300">
                <a:solidFill>
                  <a:srgbClr val="FFFFFF"/>
                </a:solidFill>
                <a:latin typeface="Calibri"/>
              </a:defRPr>
            </a:pPr>
            <a:r>
              <a:t>•  Il vecchio *1..3 resta supportato (stesso piano)</a:t>
            </a:r>
          </a:p>
        </p:txBody>
      </p:sp>
      <p:sp>
        <p:nvSpPr>
          <p:cNvPr id="5" name="Rectangle 4"/>
          <p:cNvSpPr/>
          <p:nvPr/>
        </p:nvSpPr>
        <p:spPr>
          <a:xfrm>
            <a:off x="566928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511296"/>
          </a:xfrm>
          <a:prstGeom prst="rect">
            <a:avLst/>
          </a:prstGeom>
          <a:noFill/>
        </p:spPr>
        <p:txBody>
          <a:bodyPr wrap="square">
            <a:spAutoFit/>
          </a:bodyPr>
          <a:lstStyle/>
          <a:p>
            <a:pPr>
              <a:spcAft>
                <a:spcPts val="100"/>
              </a:spcAft>
              <a:defRPr sz="1000">
                <a:solidFill>
                  <a:srgbClr val="7EC68E"/>
                </a:solidFill>
                <a:latin typeface="Consolas"/>
              </a:defRPr>
            </a:pPr>
            <a:r>
              <a:t>// 1) Quantified relationship (= *1..3):</a:t>
            </a:r>
          </a:p>
          <a:p>
            <a:pPr>
              <a:spcAft>
                <a:spcPts val="100"/>
              </a:spcAft>
              <a:defRPr sz="1000">
                <a:solidFill>
                  <a:srgbClr val="7EC68E"/>
                </a:solidFill>
                <a:latin typeface="Consolas"/>
              </a:defRPr>
            </a:pPr>
            <a:r>
              <a:t>MATCH (a:Person {name: "Monica Gallo"})</a:t>
            </a:r>
          </a:p>
          <a:p>
            <a:pPr>
              <a:spcAft>
                <a:spcPts val="100"/>
              </a:spcAft>
              <a:defRPr sz="1000">
                <a:solidFill>
                  <a:srgbClr val="7EC68E"/>
                </a:solidFill>
                <a:latin typeface="Consolas"/>
              </a:defRPr>
            </a:pPr>
            <a:r>
              <a:t>      -[:WORKED_ON]-&gt;{1,3}(b:Project)</a:t>
            </a:r>
          </a:p>
          <a:p>
            <a:pPr>
              <a:spcAft>
                <a:spcPts val="100"/>
              </a:spcAft>
              <a:defRPr sz="1000">
                <a:solidFill>
                  <a:srgbClr val="7EC68E"/>
                </a:solidFill>
                <a:latin typeface="Consolas"/>
              </a:defRPr>
            </a:pPr>
            <a:r>
              <a:t>RETURN a.name, b.name 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2) Quantified path pattern: segmento intero</a:t>
            </a:r>
          </a:p>
          <a:p>
            <a:pPr>
              <a:spcAft>
                <a:spcPts val="100"/>
              </a:spcAft>
              <a:defRPr sz="1000">
                <a:solidFill>
                  <a:srgbClr val="7EC68E"/>
                </a:solidFill>
                <a:latin typeface="Consolas"/>
              </a:defRPr>
            </a:pPr>
            <a:r>
              <a:t>MATCH (a:Person {name: "Monica Gallo"})</a:t>
            </a:r>
          </a:p>
          <a:p>
            <a:pPr>
              <a:spcAft>
                <a:spcPts val="100"/>
              </a:spcAft>
              <a:defRPr sz="1000">
                <a:solidFill>
                  <a:srgbClr val="7EC68E"/>
                </a:solidFill>
                <a:latin typeface="Consolas"/>
              </a:defRPr>
            </a:pPr>
            <a:r>
              <a:t>      ((:Person)-[:WORKED_ON]-&gt;(:Project)</a:t>
            </a:r>
          </a:p>
          <a:p>
            <a:pPr>
              <a:spcAft>
                <a:spcPts val="100"/>
              </a:spcAft>
              <a:defRPr sz="1000">
                <a:solidFill>
                  <a:srgbClr val="7EC68E"/>
                </a:solidFill>
                <a:latin typeface="Consolas"/>
              </a:defRPr>
            </a:pPr>
            <a:r>
              <a:t>       &lt;-[:WORKED_ON]-(:Person)){1,2}</a:t>
            </a:r>
          </a:p>
          <a:p>
            <a:pPr>
              <a:spcAft>
                <a:spcPts val="100"/>
              </a:spcAft>
              <a:defRPr sz="1000">
                <a:solidFill>
                  <a:srgbClr val="7EC68E"/>
                </a:solidFill>
                <a:latin typeface="Consolas"/>
              </a:defRPr>
            </a:pPr>
            <a:r>
              <a:t>      (b:Person)</a:t>
            </a:r>
          </a:p>
          <a:p>
            <a:pPr>
              <a:spcAft>
                <a:spcPts val="100"/>
              </a:spcAft>
              <a:defRPr sz="1000">
                <a:solidFill>
                  <a:srgbClr val="7EC68E"/>
                </a:solidFill>
                <a:latin typeface="Consolas"/>
              </a:defRPr>
            </a:pPr>
            <a:r>
              <a:t>RETURN a.name, b.name 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Espansione di {1,2}: i segmenti si incastrano</a:t>
            </a:r>
          </a:p>
          <a:p>
            <a:pPr>
              <a:spcAft>
                <a:spcPts val="100"/>
              </a:spcAft>
              <a:defRPr sz="1000">
                <a:solidFill>
                  <a:srgbClr val="7EC68E"/>
                </a:solidFill>
                <a:latin typeface="Consolas"/>
              </a:defRPr>
            </a:pPr>
            <a:r>
              <a:t>//   a → Pr1 ← P2 → Pr2 ← b</a:t>
            </a:r>
          </a:p>
          <a:p>
            <a:pPr>
              <a:spcAft>
                <a:spcPts val="100"/>
              </a:spcAft>
              <a:defRPr sz="1000">
                <a:solidFill>
                  <a:srgbClr val="7EC68E"/>
                </a:solidFill>
                <a:latin typeface="Consolas"/>
              </a:defRPr>
            </a:pPr>
            <a:r>
              <a:t>// P2 (Persona) è il nodo di CONFINE condiviso.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shortestPath: il Cammino Minimo</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Trova il percorso con il MINOR NUMERO DI HOP tra due nodi (ricerca in ampiezza, BFS).</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500"/>
              </a:spcAft>
              <a:defRPr sz="1300">
                <a:solidFill>
                  <a:srgbClr val="FFFFFF"/>
                </a:solidFill>
                <a:latin typeface="Calibri"/>
              </a:defRPr>
            </a:pPr>
            <a:r>
              <a:t>•  shortestPath((a)-[:R*]-(b)) → un cammino minimo</a:t>
            </a:r>
          </a:p>
          <a:p>
            <a:pPr algn="l">
              <a:spcAft>
                <a:spcPts val="500"/>
              </a:spcAft>
              <a:defRPr sz="1300">
                <a:solidFill>
                  <a:srgbClr val="FFFFFF"/>
                </a:solidFill>
                <a:latin typeface="Calibri"/>
              </a:defRPr>
            </a:pPr>
            <a:r>
              <a:t>•  allShortestPaths(...) → tutti i cammini di pari lunghezza</a:t>
            </a:r>
          </a:p>
          <a:p>
            <a:pPr algn="l">
              <a:spcAft>
                <a:spcPts val="500"/>
              </a:spcAft>
              <a:defRPr sz="1300">
                <a:solidFill>
                  <a:srgbClr val="FFFFFF"/>
                </a:solidFill>
                <a:latin typeface="Calibri"/>
              </a:defRPr>
            </a:pPr>
            <a:r>
              <a:t>•  Misura gli HOP, non i pesi (per i pesi: GDS/Dijkstra)</a:t>
            </a:r>
          </a:p>
          <a:p>
            <a:pPr algn="l">
              <a:spcAft>
                <a:spcPts val="500"/>
              </a:spcAft>
              <a:defRPr sz="1300">
                <a:solidFill>
                  <a:srgbClr val="FFFFFF"/>
                </a:solidFill>
                <a:latin typeface="Calibri"/>
              </a:defRPr>
            </a:pPr>
            <a:r>
              <a:t>•  Se a e b non sono collegati → nessuna riga</a:t>
            </a:r>
          </a:p>
          <a:p>
            <a:pPr algn="l">
              <a:spcAft>
                <a:spcPts val="500"/>
              </a:spcAft>
              <a:defRPr sz="1300">
                <a:solidFill>
                  <a:srgbClr val="FFFFFF"/>
                </a:solidFill>
                <a:latin typeface="Calibri"/>
              </a:defRPr>
            </a:pPr>
            <a:r>
              <a:t>•  Serve il match preliminare di entrambi i nodi</a:t>
            </a:r>
          </a:p>
        </p:txBody>
      </p:sp>
      <p:sp>
        <p:nvSpPr>
          <p:cNvPr id="5" name="Rectangle 4"/>
          <p:cNvSpPr/>
          <p:nvPr/>
        </p:nvSpPr>
        <p:spPr>
          <a:xfrm>
            <a:off x="5669280" y="1463040"/>
            <a:ext cx="4846320" cy="32918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145536"/>
          </a:xfrm>
          <a:prstGeom prst="rect">
            <a:avLst/>
          </a:prstGeom>
          <a:noFill/>
        </p:spPr>
        <p:txBody>
          <a:bodyPr wrap="square">
            <a:spAutoFit/>
          </a:bodyPr>
          <a:lstStyle/>
          <a:p>
            <a:pPr>
              <a:spcAft>
                <a:spcPts val="100"/>
              </a:spcAft>
              <a:defRPr sz="1000">
                <a:solidFill>
                  <a:srgbClr val="7EC68E"/>
                </a:solidFill>
                <a:latin typeface="Consolas"/>
              </a:defRPr>
            </a:pPr>
            <a:r>
              <a:t>// Cammino minimo tra due impiegati:</a:t>
            </a:r>
          </a:p>
          <a:p>
            <a:pPr>
              <a:spcAft>
                <a:spcPts val="100"/>
              </a:spcAft>
              <a:defRPr sz="1000">
                <a:solidFill>
                  <a:srgbClr val="7EC68E"/>
                </a:solidFill>
                <a:latin typeface="Consolas"/>
              </a:defRPr>
            </a:pPr>
            <a:r>
              <a:t>MATCH (a:Person {employee_id: 8907}),</a:t>
            </a:r>
          </a:p>
          <a:p>
            <a:pPr>
              <a:spcAft>
                <a:spcPts val="100"/>
              </a:spcAft>
              <a:defRPr sz="1000">
                <a:solidFill>
                  <a:srgbClr val="7EC68E"/>
                </a:solidFill>
                <a:latin typeface="Consolas"/>
              </a:defRPr>
            </a:pPr>
            <a:r>
              <a:t>      (b:Person {employee_id: 8902})</a:t>
            </a:r>
          </a:p>
          <a:p>
            <a:pPr>
              <a:spcAft>
                <a:spcPts val="100"/>
              </a:spcAft>
              <a:defRPr sz="1000">
                <a:solidFill>
                  <a:srgbClr val="7EC68E"/>
                </a:solidFill>
                <a:latin typeface="Consolas"/>
              </a:defRPr>
            </a:pPr>
            <a:r>
              <a:t>MATCH path = shortestPath(</a:t>
            </a:r>
          </a:p>
          <a:p>
            <a:pPr>
              <a:spcAft>
                <a:spcPts val="100"/>
              </a:spcAft>
              <a:defRPr sz="1000">
                <a:solidFill>
                  <a:srgbClr val="7EC68E"/>
                </a:solidFill>
                <a:latin typeface="Consolas"/>
              </a:defRPr>
            </a:pPr>
            <a:r>
              <a:t>      (a)-[:WORKED_ON*]-(b))</a:t>
            </a:r>
          </a:p>
          <a:p>
            <a:pPr>
              <a:spcAft>
                <a:spcPts val="100"/>
              </a:spcAft>
              <a:defRPr sz="1000">
                <a:solidFill>
                  <a:srgbClr val="7EC68E"/>
                </a:solidFill>
                <a:latin typeface="Consolas"/>
              </a:defRPr>
            </a:pPr>
            <a:r>
              <a:t>RETURN [n IN nodes(path) | n.name] AS percorso,</a:t>
            </a:r>
          </a:p>
          <a:p>
            <a:pPr>
              <a:spcAft>
                <a:spcPts val="100"/>
              </a:spcAft>
              <a:defRPr sz="1000">
                <a:solidFill>
                  <a:srgbClr val="7EC68E"/>
                </a:solidFill>
                <a:latin typeface="Consolas"/>
              </a:defRPr>
            </a:pPr>
            <a:r>
              <a:t>       length(path) AS hop;</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OUTPUT: [Monica Gallo, Piattaforma Saturno,</a:t>
            </a:r>
          </a:p>
          <a:p>
            <a:pPr>
              <a:spcAft>
                <a:spcPts val="100"/>
              </a:spcAft>
              <a:defRPr sz="1000">
                <a:solidFill>
                  <a:srgbClr val="7EC68E"/>
                </a:solidFill>
                <a:latin typeface="Consolas"/>
              </a:defRPr>
            </a:pPr>
            <a:r>
              <a:t>//          Enrico Bianchi] (2 hop)</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allShortestPaths: anche gli altri cammini</a:t>
            </a:r>
          </a:p>
          <a:p>
            <a:pPr>
              <a:spcAft>
                <a:spcPts val="100"/>
              </a:spcAft>
              <a:defRPr sz="1000">
                <a:solidFill>
                  <a:srgbClr val="7EC68E"/>
                </a:solidFill>
                <a:latin typeface="Consolas"/>
              </a:defRPr>
            </a:pPr>
            <a:r>
              <a:t>// minimi, con la stessa lunghezza</a:t>
            </a:r>
          </a:p>
        </p:txBody>
      </p:sp>
      <p:sp>
        <p:nvSpPr>
          <p:cNvPr id="7" name="Rectangle 6"/>
          <p:cNvSpPr/>
          <p:nvPr/>
        </p:nvSpPr>
        <p:spPr>
          <a:xfrm>
            <a:off x="731520" y="51206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394960"/>
            <a:ext cx="10515600" cy="914400"/>
          </a:xfrm>
          <a:prstGeom prst="rect">
            <a:avLst/>
          </a:prstGeom>
          <a:noFill/>
        </p:spPr>
        <p:txBody>
          <a:bodyPr wrap="square">
            <a:spAutoFit/>
          </a:bodyPr>
          <a:lstStyle/>
          <a:p>
            <a:pPr algn="l">
              <a:defRPr sz="1300" b="0">
                <a:solidFill>
                  <a:srgbClr val="F0C040"/>
                </a:solidFill>
                <a:latin typeface="Calibri"/>
              </a:defRPr>
            </a:pPr>
            <a:r>
              <a:t>Come funziona: BFS esplora per livelli (distanza 1, poi 2, poi 3…). Il primo livello che raggiunge b è il cammino minimo. Il 'Bacon number' è la stessa idea con i film condivisi.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MERGE vs CREATE: Idempotenza</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La differenza fondamentale: CREATE inserisce sempre, MERGE cerca prima di creare (match-or-create).</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500"/>
              </a:spcAft>
              <a:defRPr sz="1300">
                <a:solidFill>
                  <a:srgbClr val="FFFFFF"/>
                </a:solidFill>
                <a:latin typeface="Calibri"/>
              </a:defRPr>
            </a:pPr>
            <a:r>
              <a:t>•  CREATE → inserisce SEMPRE. Due esecuzioni = due nodi</a:t>
            </a:r>
          </a:p>
          <a:p>
            <a:pPr algn="l">
              <a:spcAft>
                <a:spcPts val="500"/>
              </a:spcAft>
              <a:defRPr sz="1300">
                <a:solidFill>
                  <a:srgbClr val="FFFFFF"/>
                </a:solidFill>
                <a:latin typeface="Calibri"/>
              </a:defRPr>
            </a:pPr>
            <a:r>
              <a:t>•  MERGE → match-or-create: cerca prima, crea se serve</a:t>
            </a:r>
          </a:p>
          <a:p>
            <a:pPr algn="l">
              <a:spcAft>
                <a:spcPts val="500"/>
              </a:spcAft>
              <a:defRPr sz="1300">
                <a:solidFill>
                  <a:srgbClr val="FFFFFF"/>
                </a:solidFill>
                <a:latin typeface="Calibri"/>
              </a:defRPr>
            </a:pPr>
            <a:r>
              <a:t>•  IDEMPOTENZA: eseguire N volte produce lo stesso grafo</a:t>
            </a:r>
          </a:p>
          <a:p>
            <a:pPr algn="l">
              <a:spcAft>
                <a:spcPts val="500"/>
              </a:spcAft>
              <a:defRPr sz="1300">
                <a:solidFill>
                  <a:srgbClr val="FFFFFF"/>
                </a:solidFill>
                <a:latin typeface="Calibri"/>
              </a:defRPr>
            </a:pPr>
            <a:r>
              <a:t>•  MERGE sulla CHIAVE univoca + constraint UNIQUE</a:t>
            </a:r>
          </a:p>
          <a:p>
            <a:pPr algn="l">
              <a:spcAft>
                <a:spcPts val="500"/>
              </a:spcAft>
              <a:defRPr sz="1300">
                <a:solidFill>
                  <a:srgbClr val="FFFFFF"/>
                </a:solidFill>
                <a:latin typeface="Calibri"/>
              </a:defRPr>
            </a:pPr>
            <a:r>
              <a:t>•  Mai mettere proprietà volatili nel pattern del MERGE</a:t>
            </a:r>
          </a:p>
        </p:txBody>
      </p:sp>
      <p:sp>
        <p:nvSpPr>
          <p:cNvPr id="5" name="Rectangle 4"/>
          <p:cNvSpPr/>
          <p:nvPr/>
        </p:nvSpPr>
        <p:spPr>
          <a:xfrm>
            <a:off x="5669280" y="1463040"/>
            <a:ext cx="4846320" cy="3401568"/>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328416"/>
          </a:xfrm>
          <a:prstGeom prst="rect">
            <a:avLst/>
          </a:prstGeom>
          <a:noFill/>
        </p:spPr>
        <p:txBody>
          <a:bodyPr wrap="square">
            <a:spAutoFit/>
          </a:bodyPr>
          <a:lstStyle/>
          <a:p>
            <a:pPr>
              <a:spcAft>
                <a:spcPts val="100"/>
              </a:spcAft>
              <a:defRPr sz="1000">
                <a:solidFill>
                  <a:srgbClr val="7EC68E"/>
                </a:solidFill>
                <a:latin typeface="Consolas"/>
              </a:defRPr>
            </a:pPr>
            <a:r>
              <a:t>// CREATE: ogni esecuzione aggiunge un nodo</a:t>
            </a:r>
          </a:p>
          <a:p>
            <a:pPr>
              <a:spcAft>
                <a:spcPts val="100"/>
              </a:spcAft>
              <a:defRPr sz="1000">
                <a:solidFill>
                  <a:srgbClr val="7EC68E"/>
                </a:solidFill>
                <a:latin typeface="Consolas"/>
              </a:defRPr>
            </a:pPr>
            <a:r>
              <a:t>CREATE (p:Person {employee_id: 999,</a:t>
            </a:r>
          </a:p>
          <a:p>
            <a:pPr>
              <a:spcAft>
                <a:spcPts val="100"/>
              </a:spcAft>
              <a:defRPr sz="1000">
                <a:solidFill>
                  <a:srgbClr val="7EC68E"/>
                </a:solidFill>
                <a:latin typeface="Consolas"/>
              </a:defRPr>
            </a:pPr>
            <a:r>
              <a:t>                  name: "Alice"});</a:t>
            </a:r>
          </a:p>
          <a:p>
            <a:pPr>
              <a:spcAft>
                <a:spcPts val="100"/>
              </a:spcAft>
              <a:defRPr sz="1000">
                <a:solidFill>
                  <a:srgbClr val="7EC68E"/>
                </a:solidFill>
                <a:latin typeface="Consolas"/>
              </a:defRPr>
            </a:pPr>
            <a:r>
              <a:t>// 1ª volta crea · 2ª volta = duplicato!</a:t>
            </a:r>
          </a:p>
          <a:p>
            <a:pPr>
              <a:spcAft>
                <a:spcPts val="100"/>
              </a:spcAft>
              <a:defRPr sz="1000">
                <a:solidFill>
                  <a:srgbClr val="7EC68E"/>
                </a:solidFill>
                <a:latin typeface="Consolas"/>
              </a:defRPr>
            </a:pPr>
            <a:r>
              <a:t>// (o errore di constraint UNIQUE)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MERGE: match-or-create</a:t>
            </a:r>
          </a:p>
          <a:p>
            <a:pPr>
              <a:spcAft>
                <a:spcPts val="100"/>
              </a:spcAft>
              <a:defRPr sz="1000">
                <a:solidFill>
                  <a:srgbClr val="7EC68E"/>
                </a:solidFill>
                <a:latin typeface="Consolas"/>
              </a:defRPr>
            </a:pPr>
            <a:r>
              <a:t>MERGE (p:Person {employee_id: 999})</a:t>
            </a:r>
          </a:p>
          <a:p>
            <a:pPr>
              <a:spcAft>
                <a:spcPts val="100"/>
              </a:spcAft>
              <a:defRPr sz="1000">
                <a:solidFill>
                  <a:srgbClr val="7EC68E"/>
                </a:solidFill>
                <a:latin typeface="Consolas"/>
              </a:defRPr>
            </a:pPr>
            <a:r>
              <a:t>  SET p.name = "Alice";</a:t>
            </a:r>
          </a:p>
          <a:p>
            <a:pPr>
              <a:spcAft>
                <a:spcPts val="100"/>
              </a:spcAft>
              <a:defRPr sz="1000">
                <a:solidFill>
                  <a:srgbClr val="7EC68E"/>
                </a:solidFill>
                <a:latin typeface="Consolas"/>
              </a:defRPr>
            </a:pPr>
            <a:r>
              <a:t>// 1ª volta crea · poi trova e aggiorna</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Proprietà nel pattern del MERGE:</a:t>
            </a:r>
          </a:p>
          <a:p>
            <a:pPr>
              <a:spcAft>
                <a:spcPts val="100"/>
              </a:spcAft>
              <a:defRPr sz="1000">
                <a:solidFill>
                  <a:srgbClr val="7EC68E"/>
                </a:solidFill>
                <a:latin typeface="Consolas"/>
              </a:defRPr>
            </a:pPr>
            <a:r>
              <a:t>MERGE (p:Person {employee_id: 999,</a:t>
            </a:r>
          </a:p>
          <a:p>
            <a:pPr>
              <a:spcAft>
                <a:spcPts val="100"/>
              </a:spcAft>
              <a:defRPr sz="1000">
                <a:solidFill>
                  <a:srgbClr val="7EC68E"/>
                </a:solidFill>
                <a:latin typeface="Consolas"/>
              </a:defRPr>
            </a:pPr>
            <a:r>
              <a:t>                 name: "Alice"})</a:t>
            </a:r>
          </a:p>
          <a:p>
            <a:pPr>
              <a:spcAft>
                <a:spcPts val="100"/>
              </a:spcAft>
              <a:defRPr sz="1000">
                <a:solidFill>
                  <a:srgbClr val="7EC68E"/>
                </a:solidFill>
                <a:latin typeface="Consolas"/>
              </a:defRPr>
            </a:pPr>
            <a:r>
              <a:t>// se "name" cambia → CREA un secondo nodo</a:t>
            </a:r>
          </a:p>
          <a:p>
            <a:pPr>
              <a:spcAft>
                <a:spcPts val="100"/>
              </a:spcAft>
              <a:defRPr sz="1000">
                <a:solidFill>
                  <a:srgbClr val="7EC68E"/>
                </a:solidFill>
                <a:latin typeface="Consolas"/>
              </a:defRPr>
            </a:pPr>
            <a:r>
              <a:t>// (MERGE cerca su TUTTE le props)</a:t>
            </a:r>
          </a:p>
        </p:txBody>
      </p:sp>
      <p:sp>
        <p:nvSpPr>
          <p:cNvPr id="7" name="Rectangle 6"/>
          <p:cNvSpPr/>
          <p:nvPr/>
        </p:nvSpPr>
        <p:spPr>
          <a:xfrm>
            <a:off x="731520" y="50292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303520"/>
            <a:ext cx="10515600" cy="914400"/>
          </a:xfrm>
          <a:prstGeom prst="rect">
            <a:avLst/>
          </a:prstGeom>
          <a:noFill/>
        </p:spPr>
        <p:txBody>
          <a:bodyPr wrap="square">
            <a:spAutoFit/>
          </a:bodyPr>
          <a:lstStyle/>
          <a:p>
            <a:pPr algn="l">
              <a:defRPr sz="1300" b="0">
                <a:solidFill>
                  <a:srgbClr val="F0C040"/>
                </a:solidFill>
                <a:latin typeface="Calibri"/>
              </a:defRPr>
            </a:pPr>
            <a:r>
              <a:t>Regola pratica: MERGE su chiave univoca + constraint UNIQUE = caricamenti ripetibili senza duplicati.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MERGE: ON CREATE, ON MATCH, Relazioni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MERGE funziona anche sulle relazioni. ON CREATE / ON MATCH distinguono inserimento da aggiornamento.</a:t>
            </a:r>
          </a:p>
        </p:txBody>
      </p:sp>
      <p:sp>
        <p:nvSpPr>
          <p:cNvPr id="4" name="Rectangle 3"/>
          <p:cNvSpPr/>
          <p:nvPr/>
        </p:nvSpPr>
        <p:spPr>
          <a:xfrm>
            <a:off x="731520" y="1463040"/>
            <a:ext cx="4846320" cy="3474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328416"/>
          </a:xfrm>
          <a:prstGeom prst="rect">
            <a:avLst/>
          </a:prstGeom>
          <a:noFill/>
        </p:spPr>
        <p:txBody>
          <a:bodyPr wrap="square">
            <a:spAutoFit/>
          </a:bodyPr>
          <a:lstStyle/>
          <a:p>
            <a:pPr>
              <a:spcAft>
                <a:spcPts val="100"/>
              </a:spcAft>
              <a:defRPr sz="1000">
                <a:solidFill>
                  <a:srgbClr val="7EC68E"/>
                </a:solidFill>
                <a:latin typeface="Consolas"/>
              </a:defRPr>
            </a:pPr>
            <a:r>
              <a:t>// Relazione idempotente:</a:t>
            </a:r>
          </a:p>
          <a:p>
            <a:pPr>
              <a:spcAft>
                <a:spcPts val="100"/>
              </a:spcAft>
              <a:defRPr sz="1000">
                <a:solidFill>
                  <a:srgbClr val="7EC68E"/>
                </a:solidFill>
                <a:latin typeface="Consolas"/>
              </a:defRPr>
            </a:pPr>
            <a:r>
              <a:t>MATCH (p:Person {employee_id: 8889}),</a:t>
            </a:r>
          </a:p>
          <a:p>
            <a:pPr>
              <a:spcAft>
                <a:spcPts val="100"/>
              </a:spcAft>
              <a:defRPr sz="1000">
                <a:solidFill>
                  <a:srgbClr val="7EC68E"/>
                </a:solidFill>
                <a:latin typeface="Consolas"/>
              </a:defRPr>
            </a:pPr>
            <a:r>
              <a:t>      (s:Skill {name: "Python"})</a:t>
            </a:r>
          </a:p>
          <a:p>
            <a:pPr>
              <a:spcAft>
                <a:spcPts val="100"/>
              </a:spcAft>
              <a:defRPr sz="1000">
                <a:solidFill>
                  <a:srgbClr val="7EC68E"/>
                </a:solidFill>
                <a:latin typeface="Consolas"/>
              </a:defRPr>
            </a:pPr>
            <a:r>
              <a:t>MERGE (p)-[h:HAS_SKILL]-&gt;(s)</a:t>
            </a:r>
          </a:p>
          <a:p>
            <a:pPr>
              <a:spcAft>
                <a:spcPts val="100"/>
              </a:spcAft>
              <a:defRPr sz="1000">
                <a:solidFill>
                  <a:srgbClr val="7EC68E"/>
                </a:solidFill>
                <a:latin typeface="Consolas"/>
              </a:defRPr>
            </a:pPr>
            <a:r>
              <a:t>  ON CREATE SET h.proficiency = "Junior"</a:t>
            </a:r>
          </a:p>
          <a:p>
            <a:pPr>
              <a:spcAft>
                <a:spcPts val="100"/>
              </a:spcAft>
              <a:defRPr sz="1000">
                <a:solidFill>
                  <a:srgbClr val="7EC68E"/>
                </a:solidFill>
                <a:latin typeface="Consolas"/>
              </a:defRPr>
            </a:pPr>
            <a:r>
              <a:t>  ON MATCH  SET h.proficiency = "Senior";</a:t>
            </a:r>
          </a:p>
          <a:p>
            <a:pPr>
              <a:spcAft>
                <a:spcPts val="100"/>
              </a:spcAft>
              <a:defRPr sz="1000">
                <a:solidFill>
                  <a:srgbClr val="7EC68E"/>
                </a:solidFill>
                <a:latin typeface="Consolas"/>
              </a:defRPr>
            </a:pPr>
            <a:r>
              <a:t>// 1ª volta: crea la relazione con Junior</a:t>
            </a:r>
          </a:p>
          <a:p>
            <a:pPr>
              <a:spcAft>
                <a:spcPts val="100"/>
              </a:spcAft>
              <a:defRPr sz="1000">
                <a:solidFill>
                  <a:srgbClr val="7EC68E"/>
                </a:solidFill>
                <a:latin typeface="Consolas"/>
              </a:defRPr>
            </a:pPr>
            <a:r>
              <a:t>// poi: la trova e la aggiorna a Senior</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SET += unisce proprietà (merge safe):</a:t>
            </a:r>
          </a:p>
          <a:p>
            <a:pPr>
              <a:spcAft>
                <a:spcPts val="100"/>
              </a:spcAft>
              <a:defRPr sz="1000">
                <a:solidFill>
                  <a:srgbClr val="7EC68E"/>
                </a:solidFill>
                <a:latin typeface="Consolas"/>
              </a:defRPr>
            </a:pPr>
            <a:r>
              <a:t>MATCH (p:Person {employee_id: 8902})</a:t>
            </a:r>
          </a:p>
          <a:p>
            <a:pPr>
              <a:spcAft>
                <a:spcPts val="100"/>
              </a:spcAft>
              <a:defRPr sz="1000">
                <a:solidFill>
                  <a:srgbClr val="7EC68E"/>
                </a:solidFill>
                <a:latin typeface="Consolas"/>
              </a:defRPr>
            </a:pPr>
            <a:r>
              <a:t>SET p += {phone: "+39 333 1234567",</a:t>
            </a:r>
          </a:p>
          <a:p>
            <a:pPr>
              <a:spcAft>
                <a:spcPts val="100"/>
              </a:spcAft>
              <a:defRPr sz="1000">
                <a:solidFill>
                  <a:srgbClr val="7EC68E"/>
                </a:solidFill>
                <a:latin typeface="Consolas"/>
              </a:defRPr>
            </a:pPr>
            <a:r>
              <a:t>          email: "enrico@co.com"};</a:t>
            </a:r>
          </a:p>
        </p:txBody>
      </p:sp>
      <p:sp>
        <p:nvSpPr>
          <p:cNvPr id="6" name="TextBox 5"/>
          <p:cNvSpPr txBox="1"/>
          <p:nvPr/>
        </p:nvSpPr>
        <p:spPr>
          <a:xfrm>
            <a:off x="5669280" y="1463040"/>
            <a:ext cx="4846320" cy="3474720"/>
          </a:xfrm>
          <a:prstGeom prst="rect">
            <a:avLst/>
          </a:prstGeom>
          <a:noFill/>
        </p:spPr>
        <p:txBody>
          <a:bodyPr wrap="square">
            <a:spAutoFit/>
          </a:bodyPr>
          <a:lstStyle/>
          <a:p>
            <a:pPr algn="l">
              <a:spcAft>
                <a:spcPts val="300"/>
              </a:spcAft>
              <a:defRPr sz="1200">
                <a:solidFill>
                  <a:srgbClr val="FFFFFF"/>
                </a:solidFill>
                <a:latin typeface="Calibri"/>
              </a:defRPr>
            </a:pPr>
            <a:r>
              <a:rPr dirty="0"/>
              <a:t>•  ON CREATE SET → solo </a:t>
            </a:r>
            <a:r>
              <a:rPr dirty="0" err="1"/>
              <a:t>quando</a:t>
            </a:r>
            <a:r>
              <a:rPr dirty="0"/>
              <a:t> </a:t>
            </a:r>
            <a:r>
              <a:rPr dirty="0" err="1"/>
              <a:t>nasce</a:t>
            </a:r>
            <a:r>
              <a:rPr dirty="0"/>
              <a:t> (insert)</a:t>
            </a:r>
          </a:p>
          <a:p>
            <a:pPr algn="l">
              <a:spcAft>
                <a:spcPts val="300"/>
              </a:spcAft>
              <a:defRPr sz="1200">
                <a:solidFill>
                  <a:srgbClr val="FFFFFF"/>
                </a:solidFill>
                <a:latin typeface="Calibri"/>
              </a:defRPr>
            </a:pPr>
            <a:r>
              <a:rPr dirty="0"/>
              <a:t>•  ON MATCH SET → solo se </a:t>
            </a:r>
            <a:r>
              <a:rPr dirty="0" err="1"/>
              <a:t>esisteva</a:t>
            </a:r>
            <a:r>
              <a:rPr dirty="0"/>
              <a:t> </a:t>
            </a:r>
            <a:r>
              <a:rPr dirty="0" err="1"/>
              <a:t>già</a:t>
            </a:r>
            <a:r>
              <a:rPr dirty="0"/>
              <a:t> (update)</a:t>
            </a:r>
          </a:p>
          <a:p>
            <a:pPr algn="l">
              <a:spcAft>
                <a:spcPts val="300"/>
              </a:spcAft>
              <a:defRPr sz="1200">
                <a:solidFill>
                  <a:srgbClr val="FFFFFF"/>
                </a:solidFill>
                <a:latin typeface="Calibri"/>
              </a:defRPr>
            </a:pPr>
            <a:r>
              <a:rPr dirty="0"/>
              <a:t>•  SET += </a:t>
            </a:r>
            <a:r>
              <a:rPr dirty="0" err="1"/>
              <a:t>unisce</a:t>
            </a:r>
            <a:r>
              <a:rPr dirty="0"/>
              <a:t> le props date a quelle </a:t>
            </a:r>
            <a:r>
              <a:rPr dirty="0" err="1"/>
              <a:t>esistenti</a:t>
            </a:r>
            <a:endParaRPr dirty="0"/>
          </a:p>
          <a:p>
            <a:pPr algn="l">
              <a:spcAft>
                <a:spcPts val="300"/>
              </a:spcAft>
              <a:defRPr sz="1200">
                <a:solidFill>
                  <a:srgbClr val="FFFFFF"/>
                </a:solidFill>
                <a:latin typeface="Calibri"/>
              </a:defRPr>
            </a:pPr>
            <a:r>
              <a:rPr dirty="0"/>
              <a:t>•  SET </a:t>
            </a:r>
            <a:r>
              <a:rPr dirty="0" err="1"/>
              <a:t>p.x</a:t>
            </a:r>
            <a:r>
              <a:rPr dirty="0"/>
              <a:t> = v </a:t>
            </a:r>
            <a:r>
              <a:rPr dirty="0" err="1"/>
              <a:t>sostituisce</a:t>
            </a:r>
            <a:r>
              <a:rPr dirty="0"/>
              <a:t> </a:t>
            </a:r>
            <a:r>
              <a:rPr dirty="0" err="1"/>
              <a:t>una</a:t>
            </a:r>
            <a:r>
              <a:rPr dirty="0"/>
              <a:t> </a:t>
            </a:r>
            <a:r>
              <a:rPr dirty="0" err="1"/>
              <a:t>singola</a:t>
            </a:r>
            <a:r>
              <a:rPr dirty="0"/>
              <a:t> </a:t>
            </a:r>
            <a:r>
              <a:rPr dirty="0" err="1"/>
              <a:t>proprietà</a:t>
            </a:r>
            <a:endParaRPr dirty="0"/>
          </a:p>
          <a:p>
            <a:pPr algn="l">
              <a:spcAft>
                <a:spcPts val="300"/>
              </a:spcAft>
              <a:defRPr sz="1200">
                <a:solidFill>
                  <a:srgbClr val="FFFFFF"/>
                </a:solidFill>
                <a:latin typeface="Calibri"/>
              </a:defRPr>
            </a:pPr>
            <a:r>
              <a:rPr dirty="0"/>
              <a:t>•  MERGE </a:t>
            </a:r>
            <a:r>
              <a:rPr dirty="0" err="1"/>
              <a:t>su</a:t>
            </a:r>
            <a:r>
              <a:rPr dirty="0"/>
              <a:t> </a:t>
            </a:r>
            <a:r>
              <a:rPr dirty="0" err="1"/>
              <a:t>relazione</a:t>
            </a:r>
            <a:r>
              <a:rPr dirty="0"/>
              <a:t>: </a:t>
            </a:r>
            <a:r>
              <a:rPr dirty="0" err="1"/>
              <a:t>mai</a:t>
            </a:r>
            <a:r>
              <a:rPr dirty="0"/>
              <a:t> </a:t>
            </a:r>
            <a:r>
              <a:rPr dirty="0" err="1"/>
              <a:t>duplicati</a:t>
            </a:r>
            <a:r>
              <a:rPr dirty="0"/>
              <a:t> </a:t>
            </a:r>
            <a:r>
              <a:rPr dirty="0" err="1"/>
              <a:t>tra</a:t>
            </a:r>
            <a:r>
              <a:rPr dirty="0"/>
              <a:t> </a:t>
            </a:r>
            <a:r>
              <a:rPr dirty="0" err="1"/>
              <a:t>gli</a:t>
            </a:r>
            <a:r>
              <a:rPr dirty="0"/>
              <a:t> </a:t>
            </a:r>
            <a:r>
              <a:rPr dirty="0" err="1"/>
              <a:t>stessi</a:t>
            </a:r>
            <a:r>
              <a:rPr dirty="0"/>
              <a:t> due nodi</a:t>
            </a:r>
          </a:p>
          <a:p>
            <a:pPr algn="l">
              <a:spcAft>
                <a:spcPts val="300"/>
              </a:spcAft>
              <a:defRPr sz="1200">
                <a:solidFill>
                  <a:srgbClr val="FFFFFF"/>
                </a:solidFill>
                <a:latin typeface="Calibri"/>
              </a:defRPr>
            </a:pPr>
            <a:r>
              <a:rPr dirty="0"/>
              <a:t>•  Con pattern multi-</a:t>
            </a:r>
            <a:r>
              <a:rPr dirty="0" err="1"/>
              <a:t>elemento</a:t>
            </a:r>
            <a:r>
              <a:rPr dirty="0"/>
              <a:t> ON CREATE </a:t>
            </a:r>
            <a:r>
              <a:rPr dirty="0" err="1"/>
              <a:t>scatta</a:t>
            </a:r>
            <a:endParaRPr dirty="0"/>
          </a:p>
          <a:p>
            <a:pPr algn="l">
              <a:spcAft>
                <a:spcPts val="300"/>
              </a:spcAft>
              <a:defRPr sz="1200">
                <a:solidFill>
                  <a:srgbClr val="FFFFFF"/>
                </a:solidFill>
                <a:latin typeface="Calibri"/>
              </a:defRPr>
            </a:pPr>
            <a:r>
              <a:rPr dirty="0"/>
              <a:t>  solo se </a:t>
            </a:r>
            <a:r>
              <a:rPr dirty="0" err="1"/>
              <a:t>l'INTERO</a:t>
            </a:r>
            <a:r>
              <a:rPr dirty="0"/>
              <a:t> pattern è nuovo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Filtri WHERE: Logica</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AND, OR, NOT compongono le condizioni. Attenzione alle parentesi: AND ha precedenza su OR.</a:t>
            </a:r>
          </a:p>
        </p:txBody>
      </p:sp>
      <p:sp>
        <p:nvSpPr>
          <p:cNvPr id="4" name="Rectangle 3"/>
          <p:cNvSpPr/>
          <p:nvPr/>
        </p:nvSpPr>
        <p:spPr>
          <a:xfrm>
            <a:off x="731520" y="1463040"/>
            <a:ext cx="4809744" cy="384048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694176"/>
          </a:xfrm>
          <a:prstGeom prst="rect">
            <a:avLst/>
          </a:prstGeom>
          <a:noFill/>
        </p:spPr>
        <p:txBody>
          <a:bodyPr wrap="square">
            <a:spAutoFit/>
          </a:bodyPr>
          <a:lstStyle/>
          <a:p>
            <a:pPr>
              <a:spcAft>
                <a:spcPts val="100"/>
              </a:spcAft>
              <a:defRPr sz="1000">
                <a:solidFill>
                  <a:srgbClr val="7EC68E"/>
                </a:solidFill>
                <a:latin typeface="Consolas"/>
              </a:defRPr>
            </a:pPr>
            <a:r>
              <a:t>// AND ha precedenza su OR — usa le parentesi:</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(p.location = "ROMA"</a:t>
            </a:r>
          </a:p>
          <a:p>
            <a:pPr>
              <a:spcAft>
                <a:spcPts val="100"/>
              </a:spcAft>
              <a:defRPr sz="1000">
                <a:solidFill>
                  <a:srgbClr val="7EC68E"/>
                </a:solidFill>
                <a:latin typeface="Consolas"/>
              </a:defRPr>
            </a:pPr>
            <a:r>
              <a:t>    OR p.location = "MILANO")</a:t>
            </a:r>
          </a:p>
          <a:p>
            <a:pPr>
              <a:spcAft>
                <a:spcPts val="100"/>
              </a:spcAft>
              <a:defRPr sz="1000">
                <a:solidFill>
                  <a:srgbClr val="7EC68E"/>
                </a:solidFill>
                <a:latin typeface="Consolas"/>
              </a:defRPr>
            </a:pPr>
            <a:r>
              <a:t>  AND p.title CONTAINS "SENIOR"</a:t>
            </a:r>
          </a:p>
          <a:p>
            <a:pPr>
              <a:spcAft>
                <a:spcPts val="100"/>
              </a:spcAft>
              <a:defRPr sz="1000">
                <a:solidFill>
                  <a:srgbClr val="7EC68E"/>
                </a:solidFill>
                <a:latin typeface="Consolas"/>
              </a:defRPr>
            </a:pPr>
            <a:r>
              <a:t>RETURN p.name, p.location, p.title;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Senza parentesi il significato cambia:</a:t>
            </a:r>
          </a:p>
          <a:p>
            <a:pPr>
              <a:spcAft>
                <a:spcPts val="100"/>
              </a:spcAft>
              <a:defRPr sz="1000">
                <a:solidFill>
                  <a:srgbClr val="7EC68E"/>
                </a:solidFill>
                <a:latin typeface="Consolas"/>
              </a:defRPr>
            </a:pPr>
            <a:r>
              <a:t>//   ROMA (qualsiasi title) + MILANO-SENIOR</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NOT + IN: esclude le sedi milanesi:</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NOT p.location IN ["ROMA", "MILANO"]</a:t>
            </a:r>
          </a:p>
          <a:p>
            <a:pPr>
              <a:spcAft>
                <a:spcPts val="100"/>
              </a:spcAft>
              <a:defRPr sz="1000">
                <a:solidFill>
                  <a:srgbClr val="7EC68E"/>
                </a:solidFill>
                <a:latin typeface="Consolas"/>
              </a:defRPr>
            </a:pPr>
            <a:r>
              <a:t>RETURN p.name;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&lt;&gt; = "diverso da":  p.title &lt;&gt; "CONSULTANT"</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700"/>
              </a:spcAft>
              <a:defRPr sz="1300">
                <a:solidFill>
                  <a:srgbClr val="FFFFFF"/>
                </a:solidFill>
                <a:latin typeface="Calibri"/>
              </a:defRPr>
            </a:pPr>
            <a:r>
              <a:t>•  AND ha precedenza su OR: usa le parentesi</a:t>
            </a:r>
          </a:p>
          <a:p>
            <a:pPr algn="l">
              <a:spcAft>
                <a:spcPts val="700"/>
              </a:spcAft>
              <a:defRPr sz="1300">
                <a:solidFill>
                  <a:srgbClr val="FFFFFF"/>
                </a:solidFill>
                <a:latin typeface="Calibri"/>
              </a:defRPr>
            </a:pPr>
            <a:r>
              <a:t>•  IN lista: WHERE p.location IN [...]</a:t>
            </a:r>
          </a:p>
          <a:p>
            <a:pPr algn="l">
              <a:spcAft>
                <a:spcPts val="700"/>
              </a:spcAft>
              <a:defRPr sz="1300">
                <a:solidFill>
                  <a:srgbClr val="FFFFFF"/>
                </a:solidFill>
                <a:latin typeface="Calibri"/>
              </a:defRPr>
            </a:pPr>
            <a:r>
              <a:t>•  NOT inverte: NOT IN, NOT CONTAINS, ...</a:t>
            </a:r>
          </a:p>
          <a:p>
            <a:pPr algn="l">
              <a:spcAft>
                <a:spcPts val="700"/>
              </a:spcAft>
              <a:defRPr sz="1300">
                <a:solidFill>
                  <a:srgbClr val="FFFFFF"/>
                </a:solidFill>
                <a:latin typeface="Calibri"/>
              </a:defRPr>
            </a:pPr>
            <a:r>
              <a:t>•  &lt;&gt; significa 'diverso da'</a:t>
            </a:r>
          </a:p>
          <a:p>
            <a:pPr algn="l">
              <a:spcAft>
                <a:spcPts val="700"/>
              </a:spcAft>
              <a:defRPr sz="1300">
                <a:solidFill>
                  <a:srgbClr val="FFFFFF"/>
                </a:solidFill>
                <a:latin typeface="Calibri"/>
              </a:defRPr>
            </a:pPr>
            <a:r>
              <a:t>•  Le parentesi rendono il filtro leggibile</a:t>
            </a:r>
          </a:p>
          <a:p>
            <a:pPr algn="l">
              <a:spcAft>
                <a:spcPts val="700"/>
              </a:spcAft>
              <a:defRPr sz="1300">
                <a:solidFill>
                  <a:srgbClr val="FFFFFF"/>
                </a:solidFill>
                <a:latin typeface="Calibri"/>
              </a:defRPr>
            </a:pPr>
            <a:r>
              <a:t>•  Meglio più righe chiare che una riga compatta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Filtri WHERE: Testo e NULL</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Ricerca testuale e gestione dei valori mancanti sono operazioni di ogni giorno.</a:t>
            </a:r>
          </a:p>
        </p:txBody>
      </p:sp>
      <p:sp>
        <p:nvSpPr>
          <p:cNvPr id="4" name="Rectangle 3"/>
          <p:cNvSpPr/>
          <p:nvPr/>
        </p:nvSpPr>
        <p:spPr>
          <a:xfrm>
            <a:off x="731520" y="1463040"/>
            <a:ext cx="4846320" cy="384048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694176"/>
          </a:xfrm>
          <a:prstGeom prst="rect">
            <a:avLst/>
          </a:prstGeom>
          <a:noFill/>
        </p:spPr>
        <p:txBody>
          <a:bodyPr wrap="square">
            <a:spAutoFit/>
          </a:bodyPr>
          <a:lstStyle/>
          <a:p>
            <a:pPr>
              <a:spcAft>
                <a:spcPts val="100"/>
              </a:spcAft>
              <a:defRPr sz="1000">
                <a:solidFill>
                  <a:srgbClr val="7EC68E"/>
                </a:solidFill>
                <a:latin typeface="Consolas"/>
              </a:defRPr>
            </a:pPr>
            <a:r>
              <a:t>// CONTAINS: sottostringa in qualsiasi posizione</a:t>
            </a:r>
          </a:p>
          <a:p>
            <a:pPr>
              <a:spcAft>
                <a:spcPts val="100"/>
              </a:spcAft>
              <a:defRPr sz="1000">
                <a:solidFill>
                  <a:srgbClr val="7EC68E"/>
                </a:solidFill>
                <a:latin typeface="Consolas"/>
              </a:defRPr>
            </a:pPr>
            <a:r>
              <a:t>MATCH (s:Skill)</a:t>
            </a:r>
          </a:p>
          <a:p>
            <a:pPr>
              <a:spcAft>
                <a:spcPts val="100"/>
              </a:spcAft>
              <a:defRPr sz="1000">
                <a:solidFill>
                  <a:srgbClr val="7EC68E"/>
                </a:solidFill>
                <a:latin typeface="Consolas"/>
              </a:defRPr>
            </a:pPr>
            <a:r>
              <a:t>WHERE s.name CONTAINS "Spark"</a:t>
            </a:r>
          </a:p>
          <a:p>
            <a:pPr>
              <a:spcAft>
                <a:spcPts val="100"/>
              </a:spcAft>
              <a:defRPr sz="1000">
                <a:solidFill>
                  <a:srgbClr val="7EC68E"/>
                </a:solidFill>
                <a:latin typeface="Consolas"/>
              </a:defRPr>
            </a:pPr>
            <a:r>
              <a:t>RETURN s.name;</a:t>
            </a:r>
          </a:p>
          <a:p>
            <a:pPr>
              <a:spcAft>
                <a:spcPts val="100"/>
              </a:spcAft>
              <a:defRPr sz="1000">
                <a:solidFill>
                  <a:srgbClr val="7EC68E"/>
                </a:solidFill>
                <a:latin typeface="Consolas"/>
              </a:defRPr>
            </a:pPr>
            <a:r>
              <a:t>// → "Apache Spark (PySpark)", "Apache Spark (Scala)", ...</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Prefisso / suffisso:</a:t>
            </a:r>
          </a:p>
          <a:p>
            <a:pPr>
              <a:spcAft>
                <a:spcPts val="100"/>
              </a:spcAft>
              <a:defRPr sz="1000">
                <a:solidFill>
                  <a:srgbClr val="7EC68E"/>
                </a:solidFill>
                <a:latin typeface="Consolas"/>
              </a:defRPr>
            </a:pPr>
            <a:r>
              <a:t>WHERE s.name STARTS WITH "DB"</a:t>
            </a:r>
          </a:p>
          <a:p>
            <a:pPr>
              <a:spcAft>
                <a:spcPts val="100"/>
              </a:spcAft>
              <a:defRPr sz="1000">
                <a:solidFill>
                  <a:srgbClr val="7EC68E"/>
                </a:solidFill>
                <a:latin typeface="Consolas"/>
              </a:defRPr>
            </a:pPr>
            <a:r>
              <a:t>WHERE s.name ENDS WITH "L"</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Valori mancanti:</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p.title IS NULL</a:t>
            </a:r>
          </a:p>
          <a:p>
            <a:pPr>
              <a:spcAft>
                <a:spcPts val="100"/>
              </a:spcAft>
              <a:defRPr sz="1000">
                <a:solidFill>
                  <a:srgbClr val="7EC68E"/>
                </a:solidFill>
                <a:latin typeface="Consolas"/>
              </a:defRPr>
            </a:pPr>
            <a:r>
              <a:t>RETURN p.name;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Pattern predicate: filtra chi ha una relazione</a:t>
            </a:r>
          </a:p>
          <a:p>
            <a:pPr>
              <a:spcAft>
                <a:spcPts val="100"/>
              </a:spcAft>
              <a:defRPr sz="1000">
                <a:solidFill>
                  <a:srgbClr val="7EC68E"/>
                </a:solidFill>
                <a:latin typeface="Consolas"/>
              </a:defRPr>
            </a:pPr>
            <a:r>
              <a:t>WHERE (p)-[:HAS_SKILL]-&gt;(:Skill {name:"Python"})</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500"/>
              </a:spcAft>
              <a:defRPr sz="1200">
                <a:solidFill>
                  <a:srgbClr val="FFFFFF"/>
                </a:solidFill>
                <a:latin typeface="Calibri"/>
              </a:defRPr>
            </a:pPr>
            <a:r>
              <a:t>•  CONTAINS → sottostringa in qualsiasi posizione</a:t>
            </a:r>
          </a:p>
          <a:p>
            <a:pPr algn="l">
              <a:spcAft>
                <a:spcPts val="500"/>
              </a:spcAft>
              <a:defRPr sz="1200">
                <a:solidFill>
                  <a:srgbClr val="FFFFFF"/>
                </a:solidFill>
                <a:latin typeface="Calibri"/>
              </a:defRPr>
            </a:pPr>
            <a:r>
              <a:t>•  STARTS WITH / ENDS WITH → estremi della stringa</a:t>
            </a:r>
          </a:p>
          <a:p>
            <a:pPr algn="l">
              <a:spcAft>
                <a:spcPts val="500"/>
              </a:spcAft>
              <a:defRPr sz="1200">
                <a:solidFill>
                  <a:srgbClr val="FFFFFF"/>
                </a:solidFill>
                <a:latin typeface="Calibri"/>
              </a:defRPr>
            </a:pPr>
            <a:r>
              <a:t>•  IS NULL / IS NOT NULL → valori mancanti</a:t>
            </a:r>
          </a:p>
          <a:p>
            <a:pPr algn="l">
              <a:spcAft>
                <a:spcPts val="500"/>
              </a:spcAft>
              <a:defRPr sz="1200">
                <a:solidFill>
                  <a:srgbClr val="FFFFFF"/>
                </a:solidFill>
                <a:latin typeface="Calibri"/>
              </a:defRPr>
            </a:pPr>
            <a:r>
              <a:t>•  Pattern predicate: filtra i nodi con quella relazione</a:t>
            </a:r>
          </a:p>
          <a:p>
            <a:pPr algn="l">
              <a:spcAft>
                <a:spcPts val="500"/>
              </a:spcAft>
              <a:defRPr sz="1200">
                <a:solidFill>
                  <a:srgbClr val="FFFFFF"/>
                </a:solidFill>
                <a:latin typeface="Calibri"/>
              </a:defRPr>
            </a:pPr>
            <a:r>
              <a:t>•  Nota: TEXT index accelera STARTS WITH / CONTAINS</a:t>
            </a:r>
          </a:p>
          <a:p>
            <a:pPr algn="l">
              <a:spcAft>
                <a:spcPts val="500"/>
              </a:spcAft>
              <a:defRPr sz="1200">
                <a:solidFill>
                  <a:srgbClr val="FFFFFF"/>
                </a:solidFill>
                <a:latin typeface="Calibri"/>
              </a:defRPr>
            </a:pPr>
            <a:r>
              <a:t>•  STARTS WITH usa anche un normale RANGE index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Aggregazioni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COUNT, COLLECT, AVG, SUM, MIN, MAX. In Cypher NON serve GROUP BY esplicito.</a:t>
            </a:r>
          </a:p>
        </p:txBody>
      </p:sp>
      <p:sp>
        <p:nvSpPr>
          <p:cNvPr id="4" name="TextBox 3"/>
          <p:cNvSpPr txBox="1"/>
          <p:nvPr/>
        </p:nvSpPr>
        <p:spPr>
          <a:xfrm>
            <a:off x="731520" y="1463040"/>
            <a:ext cx="5029200" cy="2926080"/>
          </a:xfrm>
          <a:prstGeom prst="rect">
            <a:avLst/>
          </a:prstGeom>
          <a:noFill/>
        </p:spPr>
        <p:txBody>
          <a:bodyPr wrap="square">
            <a:spAutoFit/>
          </a:bodyPr>
          <a:lstStyle/>
          <a:p>
            <a:pPr algn="l">
              <a:spcAft>
                <a:spcPts val="300"/>
              </a:spcAft>
              <a:defRPr sz="1300">
                <a:solidFill>
                  <a:srgbClr val="FFFFFF"/>
                </a:solidFill>
                <a:latin typeface="Calibri"/>
              </a:defRPr>
            </a:pPr>
            <a:r>
              <a:t>•  NON serve GROUP BY: le colonne non aggregate</a:t>
            </a:r>
          </a:p>
          <a:p>
            <a:pPr algn="l">
              <a:spcAft>
                <a:spcPts val="300"/>
              </a:spcAft>
              <a:defRPr sz="1300">
                <a:solidFill>
                  <a:srgbClr val="FFFFFF"/>
                </a:solidFill>
                <a:latin typeface="Calibri"/>
              </a:defRPr>
            </a:pPr>
            <a:r>
              <a:t>  diventano automaticamente la CHIAVE di gruppo</a:t>
            </a:r>
          </a:p>
          <a:p>
            <a:pPr algn="l">
              <a:spcAft>
                <a:spcPts val="300"/>
              </a:spcAft>
              <a:defRPr sz="1300">
                <a:solidFill>
                  <a:srgbClr val="FFFFFF"/>
                </a:solidFill>
                <a:latin typeface="Calibri"/>
              </a:defRPr>
            </a:pPr>
            <a:r>
              <a:t>•  COUNT(*) → conta le righe</a:t>
            </a:r>
          </a:p>
          <a:p>
            <a:pPr algn="l">
              <a:spcAft>
                <a:spcPts val="300"/>
              </a:spcAft>
              <a:defRPr sz="1300">
                <a:solidFill>
                  <a:srgbClr val="FFFFFF"/>
                </a:solidFill>
                <a:latin typeface="Calibri"/>
              </a:defRPr>
            </a:pPr>
            <a:r>
              <a:t>•  COUNT(expr) → conta i valori non-NULL</a:t>
            </a:r>
          </a:p>
          <a:p>
            <a:pPr algn="l">
              <a:spcAft>
                <a:spcPts val="300"/>
              </a:spcAft>
              <a:defRPr sz="1300">
                <a:solidFill>
                  <a:srgbClr val="FFFFFF"/>
                </a:solidFill>
                <a:latin typeface="Calibri"/>
              </a:defRPr>
            </a:pPr>
            <a:r>
              <a:t>•  COLLECT(expr) → raccoglie in una lista</a:t>
            </a:r>
          </a:p>
          <a:p>
            <a:pPr algn="l">
              <a:spcAft>
                <a:spcPts val="300"/>
              </a:spcAft>
              <a:defRPr sz="1300">
                <a:solidFill>
                  <a:srgbClr val="FFFFFF"/>
                </a:solidFill>
                <a:latin typeface="Calibri"/>
              </a:defRPr>
            </a:pPr>
            <a:r>
              <a:t>•  AVG / SUM / MIN / MAX → statistiche numeriche</a:t>
            </a:r>
          </a:p>
          <a:p>
            <a:pPr algn="l">
              <a:spcAft>
                <a:spcPts val="300"/>
              </a:spcAft>
              <a:defRPr sz="1300">
                <a:solidFill>
                  <a:srgbClr val="FFFFFF"/>
                </a:solidFill>
                <a:latin typeface="Calibri"/>
              </a:defRPr>
            </a:pPr>
            <a:r>
              <a:t>•  DISTINCT: COUNT(DISTINCT x), COLLECT(DISTINCT x)</a:t>
            </a:r>
          </a:p>
        </p:txBody>
      </p:sp>
      <p:sp>
        <p:nvSpPr>
          <p:cNvPr id="5" name="Rectangle 4"/>
          <p:cNvSpPr/>
          <p:nvPr/>
        </p:nvSpPr>
        <p:spPr>
          <a:xfrm>
            <a:off x="5669280" y="1463040"/>
            <a:ext cx="4846320" cy="32918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145536"/>
          </a:xfrm>
          <a:prstGeom prst="rect">
            <a:avLst/>
          </a:prstGeom>
          <a:noFill/>
        </p:spPr>
        <p:txBody>
          <a:bodyPr wrap="square">
            <a:spAutoFit/>
          </a:bodyPr>
          <a:lstStyle/>
          <a:p>
            <a:pPr>
              <a:spcAft>
                <a:spcPts val="100"/>
              </a:spcAft>
              <a:defRPr sz="1000">
                <a:solidFill>
                  <a:srgbClr val="7EC68E"/>
                </a:solidFill>
                <a:latin typeface="Consolas"/>
              </a:defRPr>
            </a:pPr>
            <a:r>
              <a:t>// SENZA aggregazione: una riga per coppia</a:t>
            </a:r>
          </a:p>
          <a:p>
            <a:pPr>
              <a:spcAft>
                <a:spcPts val="100"/>
              </a:spcAft>
              <a:defRPr sz="1000">
                <a:solidFill>
                  <a:srgbClr val="7EC68E"/>
                </a:solidFill>
                <a:latin typeface="Consolas"/>
              </a:defRPr>
            </a:pPr>
            <a:r>
              <a:t>MATCH (p:Person)-[:HAS_SKILL]-&gt;(s:Skill)</a:t>
            </a:r>
          </a:p>
          <a:p>
            <a:pPr>
              <a:spcAft>
                <a:spcPts val="100"/>
              </a:spcAft>
              <a:defRPr sz="1000">
                <a:solidFill>
                  <a:srgbClr val="7EC68E"/>
                </a:solidFill>
                <a:latin typeface="Consolas"/>
              </a:defRPr>
            </a:pPr>
            <a:r>
              <a:t>RETURN p.name, s.name;</a:t>
            </a:r>
          </a:p>
          <a:p>
            <a:pPr>
              <a:spcAft>
                <a:spcPts val="100"/>
              </a:spcAft>
              <a:defRPr sz="1000">
                <a:solidFill>
                  <a:srgbClr val="7EC68E"/>
                </a:solidFill>
                <a:latin typeface="Consolas"/>
              </a:defRPr>
            </a:pPr>
            <a:r>
              <a:t>// → ~6.200 righe (238 persone × ~26 skill)</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CON count(*): s.name diventa la CHIAVE di</a:t>
            </a:r>
          </a:p>
          <a:p>
            <a:pPr>
              <a:spcAft>
                <a:spcPts val="100"/>
              </a:spcAft>
              <a:defRPr sz="1000">
                <a:solidFill>
                  <a:srgbClr val="7EC68E"/>
                </a:solidFill>
                <a:latin typeface="Consolas"/>
              </a:defRPr>
            </a:pPr>
            <a:r>
              <a:t>// raggruppamento (implicito, senza GROUP BY):</a:t>
            </a:r>
          </a:p>
          <a:p>
            <a:pPr>
              <a:spcAft>
                <a:spcPts val="100"/>
              </a:spcAft>
              <a:defRPr sz="1000">
                <a:solidFill>
                  <a:srgbClr val="7EC68E"/>
                </a:solidFill>
                <a:latin typeface="Consolas"/>
              </a:defRPr>
            </a:pPr>
            <a:r>
              <a:t>MATCH (p:Person)-[:HAS_SKILL]-&gt;(s:Skill)</a:t>
            </a:r>
          </a:p>
          <a:p>
            <a:pPr>
              <a:spcAft>
                <a:spcPts val="100"/>
              </a:spcAft>
              <a:defRPr sz="1000">
                <a:solidFill>
                  <a:srgbClr val="7EC68E"/>
                </a:solidFill>
                <a:latin typeface="Consolas"/>
              </a:defRPr>
            </a:pPr>
            <a:r>
              <a:t>RETURN s.name AS skill, count(*) AS persone</a:t>
            </a:r>
          </a:p>
          <a:p>
            <a:pPr>
              <a:spcAft>
                <a:spcPts val="100"/>
              </a:spcAft>
              <a:defRPr sz="1000">
                <a:solidFill>
                  <a:srgbClr val="7EC68E"/>
                </a:solidFill>
                <a:latin typeface="Consolas"/>
              </a:defRPr>
            </a:pPr>
            <a:r>
              <a:t>ORDER BY persone DESC LIMIT 10;</a:t>
            </a:r>
          </a:p>
          <a:p>
            <a:pPr>
              <a:spcAft>
                <a:spcPts val="100"/>
              </a:spcAft>
              <a:defRPr sz="1000">
                <a:solidFill>
                  <a:srgbClr val="7EC68E"/>
                </a:solidFill>
                <a:latin typeface="Consolas"/>
              </a:defRPr>
            </a:pPr>
            <a:r>
              <a:t>// → 54 righe: una per skill, col conteggio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Aggregazioni: Dettagli Importanti</a:t>
            </a:r>
          </a:p>
        </p:txBody>
      </p:sp>
      <p:sp>
        <p:nvSpPr>
          <p:cNvPr id="3" name="TextBox 2"/>
          <p:cNvSpPr txBox="1"/>
          <p:nvPr/>
        </p:nvSpPr>
        <p:spPr>
          <a:xfrm>
            <a:off x="731520" y="960120"/>
            <a:ext cx="10515600" cy="365760"/>
          </a:xfrm>
          <a:prstGeom prst="rect">
            <a:avLst/>
          </a:prstGeom>
          <a:noFill/>
        </p:spPr>
        <p:txBody>
          <a:bodyPr wrap="square">
            <a:spAutoFit/>
          </a:bodyPr>
          <a:lstStyle/>
          <a:p>
            <a:pPr algn="l">
              <a:defRPr sz="1400" b="0">
                <a:solidFill>
                  <a:srgbClr val="CCCCCC"/>
                </a:solidFill>
                <a:latin typeface="Calibri"/>
              </a:defRPr>
            </a:pPr>
            <a:r>
              <a:t>Piccole differenze con grandi effetti sulla correttezza e sulla performance.</a:t>
            </a:r>
          </a:p>
        </p:txBody>
      </p:sp>
      <p:sp>
        <p:nvSpPr>
          <p:cNvPr id="4" name="TextBox 3"/>
          <p:cNvSpPr txBox="1"/>
          <p:nvPr/>
        </p:nvSpPr>
        <p:spPr>
          <a:xfrm>
            <a:off x="731520" y="1371600"/>
            <a:ext cx="5029200" cy="3840480"/>
          </a:xfrm>
          <a:prstGeom prst="rect">
            <a:avLst/>
          </a:prstGeom>
          <a:noFill/>
        </p:spPr>
        <p:txBody>
          <a:bodyPr wrap="square">
            <a:spAutoFit/>
          </a:bodyPr>
          <a:lstStyle/>
          <a:p>
            <a:pPr algn="l">
              <a:spcAft>
                <a:spcPts val="300"/>
              </a:spcAft>
              <a:defRPr sz="1200">
                <a:solidFill>
                  <a:srgbClr val="FFFFFF"/>
                </a:solidFill>
                <a:latin typeface="Calibri"/>
              </a:defRPr>
            </a:pPr>
            <a:r>
              <a:t>•  count(*) → conta le RIGHE</a:t>
            </a:r>
          </a:p>
          <a:p>
            <a:pPr algn="l">
              <a:spcAft>
                <a:spcPts val="300"/>
              </a:spcAft>
              <a:defRPr sz="1200">
                <a:solidFill>
                  <a:srgbClr val="FFFFFF"/>
                </a:solidFill>
                <a:latin typeface="Calibri"/>
              </a:defRPr>
            </a:pPr>
            <a:r>
              <a:t>•  count(expr) → conta i valori non-NULL</a:t>
            </a:r>
          </a:p>
          <a:p>
            <a:pPr algn="l">
              <a:spcAft>
                <a:spcPts val="300"/>
              </a:spcAft>
              <a:defRPr sz="1200">
                <a:solidFill>
                  <a:srgbClr val="FFFFFF"/>
                </a:solidFill>
                <a:latin typeface="Calibri"/>
              </a:defRPr>
            </a:pPr>
            <a:r>
              <a:t>•  count(DISTINCT x) → conta i valori unici</a:t>
            </a:r>
          </a:p>
          <a:p>
            <a:pPr algn="l">
              <a:spcAft>
                <a:spcPts val="300"/>
              </a:spcAft>
              <a:defRPr sz="1200">
                <a:solidFill>
                  <a:srgbClr val="FFFFFF"/>
                </a:solidFill>
                <a:latin typeface="Calibri"/>
              </a:defRPr>
            </a:pPr>
            <a:r>
              <a:t>•  collect(x) → lista di TUTTI i valori</a:t>
            </a:r>
          </a:p>
          <a:p>
            <a:pPr algn="l">
              <a:spcAft>
                <a:spcPts val="300"/>
              </a:spcAft>
              <a:defRPr sz="1200">
                <a:solidFill>
                  <a:srgbClr val="FFFFFF"/>
                </a:solidFill>
                <a:latin typeface="Calibri"/>
              </a:defRPr>
            </a:pPr>
            <a:r>
              <a:t>•  collect(DISTINCT x) → lista senza duplicati</a:t>
            </a:r>
          </a:p>
          <a:p>
            <a:pPr algn="l">
              <a:spcAft>
                <a:spcPts val="300"/>
              </a:spcAft>
              <a:defRPr sz="1200">
                <a:solidFill>
                  <a:srgbClr val="FFFFFF"/>
                </a:solidFill>
                <a:latin typeface="Calibri"/>
              </a:defRPr>
            </a:pPr>
            <a:r>
              <a:t>•  avg / sum / min / max → statistiche</a:t>
            </a:r>
          </a:p>
          <a:p>
            <a:pPr algn="l">
              <a:spcAft>
                <a:spcPts val="300"/>
              </a:spcAft>
              <a:defRPr sz="1200">
                <a:solidFill>
                  <a:srgbClr val="FFFFFF"/>
                </a:solidFill>
                <a:latin typeface="Calibri"/>
              </a:defRPr>
            </a:pPr>
            <a:r>
              <a:t>•  round(x, 1) → arrotonda a 1 decimale</a:t>
            </a:r>
          </a:p>
          <a:p>
            <a:pPr algn="l">
              <a:spcAft>
                <a:spcPts val="300"/>
              </a:spcAft>
              <a:defRPr sz="1200">
                <a:solidFill>
                  <a:srgbClr val="FFFFFF"/>
                </a:solidFill>
                <a:latin typeface="Calibri"/>
              </a:defRPr>
            </a:pPr>
            <a:r>
              <a:t>•  Preferisci count(x) a size(collect(x)):</a:t>
            </a:r>
          </a:p>
          <a:p>
            <a:pPr algn="l">
              <a:spcAft>
                <a:spcPts val="300"/>
              </a:spcAft>
              <a:defRPr sz="1200">
                <a:solidFill>
                  <a:srgbClr val="FFFFFF"/>
                </a:solidFill>
                <a:latin typeface="Calibri"/>
              </a:defRPr>
            </a:pPr>
            <a:r>
              <a:t>  count non costruisce la lista (più veloce)</a:t>
            </a:r>
          </a:p>
        </p:txBody>
      </p:sp>
      <p:sp>
        <p:nvSpPr>
          <p:cNvPr id="5" name="Rectangle 4"/>
          <p:cNvSpPr/>
          <p:nvPr/>
        </p:nvSpPr>
        <p:spPr>
          <a:xfrm>
            <a:off x="5669280" y="1417320"/>
            <a:ext cx="4846320" cy="3474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490472"/>
            <a:ext cx="4626864" cy="3328416"/>
          </a:xfrm>
          <a:prstGeom prst="rect">
            <a:avLst/>
          </a:prstGeom>
          <a:noFill/>
        </p:spPr>
        <p:txBody>
          <a:bodyPr wrap="square">
            <a:spAutoFit/>
          </a:bodyPr>
          <a:lstStyle/>
          <a:p>
            <a:pPr>
              <a:spcAft>
                <a:spcPts val="100"/>
              </a:spcAft>
              <a:defRPr sz="1000">
                <a:solidFill>
                  <a:srgbClr val="7EC68E"/>
                </a:solidFill>
                <a:latin typeface="Consolas"/>
              </a:defRPr>
            </a:pPr>
            <a:r>
              <a:t>// Progetti per persona (lista + conteggio):</a:t>
            </a:r>
          </a:p>
          <a:p>
            <a:pPr>
              <a:spcAft>
                <a:spcPts val="100"/>
              </a:spcAft>
              <a:defRPr sz="1000">
                <a:solidFill>
                  <a:srgbClr val="7EC68E"/>
                </a:solidFill>
                <a:latin typeface="Consolas"/>
              </a:defRPr>
            </a:pPr>
            <a:r>
              <a:t>MATCH (p:Person)-[:WORKED_ON]-&gt;(proj:Project)</a:t>
            </a:r>
          </a:p>
          <a:p>
            <a:pPr>
              <a:spcAft>
                <a:spcPts val="100"/>
              </a:spcAft>
              <a:defRPr sz="1000">
                <a:solidFill>
                  <a:srgbClr val="7EC68E"/>
                </a:solidFill>
                <a:latin typeface="Consolas"/>
              </a:defRPr>
            </a:pPr>
            <a:r>
              <a:t>RETURN p.name AS persona,</a:t>
            </a:r>
          </a:p>
          <a:p>
            <a:pPr>
              <a:spcAft>
                <a:spcPts val="100"/>
              </a:spcAft>
              <a:defRPr sz="1000">
                <a:solidFill>
                  <a:srgbClr val="7EC68E"/>
                </a:solidFill>
                <a:latin typeface="Consolas"/>
              </a:defRPr>
            </a:pPr>
            <a:r>
              <a:t>       collect(proj.name) AS progetti,</a:t>
            </a:r>
          </a:p>
          <a:p>
            <a:pPr>
              <a:spcAft>
                <a:spcPts val="100"/>
              </a:spcAft>
              <a:defRPr sz="1000">
                <a:solidFill>
                  <a:srgbClr val="7EC68E"/>
                </a:solidFill>
                <a:latin typeface="Consolas"/>
              </a:defRPr>
            </a:pPr>
            <a:r>
              <a:t>       count(proj) AS num</a:t>
            </a:r>
          </a:p>
          <a:p>
            <a:pPr>
              <a:spcAft>
                <a:spcPts val="100"/>
              </a:spcAft>
              <a:defRPr sz="1000">
                <a:solidFill>
                  <a:srgbClr val="7EC68E"/>
                </a:solidFill>
                <a:latin typeface="Consolas"/>
              </a:defRPr>
            </a:pPr>
            <a:r>
              <a:t>ORDER BY num DESC LIMIT 10;</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OUTPUT: Enrico Bianchi | [Piattaforma Saturno,</a:t>
            </a:r>
          </a:p>
          <a:p>
            <a:pPr>
              <a:spcAft>
                <a:spcPts val="100"/>
              </a:spcAft>
              <a:defRPr sz="1000">
                <a:solidFill>
                  <a:srgbClr val="7EC68E"/>
                </a:solidFill>
                <a:latin typeface="Consolas"/>
              </a:defRPr>
            </a:pPr>
            <a:r>
              <a:t>//                   Iniziativa Lupo] | 2</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count vs count(DISTINCT) — stesso MATCH:</a:t>
            </a:r>
          </a:p>
          <a:p>
            <a:pPr>
              <a:spcAft>
                <a:spcPts val="100"/>
              </a:spcAft>
              <a:defRPr sz="1000">
                <a:solidFill>
                  <a:srgbClr val="7EC68E"/>
                </a:solidFill>
                <a:latin typeface="Consolas"/>
              </a:defRPr>
            </a:pPr>
            <a:r>
              <a:t>RETURN count(proj.name) AS con_dup,</a:t>
            </a:r>
          </a:p>
          <a:p>
            <a:pPr>
              <a:spcAft>
                <a:spcPts val="100"/>
              </a:spcAft>
              <a:defRPr sz="1000">
                <a:solidFill>
                  <a:srgbClr val="7EC68E"/>
                </a:solidFill>
                <a:latin typeface="Consolas"/>
              </a:defRPr>
            </a:pPr>
            <a:r>
              <a:t>       count(DISTINCT proj.name) AS senza_dup;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Ordinamento e Paginazione</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ORDER BY ordina, SKIP e LIMIT ritagliano una pagina di risultati.</a:t>
            </a:r>
          </a:p>
        </p:txBody>
      </p:sp>
      <p:sp>
        <p:nvSpPr>
          <p:cNvPr id="4" name="Rectangle 3"/>
          <p:cNvSpPr/>
          <p:nvPr/>
        </p:nvSpPr>
        <p:spPr>
          <a:xfrm>
            <a:off x="73152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511296"/>
          </a:xfrm>
          <a:prstGeom prst="rect">
            <a:avLst/>
          </a:prstGeom>
          <a:noFill/>
        </p:spPr>
        <p:txBody>
          <a:bodyPr wrap="square">
            <a:spAutoFit/>
          </a:bodyPr>
          <a:lstStyle/>
          <a:p>
            <a:pPr>
              <a:spcAft>
                <a:spcPts val="100"/>
              </a:spcAft>
              <a:defRPr sz="1000">
                <a:solidFill>
                  <a:srgbClr val="7EC68E"/>
                </a:solidFill>
                <a:latin typeface="Consolas"/>
              </a:defRPr>
            </a:pPr>
            <a:r>
              <a:t>// Top 5 skill più comuni:</a:t>
            </a:r>
          </a:p>
          <a:p>
            <a:pPr>
              <a:spcAft>
                <a:spcPts val="100"/>
              </a:spcAft>
              <a:defRPr sz="1000">
                <a:solidFill>
                  <a:srgbClr val="7EC68E"/>
                </a:solidFill>
                <a:latin typeface="Consolas"/>
              </a:defRPr>
            </a:pPr>
            <a:r>
              <a:t>MATCH (p:Person)-[:HAS_SKILL]-&gt;(s:Skill)</a:t>
            </a:r>
          </a:p>
          <a:p>
            <a:pPr>
              <a:spcAft>
                <a:spcPts val="100"/>
              </a:spcAft>
              <a:defRPr sz="1000">
                <a:solidFill>
                  <a:srgbClr val="7EC68E"/>
                </a:solidFill>
                <a:latin typeface="Consolas"/>
              </a:defRPr>
            </a:pPr>
            <a:r>
              <a:t>RETURN s.name, count(*) AS cnt</a:t>
            </a:r>
          </a:p>
          <a:p>
            <a:pPr>
              <a:spcAft>
                <a:spcPts val="100"/>
              </a:spcAft>
              <a:defRPr sz="1000">
                <a:solidFill>
                  <a:srgbClr val="7EC68E"/>
                </a:solidFill>
                <a:latin typeface="Consolas"/>
              </a:defRPr>
            </a:pPr>
            <a:r>
              <a:t>ORDER BY cnt DESC 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Ordinamento multiplo:</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RETURN p.name, p.title</a:t>
            </a:r>
          </a:p>
          <a:p>
            <a:pPr>
              <a:spcAft>
                <a:spcPts val="100"/>
              </a:spcAft>
              <a:defRPr sz="1000">
                <a:solidFill>
                  <a:srgbClr val="7EC68E"/>
                </a:solidFill>
                <a:latin typeface="Consolas"/>
              </a:defRPr>
            </a:pPr>
            <a:r>
              <a:t>ORDER BY p.title DESC, p.name ASC;</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Paginazione — pagina 3 di 10 risultati:</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RETURN p.name, p.location</a:t>
            </a:r>
          </a:p>
          <a:p>
            <a:pPr>
              <a:spcAft>
                <a:spcPts val="100"/>
              </a:spcAft>
              <a:defRPr sz="1000">
                <a:solidFill>
                  <a:srgbClr val="7EC68E"/>
                </a:solidFill>
                <a:latin typeface="Consolas"/>
              </a:defRPr>
            </a:pPr>
            <a:r>
              <a:t>ORDER BY p.name</a:t>
            </a:r>
          </a:p>
          <a:p>
            <a:pPr>
              <a:spcAft>
                <a:spcPts val="100"/>
              </a:spcAft>
              <a:defRPr sz="1000">
                <a:solidFill>
                  <a:srgbClr val="7EC68E"/>
                </a:solidFill>
                <a:latin typeface="Consolas"/>
              </a:defRPr>
            </a:pPr>
            <a:r>
              <a:t>SKIP 20 LIMIT 10;</a:t>
            </a:r>
          </a:p>
          <a:p>
            <a:pPr>
              <a:spcAft>
                <a:spcPts val="100"/>
              </a:spcAft>
              <a:defRPr sz="1000">
                <a:solidFill>
                  <a:srgbClr val="7EC68E"/>
                </a:solidFill>
                <a:latin typeface="Consolas"/>
              </a:defRPr>
            </a:pPr>
            <a:r>
              <a:t>// SKIP (pagina-1)*n = (3-1)*10 = 20</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500"/>
              </a:spcAft>
              <a:defRPr sz="1200">
                <a:solidFill>
                  <a:srgbClr val="FFFFFF"/>
                </a:solidFill>
                <a:latin typeface="Calibri"/>
              </a:defRPr>
            </a:pPr>
            <a:r>
              <a:t>•  ORDER BY ... ASC (default) / DESC</a:t>
            </a:r>
          </a:p>
          <a:p>
            <a:pPr algn="l">
              <a:spcAft>
                <a:spcPts val="500"/>
              </a:spcAft>
              <a:defRPr sz="1200">
                <a:solidFill>
                  <a:srgbClr val="FFFFFF"/>
                </a:solidFill>
                <a:latin typeface="Calibri"/>
              </a:defRPr>
            </a:pPr>
            <a:r>
              <a:t>•  Multiplo: ORDER BY col1 DESC, col2 ASC</a:t>
            </a:r>
          </a:p>
          <a:p>
            <a:pPr algn="l">
              <a:spcAft>
                <a:spcPts val="500"/>
              </a:spcAft>
              <a:defRPr sz="1200">
                <a:solidFill>
                  <a:srgbClr val="FFFFFF"/>
                </a:solidFill>
                <a:latin typeface="Calibri"/>
              </a:defRPr>
            </a:pPr>
            <a:r>
              <a:t>•  SKIP salta righe, LIMIT ne prende N</a:t>
            </a:r>
          </a:p>
          <a:p>
            <a:pPr algn="l">
              <a:spcAft>
                <a:spcPts val="500"/>
              </a:spcAft>
              <a:defRPr sz="1200">
                <a:solidFill>
                  <a:srgbClr val="FFFFFF"/>
                </a:solidFill>
                <a:latin typeface="Calibri"/>
              </a:defRPr>
            </a:pPr>
            <a:r>
              <a:t>•  Paginazione: SKIP (pagina-1)*n  LIMIT n</a:t>
            </a:r>
          </a:p>
          <a:p>
            <a:pPr algn="l">
              <a:spcAft>
                <a:spcPts val="500"/>
              </a:spcAft>
              <a:defRPr sz="1200">
                <a:solidFill>
                  <a:srgbClr val="FFFFFF"/>
                </a:solidFill>
                <a:latin typeface="Calibri"/>
              </a:defRPr>
            </a:pPr>
            <a:r>
              <a:t>•  SKIP senza ORDER BY = ordine imprevedibile</a:t>
            </a:r>
          </a:p>
          <a:p>
            <a:pPr algn="l">
              <a:spcAft>
                <a:spcPts val="500"/>
              </a:spcAft>
              <a:defRPr sz="1200">
                <a:solidFill>
                  <a:srgbClr val="FFFFFF"/>
                </a:solidFill>
                <a:latin typeface="Calibri"/>
              </a:defRPr>
            </a:pPr>
            <a:r>
              <a:t>•  LIMIT ferma l'esecuzione: query più veloce</a:t>
            </a:r>
          </a:p>
          <a:p>
            <a:pPr algn="l">
              <a:spcAft>
                <a:spcPts val="500"/>
              </a:spcAft>
              <a:defRPr sz="1200">
                <a:solidFill>
                  <a:srgbClr val="FFFFFF"/>
                </a:solidFill>
                <a:latin typeface="Calibri"/>
              </a:defRPr>
            </a:pPr>
            <a:r>
              <a:t>•  ORDER BY usa gli alias del RETURN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UNION e UNION ALL</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Combinano i risultati di più query. UNION rimuove i duplicati, UNION ALL li mantiene.</a:t>
            </a:r>
          </a:p>
        </p:txBody>
      </p:sp>
      <p:sp>
        <p:nvSpPr>
          <p:cNvPr id="4" name="Rectangle 3"/>
          <p:cNvSpPr/>
          <p:nvPr/>
        </p:nvSpPr>
        <p:spPr>
          <a:xfrm>
            <a:off x="731520" y="1463040"/>
            <a:ext cx="4846320" cy="3474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328416"/>
          </a:xfrm>
          <a:prstGeom prst="rect">
            <a:avLst/>
          </a:prstGeom>
          <a:noFill/>
        </p:spPr>
        <p:txBody>
          <a:bodyPr wrap="square">
            <a:spAutoFit/>
          </a:bodyPr>
          <a:lstStyle/>
          <a:p>
            <a:pPr>
              <a:spcAft>
                <a:spcPts val="100"/>
              </a:spcAft>
              <a:defRPr sz="1000">
                <a:solidFill>
                  <a:srgbClr val="7EC68E"/>
                </a:solidFill>
                <a:latin typeface="Consolas"/>
              </a:defRPr>
            </a:pPr>
            <a:r>
              <a:t>// Skill e progetti in un'unica lista:</a:t>
            </a:r>
          </a:p>
          <a:p>
            <a:pPr>
              <a:spcAft>
                <a:spcPts val="100"/>
              </a:spcAft>
              <a:defRPr sz="1000">
                <a:solidFill>
                  <a:srgbClr val="7EC68E"/>
                </a:solidFill>
                <a:latin typeface="Consolas"/>
              </a:defRPr>
            </a:pPr>
            <a:r>
              <a:t>MATCH (s:Skill)</a:t>
            </a:r>
          </a:p>
          <a:p>
            <a:pPr>
              <a:spcAft>
                <a:spcPts val="100"/>
              </a:spcAft>
              <a:defRPr sz="1000">
                <a:solidFill>
                  <a:srgbClr val="7EC68E"/>
                </a:solidFill>
                <a:latin typeface="Consolas"/>
              </a:defRPr>
            </a:pPr>
            <a:r>
              <a:t>RETURN s.name AS nome, "Skill" AS tipo</a:t>
            </a:r>
          </a:p>
          <a:p>
            <a:pPr>
              <a:spcAft>
                <a:spcPts val="100"/>
              </a:spcAft>
              <a:defRPr sz="1000">
                <a:solidFill>
                  <a:srgbClr val="7EC68E"/>
                </a:solidFill>
                <a:latin typeface="Consolas"/>
              </a:defRPr>
            </a:pPr>
            <a:r>
              <a:t>UNION</a:t>
            </a:r>
          </a:p>
          <a:p>
            <a:pPr>
              <a:spcAft>
                <a:spcPts val="100"/>
              </a:spcAft>
              <a:defRPr sz="1000">
                <a:solidFill>
                  <a:srgbClr val="7EC68E"/>
                </a:solidFill>
                <a:latin typeface="Consolas"/>
              </a:defRPr>
            </a:pPr>
            <a:r>
              <a:t>MATCH (p:Project)</a:t>
            </a:r>
          </a:p>
          <a:p>
            <a:pPr>
              <a:spcAft>
                <a:spcPts val="100"/>
              </a:spcAft>
              <a:defRPr sz="1000">
                <a:solidFill>
                  <a:srgbClr val="7EC68E"/>
                </a:solidFill>
                <a:latin typeface="Consolas"/>
              </a:defRPr>
            </a:pPr>
            <a:r>
              <a:t>RETURN p.name AS nome, "Progetto" AS tipo</a:t>
            </a:r>
          </a:p>
          <a:p>
            <a:pPr>
              <a:spcAft>
                <a:spcPts val="100"/>
              </a:spcAft>
              <a:defRPr sz="1000">
                <a:solidFill>
                  <a:srgbClr val="7EC68E"/>
                </a:solidFill>
                <a:latin typeface="Consolas"/>
              </a:defRPr>
            </a:pPr>
            <a:r>
              <a:t>ORDER BY nome;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UNION     → elimina i duplicati</a:t>
            </a:r>
          </a:p>
          <a:p>
            <a:pPr>
              <a:spcAft>
                <a:spcPts val="100"/>
              </a:spcAft>
              <a:defRPr sz="1000">
                <a:solidFill>
                  <a:srgbClr val="7EC68E"/>
                </a:solidFill>
                <a:latin typeface="Consolas"/>
              </a:defRPr>
            </a:pPr>
            <a:r>
              <a:t>// UNION ALL → li mantiene (più veloce)</a:t>
            </a:r>
          </a:p>
          <a:p>
            <a:pPr>
              <a:spcAft>
                <a:spcPts val="100"/>
              </a:spcAft>
              <a:defRPr sz="1000">
                <a:solidFill>
                  <a:srgbClr val="7EC68E"/>
                </a:solidFill>
                <a:latin typeface="Consolas"/>
              </a:defRPr>
            </a:pPr>
            <a:r>
              <a:t>// ORDER BY a fine query: vale sul totale</a:t>
            </a:r>
          </a:p>
        </p:txBody>
      </p:sp>
      <p:sp>
        <p:nvSpPr>
          <p:cNvPr id="6" name="TextBox 5"/>
          <p:cNvSpPr txBox="1"/>
          <p:nvPr/>
        </p:nvSpPr>
        <p:spPr>
          <a:xfrm>
            <a:off x="5669280" y="1463040"/>
            <a:ext cx="4846320" cy="3474720"/>
          </a:xfrm>
          <a:prstGeom prst="rect">
            <a:avLst/>
          </a:prstGeom>
          <a:noFill/>
        </p:spPr>
        <p:txBody>
          <a:bodyPr wrap="square">
            <a:spAutoFit/>
          </a:bodyPr>
          <a:lstStyle/>
          <a:p>
            <a:pPr algn="l">
              <a:spcAft>
                <a:spcPts val="500"/>
              </a:spcAft>
              <a:defRPr sz="1300">
                <a:solidFill>
                  <a:srgbClr val="FFFFFF"/>
                </a:solidFill>
                <a:latin typeface="Calibri"/>
              </a:defRPr>
            </a:pPr>
            <a:r>
              <a:t>•  Ogni ramo: STESSE colonne (nomi e ordine)</a:t>
            </a:r>
          </a:p>
          <a:p>
            <a:pPr algn="l">
              <a:spcAft>
                <a:spcPts val="500"/>
              </a:spcAft>
              <a:defRPr sz="1300">
                <a:solidFill>
                  <a:srgbClr val="FFFFFF"/>
                </a:solidFill>
                <a:latin typeface="Calibri"/>
              </a:defRPr>
            </a:pPr>
            <a:r>
              <a:t>•  UNION = dedup (più lento)</a:t>
            </a:r>
          </a:p>
          <a:p>
            <a:pPr algn="l">
              <a:spcAft>
                <a:spcPts val="500"/>
              </a:spcAft>
              <a:defRPr sz="1300">
                <a:solidFill>
                  <a:srgbClr val="FFFFFF"/>
                </a:solidFill>
                <a:latin typeface="Calibri"/>
              </a:defRPr>
            </a:pPr>
            <a:r>
              <a:t>•  UNION ALL = tutto (più veloce)</a:t>
            </a:r>
          </a:p>
          <a:p>
            <a:pPr algn="l">
              <a:spcAft>
                <a:spcPts val="500"/>
              </a:spcAft>
              <a:defRPr sz="1300">
                <a:solidFill>
                  <a:srgbClr val="FFFFFF"/>
                </a:solidFill>
                <a:latin typeface="Calibri"/>
              </a:defRPr>
            </a:pPr>
            <a:r>
              <a:t>•  Preferisci UNION ALL se non ci sono doppioni</a:t>
            </a:r>
          </a:p>
          <a:p>
            <a:pPr algn="l">
              <a:spcAft>
                <a:spcPts val="500"/>
              </a:spcAft>
              <a:defRPr sz="1300">
                <a:solidFill>
                  <a:srgbClr val="FFFFFF"/>
                </a:solidFill>
                <a:latin typeface="Calibri"/>
              </a:defRPr>
            </a:pPr>
            <a:r>
              <a:t>•  Un solo ORDER BY / LIMIT, alla fine</a:t>
            </a:r>
          </a:p>
          <a:p>
            <a:pPr algn="l">
              <a:spcAft>
                <a:spcPts val="500"/>
              </a:spcAft>
              <a:defRPr sz="1300">
                <a:solidFill>
                  <a:srgbClr val="FFFFFF"/>
                </a:solidFill>
                <a:latin typeface="Calibri"/>
              </a:defRPr>
            </a:pPr>
            <a:r>
              <a:t>•  Per aggregare i rami serve CALL {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Subquery con CALL { ... }</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Eseguono una query nel contesto di un'altra. Permettono UNION con post-processing e conteggi multipli.</a:t>
            </a:r>
          </a:p>
        </p:txBody>
      </p:sp>
      <p:sp>
        <p:nvSpPr>
          <p:cNvPr id="4" name="TextBox 3"/>
          <p:cNvSpPr txBox="1"/>
          <p:nvPr/>
        </p:nvSpPr>
        <p:spPr>
          <a:xfrm>
            <a:off x="731520" y="1463040"/>
            <a:ext cx="5029200" cy="3108960"/>
          </a:xfrm>
          <a:prstGeom prst="rect">
            <a:avLst/>
          </a:prstGeom>
          <a:noFill/>
        </p:spPr>
        <p:txBody>
          <a:bodyPr wrap="square">
            <a:spAutoFit/>
          </a:bodyPr>
          <a:lstStyle/>
          <a:p>
            <a:pPr algn="l">
              <a:spcAft>
                <a:spcPts val="500"/>
              </a:spcAft>
              <a:defRPr sz="1300">
                <a:solidFill>
                  <a:srgbClr val="FFFFFF"/>
                </a:solidFill>
                <a:latin typeface="Calibri"/>
              </a:defRPr>
            </a:pPr>
            <a:r>
              <a:t>•  CALL { ... } annida una query nella corrente</a:t>
            </a:r>
          </a:p>
          <a:p>
            <a:pPr algn="l">
              <a:spcAft>
                <a:spcPts val="500"/>
              </a:spcAft>
              <a:defRPr sz="1300">
                <a:solidFill>
                  <a:srgbClr val="FFFFFF"/>
                </a:solidFill>
                <a:latin typeface="Calibri"/>
              </a:defRPr>
            </a:pPr>
            <a:r>
              <a:t>•  Ogni riga esterna 'chiama' la subquery</a:t>
            </a:r>
          </a:p>
          <a:p>
            <a:pPr algn="l">
              <a:spcAft>
                <a:spcPts val="500"/>
              </a:spcAft>
              <a:defRPr sz="1300">
                <a:solidFill>
                  <a:srgbClr val="FFFFFF"/>
                </a:solidFill>
                <a:latin typeface="Calibri"/>
              </a:defRPr>
            </a:pPr>
            <a:r>
              <a:t>•  Subquery correlate: usano variabili esterne</a:t>
            </a:r>
          </a:p>
          <a:p>
            <a:pPr algn="l">
              <a:spcAft>
                <a:spcPts val="500"/>
              </a:spcAft>
              <a:defRPr sz="1300">
                <a:solidFill>
                  <a:srgbClr val="FFFFFF"/>
                </a:solidFill>
                <a:latin typeface="Calibri"/>
              </a:defRPr>
            </a:pPr>
            <a:r>
              <a:t>•  5.23+: import esplicito con CALL (p) { ... }</a:t>
            </a:r>
          </a:p>
          <a:p>
            <a:pPr algn="l">
              <a:spcAft>
                <a:spcPts val="500"/>
              </a:spcAft>
              <a:defRPr sz="1300">
                <a:solidFill>
                  <a:srgbClr val="FFFFFF"/>
                </a:solidFill>
                <a:latin typeface="Calibri"/>
              </a:defRPr>
            </a:pPr>
            <a:r>
              <a:t>•  Con UNION permette post-processare il risultato</a:t>
            </a:r>
          </a:p>
          <a:p>
            <a:pPr algn="l">
              <a:spcAft>
                <a:spcPts val="500"/>
              </a:spcAft>
              <a:defRPr sz="1300">
                <a:solidFill>
                  <a:srgbClr val="FFFFFF"/>
                </a:solidFill>
                <a:latin typeface="Calibri"/>
              </a:defRPr>
            </a:pPr>
            <a:r>
              <a:t>•  Elabora riga per riga: meno memoria</a:t>
            </a:r>
          </a:p>
        </p:txBody>
      </p:sp>
      <p:sp>
        <p:nvSpPr>
          <p:cNvPr id="5" name="Rectangle 4"/>
          <p:cNvSpPr/>
          <p:nvPr/>
        </p:nvSpPr>
        <p:spPr>
          <a:xfrm>
            <a:off x="5669280" y="1463040"/>
            <a:ext cx="4846320" cy="32918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145536"/>
          </a:xfrm>
          <a:prstGeom prst="rect">
            <a:avLst/>
          </a:prstGeom>
          <a:noFill/>
        </p:spPr>
        <p:txBody>
          <a:bodyPr wrap="square">
            <a:spAutoFit/>
          </a:bodyPr>
          <a:lstStyle/>
          <a:p>
            <a:pPr>
              <a:spcAft>
                <a:spcPts val="100"/>
              </a:spcAft>
              <a:defRPr sz="1000">
                <a:solidFill>
                  <a:srgbClr val="7EC68E"/>
                </a:solidFill>
                <a:latin typeface="Consolas"/>
              </a:defRPr>
            </a:pPr>
            <a:r>
              <a:t>// UNION con post-processing:</a:t>
            </a:r>
          </a:p>
          <a:p>
            <a:pPr>
              <a:spcAft>
                <a:spcPts val="100"/>
              </a:spcAft>
              <a:defRPr sz="1000">
                <a:solidFill>
                  <a:srgbClr val="7EC68E"/>
                </a:solidFill>
                <a:latin typeface="Consolas"/>
              </a:defRPr>
            </a:pPr>
            <a:r>
              <a:t>CALL {</a:t>
            </a:r>
          </a:p>
          <a:p>
            <a:pPr>
              <a:spcAft>
                <a:spcPts val="100"/>
              </a:spcAft>
              <a:defRPr sz="1000">
                <a:solidFill>
                  <a:srgbClr val="7EC68E"/>
                </a:solidFill>
                <a:latin typeface="Consolas"/>
              </a:defRPr>
            </a:pPr>
            <a:r>
              <a:t>  MATCH (s:Skill)</a:t>
            </a:r>
          </a:p>
          <a:p>
            <a:pPr>
              <a:spcAft>
                <a:spcPts val="100"/>
              </a:spcAft>
              <a:defRPr sz="1000">
                <a:solidFill>
                  <a:srgbClr val="7EC68E"/>
                </a:solidFill>
                <a:latin typeface="Consolas"/>
              </a:defRPr>
            </a:pPr>
            <a:r>
              <a:t>  RETURN s.name AS nome, "Skill" AS tipo</a:t>
            </a:r>
          </a:p>
          <a:p>
            <a:pPr>
              <a:spcAft>
                <a:spcPts val="100"/>
              </a:spcAft>
              <a:defRPr sz="1000">
                <a:solidFill>
                  <a:srgbClr val="7EC68E"/>
                </a:solidFill>
                <a:latin typeface="Consolas"/>
              </a:defRPr>
            </a:pPr>
            <a:r>
              <a:t>  UNION ALL</a:t>
            </a:r>
          </a:p>
          <a:p>
            <a:pPr>
              <a:spcAft>
                <a:spcPts val="100"/>
              </a:spcAft>
              <a:defRPr sz="1000">
                <a:solidFill>
                  <a:srgbClr val="7EC68E"/>
                </a:solidFill>
                <a:latin typeface="Consolas"/>
              </a:defRPr>
            </a:pPr>
            <a:r>
              <a:t>  MATCH (p:Project)</a:t>
            </a:r>
          </a:p>
          <a:p>
            <a:pPr>
              <a:spcAft>
                <a:spcPts val="100"/>
              </a:spcAft>
              <a:defRPr sz="1000">
                <a:solidFill>
                  <a:srgbClr val="7EC68E"/>
                </a:solidFill>
                <a:latin typeface="Consolas"/>
              </a:defRPr>
            </a:pPr>
            <a:r>
              <a:t>  RETURN p.name AS nome, "Progetto" AS tipo</a:t>
            </a:r>
          </a:p>
          <a:p>
            <a:pPr>
              <a:spcAft>
                <a:spcPts val="100"/>
              </a:spcAft>
              <a:defRPr sz="1000">
                <a:solidFill>
                  <a:srgbClr val="7EC68E"/>
                </a:solidFill>
                <a:latin typeface="Consolas"/>
              </a:defRPr>
            </a:pPr>
            <a:r>
              <a:t>}</a:t>
            </a:r>
          </a:p>
          <a:p>
            <a:pPr>
              <a:spcAft>
                <a:spcPts val="100"/>
              </a:spcAft>
              <a:defRPr sz="1000">
                <a:solidFill>
                  <a:srgbClr val="7EC68E"/>
                </a:solidFill>
                <a:latin typeface="Consolas"/>
              </a:defRPr>
            </a:pPr>
            <a:r>
              <a:t>RETURN nome, tipo</a:t>
            </a:r>
          </a:p>
          <a:p>
            <a:pPr>
              <a:spcAft>
                <a:spcPts val="100"/>
              </a:spcAft>
              <a:defRPr sz="1000">
                <a:solidFill>
                  <a:srgbClr val="7EC68E"/>
                </a:solidFill>
                <a:latin typeface="Consolas"/>
              </a:defRPr>
            </a:pPr>
            <a:r>
              <a:t>ORDER BY nome;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Fuori da CALL si può filtrare,</a:t>
            </a:r>
          </a:p>
          <a:p>
            <a:pPr>
              <a:spcAft>
                <a:spcPts val="100"/>
              </a:spcAft>
              <a:defRPr sz="1000">
                <a:solidFill>
                  <a:srgbClr val="7EC68E"/>
                </a:solidFill>
                <a:latin typeface="Consolas"/>
              </a:defRPr>
            </a:pPr>
            <a:r>
              <a:t>// ordinare, paginare il risultato.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Subquery Correlate: Conteggi Multipli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Per ogni persona contiamo skill e progetti con due subquery correlate. La variabile p è quella di riferimento.</a:t>
            </a:r>
          </a:p>
        </p:txBody>
      </p:sp>
      <p:sp>
        <p:nvSpPr>
          <p:cNvPr id="4" name="Rectangle 3"/>
          <p:cNvSpPr/>
          <p:nvPr/>
        </p:nvSpPr>
        <p:spPr>
          <a:xfrm>
            <a:off x="731520" y="1463040"/>
            <a:ext cx="5029200" cy="18288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1682496"/>
          </a:xfrm>
          <a:prstGeom prst="rect">
            <a:avLst/>
          </a:prstGeom>
          <a:noFill/>
        </p:spPr>
        <p:txBody>
          <a:bodyPr wrap="square">
            <a:spAutoFit/>
          </a:bodyPr>
          <a:lstStyle/>
          <a:p>
            <a:pPr>
              <a:spcAft>
                <a:spcPts val="100"/>
              </a:spcAft>
              <a:defRPr sz="1000">
                <a:solidFill>
                  <a:srgbClr val="7EC68E"/>
                </a:solidFill>
                <a:latin typeface="Consolas"/>
              </a:defRPr>
            </a:pPr>
            <a:r>
              <a:t>// Due conteggi indipendenti per ogni persona:</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RETURN p.name AS nome,</a:t>
            </a:r>
          </a:p>
          <a:p>
            <a:pPr>
              <a:spcAft>
                <a:spcPts val="100"/>
              </a:spcAft>
              <a:defRPr sz="1000">
                <a:solidFill>
                  <a:srgbClr val="7EC68E"/>
                </a:solidFill>
                <a:latin typeface="Consolas"/>
              </a:defRPr>
            </a:pPr>
            <a:r>
              <a:t>  CALL { MATCH (p)-[:HAS_SKILL]-&gt;(s:Skill)</a:t>
            </a:r>
          </a:p>
          <a:p>
            <a:pPr>
              <a:spcAft>
                <a:spcPts val="100"/>
              </a:spcAft>
              <a:defRPr sz="1000">
                <a:solidFill>
                  <a:srgbClr val="7EC68E"/>
                </a:solidFill>
                <a:latin typeface="Consolas"/>
              </a:defRPr>
            </a:pPr>
            <a:r>
              <a:t>         RETURN count(*) } AS num_skill,</a:t>
            </a:r>
          </a:p>
          <a:p>
            <a:pPr>
              <a:spcAft>
                <a:spcPts val="100"/>
              </a:spcAft>
              <a:defRPr sz="1000">
                <a:solidFill>
                  <a:srgbClr val="7EC68E"/>
                </a:solidFill>
                <a:latin typeface="Consolas"/>
              </a:defRPr>
            </a:pPr>
            <a:r>
              <a:t>  CALL { MATCH (p)-[:WORKED_ON]-&gt;(proj:Project)</a:t>
            </a:r>
          </a:p>
          <a:p>
            <a:pPr>
              <a:spcAft>
                <a:spcPts val="100"/>
              </a:spcAft>
              <a:defRPr sz="1000">
                <a:solidFill>
                  <a:srgbClr val="7EC68E"/>
                </a:solidFill>
                <a:latin typeface="Consolas"/>
              </a:defRPr>
            </a:pPr>
            <a:r>
              <a:t>         RETURN count(*) } AS num_progetti</a:t>
            </a:r>
          </a:p>
          <a:p>
            <a:pPr>
              <a:spcAft>
                <a:spcPts val="100"/>
              </a:spcAft>
              <a:defRPr sz="1000">
                <a:solidFill>
                  <a:srgbClr val="7EC68E"/>
                </a:solidFill>
                <a:latin typeface="Consolas"/>
              </a:defRPr>
            </a:pPr>
            <a:r>
              <a:t>ORDER BY num_skill DESC</a:t>
            </a:r>
          </a:p>
          <a:p>
            <a:pPr>
              <a:spcAft>
                <a:spcPts val="100"/>
              </a:spcAft>
              <a:defRPr sz="1000">
                <a:solidFill>
                  <a:srgbClr val="7EC68E"/>
                </a:solidFill>
                <a:latin typeface="Consolas"/>
              </a:defRPr>
            </a:pPr>
            <a:r>
              <a:t>LIMIT 10;</a:t>
            </a:r>
          </a:p>
        </p:txBody>
      </p:sp>
      <p:sp>
        <p:nvSpPr>
          <p:cNvPr id="6" name="Rectangle 5"/>
          <p:cNvSpPr/>
          <p:nvPr/>
        </p:nvSpPr>
        <p:spPr>
          <a:xfrm>
            <a:off x="731520" y="3429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520440"/>
            <a:ext cx="10515600" cy="365760"/>
          </a:xfrm>
          <a:prstGeom prst="rect">
            <a:avLst/>
          </a:prstGeom>
          <a:noFill/>
        </p:spPr>
        <p:txBody>
          <a:bodyPr wrap="square">
            <a:spAutoFit/>
          </a:bodyPr>
          <a:lstStyle/>
          <a:p>
            <a:pPr algn="l">
              <a:defRPr sz="1500" b="1">
                <a:solidFill>
                  <a:srgbClr val="F08040"/>
                </a:solidFill>
                <a:latin typeface="Calibri"/>
              </a:defRPr>
            </a:pPr>
            <a:r>
              <a:t>Forma moderna (5.23+)</a:t>
            </a:r>
          </a:p>
        </p:txBody>
      </p:sp>
      <p:sp>
        <p:nvSpPr>
          <p:cNvPr id="8" name="Rectangle 7"/>
          <p:cNvSpPr/>
          <p:nvPr/>
        </p:nvSpPr>
        <p:spPr>
          <a:xfrm>
            <a:off x="731520" y="3931920"/>
            <a:ext cx="5029200" cy="14630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4005072"/>
            <a:ext cx="4809744" cy="1316736"/>
          </a:xfrm>
          <a:prstGeom prst="rect">
            <a:avLst/>
          </a:prstGeom>
          <a:noFill/>
        </p:spPr>
        <p:txBody>
          <a:bodyPr wrap="square">
            <a:spAutoFit/>
          </a:bodyPr>
          <a:lstStyle/>
          <a:p>
            <a:pPr>
              <a:spcAft>
                <a:spcPts val="100"/>
              </a:spcAft>
              <a:defRPr sz="1000">
                <a:solidFill>
                  <a:srgbClr val="7EC68E"/>
                </a:solidFill>
                <a:latin typeface="Consolas"/>
              </a:defRPr>
            </a:pPr>
            <a:r>
              <a:t>// Il scope clause dichiara le variabili importate:</a:t>
            </a:r>
          </a:p>
          <a:p>
            <a:pPr>
              <a:spcAft>
                <a:spcPts val="100"/>
              </a:spcAft>
              <a:defRPr sz="1000">
                <a:solidFill>
                  <a:srgbClr val="7EC68E"/>
                </a:solidFill>
                <a:latin typeface="Consolas"/>
              </a:defRPr>
            </a:pPr>
            <a:r>
              <a:t>CALL (p) { MATCH (p)-[:HAS_SKILL]-&gt;(s:Skill)</a:t>
            </a:r>
          </a:p>
          <a:p>
            <a:pPr>
              <a:spcAft>
                <a:spcPts val="100"/>
              </a:spcAft>
              <a:defRPr sz="1000">
                <a:solidFill>
                  <a:srgbClr val="7EC68E"/>
                </a:solidFill>
                <a:latin typeface="Consolas"/>
              </a:defRPr>
            </a:pPr>
            <a:r>
              <a:t>          RETURN count(*) } AS num_skill</a:t>
            </a:r>
          </a:p>
          <a:p>
            <a:pPr>
              <a:spcAft>
                <a:spcPts val="100"/>
              </a:spcAft>
              <a:defRPr sz="1000">
                <a:solidFill>
                  <a:srgbClr val="7EC68E"/>
                </a:solidFill>
                <a:latin typeface="Consolas"/>
              </a:defRPr>
            </a:pPr>
            <a:r>
              <a:t>// CALL { } senza scope è deprecato ma funziona.</a:t>
            </a:r>
          </a:p>
        </p:txBody>
      </p:sp>
      <p:sp>
        <p:nvSpPr>
          <p:cNvPr id="10" name="TextBox 9"/>
          <p:cNvSpPr txBox="1"/>
          <p:nvPr/>
        </p:nvSpPr>
        <p:spPr>
          <a:xfrm>
            <a:off x="5943600" y="3520440"/>
            <a:ext cx="4572000" cy="2377440"/>
          </a:xfrm>
          <a:prstGeom prst="rect">
            <a:avLst/>
          </a:prstGeom>
          <a:noFill/>
        </p:spPr>
        <p:txBody>
          <a:bodyPr wrap="square">
            <a:spAutoFit/>
          </a:bodyPr>
          <a:lstStyle/>
          <a:p>
            <a:pPr algn="l">
              <a:spcAft>
                <a:spcPts val="300"/>
              </a:spcAft>
              <a:defRPr sz="1200">
                <a:solidFill>
                  <a:srgbClr val="CCCCCC"/>
                </a:solidFill>
                <a:latin typeface="Calibri"/>
              </a:defRPr>
            </a:pPr>
            <a:r>
              <a:t>•  Con un solo MATCH: prodotto cartesiano</a:t>
            </a:r>
          </a:p>
          <a:p>
            <a:pPr algn="l">
              <a:spcAft>
                <a:spcPts val="300"/>
              </a:spcAft>
              <a:defRPr sz="1200">
                <a:solidFill>
                  <a:srgbClr val="CCCCCC"/>
                </a:solidFill>
                <a:latin typeface="Calibri"/>
              </a:defRPr>
            </a:pPr>
            <a:r>
              <a:t>  skill × progetti per ogni persona</a:t>
            </a:r>
          </a:p>
          <a:p>
            <a:pPr algn="l">
              <a:spcAft>
                <a:spcPts val="300"/>
              </a:spcAft>
              <a:defRPr sz="1200">
                <a:solidFill>
                  <a:srgbClr val="CCCCCC"/>
                </a:solidFill>
                <a:latin typeface="Calibri"/>
              </a:defRPr>
            </a:pPr>
            <a:r>
              <a:t>•  Es. Giulia Giordano: 6 skill × 2 progetti = 12 righe</a:t>
            </a:r>
          </a:p>
          <a:p>
            <a:pPr algn="l">
              <a:spcAft>
                <a:spcPts val="300"/>
              </a:spcAft>
              <a:defRPr sz="1200">
                <a:solidFill>
                  <a:srgbClr val="CCCCCC"/>
                </a:solidFill>
                <a:latin typeface="Calibri"/>
              </a:defRPr>
            </a:pPr>
            <a:r>
              <a:t>  → count(*) sovrastima</a:t>
            </a:r>
          </a:p>
          <a:p>
            <a:pPr algn="l">
              <a:spcAft>
                <a:spcPts val="300"/>
              </a:spcAft>
              <a:defRPr sz="1200">
                <a:solidFill>
                  <a:srgbClr val="CCCCCC"/>
                </a:solidFill>
                <a:latin typeface="Calibri"/>
              </a:defRPr>
            </a:pPr>
            <a:r>
              <a:t>•  CALL { } conta ogni cosa separatamente:</a:t>
            </a:r>
          </a:p>
          <a:p>
            <a:pPr algn="l">
              <a:spcAft>
                <a:spcPts val="300"/>
              </a:spcAft>
              <a:defRPr sz="1200">
                <a:solidFill>
                  <a:srgbClr val="CCCCCC"/>
                </a:solidFill>
                <a:latin typeface="Calibri"/>
              </a:defRPr>
            </a:pPr>
            <a:r>
              <a:t>  nessuna riga duplicata, nessuna sovrastima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Date e Temporali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Cypher ha tipi temporali nativi: date, datetime, duration. Si confrontano e si calcolano direttamente.</a:t>
            </a:r>
          </a:p>
        </p:txBody>
      </p:sp>
      <p:sp>
        <p:nvSpPr>
          <p:cNvPr id="4" name="Rectangle 3"/>
          <p:cNvSpPr/>
          <p:nvPr/>
        </p:nvSpPr>
        <p:spPr>
          <a:xfrm>
            <a:off x="731520" y="1463040"/>
            <a:ext cx="502920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511296"/>
          </a:xfrm>
          <a:prstGeom prst="rect">
            <a:avLst/>
          </a:prstGeom>
          <a:noFill/>
        </p:spPr>
        <p:txBody>
          <a:bodyPr wrap="square">
            <a:spAutoFit/>
          </a:bodyPr>
          <a:lstStyle/>
          <a:p>
            <a:pPr>
              <a:spcAft>
                <a:spcPts val="100"/>
              </a:spcAft>
              <a:defRPr sz="1000">
                <a:solidFill>
                  <a:srgbClr val="7EC68E"/>
                </a:solidFill>
                <a:latin typeface="Consolas"/>
              </a:defRPr>
            </a:pPr>
            <a:r>
              <a:t>// Creazione e componenti:</a:t>
            </a:r>
          </a:p>
          <a:p>
            <a:pPr>
              <a:spcAft>
                <a:spcPts val="100"/>
              </a:spcAft>
              <a:defRPr sz="1000">
                <a:solidFill>
                  <a:srgbClr val="7EC68E"/>
                </a:solidFill>
                <a:latin typeface="Consolas"/>
              </a:defRPr>
            </a:pPr>
            <a:r>
              <a:t>RETURN date("2026-07-01") AS inizio,</a:t>
            </a:r>
          </a:p>
          <a:p>
            <a:pPr>
              <a:spcAft>
                <a:spcPts val="100"/>
              </a:spcAft>
              <a:defRPr sz="1000">
                <a:solidFill>
                  <a:srgbClr val="7EC68E"/>
                </a:solidFill>
                <a:latin typeface="Consolas"/>
              </a:defRPr>
            </a:pPr>
            <a:r>
              <a:t>       date("2026-07-01").year AS anno,</a:t>
            </a:r>
          </a:p>
          <a:p>
            <a:pPr>
              <a:spcAft>
                <a:spcPts val="100"/>
              </a:spcAft>
              <a:defRPr sz="1000">
                <a:solidFill>
                  <a:srgbClr val="7EC68E"/>
                </a:solidFill>
                <a:latin typeface="Consolas"/>
              </a:defRPr>
            </a:pPr>
            <a:r>
              <a:t>       date("2026-07-01").month AS mese;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Aritmetica con duration:</a:t>
            </a:r>
          </a:p>
          <a:p>
            <a:pPr>
              <a:spcAft>
                <a:spcPts val="100"/>
              </a:spcAft>
              <a:defRPr sz="1000">
                <a:solidFill>
                  <a:srgbClr val="7EC68E"/>
                </a:solidFill>
                <a:latin typeface="Consolas"/>
              </a:defRPr>
            </a:pPr>
            <a:r>
              <a:t>RETURN date("2026-07-01")</a:t>
            </a:r>
          </a:p>
          <a:p>
            <a:pPr>
              <a:spcAft>
                <a:spcPts val="100"/>
              </a:spcAft>
              <a:defRPr sz="1000">
                <a:solidFill>
                  <a:srgbClr val="7EC68E"/>
                </a:solidFill>
                <a:latin typeface="Consolas"/>
              </a:defRPr>
            </a:pPr>
            <a:r>
              <a:t>       + duration({months: 3}) AS tra_3_mesi;</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Differenza tra due date:</a:t>
            </a:r>
          </a:p>
          <a:p>
            <a:pPr>
              <a:spcAft>
                <a:spcPts val="100"/>
              </a:spcAft>
              <a:defRPr sz="1000">
                <a:solidFill>
                  <a:srgbClr val="7EC68E"/>
                </a:solidFill>
                <a:latin typeface="Consolas"/>
              </a:defRPr>
            </a:pPr>
            <a:r>
              <a:t>RETURN duration.between(</a:t>
            </a:r>
          </a:p>
          <a:p>
            <a:pPr>
              <a:spcAft>
                <a:spcPts val="100"/>
              </a:spcAft>
              <a:defRPr sz="1000">
                <a:solidFill>
                  <a:srgbClr val="7EC68E"/>
                </a:solidFill>
                <a:latin typeface="Consolas"/>
              </a:defRPr>
            </a:pPr>
            <a:r>
              <a:t>         date("2026-07-01"), date()) AS passato;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Filtro temporale:</a:t>
            </a:r>
          </a:p>
          <a:p>
            <a:pPr>
              <a:spcAft>
                <a:spcPts val="100"/>
              </a:spcAft>
              <a:defRPr sz="1000">
                <a:solidFill>
                  <a:srgbClr val="7EC68E"/>
                </a:solidFill>
                <a:latin typeface="Consolas"/>
              </a:defRPr>
            </a:pPr>
            <a:r>
              <a:t>WHERE p.hire_date &gt; date("2025-01-01")</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500"/>
              </a:spcAft>
              <a:defRPr sz="1200">
                <a:solidFill>
                  <a:srgbClr val="FFFFFF"/>
                </a:solidFill>
                <a:latin typeface="Calibri"/>
              </a:defRPr>
            </a:pPr>
            <a:r>
              <a:t>•  date('YYYY-MM-DD') crea una data</a:t>
            </a:r>
          </a:p>
          <a:p>
            <a:pPr algn="l">
              <a:spcAft>
                <a:spcPts val="500"/>
              </a:spcAft>
              <a:defRPr sz="1200">
                <a:solidFill>
                  <a:srgbClr val="FFFFFF"/>
                </a:solidFill>
                <a:latin typeface="Calibri"/>
              </a:defRPr>
            </a:pPr>
            <a:r>
              <a:t>•  datetime() include ora e timezone</a:t>
            </a:r>
          </a:p>
          <a:p>
            <a:pPr algn="l">
              <a:spcAft>
                <a:spcPts val="500"/>
              </a:spcAft>
              <a:defRPr sz="1200">
                <a:solidFill>
                  <a:srgbClr val="FFFFFF"/>
                </a:solidFill>
                <a:latin typeface="Calibri"/>
              </a:defRPr>
            </a:pPr>
            <a:r>
              <a:t>•  duration({months: 3, days: 30, ...})</a:t>
            </a:r>
          </a:p>
          <a:p>
            <a:pPr algn="l">
              <a:spcAft>
                <a:spcPts val="500"/>
              </a:spcAft>
              <a:defRPr sz="1200">
                <a:solidFill>
                  <a:srgbClr val="FFFFFF"/>
                </a:solidFill>
                <a:latin typeface="Calibri"/>
              </a:defRPr>
            </a:pPr>
            <a:r>
              <a:t>•  date + duration = nuova data</a:t>
            </a:r>
          </a:p>
          <a:p>
            <a:pPr algn="l">
              <a:spcAft>
                <a:spcPts val="500"/>
              </a:spcAft>
              <a:defRPr sz="1200">
                <a:solidFill>
                  <a:srgbClr val="FFFFFF"/>
                </a:solidFill>
                <a:latin typeface="Calibri"/>
              </a:defRPr>
            </a:pPr>
            <a:r>
              <a:t>•  duration.between(a, b) = differenza</a:t>
            </a:r>
          </a:p>
          <a:p>
            <a:pPr algn="l">
              <a:spcAft>
                <a:spcPts val="500"/>
              </a:spcAft>
              <a:defRPr sz="1200">
                <a:solidFill>
                  <a:srgbClr val="FFFFFF"/>
                </a:solidFill>
                <a:latin typeface="Calibri"/>
              </a:defRPr>
            </a:pPr>
            <a:r>
              <a:t>•  Confronti diretti: p.hire_date &lt; date()</a:t>
            </a:r>
          </a:p>
          <a:p>
            <a:pPr algn="l">
              <a:spcAft>
                <a:spcPts val="500"/>
              </a:spcAft>
              <a:defRPr sz="1200">
                <a:solidFill>
                  <a:srgbClr val="FFFFFF"/>
                </a:solidFill>
                <a:latin typeface="Calibri"/>
              </a:defRPr>
            </a:pPr>
            <a:r>
              <a:t>•  I driver restituiscono i temporali nativi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Liste in Cypher</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Collezioni [1, 2, 3] con funzioni pronte e list comprehension per trasformazioni compatte.</a:t>
            </a:r>
          </a:p>
        </p:txBody>
      </p:sp>
      <p:sp>
        <p:nvSpPr>
          <p:cNvPr id="4" name="Rectangle 3"/>
          <p:cNvSpPr/>
          <p:nvPr/>
        </p:nvSpPr>
        <p:spPr>
          <a:xfrm>
            <a:off x="73152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511296"/>
          </a:xfrm>
          <a:prstGeom prst="rect">
            <a:avLst/>
          </a:prstGeom>
          <a:noFill/>
        </p:spPr>
        <p:txBody>
          <a:bodyPr wrap="square">
            <a:spAutoFit/>
          </a:bodyPr>
          <a:lstStyle/>
          <a:p>
            <a:pPr>
              <a:spcAft>
                <a:spcPts val="100"/>
              </a:spcAft>
              <a:defRPr sz="1000">
                <a:solidFill>
                  <a:srgbClr val="7EC68E"/>
                </a:solidFill>
                <a:latin typeface="Consolas"/>
              </a:defRPr>
            </a:pPr>
            <a:r>
              <a:t>// Sequenza con passo: range(start, end, step)</a:t>
            </a:r>
          </a:p>
          <a:p>
            <a:pPr>
              <a:spcAft>
                <a:spcPts val="100"/>
              </a:spcAft>
              <a:defRPr sz="1000">
                <a:solidFill>
                  <a:srgbClr val="7EC68E"/>
                </a:solidFill>
                <a:latin typeface="Consolas"/>
              </a:defRPr>
            </a:pPr>
            <a:r>
              <a:t>RETURN range(0, 10, 2) AS pari;</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Accesso per indice:</a:t>
            </a:r>
          </a:p>
          <a:p>
            <a:pPr>
              <a:spcAft>
                <a:spcPts val="100"/>
              </a:spcAft>
              <a:defRPr sz="1000">
                <a:solidFill>
                  <a:srgbClr val="7EC68E"/>
                </a:solidFill>
                <a:latin typeface="Consolas"/>
              </a:defRPr>
            </a:pPr>
            <a:r>
              <a:t>RETURN ["a","b","c"][0] AS primo,</a:t>
            </a:r>
          </a:p>
          <a:p>
            <a:pPr>
              <a:spcAft>
                <a:spcPts val="100"/>
              </a:spcAft>
              <a:defRPr sz="1000">
                <a:solidFill>
                  <a:srgbClr val="7EC68E"/>
                </a:solidFill>
                <a:latin typeface="Consolas"/>
              </a:defRPr>
            </a:pPr>
            <a:r>
              <a:t>       ["a","b","c"][-1] AS ultimo;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List comprehension (filtro + trasformazione):</a:t>
            </a:r>
          </a:p>
          <a:p>
            <a:pPr>
              <a:spcAft>
                <a:spcPts val="100"/>
              </a:spcAft>
              <a:defRPr sz="1000">
                <a:solidFill>
                  <a:srgbClr val="7EC68E"/>
                </a:solidFill>
                <a:latin typeface="Consolas"/>
              </a:defRPr>
            </a:pPr>
            <a:r>
              <a:t>WITH [1, 2, 3, 4, 5] AS numeri</a:t>
            </a:r>
          </a:p>
          <a:p>
            <a:pPr>
              <a:spcAft>
                <a:spcPts val="100"/>
              </a:spcAft>
              <a:defRPr sz="1000">
                <a:solidFill>
                  <a:srgbClr val="7EC68E"/>
                </a:solidFill>
                <a:latin typeface="Consolas"/>
              </a:defRPr>
            </a:pPr>
            <a:r>
              <a:t>RETURN [x IN numeri WHERE x &gt; 2 | x * 10];</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UNWIND: lista → righe (collect() ricompatta):</a:t>
            </a:r>
          </a:p>
          <a:p>
            <a:pPr>
              <a:spcAft>
                <a:spcPts val="100"/>
              </a:spcAft>
              <a:defRPr sz="1000">
                <a:solidFill>
                  <a:srgbClr val="7EC68E"/>
                </a:solidFill>
                <a:latin typeface="Consolas"/>
              </a:defRPr>
            </a:pPr>
            <a:r>
              <a:t>UNWIND range(2020, 2026) AS anno</a:t>
            </a:r>
          </a:p>
          <a:p>
            <a:pPr>
              <a:spcAft>
                <a:spcPts val="100"/>
              </a:spcAft>
              <a:defRPr sz="1000">
                <a:solidFill>
                  <a:srgbClr val="7EC68E"/>
                </a:solidFill>
                <a:latin typeface="Consolas"/>
              </a:defRPr>
            </a:pPr>
            <a:r>
              <a:t>RETURN collect(anno) AS anni;</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500"/>
              </a:spcAft>
              <a:defRPr sz="1200">
                <a:solidFill>
                  <a:srgbClr val="FFFFFF"/>
                </a:solidFill>
                <a:latin typeface="Calibri"/>
              </a:defRPr>
            </a:pPr>
            <a:r>
              <a:t>•  range(0, 10, 2) genera sequenze con passo</a:t>
            </a:r>
          </a:p>
          <a:p>
            <a:pPr algn="l">
              <a:spcAft>
                <a:spcPts val="500"/>
              </a:spcAft>
              <a:defRPr sz="1200">
                <a:solidFill>
                  <a:srgbClr val="FFFFFF"/>
                </a:solidFill>
                <a:latin typeface="Calibri"/>
              </a:defRPr>
            </a:pPr>
            <a:r>
              <a:t>•  l[0] primo, l[-1] ultimo (indici)</a:t>
            </a:r>
          </a:p>
          <a:p>
            <a:pPr algn="l">
              <a:spcAft>
                <a:spcPts val="500"/>
              </a:spcAft>
              <a:defRPr sz="1200">
                <a:solidFill>
                  <a:srgbClr val="FFFFFF"/>
                </a:solidFill>
                <a:latin typeface="Calibri"/>
              </a:defRPr>
            </a:pPr>
            <a:r>
              <a:t>•  [x IN l WHERE c | expr] = list comprehension</a:t>
            </a:r>
          </a:p>
          <a:p>
            <a:pPr algn="l">
              <a:spcAft>
                <a:spcPts val="500"/>
              </a:spcAft>
              <a:defRPr sz="1200">
                <a:solidFill>
                  <a:srgbClr val="FFFFFF"/>
                </a:solidFill>
                <a:latin typeface="Calibri"/>
              </a:defRPr>
            </a:pPr>
            <a:r>
              <a:t>•  UNWIND espande una lista in righe (flatMap)</a:t>
            </a:r>
          </a:p>
          <a:p>
            <a:pPr algn="l">
              <a:spcAft>
                <a:spcPts val="500"/>
              </a:spcAft>
              <a:defRPr sz="1200">
                <a:solidFill>
                  <a:srgbClr val="FFFFFF"/>
                </a:solidFill>
                <a:latin typeface="Calibri"/>
              </a:defRPr>
            </a:pPr>
            <a:r>
              <a:t>•  collect() rifà la lista (righe → lista)</a:t>
            </a:r>
          </a:p>
          <a:p>
            <a:pPr algn="l">
              <a:spcAft>
                <a:spcPts val="500"/>
              </a:spcAft>
              <a:defRPr sz="1200">
                <a:solidFill>
                  <a:srgbClr val="FFFFFF"/>
                </a:solidFill>
                <a:latin typeface="Calibri"/>
              </a:defRPr>
            </a:pPr>
            <a:r>
              <a:t>•  reduce(s=0, x IN l | s + x) = fold (somma)</a:t>
            </a:r>
          </a:p>
          <a:p>
            <a:pPr algn="l">
              <a:spcAft>
                <a:spcPts val="500"/>
              </a:spcAft>
              <a:defRPr sz="1200">
                <a:solidFill>
                  <a:srgbClr val="FFFFFF"/>
                </a:solidFill>
                <a:latin typeface="Calibri"/>
              </a:defRPr>
            </a:pPr>
            <a:r>
              <a:t>•  size(), head(), last(), reverse()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Mappe (Dictionary)</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Coppie chiave-valore {chiave: valore}, simili ai dict di Python. Ottime per passare dati ai parametri.</a:t>
            </a:r>
          </a:p>
        </p:txBody>
      </p:sp>
      <p:sp>
        <p:nvSpPr>
          <p:cNvPr id="4" name="Rectangle 3"/>
          <p:cNvSpPr/>
          <p:nvPr/>
        </p:nvSpPr>
        <p:spPr>
          <a:xfrm>
            <a:off x="731520" y="1463040"/>
            <a:ext cx="4882896"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511296"/>
          </a:xfrm>
          <a:prstGeom prst="rect">
            <a:avLst/>
          </a:prstGeom>
          <a:noFill/>
        </p:spPr>
        <p:txBody>
          <a:bodyPr wrap="square">
            <a:spAutoFit/>
          </a:bodyPr>
          <a:lstStyle/>
          <a:p>
            <a:pPr>
              <a:spcAft>
                <a:spcPts val="100"/>
              </a:spcAft>
              <a:defRPr sz="1000">
                <a:solidFill>
                  <a:srgbClr val="7EC68E"/>
                </a:solidFill>
                <a:latin typeface="Consolas"/>
              </a:defRPr>
            </a:pPr>
            <a:r>
              <a:t>// Creazione e accesso:</a:t>
            </a:r>
          </a:p>
          <a:p>
            <a:pPr>
              <a:spcAft>
                <a:spcPts val="100"/>
              </a:spcAft>
              <a:defRPr sz="1000">
                <a:solidFill>
                  <a:srgbClr val="7EC68E"/>
                </a:solidFill>
                <a:latin typeface="Consolas"/>
              </a:defRPr>
            </a:pPr>
            <a:r>
              <a:t>RETURN {nome: "Alice", eta: 30} AS profilo,</a:t>
            </a:r>
          </a:p>
          <a:p>
            <a:pPr>
              <a:spcAft>
                <a:spcPts val="100"/>
              </a:spcAft>
              <a:defRPr sz="1000">
                <a:solidFill>
                  <a:srgbClr val="7EC68E"/>
                </a:solidFill>
                <a:latin typeface="Consolas"/>
              </a:defRPr>
            </a:pPr>
            <a:r>
              <a:t>       {nome: "Alice", eta: 30}.nome AS nome;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Unione (+): su chiave duplicata vince la destra</a:t>
            </a:r>
          </a:p>
          <a:p>
            <a:pPr>
              <a:spcAft>
                <a:spcPts val="100"/>
              </a:spcAft>
              <a:defRPr sz="1000">
                <a:solidFill>
                  <a:srgbClr val="7EC68E"/>
                </a:solidFill>
                <a:latin typeface="Consolas"/>
              </a:defRPr>
            </a:pPr>
            <a:r>
              <a:t>RETURN {a: 1, b: 2} + {b: 99, c: 3} AS mappa;</a:t>
            </a:r>
          </a:p>
          <a:p>
            <a:pPr>
              <a:spcAft>
                <a:spcPts val="100"/>
              </a:spcAft>
              <a:defRPr sz="1000">
                <a:solidFill>
                  <a:srgbClr val="7EC68E"/>
                </a:solidFill>
                <a:latin typeface="Consolas"/>
              </a:defRPr>
            </a:pPr>
            <a:r>
              <a:t>// → {a: 1, b: 99, c: 3}</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Proiezione da un nodo (subset di proprietà):</a:t>
            </a:r>
          </a:p>
          <a:p>
            <a:pPr>
              <a:spcAft>
                <a:spcPts val="100"/>
              </a:spcAft>
              <a:defRPr sz="1000">
                <a:solidFill>
                  <a:srgbClr val="7EC68E"/>
                </a:solidFill>
                <a:latin typeface="Consolas"/>
              </a:defRPr>
            </a:pPr>
            <a:r>
              <a:t>MATCH (p:Person {employee_id: 8907})</a:t>
            </a:r>
          </a:p>
          <a:p>
            <a:pPr>
              <a:spcAft>
                <a:spcPts val="100"/>
              </a:spcAft>
              <a:defRPr sz="1000">
                <a:solidFill>
                  <a:srgbClr val="7EC68E"/>
                </a:solidFill>
                <a:latin typeface="Consolas"/>
              </a:defRPr>
            </a:pPr>
            <a:r>
              <a:t>RETURN p {.name, .title} AS profilo;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keys() / values() per ispezionare:</a:t>
            </a:r>
          </a:p>
          <a:p>
            <a:pPr>
              <a:spcAft>
                <a:spcPts val="100"/>
              </a:spcAft>
              <a:defRPr sz="1000">
                <a:solidFill>
                  <a:srgbClr val="7EC68E"/>
                </a:solidFill>
                <a:latin typeface="Consolas"/>
              </a:defRPr>
            </a:pPr>
            <a:r>
              <a:t>RETURN keys({a: 1, b: 2}), values({a: 1, b: 2});</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500"/>
              </a:spcAft>
              <a:defRPr sz="1200">
                <a:solidFill>
                  <a:srgbClr val="FFFFFF"/>
                </a:solidFill>
                <a:latin typeface="Calibri"/>
              </a:defRPr>
            </a:pPr>
            <a:r>
              <a:t>•  Accesso: mappa.chiave</a:t>
            </a:r>
          </a:p>
          <a:p>
            <a:pPr algn="l">
              <a:spcAft>
                <a:spcPts val="500"/>
              </a:spcAft>
              <a:defRPr sz="1200">
                <a:solidFill>
                  <a:srgbClr val="FFFFFF"/>
                </a:solidFill>
                <a:latin typeface="Calibri"/>
              </a:defRPr>
            </a:pPr>
            <a:r>
              <a:t>•  + unisce: su chiave duplicata vince la destra</a:t>
            </a:r>
          </a:p>
          <a:p>
            <a:pPr algn="l">
              <a:spcAft>
                <a:spcPts val="500"/>
              </a:spcAft>
              <a:defRPr sz="1200">
                <a:solidFill>
                  <a:srgbClr val="FFFFFF"/>
                </a:solidFill>
                <a:latin typeface="Calibri"/>
              </a:defRPr>
            </a:pPr>
            <a:r>
              <a:t>•  p {.name, .title} → sottoinsieme di proprietà</a:t>
            </a:r>
          </a:p>
          <a:p>
            <a:pPr algn="l">
              <a:spcAft>
                <a:spcPts val="500"/>
              </a:spcAft>
              <a:defRPr sz="1200">
                <a:solidFill>
                  <a:srgbClr val="FFFFFF"/>
                </a:solidFill>
                <a:latin typeface="Calibri"/>
              </a:defRPr>
            </a:pPr>
            <a:r>
              <a:t>•  keys() / values() per ispezionare</a:t>
            </a:r>
          </a:p>
          <a:p>
            <a:pPr algn="l">
              <a:spcAft>
                <a:spcPts val="500"/>
              </a:spcAft>
              <a:defRPr sz="1200">
                <a:solidFill>
                  <a:srgbClr val="FFFFFF"/>
                </a:solidFill>
                <a:latin typeface="Calibri"/>
              </a:defRPr>
            </a:pPr>
            <a:r>
              <a:t>•  Mappe annidate: m.profilo.nome</a:t>
            </a:r>
          </a:p>
          <a:p>
            <a:pPr algn="l">
              <a:spcAft>
                <a:spcPts val="500"/>
              </a:spcAft>
              <a:defRPr sz="1200">
                <a:solidFill>
                  <a:srgbClr val="FFFFFF"/>
                </a:solidFill>
                <a:latin typeface="Calibri"/>
              </a:defRPr>
            </a:pPr>
            <a:r>
              <a:t>•  Perfette come parametri ai driver</a:t>
            </a:r>
          </a:p>
          <a:p>
            <a:pPr algn="l">
              <a:spcAft>
                <a:spcPts val="500"/>
              </a:spcAft>
              <a:defRPr sz="1200">
                <a:solidFill>
                  <a:srgbClr val="FFFFFF"/>
                </a:solidFill>
                <a:latin typeface="Calibri"/>
              </a:defRPr>
            </a:pPr>
            <a:r>
              <a:t>•  collect({nome: n.name}) → lista di mappe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Query Tuning: EXPLAIN e PROFILE</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Due strumenti per capire COME Neo4j eseguirà la query e dove spreca lavoro.</a:t>
            </a:r>
          </a:p>
        </p:txBody>
      </p:sp>
      <p:sp>
        <p:nvSpPr>
          <p:cNvPr id="4" name="TextBox 3"/>
          <p:cNvSpPr txBox="1"/>
          <p:nvPr/>
        </p:nvSpPr>
        <p:spPr>
          <a:xfrm>
            <a:off x="731520" y="1463040"/>
            <a:ext cx="5029200" cy="3657600"/>
          </a:xfrm>
          <a:prstGeom prst="rect">
            <a:avLst/>
          </a:prstGeom>
          <a:noFill/>
        </p:spPr>
        <p:txBody>
          <a:bodyPr wrap="square">
            <a:spAutoFit/>
          </a:bodyPr>
          <a:lstStyle/>
          <a:p>
            <a:pPr algn="l">
              <a:spcAft>
                <a:spcPts val="300"/>
              </a:spcAft>
              <a:defRPr sz="1200">
                <a:solidFill>
                  <a:srgbClr val="FFFFFF"/>
                </a:solidFill>
                <a:latin typeface="Calibri"/>
              </a:defRPr>
            </a:pPr>
            <a:r>
              <a:t>•  EXPLAIN → piano STIMATO, NON esegue</a:t>
            </a:r>
          </a:p>
          <a:p>
            <a:pPr algn="l">
              <a:spcAft>
                <a:spcPts val="300"/>
              </a:spcAft>
              <a:defRPr sz="1200">
                <a:solidFill>
                  <a:srgbClr val="FFFFFF"/>
                </a:solidFill>
                <a:latin typeface="Calibri"/>
              </a:defRPr>
            </a:pPr>
            <a:r>
              <a:t>•  PROFILE → esegue e misura (dbHits, rows)</a:t>
            </a:r>
          </a:p>
          <a:p>
            <a:pPr algn="l">
              <a:spcAft>
                <a:spcPts val="300"/>
              </a:spcAft>
              <a:defRPr sz="1200">
                <a:solidFill>
                  <a:srgbClr val="FFFFFF"/>
                </a:solidFill>
                <a:latin typeface="Calibri"/>
              </a:defRPr>
            </a:pPr>
            <a:r>
              <a:t>•  dbHits = accessi allo store (basso = bene)</a:t>
            </a:r>
          </a:p>
          <a:p>
            <a:pPr algn="l">
              <a:spcAft>
                <a:spcPts val="300"/>
              </a:spcAft>
              <a:defRPr sz="1200">
                <a:solidFill>
                  <a:srgbClr val="FFFFFF"/>
                </a:solidFill>
                <a:latin typeface="Calibri"/>
              </a:defRPr>
            </a:pPr>
            <a:r>
              <a:t>•  Leggi il piano dal BASSO verso l'alto</a:t>
            </a:r>
          </a:p>
          <a:p>
            <a:pPr algn="l">
              <a:spcAft>
                <a:spcPts val="300"/>
              </a:spcAft>
              <a:defRPr sz="1200">
                <a:solidFill>
                  <a:srgbClr val="FFFFFF"/>
                </a:solidFill>
                <a:latin typeface="Calibri"/>
              </a:defRPr>
            </a:pPr>
            <a:r>
              <a:t>•  NodeIndexSeek → usa un indice (bene)</a:t>
            </a:r>
          </a:p>
          <a:p>
            <a:pPr algn="l">
              <a:spcAft>
                <a:spcPts val="300"/>
              </a:spcAft>
              <a:defRPr sz="1200">
                <a:solidFill>
                  <a:srgbClr val="FFFFFF"/>
                </a:solidFill>
                <a:latin typeface="Calibri"/>
              </a:defRPr>
            </a:pPr>
            <a:r>
              <a:t>•  NodeByLabelScan → legge tutti i nodi della label</a:t>
            </a:r>
          </a:p>
          <a:p>
            <a:pPr algn="l">
              <a:spcAft>
                <a:spcPts val="300"/>
              </a:spcAft>
              <a:defRPr sz="1200">
                <a:solidFill>
                  <a:srgbClr val="FFFFFF"/>
                </a:solidFill>
                <a:latin typeface="Calibri"/>
              </a:defRPr>
            </a:pPr>
            <a:r>
              <a:t>•  AllNodesScan → scansiona tutto il grafo (male)</a:t>
            </a:r>
          </a:p>
          <a:p>
            <a:pPr algn="l">
              <a:spcAft>
                <a:spcPts val="300"/>
              </a:spcAft>
              <a:defRPr sz="1200">
                <a:solidFill>
                  <a:srgbClr val="FFFFFF"/>
                </a:solidFill>
                <a:latin typeface="Calibri"/>
              </a:defRPr>
            </a:pPr>
            <a:r>
              <a:t>•  CartesianProduct → pattern scollegati (male)</a:t>
            </a:r>
          </a:p>
        </p:txBody>
      </p:sp>
      <p:sp>
        <p:nvSpPr>
          <p:cNvPr id="5" name="Rectangle 4"/>
          <p:cNvSpPr/>
          <p:nvPr/>
        </p:nvSpPr>
        <p:spPr>
          <a:xfrm>
            <a:off x="566928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511296"/>
          </a:xfrm>
          <a:prstGeom prst="rect">
            <a:avLst/>
          </a:prstGeom>
          <a:noFill/>
        </p:spPr>
        <p:txBody>
          <a:bodyPr wrap="square">
            <a:spAutoFit/>
          </a:bodyPr>
          <a:lstStyle/>
          <a:p>
            <a:pPr>
              <a:spcAft>
                <a:spcPts val="100"/>
              </a:spcAft>
              <a:defRPr sz="1000">
                <a:solidFill>
                  <a:srgbClr val="7EC68E"/>
                </a:solidFill>
                <a:latin typeface="Consolas"/>
              </a:defRPr>
            </a:pPr>
            <a:r>
              <a:t>// Piano stimato (non esegue):</a:t>
            </a:r>
          </a:p>
          <a:p>
            <a:pPr>
              <a:spcAft>
                <a:spcPts val="100"/>
              </a:spcAft>
              <a:defRPr sz="1000">
                <a:solidFill>
                  <a:srgbClr val="7EC68E"/>
                </a:solidFill>
                <a:latin typeface="Consolas"/>
              </a:defRPr>
            </a:pPr>
            <a:r>
              <a:t>EXPLAIN</a:t>
            </a:r>
          </a:p>
          <a:p>
            <a:pPr>
              <a:spcAft>
                <a:spcPts val="100"/>
              </a:spcAft>
              <a:defRPr sz="1000">
                <a:solidFill>
                  <a:srgbClr val="7EC68E"/>
                </a:solidFill>
                <a:latin typeface="Consolas"/>
              </a:defRPr>
            </a:pPr>
            <a:r>
              <a:t>MATCH (p:Person)-[:HAS_SKILL]-&gt;(s:Skill)</a:t>
            </a:r>
          </a:p>
          <a:p>
            <a:pPr>
              <a:spcAft>
                <a:spcPts val="100"/>
              </a:spcAft>
              <a:defRPr sz="1000">
                <a:solidFill>
                  <a:srgbClr val="7EC68E"/>
                </a:solidFill>
                <a:latin typeface="Consolas"/>
              </a:defRPr>
            </a:pPr>
            <a:r>
              <a:t>WHERE p.location = "ROMA"</a:t>
            </a:r>
          </a:p>
          <a:p>
            <a:pPr>
              <a:spcAft>
                <a:spcPts val="100"/>
              </a:spcAft>
              <a:defRPr sz="1000">
                <a:solidFill>
                  <a:srgbClr val="7EC68E"/>
                </a:solidFill>
                <a:latin typeface="Consolas"/>
              </a:defRPr>
            </a:pPr>
            <a:r>
              <a:t>RETURN p.name, s.name;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Esecuzione con metriche reali:</a:t>
            </a:r>
          </a:p>
          <a:p>
            <a:pPr>
              <a:spcAft>
                <a:spcPts val="100"/>
              </a:spcAft>
              <a:defRPr sz="1000">
                <a:solidFill>
                  <a:srgbClr val="7EC68E"/>
                </a:solidFill>
                <a:latin typeface="Consolas"/>
              </a:defRPr>
            </a:pPr>
            <a:r>
              <a:t>PROFILE</a:t>
            </a:r>
          </a:p>
          <a:p>
            <a:pPr>
              <a:spcAft>
                <a:spcPts val="100"/>
              </a:spcAft>
              <a:defRPr sz="1000">
                <a:solidFill>
                  <a:srgbClr val="7EC68E"/>
                </a:solidFill>
                <a:latin typeface="Consolas"/>
              </a:defRPr>
            </a:pPr>
            <a:r>
              <a:t>MATCH (p:Person {location: "ROMA"})</a:t>
            </a:r>
          </a:p>
          <a:p>
            <a:pPr>
              <a:spcAft>
                <a:spcPts val="100"/>
              </a:spcAft>
              <a:defRPr sz="1000">
                <a:solidFill>
                  <a:srgbClr val="7EC68E"/>
                </a:solidFill>
                <a:latin typeface="Consolas"/>
              </a:defRPr>
            </a:pPr>
            <a:r>
              <a:t>  -[:HAS_SKILL]-&gt;(s:Skill)</a:t>
            </a:r>
          </a:p>
          <a:p>
            <a:pPr>
              <a:spcAft>
                <a:spcPts val="100"/>
              </a:spcAft>
              <a:defRPr sz="1000">
                <a:solidFill>
                  <a:srgbClr val="7EC68E"/>
                </a:solidFill>
                <a:latin typeface="Consolas"/>
              </a:defRPr>
            </a:pPr>
            <a:r>
              <a:t>RETURN p.name, s.name;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PROFILE mostra per ogni operatore:</a:t>
            </a:r>
          </a:p>
          <a:p>
            <a:pPr>
              <a:spcAft>
                <a:spcPts val="100"/>
              </a:spcAft>
              <a:defRPr sz="1000">
                <a:solidFill>
                  <a:srgbClr val="7EC68E"/>
                </a:solidFill>
                <a:latin typeface="Consolas"/>
              </a:defRPr>
            </a:pPr>
            <a:r>
              <a:t>// dbHits, rows, est. rows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Query Tuning: Indici e Parametri</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L'indice giusto cambia l'operatore del piano. I parametri rendono le query sicure e cacheabili.</a:t>
            </a:r>
          </a:p>
        </p:txBody>
      </p:sp>
      <p:sp>
        <p:nvSpPr>
          <p:cNvPr id="4" name="Rectangle 3"/>
          <p:cNvSpPr/>
          <p:nvPr/>
        </p:nvSpPr>
        <p:spPr>
          <a:xfrm>
            <a:off x="73152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36192"/>
            <a:ext cx="4809744" cy="3511296"/>
          </a:xfrm>
          <a:prstGeom prst="rect">
            <a:avLst/>
          </a:prstGeom>
          <a:noFill/>
        </p:spPr>
        <p:txBody>
          <a:bodyPr wrap="square">
            <a:spAutoFit/>
          </a:bodyPr>
          <a:lstStyle/>
          <a:p>
            <a:pPr>
              <a:spcAft>
                <a:spcPts val="100"/>
              </a:spcAft>
              <a:defRPr sz="1000">
                <a:solidFill>
                  <a:srgbClr val="7EC68E"/>
                </a:solidFill>
                <a:latin typeface="Consolas"/>
              </a:defRPr>
            </a:pPr>
            <a:r>
              <a:t>// Indice sulla proprietà filtrata spesso:</a:t>
            </a:r>
          </a:p>
          <a:p>
            <a:pPr>
              <a:spcAft>
                <a:spcPts val="100"/>
              </a:spcAft>
              <a:defRPr sz="1000">
                <a:solidFill>
                  <a:srgbClr val="7EC68E"/>
                </a:solidFill>
                <a:latin typeface="Consolas"/>
              </a:defRPr>
            </a:pPr>
            <a:r>
              <a:t>CREATE INDEX person_location IF NOT EXISTS</a:t>
            </a:r>
          </a:p>
          <a:p>
            <a:pPr>
              <a:spcAft>
                <a:spcPts val="100"/>
              </a:spcAft>
              <a:defRPr sz="1000">
                <a:solidFill>
                  <a:srgbClr val="7EC68E"/>
                </a:solidFill>
                <a:latin typeface="Consolas"/>
              </a:defRPr>
            </a:pPr>
            <a:r>
              <a:t>  FOR (p:Person) ON (p.location);</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Con indice   → NodeIndexSeek (solo i 97 di ROMA)</a:t>
            </a:r>
          </a:p>
          <a:p>
            <a:pPr>
              <a:spcAft>
                <a:spcPts val="100"/>
              </a:spcAft>
              <a:defRPr sz="1000">
                <a:solidFill>
                  <a:srgbClr val="7EC68E"/>
                </a:solidFill>
                <a:latin typeface="Consolas"/>
              </a:defRPr>
            </a:pPr>
            <a:r>
              <a:t>// Senza indice → NodeByLabelScan (legge 238 nodi)</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Verifica gli indici esistenti:</a:t>
            </a:r>
          </a:p>
          <a:p>
            <a:pPr>
              <a:spcAft>
                <a:spcPts val="100"/>
              </a:spcAft>
              <a:defRPr sz="1000">
                <a:solidFill>
                  <a:srgbClr val="7EC68E"/>
                </a:solidFill>
                <a:latin typeface="Consolas"/>
              </a:defRPr>
            </a:pPr>
            <a:r>
              <a:t>SHOW INDEXES;</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Parametri: MAI concatenare stringhe!</a:t>
            </a:r>
          </a:p>
          <a:p>
            <a:pPr>
              <a:spcAft>
                <a:spcPts val="100"/>
              </a:spcAft>
              <a:defRPr sz="1000">
                <a:solidFill>
                  <a:srgbClr val="7EC68E"/>
                </a:solidFill>
                <a:latin typeface="Consolas"/>
              </a:defRPr>
            </a:pPr>
            <a:r>
              <a:t>driver.execute_query(</a:t>
            </a:r>
          </a:p>
          <a:p>
            <a:pPr>
              <a:spcAft>
                <a:spcPts val="100"/>
              </a:spcAft>
              <a:defRPr sz="1000">
                <a:solidFill>
                  <a:srgbClr val="7EC68E"/>
                </a:solidFill>
                <a:latin typeface="Consolas"/>
              </a:defRPr>
            </a:pPr>
            <a:r>
              <a:t>    "MATCH (p:Person {location: $loc}) "</a:t>
            </a:r>
          </a:p>
          <a:p>
            <a:pPr>
              <a:spcAft>
                <a:spcPts val="100"/>
              </a:spcAft>
              <a:defRPr sz="1000">
                <a:solidFill>
                  <a:srgbClr val="7EC68E"/>
                </a:solidFill>
                <a:latin typeface="Consolas"/>
              </a:defRPr>
            </a:pPr>
            <a:r>
              <a:t>    "RETURN p.name",</a:t>
            </a:r>
          </a:p>
          <a:p>
            <a:pPr>
              <a:spcAft>
                <a:spcPts val="100"/>
              </a:spcAft>
              <a:defRPr sz="1000">
                <a:solidFill>
                  <a:srgbClr val="7EC68E"/>
                </a:solidFill>
                <a:latin typeface="Consolas"/>
              </a:defRPr>
            </a:pPr>
            <a:r>
              <a:t>    loc="ROMA")</a:t>
            </a:r>
          </a:p>
        </p:txBody>
      </p:sp>
      <p:sp>
        <p:nvSpPr>
          <p:cNvPr id="6" name="TextBox 5"/>
          <p:cNvSpPr txBox="1"/>
          <p:nvPr/>
        </p:nvSpPr>
        <p:spPr>
          <a:xfrm>
            <a:off x="5669280" y="1463040"/>
            <a:ext cx="4846320" cy="3657600"/>
          </a:xfrm>
          <a:prstGeom prst="rect">
            <a:avLst/>
          </a:prstGeom>
          <a:noFill/>
        </p:spPr>
        <p:txBody>
          <a:bodyPr wrap="square">
            <a:spAutoFit/>
          </a:bodyPr>
          <a:lstStyle/>
          <a:p>
            <a:pPr algn="l">
              <a:spcAft>
                <a:spcPts val="300"/>
              </a:spcAft>
              <a:defRPr sz="1200">
                <a:solidFill>
                  <a:srgbClr val="FFFFFF"/>
                </a:solidFill>
                <a:latin typeface="Calibri"/>
              </a:defRPr>
            </a:pPr>
            <a:r>
              <a:t>•  1. Sicurezza: previene la Cypher Injection</a:t>
            </a:r>
          </a:p>
          <a:p>
            <a:pPr algn="l">
              <a:spcAft>
                <a:spcPts val="300"/>
              </a:spcAft>
              <a:defRPr sz="1200">
                <a:solidFill>
                  <a:srgbClr val="FFFFFF"/>
                </a:solidFill>
                <a:latin typeface="Calibri"/>
              </a:defRPr>
            </a:pPr>
            <a:r>
              <a:t>•  2. Performance: il piano viene cacheato</a:t>
            </a:r>
          </a:p>
          <a:p>
            <a:pPr algn="l">
              <a:spcAft>
                <a:spcPts val="300"/>
              </a:spcAft>
              <a:defRPr sz="1200">
                <a:solidFill>
                  <a:srgbClr val="FFFFFF"/>
                </a:solidFill>
                <a:latin typeface="Calibri"/>
              </a:defRPr>
            </a:pPr>
            <a:r>
              <a:t>•  3. Type safety: il driver converte i tipi</a:t>
            </a:r>
          </a:p>
          <a:p>
            <a:pPr algn="l">
              <a:spcAft>
                <a:spcPts val="300"/>
              </a:spcAft>
              <a:defRPr sz="1200">
                <a:solidFill>
                  <a:srgbClr val="FFFFFF"/>
                </a:solidFill>
                <a:latin typeface="Calibri"/>
              </a:defRPr>
            </a:pPr>
            <a:r>
              <a:t>•  IF NOT EXISTS → CREATE idempotente</a:t>
            </a:r>
          </a:p>
          <a:p>
            <a:pPr algn="l">
              <a:spcAft>
                <a:spcPts val="300"/>
              </a:spcAft>
              <a:defRPr sz="1200">
                <a:solidFill>
                  <a:srgbClr val="FFFFFF"/>
                </a:solidFill>
                <a:latin typeface="Calibri"/>
              </a:defRPr>
            </a:pPr>
            <a:r>
              <a:t>•  Indici: accelerano la LETTURA,</a:t>
            </a:r>
          </a:p>
          <a:p>
            <a:pPr algn="l">
              <a:spcAft>
                <a:spcPts val="300"/>
              </a:spcAft>
              <a:defRPr sz="1200">
                <a:solidFill>
                  <a:srgbClr val="FFFFFF"/>
                </a:solidFill>
                <a:latin typeface="Calibri"/>
              </a:defRPr>
            </a:pPr>
            <a:r>
              <a:t>  rallentano poco la SCRITTURA</a:t>
            </a:r>
          </a:p>
          <a:p>
            <a:pPr algn="l">
              <a:spcAft>
                <a:spcPts val="300"/>
              </a:spcAft>
              <a:defRPr sz="1200">
                <a:solidFill>
                  <a:srgbClr val="FFFFFF"/>
                </a:solidFill>
                <a:latin typeface="Calibri"/>
              </a:defRPr>
            </a:pPr>
            <a:r>
              <a:t>•  L'indice giusto è usato automaticamente</a:t>
            </a:r>
          </a:p>
          <a:p>
            <a:pPr algn="l">
              <a:spcAft>
                <a:spcPts val="300"/>
              </a:spcAft>
              <a:defRPr sz="1200">
                <a:solidFill>
                  <a:srgbClr val="FFFFFF"/>
                </a:solidFill>
                <a:latin typeface="Calibri"/>
              </a:defRPr>
            </a:pPr>
            <a:r>
              <a:t>•  Vedi: SHOW INDEXES, SHOW CONSTRAINTS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APOC: Procedure Standard</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Awesome Procedures On Cypher: la libreria ufficiale di Neo4j. Oltre 450 utilità; un sottoinsieme già attivo su AuraDB.</a:t>
            </a:r>
          </a:p>
        </p:txBody>
      </p:sp>
      <p:sp>
        <p:nvSpPr>
          <p:cNvPr id="4" name="TextBox 3"/>
          <p:cNvSpPr txBox="1"/>
          <p:nvPr/>
        </p:nvSpPr>
        <p:spPr>
          <a:xfrm>
            <a:off x="731520" y="1463040"/>
            <a:ext cx="5029200" cy="3657600"/>
          </a:xfrm>
          <a:prstGeom prst="rect">
            <a:avLst/>
          </a:prstGeom>
          <a:noFill/>
        </p:spPr>
        <p:txBody>
          <a:bodyPr wrap="square">
            <a:spAutoFit/>
          </a:bodyPr>
          <a:lstStyle/>
          <a:p>
            <a:pPr algn="l">
              <a:spcAft>
                <a:spcPts val="300"/>
              </a:spcAft>
              <a:defRPr sz="1200">
                <a:solidFill>
                  <a:srgbClr val="FFFFFF"/>
                </a:solidFill>
                <a:latin typeface="Calibri"/>
              </a:defRPr>
            </a:pPr>
            <a:r>
              <a:t>•  APOC Core: ufficialmente supportato</a:t>
            </a:r>
          </a:p>
          <a:p>
            <a:pPr algn="l">
              <a:spcAft>
                <a:spcPts val="300"/>
              </a:spcAft>
              <a:defRPr sz="1200">
                <a:solidFill>
                  <a:srgbClr val="FFFFFF"/>
                </a:solidFill>
                <a:latin typeface="Calibri"/>
              </a:defRPr>
            </a:pPr>
            <a:r>
              <a:t>•  Già preinstallato su AuraDB (sottoinsieme)</a:t>
            </a:r>
          </a:p>
          <a:p>
            <a:pPr algn="l">
              <a:spcAft>
                <a:spcPts val="300"/>
              </a:spcAft>
              <a:defRPr sz="1200">
                <a:solidFill>
                  <a:srgbClr val="FFFFFF"/>
                </a:solidFill>
                <a:latin typeface="Calibri"/>
              </a:defRPr>
            </a:pPr>
            <a:r>
              <a:t>•  apoc.coll.* → liste (zip, flatten, sort)</a:t>
            </a:r>
          </a:p>
          <a:p>
            <a:pPr algn="l">
              <a:spcAft>
                <a:spcPts val="300"/>
              </a:spcAft>
              <a:defRPr sz="1200">
                <a:solidFill>
                  <a:srgbClr val="FFFFFF"/>
                </a:solidFill>
                <a:latin typeface="Calibri"/>
              </a:defRPr>
            </a:pPr>
            <a:r>
              <a:t>•  apoc.text.* → testo (clean, replace)</a:t>
            </a:r>
          </a:p>
          <a:p>
            <a:pPr algn="l">
              <a:spcAft>
                <a:spcPts val="300"/>
              </a:spcAft>
              <a:defRPr sz="1200">
                <a:solidFill>
                  <a:srgbClr val="FFFFFF"/>
                </a:solidFill>
                <a:latin typeface="Calibri"/>
              </a:defRPr>
            </a:pPr>
            <a:r>
              <a:t>•  apoc.convert.* → JSON e conversioni</a:t>
            </a:r>
          </a:p>
          <a:p>
            <a:pPr algn="l">
              <a:spcAft>
                <a:spcPts val="300"/>
              </a:spcAft>
              <a:defRPr sz="1200">
                <a:solidFill>
                  <a:srgbClr val="FFFFFF"/>
                </a:solidFill>
                <a:latin typeface="Calibri"/>
              </a:defRPr>
            </a:pPr>
            <a:r>
              <a:t>•  apoc.load.csv → import CSV</a:t>
            </a:r>
          </a:p>
          <a:p>
            <a:pPr algn="l">
              <a:spcAft>
                <a:spcPts val="300"/>
              </a:spcAft>
              <a:defRPr sz="1200">
                <a:solidFill>
                  <a:srgbClr val="FFFFFF"/>
                </a:solidFill>
                <a:latin typeface="Calibri"/>
              </a:defRPr>
            </a:pPr>
            <a:r>
              <a:t>•  apoc.periodic.iterate → batch di operazioni</a:t>
            </a:r>
          </a:p>
          <a:p>
            <a:pPr algn="l">
              <a:spcAft>
                <a:spcPts val="300"/>
              </a:spcAft>
              <a:defRPr sz="1200">
                <a:solidFill>
                  <a:srgbClr val="FFFFFF"/>
                </a:solidFill>
                <a:latin typeface="Calibri"/>
              </a:defRPr>
            </a:pPr>
            <a:r>
              <a:t>•  Sintassi: CALL apoc.x(...) YIELD ...</a:t>
            </a:r>
          </a:p>
        </p:txBody>
      </p:sp>
      <p:sp>
        <p:nvSpPr>
          <p:cNvPr id="5" name="Rectangle 4"/>
          <p:cNvSpPr/>
          <p:nvPr/>
        </p:nvSpPr>
        <p:spPr>
          <a:xfrm>
            <a:off x="5669280" y="1463040"/>
            <a:ext cx="4846320" cy="3657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3511296"/>
          </a:xfrm>
          <a:prstGeom prst="rect">
            <a:avLst/>
          </a:prstGeom>
          <a:noFill/>
        </p:spPr>
        <p:txBody>
          <a:bodyPr wrap="square">
            <a:spAutoFit/>
          </a:bodyPr>
          <a:lstStyle/>
          <a:p>
            <a:pPr>
              <a:spcAft>
                <a:spcPts val="100"/>
              </a:spcAft>
              <a:defRPr sz="1000">
                <a:solidFill>
                  <a:srgbClr val="7EC68E"/>
                </a:solidFill>
                <a:latin typeface="Consolas"/>
              </a:defRPr>
            </a:pPr>
            <a:r>
              <a:t>RETURN apoc.version() AS versione;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RETURN apoc.coll.zip([1,2,3],</a:t>
            </a:r>
          </a:p>
          <a:p>
            <a:pPr>
              <a:spcAft>
                <a:spcPts val="100"/>
              </a:spcAft>
              <a:defRPr sz="1000">
                <a:solidFill>
                  <a:srgbClr val="7EC68E"/>
                </a:solidFill>
                <a:latin typeface="Consolas"/>
              </a:defRPr>
            </a:pPr>
            <a:r>
              <a:t>                     ["a","b","c"]) AS zippato;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RETURN apoc.text.clean("Cypher Query!")</a:t>
            </a:r>
          </a:p>
          <a:p>
            <a:pPr>
              <a:spcAft>
                <a:spcPts val="100"/>
              </a:spcAft>
              <a:defRPr sz="1000">
                <a:solidFill>
                  <a:srgbClr val="7EC68E"/>
                </a:solidFill>
                <a:latin typeface="Consolas"/>
              </a:defRPr>
            </a:pPr>
            <a:r>
              <a:t>       AS pulito;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1ª query = produce i dati, 2ª = li trasforma</a:t>
            </a:r>
          </a:p>
          <a:p>
            <a:pPr>
              <a:spcAft>
                <a:spcPts val="100"/>
              </a:spcAft>
              <a:defRPr sz="1000">
                <a:solidFill>
                  <a:srgbClr val="7EC68E"/>
                </a:solidFill>
                <a:latin typeface="Consolas"/>
              </a:defRPr>
            </a:pPr>
            <a:r>
              <a:t>CALL apoc.periodic.iterate(</a:t>
            </a:r>
          </a:p>
          <a:p>
            <a:pPr>
              <a:spcAft>
                <a:spcPts val="100"/>
              </a:spcAft>
              <a:defRPr sz="1000">
                <a:solidFill>
                  <a:srgbClr val="7EC68E"/>
                </a:solidFill>
                <a:latin typeface="Consolas"/>
              </a:defRPr>
            </a:pPr>
            <a:r>
              <a:t>  "MATCH (p:Person) RETURN p",</a:t>
            </a:r>
          </a:p>
          <a:p>
            <a:pPr>
              <a:spcAft>
                <a:spcPts val="100"/>
              </a:spcAft>
              <a:defRPr sz="1000">
                <a:solidFill>
                  <a:srgbClr val="7EC68E"/>
                </a:solidFill>
                <a:latin typeface="Consolas"/>
              </a:defRPr>
            </a:pPr>
            <a:r>
              <a:t>  "SET p.processed = true",</a:t>
            </a:r>
          </a:p>
          <a:p>
            <a:pPr>
              <a:spcAft>
                <a:spcPts val="100"/>
              </a:spcAft>
              <a:defRPr sz="1000">
                <a:solidFill>
                  <a:srgbClr val="7EC68E"/>
                </a:solidFill>
                <a:latin typeface="Consolas"/>
              </a:defRPr>
            </a:pPr>
            <a:r>
              <a:t>  {batchSize: 100})</a:t>
            </a:r>
          </a:p>
          <a:p>
            <a:pPr>
              <a:spcAft>
                <a:spcPts val="100"/>
              </a:spcAft>
              <a:defRPr sz="1000">
                <a:solidFill>
                  <a:srgbClr val="7EC68E"/>
                </a:solidFill>
                <a:latin typeface="Consolas"/>
              </a:defRPr>
            </a:pPr>
            <a:r>
              <a:t>YIELD batch RETURN batch.total;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Esercizi (1/2)</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Esercizi sul dataset Org Graph. Le soluzioni complete sono nel notebook della Sessione 2.</a:t>
            </a:r>
          </a:p>
        </p:txBody>
      </p:sp>
      <p:sp>
        <p:nvSpPr>
          <p:cNvPr id="4" name="TextBox 3"/>
          <p:cNvSpPr txBox="1"/>
          <p:nvPr/>
        </p:nvSpPr>
        <p:spPr>
          <a:xfrm>
            <a:off x="731520" y="1371600"/>
            <a:ext cx="5852160" cy="4572000"/>
          </a:xfrm>
          <a:prstGeom prst="rect">
            <a:avLst/>
          </a:prstGeom>
          <a:noFill/>
        </p:spPr>
        <p:txBody>
          <a:bodyPr wrap="square">
            <a:spAutoFit/>
          </a:bodyPr>
          <a:lstStyle/>
          <a:p>
            <a:pPr algn="l">
              <a:spcAft>
                <a:spcPts val="0"/>
              </a:spcAft>
              <a:defRPr sz="1200">
                <a:solidFill>
                  <a:srgbClr val="FFFFFF"/>
                </a:solidFill>
                <a:latin typeface="Calibri"/>
              </a:defRPr>
            </a:pPr>
            <a:r>
              <a:t>•  1. Trova le 5 skill più diffuse tra i dipendenti</a:t>
            </a:r>
          </a:p>
          <a:p>
            <a:pPr algn="l">
              <a:spcAft>
                <a:spcPts val="0"/>
              </a:spcAft>
              <a:defRPr sz="1200">
                <a:solidFill>
                  <a:srgbClr val="FFFFFF"/>
                </a:solidFill>
                <a:latin typeface="Calibri"/>
              </a:defRPr>
            </a:pPr>
            <a:r>
              <a:t>    MATCH (p:Person)-[:HAS_SKILL]-&gt;(s:Skill)</a:t>
            </a:r>
          </a:p>
          <a:p>
            <a:pPr algn="l">
              <a:spcAft>
                <a:spcPts val="0"/>
              </a:spcAft>
              <a:defRPr sz="1200">
                <a:solidFill>
                  <a:srgbClr val="FFFFFF"/>
                </a:solidFill>
                <a:latin typeface="Calibri"/>
              </a:defRPr>
            </a:pPr>
            <a:r>
              <a:t>    RETURN s.name, count(*) ORDER BY count(*) DESC LIMIT 5</a:t>
            </a:r>
          </a:p>
          <a:p>
            <a:pPr algn="l">
              <a:spcAft>
                <a:spcPts val="0"/>
              </a:spcAft>
              <a:defRPr sz="1200">
                <a:solidFill>
                  <a:srgbClr val="FFFFFF"/>
                </a:solidFill>
                <a:latin typeface="Calibri"/>
              </a:defRPr>
            </a:pPr>
            <a:r>
              <a:t>    // OUTPUT atteso: SQL 170 · DB Oracle 162 · PL/SQL 162 ·</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2. Per ogni persona conta skill e progetti</a:t>
            </a:r>
          </a:p>
          <a:p>
            <a:pPr algn="l">
              <a:spcAft>
                <a:spcPts val="0"/>
              </a:spcAft>
              <a:defRPr sz="1200">
                <a:solidFill>
                  <a:srgbClr val="FFFFFF"/>
                </a:solidFill>
                <a:latin typeface="Calibri"/>
              </a:defRPr>
            </a:pPr>
            <a:r>
              <a:t>    Suggerimento: due subquery CALL { } (o due MATCH)</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3. Trova il cammino minimo tra due impiegati</a:t>
            </a:r>
          </a:p>
          <a:p>
            <a:pPr algn="l">
              <a:spcAft>
                <a:spcPts val="0"/>
              </a:spcAft>
              <a:defRPr sz="1200">
                <a:solidFill>
                  <a:srgbClr val="FFFFFF"/>
                </a:solidFill>
                <a:latin typeface="Calibri"/>
              </a:defRPr>
            </a:pPr>
            <a:r>
              <a:t>    shortestPath((a)-[:WORKED_ON*]-(b))</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4. Coppie di impiegati che condividono almeno 3 skill</a:t>
            </a:r>
          </a:p>
          <a:p>
            <a:pPr algn="l">
              <a:spcAft>
                <a:spcPts val="0"/>
              </a:spcAft>
              <a:defRPr sz="1200">
                <a:solidFill>
                  <a:srgbClr val="FFFFFF"/>
                </a:solidFill>
                <a:latin typeface="Calibri"/>
              </a:defRPr>
            </a:pPr>
            <a:r>
              <a:t>    MATCH (p1)-[:HAS_SKILL]-&gt;(s)&lt;-[:HAS_SKILL]-(p2)</a:t>
            </a:r>
          </a:p>
          <a:p>
            <a:pPr algn="l">
              <a:spcAft>
                <a:spcPts val="0"/>
              </a:spcAft>
              <a:defRPr sz="1200">
                <a:solidFill>
                  <a:srgbClr val="FFFFFF"/>
                </a:solidFill>
                <a:latin typeface="Calibri"/>
              </a:defRPr>
            </a:pPr>
            <a:r>
              <a:t>    WITH ..., collect(s.name) AS comuni</a:t>
            </a:r>
          </a:p>
          <a:p>
            <a:pPr algn="l">
              <a:spcAft>
                <a:spcPts val="0"/>
              </a:spcAft>
              <a:defRPr sz="1200">
                <a:solidFill>
                  <a:srgbClr val="FFFFFF"/>
                </a:solidFill>
                <a:latin typeface="Calibri"/>
              </a:defRPr>
            </a:pPr>
            <a:r>
              <a:t>    WHERE size(comuni) &gt;= 3</a:t>
            </a:r>
          </a:p>
        </p:txBody>
      </p:sp>
      <p:sp>
        <p:nvSpPr>
          <p:cNvPr id="5" name="TextBox 4"/>
          <p:cNvSpPr txBox="1"/>
          <p:nvPr/>
        </p:nvSpPr>
        <p:spPr>
          <a:xfrm>
            <a:off x="6035040" y="1371600"/>
            <a:ext cx="4754880" cy="4572000"/>
          </a:xfrm>
          <a:prstGeom prst="rect">
            <a:avLst/>
          </a:prstGeom>
          <a:noFill/>
        </p:spPr>
        <p:txBody>
          <a:bodyPr wrap="square">
            <a:spAutoFit/>
          </a:bodyPr>
          <a:lstStyle/>
          <a:p>
            <a:pPr algn="l">
              <a:defRPr sz="1200" b="0">
                <a:solidFill>
                  <a:srgbClr val="CCCCCC"/>
                </a:solidFill>
                <a:latin typeface="Calibri"/>
              </a:defRPr>
            </a:pPr>
            <a:r>
              <a:t>Obiettivi:</a:t>
            </a:r>
            <a:br/>
            <a:br/>
            <a:r>
              <a:t>1. Aggregare con count + ORDER BY</a:t>
            </a:r>
            <a:br/>
            <a:r>
              <a:t>2. Subquery correlate per conteggi</a:t>
            </a:r>
            <a:br/>
            <a:r>
              <a:t>3. shortestPath e path variables</a:t>
            </a:r>
            <a:br/>
            <a:r>
              <a:t>4. Pattern multi-hop + filtro su lista</a:t>
            </a:r>
            <a:br/>
            <a:br/>
            <a:r>
              <a:t>Proprietà del modello:</a:t>
            </a:r>
            <a:br/>
            <a:r>
              <a:t>  Person: employee_id, name,</a:t>
            </a:r>
            <a:br/>
            <a:r>
              <a:t>          location, title, department</a:t>
            </a:r>
            <a:br/>
            <a:r>
              <a:t>  Skill: name · Project: name</a:t>
            </a:r>
            <a:br/>
            <a:r>
              <a:t>  HAS_SKILL.proficiency</a:t>
            </a:r>
            <a:br/>
            <a:r>
              <a:t>  WORKED_ON.role</a:t>
            </a:r>
            <a:br/>
            <a:r>
              <a:t>  REPORTS_TO (Person → Supervisor)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Esercizi (2/2)</a:t>
            </a:r>
          </a:p>
        </p:txBody>
      </p:sp>
      <p:sp>
        <p:nvSpPr>
          <p:cNvPr id="3" name="TextBox 2"/>
          <p:cNvSpPr txBox="1"/>
          <p:nvPr/>
        </p:nvSpPr>
        <p:spPr>
          <a:xfrm>
            <a:off x="731520" y="1097280"/>
            <a:ext cx="5852160" cy="4572000"/>
          </a:xfrm>
          <a:prstGeom prst="rect">
            <a:avLst/>
          </a:prstGeom>
          <a:noFill/>
        </p:spPr>
        <p:txBody>
          <a:bodyPr wrap="square">
            <a:spAutoFit/>
          </a:bodyPr>
          <a:lstStyle/>
          <a:p>
            <a:pPr algn="l">
              <a:spcAft>
                <a:spcPts val="0"/>
              </a:spcAft>
              <a:defRPr sz="1200">
                <a:solidFill>
                  <a:srgbClr val="FFFFFF"/>
                </a:solidFill>
                <a:latin typeface="Calibri"/>
              </a:defRPr>
            </a:pPr>
            <a:r>
              <a:t>•  5. Quante persone riportano a ciascun supervisor?</a:t>
            </a:r>
          </a:p>
          <a:p>
            <a:pPr algn="l">
              <a:spcAft>
                <a:spcPts val="0"/>
              </a:spcAft>
              <a:defRPr sz="1200">
                <a:solidFill>
                  <a:srgbClr val="FFFFFF"/>
                </a:solidFill>
                <a:latin typeface="Calibri"/>
              </a:defRPr>
            </a:pPr>
            <a:r>
              <a:t>    MATCH (p:Person)-[:REPORTS_TO]-&gt;(s:Supervisor)</a:t>
            </a:r>
          </a:p>
          <a:p>
            <a:pPr algn="l">
              <a:spcAft>
                <a:spcPts val="0"/>
              </a:spcAft>
              <a:defRPr sz="1200">
                <a:solidFill>
                  <a:srgbClr val="FFFFFF"/>
                </a:solidFill>
                <a:latin typeface="Calibri"/>
              </a:defRPr>
            </a:pPr>
            <a:r>
              <a:t>    RETURN s.name, count(*) ORDER BY count(*) DESC</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6. Paginazione: mostra le persone 11–20 in ordine alfabetico</a:t>
            </a:r>
          </a:p>
          <a:p>
            <a:pPr algn="l">
              <a:spcAft>
                <a:spcPts val="0"/>
              </a:spcAft>
              <a:defRPr sz="1200">
                <a:solidFill>
                  <a:srgbClr val="FFFFFF"/>
                </a:solidFill>
                <a:latin typeface="Calibri"/>
              </a:defRPr>
            </a:pPr>
            <a:r>
              <a:t>    ORDER BY p.name SKIP 10 LIMIT 10</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7. (Avanzato) Media proficiency per skill, solo con ≥ 5 persone</a:t>
            </a:r>
          </a:p>
          <a:p>
            <a:pPr algn="l">
              <a:spcAft>
                <a:spcPts val="0"/>
              </a:spcAft>
              <a:defRPr sz="1200">
                <a:solidFill>
                  <a:srgbClr val="FFFFFF"/>
                </a:solidFill>
                <a:latin typeface="Calibri"/>
              </a:defRPr>
            </a:pPr>
            <a:r>
              <a:t>    Non esiste HAVING: usa WITH + WHERE count(*) &gt;= 5</a:t>
            </a:r>
          </a:p>
          <a:p>
            <a:pPr algn="l">
              <a:spcAft>
                <a:spcPts val="0"/>
              </a:spcAft>
              <a:defRPr sz="1200">
                <a:solidFill>
                  <a:srgbClr val="FFFFFF"/>
                </a:solidFill>
                <a:latin typeface="Calibri"/>
              </a:defRPr>
            </a:pPr>
            <a:endParaRPr/>
          </a:p>
          <a:p>
            <a:pPr algn="l">
              <a:spcAft>
                <a:spcPts val="0"/>
              </a:spcAft>
              <a:defRPr sz="1200">
                <a:solidFill>
                  <a:srgbClr val="FFFFFF"/>
                </a:solidFill>
                <a:latin typeface="Calibri"/>
              </a:defRPr>
            </a:pPr>
            <a:r>
              <a:t>•  8. (Avanzato) PROFILE della query delle skill condivise</a:t>
            </a:r>
          </a:p>
          <a:p>
            <a:pPr algn="l">
              <a:spcAft>
                <a:spcPts val="0"/>
              </a:spcAft>
              <a:defRPr sz="1200">
                <a:solidFill>
                  <a:srgbClr val="FFFFFF"/>
                </a:solidFill>
                <a:latin typeface="Calibri"/>
              </a:defRPr>
            </a:pPr>
            <a:r>
              <a:t>    Cerca operatori inefficienti nel piano (es. NodeByLabelScan)</a:t>
            </a:r>
          </a:p>
        </p:txBody>
      </p:sp>
      <p:sp>
        <p:nvSpPr>
          <p:cNvPr id="4" name="TextBox 3"/>
          <p:cNvSpPr txBox="1"/>
          <p:nvPr/>
        </p:nvSpPr>
        <p:spPr>
          <a:xfrm>
            <a:off x="6035040" y="1097280"/>
            <a:ext cx="4754880" cy="4572000"/>
          </a:xfrm>
          <a:prstGeom prst="rect">
            <a:avLst/>
          </a:prstGeom>
          <a:noFill/>
        </p:spPr>
        <p:txBody>
          <a:bodyPr wrap="square">
            <a:spAutoFit/>
          </a:bodyPr>
          <a:lstStyle/>
          <a:p>
            <a:pPr algn="l">
              <a:defRPr sz="1200" b="0">
                <a:solidFill>
                  <a:srgbClr val="CCCCCC"/>
                </a:solidFill>
                <a:latin typeface="Calibri"/>
              </a:defRPr>
            </a:pPr>
            <a:r>
              <a:t>Suggerimenti:</a:t>
            </a:r>
            <a:br/>
            <a:br/>
            <a:r>
              <a:t>5. GROUP BY implicito: s.name è la chiave</a:t>
            </a:r>
            <a:br/>
            <a:r>
              <a:t>6. SKIP (pagina-1)*n, LIMIT n</a:t>
            </a:r>
            <a:br/>
            <a:r>
              <a:t>7. Filtra DOPO l'aggregazione con WITH</a:t>
            </a:r>
            <a:br/>
            <a:r>
              <a:t>   WITH s, avg(...) AS media</a:t>
            </a:r>
            <a:br/>
            <a:r>
              <a:t>   WHERE count(*) &gt;= 5</a:t>
            </a:r>
            <a:br/>
            <a:r>
              <a:t>8. Usa il driver o Neo4j Browser:</a:t>
            </a:r>
            <a:br/>
            <a:r>
              <a:t>   PROFILE MATCH ...</a:t>
            </a:r>
            <a:br/>
            <a:br/>
            <a:r>
              <a:t>Risorse utili:</a:t>
            </a:r>
            <a:br/>
            <a:r>
              <a:t>  Cypher Manual — neo4j.com/docs/</a:t>
            </a:r>
            <a:br/>
            <a:r>
              <a:t>  cypher-manual/current/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Punti Chiave</a:t>
            </a:r>
          </a:p>
        </p:txBody>
      </p:sp>
      <p:sp>
        <p:nvSpPr>
          <p:cNvPr id="3" name="TextBox 2"/>
          <p:cNvSpPr txBox="1"/>
          <p:nvPr/>
        </p:nvSpPr>
        <p:spPr>
          <a:xfrm>
            <a:off x="731520" y="1005840"/>
            <a:ext cx="10515600" cy="4937760"/>
          </a:xfrm>
          <a:prstGeom prst="rect">
            <a:avLst/>
          </a:prstGeom>
          <a:noFill/>
        </p:spPr>
        <p:txBody>
          <a:bodyPr wrap="square">
            <a:spAutoFit/>
          </a:bodyPr>
          <a:lstStyle/>
          <a:p>
            <a:pPr algn="l">
              <a:spcAft>
                <a:spcPts val="600"/>
              </a:spcAft>
              <a:defRPr sz="1400">
                <a:solidFill>
                  <a:srgbClr val="FFFFFF"/>
                </a:solidFill>
                <a:latin typeface="Calibri"/>
              </a:defRPr>
            </a:pPr>
            <a:r>
              <a:t>•  I pattern MATCH descrivono FORME: il database trova il percorso, non serve scriverlo</a:t>
            </a:r>
          </a:p>
          <a:p>
            <a:pPr algn="l">
              <a:spcAft>
                <a:spcPts val="600"/>
              </a:spcAft>
              <a:defRPr sz="1400">
                <a:solidFill>
                  <a:srgbClr val="FFFFFF"/>
                </a:solidFill>
                <a:latin typeface="Calibri"/>
              </a:defRPr>
            </a:pPr>
            <a:r>
              <a:t>•  Path variables + *min..max esprimono profondità senza JOIN (es. -[:WORKED_ON*1..3]-)</a:t>
            </a:r>
          </a:p>
          <a:p>
            <a:pPr algn="l">
              <a:spcAft>
                <a:spcPts val="600"/>
              </a:spcAft>
              <a:defRPr sz="1400">
                <a:solidFill>
                  <a:srgbClr val="FFFFFF"/>
                </a:solidFill>
                <a:latin typeface="Calibri"/>
              </a:defRPr>
            </a:pPr>
            <a:r>
              <a:t>•  shortestPath = ricerca in ampiezza sugli HOP (non sui pesi: per i pesi serve GDS)</a:t>
            </a:r>
          </a:p>
          <a:p>
            <a:pPr algn="l">
              <a:spcAft>
                <a:spcPts val="600"/>
              </a:spcAft>
              <a:defRPr sz="1400">
                <a:solidFill>
                  <a:srgbClr val="FFFFFF"/>
                </a:solidFill>
                <a:latin typeface="Calibri"/>
              </a:defRPr>
            </a:pPr>
            <a:r>
              <a:t>•  MERGE è idempotente — preferiscilo a CREATE per caricamenti ripetuti</a:t>
            </a:r>
          </a:p>
          <a:p>
            <a:pPr algn="l">
              <a:spcAft>
                <a:spcPts val="600"/>
              </a:spcAft>
              <a:defRPr sz="1400">
                <a:solidFill>
                  <a:srgbClr val="FFFFFF"/>
                </a:solidFill>
                <a:latin typeface="Calibri"/>
              </a:defRPr>
            </a:pPr>
            <a:r>
              <a:t>•  WHERE supporta AND/OR/IN/CONTAINS/STARTS WITH e IS NULL per filtri espressivi</a:t>
            </a:r>
          </a:p>
          <a:p>
            <a:pPr algn="l">
              <a:spcAft>
                <a:spcPts val="600"/>
              </a:spcAft>
              <a:defRPr sz="1400">
                <a:solidFill>
                  <a:srgbClr val="FFFFFF"/>
                </a:solidFill>
                <a:latin typeface="Calibri"/>
              </a:defRPr>
            </a:pPr>
            <a:r>
              <a:t>•  Le aggregazioni non hanno GROUP BY: le colonne non aggregate sono la chiave</a:t>
            </a:r>
          </a:p>
          <a:p>
            <a:pPr algn="l">
              <a:spcAft>
                <a:spcPts val="600"/>
              </a:spcAft>
              <a:defRPr sz="1400">
                <a:solidFill>
                  <a:srgbClr val="FFFFFF"/>
                </a:solidFill>
                <a:latin typeface="Calibri"/>
              </a:defRPr>
            </a:pPr>
            <a:r>
              <a:t>•  CALL { } per subquery correlate e UNION con post-processing (5.23+: CALL (p) { })</a:t>
            </a:r>
          </a:p>
          <a:p>
            <a:pPr algn="l">
              <a:spcAft>
                <a:spcPts val="600"/>
              </a:spcAft>
              <a:defRPr sz="1400">
                <a:solidFill>
                  <a:srgbClr val="FFFFFF"/>
                </a:solidFill>
                <a:latin typeface="Calibri"/>
              </a:defRPr>
            </a:pPr>
            <a:r>
              <a:t>•  PROFILE mostra gli operatori: cerca NodeIndexSeek, evita AllNodesScan</a:t>
            </a:r>
          </a:p>
          <a:p>
            <a:pPr algn="l">
              <a:spcAft>
                <a:spcPts val="600"/>
              </a:spcAft>
              <a:defRPr sz="1400">
                <a:solidFill>
                  <a:srgbClr val="FFFFFF"/>
                </a:solidFill>
                <a:latin typeface="Calibri"/>
              </a:defRPr>
            </a:pPr>
            <a:r>
              <a:t>•  Usa i parametri ($loc) e mai la concatenazione di stringhe</a:t>
            </a:r>
          </a:p>
          <a:p>
            <a:pPr algn="l">
              <a:spcAft>
                <a:spcPts val="600"/>
              </a:spcAft>
              <a:defRPr sz="1400">
                <a:solidFill>
                  <a:srgbClr val="FFFFFF"/>
                </a:solidFill>
                <a:latin typeface="Calibri"/>
              </a:defRPr>
            </a:pPr>
            <a:r>
              <a:t>•  APOC estende Cypher con centinaia di utilità, già disponibili su AuraDB</a:t>
            </a:r>
          </a:p>
        </p:txBody>
      </p:sp>
      <p:sp>
        <p:nvSpPr>
          <p:cNvPr id="4" name="Rectangle 3"/>
          <p:cNvSpPr/>
          <p:nvPr/>
        </p:nvSpPr>
        <p:spPr>
          <a:xfrm>
            <a:off x="731520" y="59436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217920"/>
            <a:ext cx="10515600" cy="365760"/>
          </a:xfrm>
          <a:prstGeom prst="rect">
            <a:avLst/>
          </a:prstGeom>
          <a:noFill/>
        </p:spPr>
        <p:txBody>
          <a:bodyPr wrap="square">
            <a:spAutoFit/>
          </a:bodyPr>
          <a:lstStyle/>
          <a:p>
            <a:pPr algn="l">
              <a:defRPr sz="1100" b="0">
                <a:solidFill>
                  <a:srgbClr val="F0C040"/>
                </a:solidFill>
                <a:latin typeface="Calibri"/>
              </a:defRPr>
            </a:pPr>
            <a:r>
              <a:t>Riferimenti: Cypher Manual (neo4j.com/docs/cypher-manual/current/) · APOC (neo4j.com/docs/apoc/current/)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Rectangle 1"/>
          <p:cNvSpPr/>
          <p:nvPr/>
        </p:nvSpPr>
        <p:spPr>
          <a:xfrm>
            <a:off x="731520" y="23774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058400" cy="1097280"/>
          </a:xfrm>
          <a:prstGeom prst="rect">
            <a:avLst/>
          </a:prstGeom>
          <a:noFill/>
        </p:spPr>
        <p:txBody>
          <a:bodyPr wrap="square">
            <a:spAutoFit/>
          </a:bodyPr>
          <a:lstStyle/>
          <a:p>
            <a:pPr algn="ctr">
              <a:defRPr sz="4200" b="1">
                <a:solidFill>
                  <a:srgbClr val="F0C040"/>
                </a:solidFill>
                <a:latin typeface="Calibri"/>
              </a:defRPr>
            </a:pPr>
            <a:r>
              <a:t>Alla prossima!</a:t>
            </a:r>
          </a:p>
        </p:txBody>
      </p:sp>
      <p:sp>
        <p:nvSpPr>
          <p:cNvPr id="4" name="TextBox 3"/>
          <p:cNvSpPr txBox="1"/>
          <p:nvPr/>
        </p:nvSpPr>
        <p:spPr>
          <a:xfrm>
            <a:off x="914400" y="2651760"/>
            <a:ext cx="10058400" cy="548640"/>
          </a:xfrm>
          <a:prstGeom prst="rect">
            <a:avLst/>
          </a:prstGeom>
          <a:noFill/>
        </p:spPr>
        <p:txBody>
          <a:bodyPr wrap="square">
            <a:spAutoFit/>
          </a:bodyPr>
          <a:lstStyle/>
          <a:p>
            <a:pPr algn="ctr">
              <a:defRPr sz="2400" b="0">
                <a:solidFill>
                  <a:srgbClr val="FFFFFF"/>
                </a:solidFill>
                <a:latin typeface="Calibri"/>
              </a:defRPr>
            </a:pPr>
            <a:r>
              <a:t>Sessione 3: Data Modeling &amp; Import</a:t>
            </a:r>
          </a:p>
        </p:txBody>
      </p:sp>
      <p:sp>
        <p:nvSpPr>
          <p:cNvPr id="5" name="TextBox 4"/>
          <p:cNvSpPr txBox="1"/>
          <p:nvPr/>
        </p:nvSpPr>
        <p:spPr>
          <a:xfrm>
            <a:off x="2286000" y="3566160"/>
            <a:ext cx="8229600" cy="2286000"/>
          </a:xfrm>
          <a:prstGeom prst="rect">
            <a:avLst/>
          </a:prstGeom>
          <a:noFill/>
        </p:spPr>
        <p:txBody>
          <a:bodyPr wrap="square">
            <a:spAutoFit/>
          </a:bodyPr>
          <a:lstStyle/>
          <a:p>
            <a:pPr algn="l">
              <a:spcAft>
                <a:spcPts val="1200"/>
              </a:spcAft>
              <a:defRPr sz="1400">
                <a:solidFill>
                  <a:srgbClr val="CCCCCC"/>
                </a:solidFill>
                <a:latin typeface="Calibri"/>
              </a:defRPr>
            </a:pPr>
            <a:r>
              <a:t>•  Pattern di modellazione: fan-out, hyperedge</a:t>
            </a:r>
          </a:p>
          <a:p>
            <a:pPr algn="l">
              <a:spcAft>
                <a:spcPts val="1200"/>
              </a:spcAft>
              <a:defRPr sz="1400">
                <a:solidFill>
                  <a:srgbClr val="CCCCCC"/>
                </a:solidFill>
                <a:latin typeface="Calibri"/>
              </a:defRPr>
            </a:pPr>
            <a:r>
              <a:t>•  Da relazione a grafo: mappatura tabella → nodi/relazioni</a:t>
            </a:r>
          </a:p>
          <a:p>
            <a:pPr algn="l">
              <a:spcAft>
                <a:spcPts val="1200"/>
              </a:spcAft>
              <a:defRPr sz="1400">
                <a:solidFill>
                  <a:srgbClr val="CCCCCC"/>
                </a:solidFill>
                <a:latin typeface="Calibri"/>
              </a:defRPr>
            </a:pPr>
            <a:r>
              <a:t>•  Antipattern: supernodi, abuso di proprietà</a:t>
            </a:r>
          </a:p>
          <a:p>
            <a:pPr algn="l">
              <a:spcAft>
                <a:spcPts val="1200"/>
              </a:spcAft>
              <a:defRPr sz="1400">
                <a:solidFill>
                  <a:srgbClr val="CCCCCC"/>
                </a:solidFill>
                <a:latin typeface="Calibri"/>
              </a:defRPr>
            </a:pPr>
            <a:r>
              <a:t>•  Constraints e indici (UNIQUE, RANGE, TEXT)</a:t>
            </a:r>
          </a:p>
          <a:p>
            <a:pPr algn="l">
              <a:spcAft>
                <a:spcPts val="1200"/>
              </a:spcAft>
              <a:defRPr sz="1400">
                <a:solidFill>
                  <a:srgbClr val="CCCCCC"/>
                </a:solidFill>
                <a:latin typeface="Calibri"/>
              </a:defRPr>
            </a:pPr>
            <a:r>
              <a:t>•  LOAD CSV e strumenti di import</a:t>
            </a:r>
          </a:p>
          <a:p>
            <a:pPr algn="l">
              <a:spcAft>
                <a:spcPts val="1200"/>
              </a:spcAft>
              <a:defRPr sz="1400">
                <a:solidFill>
                  <a:srgbClr val="CCCCCC"/>
                </a:solidFill>
                <a:latin typeface="Calibri"/>
              </a:defRPr>
            </a:pPr>
            <a:r>
              <a:t>•  Refactoring Org Graph con nuove labels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WS Summit">
  <a:themeElements>
    <a:clrScheme name="Summits 2023">
      <a:dk1>
        <a:sysClr val="windowText" lastClr="000000"/>
      </a:dk1>
      <a:lt1>
        <a:sysClr val="window" lastClr="FFFFFF"/>
      </a:lt1>
      <a:dk2>
        <a:srgbClr val="000036"/>
      </a:dk2>
      <a:lt2>
        <a:srgbClr val="F2F4F4"/>
      </a:lt2>
      <a:accent1>
        <a:srgbClr val="289EFF"/>
      </a:accent1>
      <a:accent2>
        <a:srgbClr val="0D9F91"/>
      </a:accent2>
      <a:accent3>
        <a:srgbClr val="7E4FF3"/>
      </a:accent3>
      <a:accent4>
        <a:srgbClr val="DB2BB6"/>
      </a:accent4>
      <a:accent5>
        <a:srgbClr val="3B3BA8"/>
      </a:accent5>
      <a:accent6>
        <a:srgbClr val="FFAE00"/>
      </a:accent6>
      <a:hlink>
        <a:srgbClr val="289EFF"/>
      </a:hlink>
      <a:folHlink>
        <a:srgbClr val="289EFF"/>
      </a:folHlink>
    </a:clrScheme>
    <a:fontScheme name="Ember Display Heavy Normal">
      <a:majorFont>
        <a:latin typeface="Amazon Ember Display Heav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Summits2023_Template_E5_20221104.potx" id="{A56BE9F4-D30D-4077-9DE6-56BC56D8BE09}" vid="{A27EAEEB-49CB-4ED0-B294-A2D0142F5203}"/>
    </a:ext>
  </a:extLst>
</a:theme>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4</TotalTime>
  <Words>5223</Words>
  <Application>Microsoft Office PowerPoint</Application>
  <PresentationFormat>Widescreen</PresentationFormat>
  <Paragraphs>557</Paragraphs>
  <Slides>28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5" baseType="lpstr">
      <vt:lpstr>Amazon Ember Display</vt:lpstr>
      <vt:lpstr>Arial</vt:lpstr>
      <vt:lpstr>Helvetica Light</vt:lpstr>
      <vt:lpstr>Ubuntu</vt:lpstr>
      <vt:lpstr>Wingdings</vt:lpstr>
      <vt:lpstr>1_AWS Summit</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BOCCHI, LEONARDO</dc:creator>
  <cp:lastModifiedBy>BOCCHI, LEONARDO</cp:lastModifiedBy>
  <cp:revision>2</cp:revision>
  <dcterms:created xsi:type="dcterms:W3CDTF">2026-07-10T07:18:38Z</dcterms:created>
  <dcterms:modified xsi:type="dcterms:W3CDTF">2026-08-31T10:03:58Z</dcterms:modified>
</cp:coreProperties>
</file>