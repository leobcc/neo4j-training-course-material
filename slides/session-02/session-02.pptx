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400" b="1">
                <a:solidFill>
                  <a:srgbClr val="F0C040"/>
                </a:solidFill>
                <a:latin typeface="Calibri"/>
              </a:defRPr>
            </a:pPr>
            <a:r>
              <a:t>Cypher: Da Basi a Query Reali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2</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Pattern matching, filtri, aggregazioni, subquery, tuning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859536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Pattern MATCH avanzati</a:t>
            </a:r>
          </a:p>
          <a:p>
            <a:pPr algn="l">
              <a:spcAft>
                <a:spcPts val="1300"/>
              </a:spcAft>
              <a:defRPr sz="1500">
                <a:solidFill>
                  <a:srgbClr val="FFFFFF"/>
                </a:solidFill>
                <a:latin typeface="Calibri"/>
              </a:defRPr>
            </a:pPr>
            <a:r>
              <a:t>•  MERGE vs CREATE: idempotenza</a:t>
            </a:r>
          </a:p>
          <a:p>
            <a:pPr algn="l">
              <a:spcAft>
                <a:spcPts val="1300"/>
              </a:spcAft>
              <a:defRPr sz="1500">
                <a:solidFill>
                  <a:srgbClr val="FFFFFF"/>
                </a:solidFill>
                <a:latin typeface="Calibri"/>
              </a:defRPr>
            </a:pPr>
            <a:r>
              <a:t>•  Filtri WHERE (AND, OR, IN, CONTAINS)</a:t>
            </a:r>
          </a:p>
          <a:p>
            <a:pPr algn="l">
              <a:spcAft>
                <a:spcPts val="1300"/>
              </a:spcAft>
              <a:defRPr sz="1500">
                <a:solidFill>
                  <a:srgbClr val="FFFFFF"/>
                </a:solidFill>
                <a:latin typeface="Calibri"/>
              </a:defRPr>
            </a:pPr>
            <a:r>
              <a:t>•  Aggregazioni: COUNT, COLLECT, AVG</a:t>
            </a:r>
          </a:p>
          <a:p>
            <a:pPr algn="l">
              <a:spcAft>
                <a:spcPts val="1300"/>
              </a:spcAft>
              <a:defRPr sz="1500">
                <a:solidFill>
                  <a:srgbClr val="FFFFFF"/>
                </a:solidFill>
                <a:latin typeface="Calibri"/>
              </a:defRPr>
            </a:pPr>
            <a:r>
              <a:t>•  Subquery (CALL { ... })</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Date, liste, map in Cypher</a:t>
            </a:r>
          </a:p>
          <a:p>
            <a:pPr algn="l">
              <a:spcAft>
                <a:spcPts val="1300"/>
              </a:spcAft>
              <a:defRPr sz="1500">
                <a:solidFill>
                  <a:srgbClr val="FFFFFF"/>
                </a:solidFill>
                <a:latin typeface="Calibri"/>
              </a:defRPr>
            </a:pPr>
            <a:r>
              <a:t>•  Path a lunghezza variabile</a:t>
            </a:r>
          </a:p>
          <a:p>
            <a:pPr algn="l">
              <a:spcAft>
                <a:spcPts val="1300"/>
              </a:spcAft>
              <a:defRPr sz="1500">
                <a:solidFill>
                  <a:srgbClr val="FFFFFF"/>
                </a:solidFill>
                <a:latin typeface="Calibri"/>
              </a:defRPr>
            </a:pPr>
            <a:r>
              <a:t>•  ShortestPath</a:t>
            </a:r>
          </a:p>
          <a:p>
            <a:pPr algn="l">
              <a:spcAft>
                <a:spcPts val="1300"/>
              </a:spcAft>
              <a:defRPr sz="1500">
                <a:solidFill>
                  <a:srgbClr val="FFFFFF"/>
                </a:solidFill>
                <a:latin typeface="Calibri"/>
              </a:defRPr>
            </a:pPr>
            <a:r>
              <a:t>•  PROFILE / EXPLAIN</a:t>
            </a:r>
          </a:p>
          <a:p>
            <a:pPr algn="l">
              <a:spcAft>
                <a:spcPts val="1300"/>
              </a:spcAft>
              <a:defRPr sz="1500">
                <a:solidFill>
                  <a:srgbClr val="FFFFFF"/>
                </a:solidFill>
                <a:latin typeface="Calibri"/>
              </a:defRPr>
            </a:pPr>
            <a:r>
              <a:t>•  APOC essentials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Recap Sessione 1</a:t>
            </a:r>
          </a:p>
        </p:txBody>
      </p:sp>
      <p:sp>
        <p:nvSpPr>
          <p:cNvPr id="3" name="TextBox 2"/>
          <p:cNvSpPr txBox="1"/>
          <p:nvPr/>
        </p:nvSpPr>
        <p:spPr>
          <a:xfrm>
            <a:off x="731520" y="1143000"/>
            <a:ext cx="8595360" cy="2286000"/>
          </a:xfrm>
          <a:prstGeom prst="rect">
            <a:avLst/>
          </a:prstGeom>
          <a:noFill/>
        </p:spPr>
        <p:txBody>
          <a:bodyPr wrap="square">
            <a:spAutoFit/>
          </a:bodyPr>
          <a:lstStyle/>
          <a:p>
            <a:pPr algn="l">
              <a:spcAft>
                <a:spcPts val="1300"/>
              </a:spcAft>
              <a:defRPr sz="1500">
                <a:solidFill>
                  <a:srgbClr val="FFFFFF"/>
                </a:solidFill>
                <a:latin typeface="Calibri"/>
              </a:defRPr>
            </a:pPr>
            <a:r>
              <a:t>•  Property Graph Model: nodi, relazioni, labels, proprietà</a:t>
            </a:r>
          </a:p>
          <a:p>
            <a:pPr algn="l">
              <a:spcAft>
                <a:spcPts val="1300"/>
              </a:spcAft>
              <a:defRPr sz="1500">
                <a:solidFill>
                  <a:srgbClr val="FFFFFF"/>
                </a:solidFill>
                <a:latin typeface="Calibri"/>
              </a:defRPr>
            </a:pPr>
            <a:r>
              <a:t>•  Connessione a Neo4j con Python Driver</a:t>
            </a:r>
          </a:p>
          <a:p>
            <a:pPr algn="l">
              <a:spcAft>
                <a:spcPts val="1300"/>
              </a:spcAft>
              <a:defRPr sz="1500">
                <a:solidFill>
                  <a:srgbClr val="FFFFFF"/>
                </a:solidFill>
                <a:latin typeface="Calibri"/>
              </a:defRPr>
            </a:pPr>
            <a:r>
              <a:t>•  MATCH + RETURN: pattern matching base</a:t>
            </a:r>
          </a:p>
          <a:p>
            <a:pPr algn="l">
              <a:spcAft>
                <a:spcPts val="1300"/>
              </a:spcAft>
              <a:defRPr sz="1500">
                <a:solidFill>
                  <a:srgbClr val="FFFFFF"/>
                </a:solidFill>
                <a:latin typeface="Calibri"/>
              </a:defRPr>
            </a:pPr>
            <a:r>
              <a:t>•  MERGE / CREATE per scrivere dati</a:t>
            </a:r>
          </a:p>
          <a:p>
            <a:pPr algn="l">
              <a:spcAft>
                <a:spcPts val="1300"/>
              </a:spcAft>
              <a:defRPr sz="1500">
                <a:solidFill>
                  <a:srgbClr val="FFFFFF"/>
                </a:solidFill>
                <a:latin typeface="Calibri"/>
              </a:defRPr>
            </a:pPr>
            <a:r>
              <a:t>•  UNWIND batching per caricamenti bulk</a:t>
            </a:r>
          </a:p>
        </p:txBody>
      </p:sp>
      <p:sp>
        <p:nvSpPr>
          <p:cNvPr id="4" name="Rectangle 3"/>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49039"/>
            <a:ext cx="8595360" cy="365760"/>
          </a:xfrm>
          <a:prstGeom prst="rect">
            <a:avLst/>
          </a:prstGeom>
          <a:noFill/>
        </p:spPr>
        <p:txBody>
          <a:bodyPr wrap="square">
            <a:spAutoFit/>
          </a:bodyPr>
          <a:lstStyle/>
          <a:p>
            <a:pPr algn="l">
              <a:defRPr sz="1800" b="1">
                <a:solidFill>
                  <a:srgbClr val="F08040"/>
                </a:solidFill>
                <a:latin typeface="Calibri"/>
              </a:defRPr>
            </a:pPr>
            <a:r>
              <a:t>Org Graph: il nostro dataset di riferimento</a:t>
            </a:r>
          </a:p>
        </p:txBody>
      </p:sp>
      <p:sp>
        <p:nvSpPr>
          <p:cNvPr id="6" name="TextBox 5"/>
          <p:cNvSpPr txBox="1"/>
          <p:nvPr/>
        </p:nvSpPr>
        <p:spPr>
          <a:xfrm>
            <a:off x="731520" y="4206240"/>
            <a:ext cx="8595360" cy="1828800"/>
          </a:xfrm>
          <a:prstGeom prst="rect">
            <a:avLst/>
          </a:prstGeom>
          <a:noFill/>
        </p:spPr>
        <p:txBody>
          <a:bodyPr wrap="square">
            <a:spAutoFit/>
          </a:bodyPr>
          <a:lstStyle/>
          <a:p>
            <a:pPr algn="l">
              <a:spcAft>
                <a:spcPts val="800"/>
              </a:spcAft>
              <a:defRPr sz="1400">
                <a:solidFill>
                  <a:srgbClr val="CCCCCC"/>
                </a:solidFill>
                <a:latin typeface="Calibri"/>
              </a:defRPr>
            </a:pPr>
            <a:r>
              <a:t>•  238 persone, 93 progetti, 55 skill</a:t>
            </a:r>
          </a:p>
          <a:p>
            <a:pPr algn="l">
              <a:spcAft>
                <a:spcPts val="800"/>
              </a:spcAft>
              <a:defRPr sz="1400">
                <a:solidFill>
                  <a:srgbClr val="CCCCCC"/>
                </a:solidFill>
                <a:latin typeface="Calibri"/>
              </a:defRPr>
            </a:pPr>
            <a:r>
              <a:t>•  HAS_SKILL, WORKED_ON, REPORTS_TO</a:t>
            </a:r>
          </a:p>
          <a:p>
            <a:pPr algn="l">
              <a:spcAft>
                <a:spcPts val="800"/>
              </a:spcAft>
              <a:defRPr sz="1400">
                <a:solidFill>
                  <a:srgbClr val="CCCCCC"/>
                </a:solidFill>
                <a:latin typeface="Calibri"/>
              </a:defRPr>
            </a:pPr>
            <a:r>
              <a:t>•  Query di base già scritte in Sessione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Pattern MATCH Avanzati</a:t>
            </a:r>
          </a:p>
        </p:txBody>
      </p:sp>
      <p:sp>
        <p:nvSpPr>
          <p:cNvPr id="3" name="TextBox 2"/>
          <p:cNvSpPr txBox="1"/>
          <p:nvPr/>
        </p:nvSpPr>
        <p:spPr>
          <a:xfrm>
            <a:off x="731520" y="1051560"/>
            <a:ext cx="8595360" cy="1097280"/>
          </a:xfrm>
          <a:prstGeom prst="rect">
            <a:avLst/>
          </a:prstGeom>
          <a:noFill/>
        </p:spPr>
        <p:txBody>
          <a:bodyPr wrap="square">
            <a:spAutoFit/>
          </a:bodyPr>
          <a:lstStyle/>
          <a:p>
            <a:pPr algn="l">
              <a:spcAft>
                <a:spcPts val="800"/>
              </a:spcAft>
              <a:defRPr sz="1400">
                <a:solidFill>
                  <a:srgbClr val="FFFFFF"/>
                </a:solidFill>
                <a:latin typeface="Calibri"/>
              </a:defRPr>
            </a:pPr>
            <a:r>
              <a:t>•  Match su pattern interi, non solo nodi isolati</a:t>
            </a:r>
          </a:p>
          <a:p>
            <a:pPr algn="l">
              <a:spcAft>
                <a:spcPts val="800"/>
              </a:spcAft>
              <a:defRPr sz="1400">
                <a:solidFill>
                  <a:srgbClr val="FFFFFF"/>
                </a:solidFill>
                <a:latin typeface="Calibri"/>
              </a:defRPr>
            </a:pPr>
            <a:r>
              <a:t>•  Path variables: assegna un percorso a una variabile</a:t>
            </a:r>
          </a:p>
          <a:p>
            <a:pPr algn="l">
              <a:spcAft>
                <a:spcPts val="800"/>
              </a:spcAft>
              <a:defRPr sz="1400">
                <a:solidFill>
                  <a:srgbClr val="FFFFFF"/>
                </a:solidFill>
                <a:latin typeface="Calibri"/>
              </a:defRPr>
            </a:pPr>
            <a:r>
              <a:t>•  Multipli hop: -[:rel*min..max]-&gt;</a:t>
            </a:r>
          </a:p>
          <a:p>
            <a:pPr algn="l">
              <a:spcAft>
                <a:spcPts val="800"/>
              </a:spcAft>
              <a:defRPr sz="1400">
                <a:solidFill>
                  <a:srgbClr val="FFFFFF"/>
                </a:solidFill>
                <a:latin typeface="Calibri"/>
              </a:defRPr>
            </a:pPr>
            <a:r>
              <a:t>•  ShortestPath: cammino minimo tra due nodi</a:t>
            </a:r>
          </a:p>
        </p:txBody>
      </p:sp>
      <p:sp>
        <p:nvSpPr>
          <p:cNvPr id="4" name="Rectangle 3"/>
          <p:cNvSpPr/>
          <p:nvPr/>
        </p:nvSpPr>
        <p:spPr>
          <a:xfrm>
            <a:off x="731520" y="2560320"/>
            <a:ext cx="859536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8375904" cy="3511296"/>
          </a:xfrm>
          <a:prstGeom prst="rect">
            <a:avLst/>
          </a:prstGeom>
          <a:noFill/>
        </p:spPr>
        <p:txBody>
          <a:bodyPr wrap="square">
            <a:spAutoFit/>
          </a:bodyPr>
          <a:lstStyle/>
          <a:p>
            <a:pPr>
              <a:spcAft>
                <a:spcPts val="100"/>
              </a:spcAft>
              <a:defRPr sz="1100">
                <a:solidFill>
                  <a:srgbClr val="7EC68E"/>
                </a:solidFill>
                <a:latin typeface="Consolas"/>
              </a:defRPr>
            </a:pPr>
            <a:r>
              <a:t>// Persone che lavorano con qualcuno su un progetto:</a:t>
            </a:r>
          </a:p>
          <a:p>
            <a:pPr>
              <a:spcAft>
                <a:spcPts val="100"/>
              </a:spcAft>
              <a:defRPr sz="1100">
                <a:solidFill>
                  <a:srgbClr val="7EC68E"/>
                </a:solidFill>
                <a:latin typeface="Consolas"/>
              </a:defRPr>
            </a:pPr>
            <a:r>
              <a:t>MATCH (p1:Person)-[:WORKED_ON]-&gt;(proj:Project)</a:t>
            </a:r>
          </a:p>
          <a:p>
            <a:pPr>
              <a:spcAft>
                <a:spcPts val="100"/>
              </a:spcAft>
              <a:defRPr sz="1100">
                <a:solidFill>
                  <a:srgbClr val="7EC68E"/>
                </a:solidFill>
                <a:latin typeface="Consolas"/>
              </a:defRPr>
            </a:pPr>
            <a:r>
              <a:t>      &lt;-[:WORKED_ON]-(p2:Person)</a:t>
            </a:r>
          </a:p>
          <a:p>
            <a:pPr>
              <a:spcAft>
                <a:spcPts val="100"/>
              </a:spcAft>
              <a:defRPr sz="1100">
                <a:solidFill>
                  <a:srgbClr val="7EC68E"/>
                </a:solidFill>
                <a:latin typeface="Consolas"/>
              </a:defRPr>
            </a:pPr>
            <a:r>
              <a:t>RETURN p1.nome, p2.nome, proj.nome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Path a lunghezza variabile (catena di comando):</a:t>
            </a:r>
          </a:p>
          <a:p>
            <a:pPr>
              <a:spcAft>
                <a:spcPts val="100"/>
              </a:spcAft>
              <a:defRPr sz="1100">
                <a:solidFill>
                  <a:srgbClr val="7EC68E"/>
                </a:solidFill>
                <a:latin typeface="Consolas"/>
              </a:defRPr>
            </a:pPr>
            <a:r>
              <a:t>MATCH (p:Person)-[:REPORTS_TO*1..4]-&gt;(m:Person)</a:t>
            </a:r>
          </a:p>
          <a:p>
            <a:pPr>
              <a:spcAft>
                <a:spcPts val="100"/>
              </a:spcAft>
              <a:defRPr sz="1100">
                <a:solidFill>
                  <a:srgbClr val="7EC68E"/>
                </a:solidFill>
                <a:latin typeface="Consolas"/>
              </a:defRPr>
            </a:pPr>
            <a:r>
              <a:t>RETURN p.nome AS impiegato, m.nome AS manager</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ShortestPath:</a:t>
            </a:r>
          </a:p>
          <a:p>
            <a:pPr>
              <a:spcAft>
                <a:spcPts val="100"/>
              </a:spcAft>
              <a:defRPr sz="1100">
                <a:solidFill>
                  <a:srgbClr val="7EC68E"/>
                </a:solidFill>
                <a:latin typeface="Consolas"/>
              </a:defRPr>
            </a:pPr>
            <a:r>
              <a:t>MATCH (a:Person {id: 1}), (b:Person {id: 100})</a:t>
            </a:r>
          </a:p>
          <a:p>
            <a:pPr>
              <a:spcAft>
                <a:spcPts val="100"/>
              </a:spcAft>
              <a:defRPr sz="1100">
                <a:solidFill>
                  <a:srgbClr val="7EC68E"/>
                </a:solidFill>
                <a:latin typeface="Consolas"/>
              </a:defRPr>
            </a:pPr>
            <a:r>
              <a:t>RETURN shortestPath((a)-[:WORKED_ON*]-(b)) AS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MERGE vs CREATE: Idempotenza</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CREATE — inserisce sempre, fallisce se già esiste (UNIQUE violation)</a:t>
            </a:r>
          </a:p>
          <a:p>
            <a:pPr algn="l">
              <a:spcAft>
                <a:spcPts val="800"/>
              </a:spcAft>
              <a:defRPr sz="1400">
                <a:solidFill>
                  <a:srgbClr val="FFFFFF"/>
                </a:solidFill>
                <a:latin typeface="Calibri"/>
              </a:defRPr>
            </a:pPr>
            <a:r>
              <a:t>•  MERGE — cerca pattern, se non esiste lo crea (match-or-create)</a:t>
            </a:r>
          </a:p>
          <a:p>
            <a:pPr algn="l">
              <a:spcAft>
                <a:spcPts val="800"/>
              </a:spcAft>
              <a:defRPr sz="1400">
                <a:solidFill>
                  <a:srgbClr val="FFFFFF"/>
                </a:solidFill>
                <a:latin typeface="Calibri"/>
              </a:defRPr>
            </a:pPr>
            <a:r>
              <a:t>•  Idempotenza: eseguire N volte produce lo stesso risultato</a:t>
            </a:r>
          </a:p>
          <a:p>
            <a:pPr algn="l">
              <a:spcAft>
                <a:spcPts val="800"/>
              </a:spcAft>
              <a:defRPr sz="1400">
                <a:solidFill>
                  <a:srgbClr val="FFFFFF"/>
                </a:solidFill>
                <a:latin typeface="Calibri"/>
              </a:defRPr>
            </a:pPr>
            <a:r>
              <a:t>•  MERGE su pattern completi (nodo + relazione + nodo)</a:t>
            </a:r>
          </a:p>
        </p:txBody>
      </p:sp>
      <p:sp>
        <p:nvSpPr>
          <p:cNvPr id="4" name="Rectangle 3"/>
          <p:cNvSpPr/>
          <p:nvPr/>
        </p:nvSpPr>
        <p:spPr>
          <a:xfrm>
            <a:off x="731520" y="2743200"/>
            <a:ext cx="822960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010144" cy="3328416"/>
          </a:xfrm>
          <a:prstGeom prst="rect">
            <a:avLst/>
          </a:prstGeom>
          <a:noFill/>
        </p:spPr>
        <p:txBody>
          <a:bodyPr wrap="square">
            <a:spAutoFit/>
          </a:bodyPr>
          <a:lstStyle/>
          <a:p>
            <a:pPr>
              <a:spcAft>
                <a:spcPts val="100"/>
              </a:spcAft>
              <a:defRPr sz="1100">
                <a:solidFill>
                  <a:srgbClr val="7EC68E"/>
                </a:solidFill>
                <a:latin typeface="Consolas"/>
              </a:defRPr>
            </a:pPr>
            <a:r>
              <a:t>// CREATE: fallisce se Person con id=1 già esiste</a:t>
            </a:r>
          </a:p>
          <a:p>
            <a:pPr>
              <a:spcAft>
                <a:spcPts val="100"/>
              </a:spcAft>
              <a:defRPr sz="1100">
                <a:solidFill>
                  <a:srgbClr val="7EC68E"/>
                </a:solidFill>
                <a:latin typeface="Consolas"/>
              </a:defRPr>
            </a:pPr>
            <a:r>
              <a:t>CREATE (p:Person {id: 1, nome: "Alice"});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MERGE: cerca o crea — sempre sicuro</a:t>
            </a:r>
          </a:p>
          <a:p>
            <a:pPr>
              <a:spcAft>
                <a:spcPts val="100"/>
              </a:spcAft>
              <a:defRPr sz="1100">
                <a:solidFill>
                  <a:srgbClr val="7EC68E"/>
                </a:solidFill>
                <a:latin typeface="Consolas"/>
              </a:defRPr>
            </a:pPr>
            <a:r>
              <a:t>MERGE (p:Person {id: 1})</a:t>
            </a:r>
          </a:p>
          <a:p>
            <a:pPr>
              <a:spcAft>
                <a:spcPts val="100"/>
              </a:spcAft>
              <a:defRPr sz="1100">
                <a:solidFill>
                  <a:srgbClr val="7EC68E"/>
                </a:solidFill>
                <a:latin typeface="Consolas"/>
              </a:defRPr>
            </a:pPr>
            <a:r>
              <a:t>  SET p.nome = "Alice";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MERGE su relazione:</a:t>
            </a:r>
          </a:p>
          <a:p>
            <a:pPr>
              <a:spcAft>
                <a:spcPts val="100"/>
              </a:spcAft>
              <a:defRPr sz="1100">
                <a:solidFill>
                  <a:srgbClr val="7EC68E"/>
                </a:solidFill>
                <a:latin typeface="Consolas"/>
              </a:defRPr>
            </a:pPr>
            <a:r>
              <a:t>MATCH (p:Person {id: 1}), (s:Skill {nome: "Python"})</a:t>
            </a:r>
          </a:p>
          <a:p>
            <a:pPr>
              <a:spcAft>
                <a:spcPts val="100"/>
              </a:spcAft>
              <a:defRPr sz="1100">
                <a:solidFill>
                  <a:srgbClr val="7EC68E"/>
                </a:solidFill>
                <a:latin typeface="Consolas"/>
              </a:defRPr>
            </a:pPr>
            <a:r>
              <a:t>MERGE (p)-[h:HAS_SKILL]-&gt;(s)</a:t>
            </a:r>
          </a:p>
          <a:p>
            <a:pPr>
              <a:spcAft>
                <a:spcPts val="100"/>
              </a:spcAft>
              <a:defRPr sz="1100">
                <a:solidFill>
                  <a:srgbClr val="7EC68E"/>
                </a:solidFill>
                <a:latin typeface="Consolas"/>
              </a:defRPr>
            </a:pPr>
            <a:r>
              <a:t>  SET h.livello = "Senior";</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Attenzione: MERGE non separa match da create</a:t>
            </a:r>
          </a:p>
          <a:p>
            <a:pPr>
              <a:spcAft>
                <a:spcPts val="100"/>
              </a:spcAft>
              <a:defRPr sz="1100">
                <a:solidFill>
                  <a:srgbClr val="7EC68E"/>
                </a:solidFill>
                <a:latin typeface="Consolas"/>
              </a:defRPr>
            </a:pPr>
            <a:r>
              <a:t>// Usa ON MATCH SET / ON CREATE SET per distinguere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Filtri WHERE Avanzati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AND, OR, NOT per combinare condizioni</a:t>
            </a:r>
          </a:p>
          <a:p>
            <a:pPr algn="l">
              <a:spcAft>
                <a:spcPts val="800"/>
              </a:spcAft>
              <a:defRPr sz="1400">
                <a:solidFill>
                  <a:srgbClr val="FFFFFF"/>
                </a:solidFill>
                <a:latin typeface="Calibri"/>
              </a:defRPr>
            </a:pPr>
            <a:r>
              <a:t>•  IN per liste: WHERE p.location IN ('Roma', 'Milano')</a:t>
            </a:r>
          </a:p>
          <a:p>
            <a:pPr algn="l">
              <a:spcAft>
                <a:spcPts val="800"/>
              </a:spcAft>
              <a:defRPr sz="1400">
                <a:solidFill>
                  <a:srgbClr val="FFFFFF"/>
                </a:solidFill>
                <a:latin typeface="Calibri"/>
              </a:defRPr>
            </a:pPr>
            <a:r>
              <a:t>•  CONTAINS, STARTS WITH, ENDS WITH per stringhe</a:t>
            </a:r>
          </a:p>
          <a:p>
            <a:pPr algn="l">
              <a:spcAft>
                <a:spcPts val="800"/>
              </a:spcAft>
              <a:defRPr sz="1400">
                <a:solidFill>
                  <a:srgbClr val="FFFFFF"/>
                </a:solidFill>
                <a:latin typeface="Calibri"/>
              </a:defRPr>
            </a:pPr>
            <a:r>
              <a:t>•  IS NULL / IS NOT NULL per valori mancanti</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Combinazioni AND / OR:</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(p.location = "Roma" OR p.location = "Milano")</a:t>
            </a:r>
          </a:p>
          <a:p>
            <a:pPr>
              <a:spcAft>
                <a:spcPts val="100"/>
              </a:spcAft>
              <a:defRPr sz="1100">
                <a:solidFill>
                  <a:srgbClr val="7EC68E"/>
                </a:solidFill>
                <a:latin typeface="Consolas"/>
              </a:defRPr>
            </a:pPr>
            <a:r>
              <a:t>  AND p.eta &gt;= 30</a:t>
            </a:r>
          </a:p>
          <a:p>
            <a:pPr>
              <a:spcAft>
                <a:spcPts val="100"/>
              </a:spcAft>
              <a:defRPr sz="1100">
                <a:solidFill>
                  <a:srgbClr val="7EC68E"/>
                </a:solidFill>
                <a:latin typeface="Consolas"/>
              </a:defRPr>
            </a:pPr>
            <a:r>
              <a:t>RETURN p.nome, p.location, p.eta;</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Ricerca testuale:</a:t>
            </a:r>
          </a:p>
          <a:p>
            <a:pPr>
              <a:spcAft>
                <a:spcPts val="100"/>
              </a:spcAft>
              <a:defRPr sz="1100">
                <a:solidFill>
                  <a:srgbClr val="7EC68E"/>
                </a:solidFill>
                <a:latin typeface="Consolas"/>
              </a:defRPr>
            </a:pPr>
            <a:r>
              <a:t>MATCH (s:Skill)</a:t>
            </a:r>
          </a:p>
          <a:p>
            <a:pPr>
              <a:spcAft>
                <a:spcPts val="100"/>
              </a:spcAft>
              <a:defRPr sz="1100">
                <a:solidFill>
                  <a:srgbClr val="7EC68E"/>
                </a:solidFill>
                <a:latin typeface="Consolas"/>
              </a:defRPr>
            </a:pPr>
            <a:r>
              <a:t>WHERE s.nome CONTAINS "cloud"</a:t>
            </a:r>
          </a:p>
          <a:p>
            <a:pPr>
              <a:spcAft>
                <a:spcPts val="100"/>
              </a:spcAft>
              <a:defRPr sz="1100">
                <a:solidFill>
                  <a:srgbClr val="7EC68E"/>
                </a:solidFill>
                <a:latin typeface="Consolas"/>
              </a:defRPr>
            </a:pPr>
            <a:r>
              <a:t>RETURN s.nome;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Esclusione:</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NOT p.location IN ("Roma", "Milano")</a:t>
            </a:r>
          </a:p>
          <a:p>
            <a:pPr>
              <a:spcAft>
                <a:spcPts val="100"/>
              </a:spcAft>
              <a:defRPr sz="1100">
                <a:solidFill>
                  <a:srgbClr val="7EC68E"/>
                </a:solidFill>
                <a:latin typeface="Consolas"/>
              </a:defRPr>
            </a:pPr>
            <a:r>
              <a:t>RETURN p.nome, p.location;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Aggregazioni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COUNT(*) — conta righe; COUNT(expr) — conta non-null</a:t>
            </a:r>
          </a:p>
          <a:p>
            <a:pPr algn="l">
              <a:spcAft>
                <a:spcPts val="800"/>
              </a:spcAft>
              <a:defRPr sz="1400">
                <a:solidFill>
                  <a:srgbClr val="FFFFFF"/>
                </a:solidFill>
                <a:latin typeface="Calibri"/>
              </a:defRPr>
            </a:pPr>
            <a:r>
              <a:t>•  COLLECT(expr) — raccoglie in lista</a:t>
            </a:r>
          </a:p>
          <a:p>
            <a:pPr algn="l">
              <a:spcAft>
                <a:spcPts val="800"/>
              </a:spcAft>
              <a:defRPr sz="1400">
                <a:solidFill>
                  <a:srgbClr val="FFFFFF"/>
                </a:solidFill>
                <a:latin typeface="Calibri"/>
              </a:defRPr>
            </a:pPr>
            <a:r>
              <a:t>•  AVG, SUM, MIN, MAX — statistiche su proprietà numeriche</a:t>
            </a:r>
          </a:p>
          <a:p>
            <a:pPr algn="l">
              <a:spcAft>
                <a:spcPts val="800"/>
              </a:spcAft>
              <a:defRPr sz="1400">
                <a:solidFill>
                  <a:srgbClr val="FFFFFF"/>
                </a:solidFill>
                <a:latin typeface="Calibri"/>
              </a:defRPr>
            </a:pPr>
            <a:r>
              <a:t>•  Le aggregate senza GROUP BY esplicito — le colonne non aggregate fanno da grouping key</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Skill con conteggio persone:</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s.nome, count(*) AS persone</a:t>
            </a:r>
          </a:p>
          <a:p>
            <a:pPr>
              <a:spcAft>
                <a:spcPts val="100"/>
              </a:spcAft>
              <a:defRPr sz="1100">
                <a:solidFill>
                  <a:srgbClr val="7EC68E"/>
                </a:solidFill>
                <a:latin typeface="Consolas"/>
              </a:defRPr>
            </a:pPr>
            <a:r>
              <a:t>ORDER BY persone DESC LIMIT 10;</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Livello medio per skill:</a:t>
            </a:r>
          </a:p>
          <a:p>
            <a:pPr>
              <a:spcAft>
                <a:spcPts val="100"/>
              </a:spcAft>
              <a:defRPr sz="1100">
                <a:solidFill>
                  <a:srgbClr val="7EC68E"/>
                </a:solidFill>
                <a:latin typeface="Consolas"/>
              </a:defRPr>
            </a:pPr>
            <a:r>
              <a:t>MATCH (p:Person)-[h:HAS_SKILL]-&gt;(s:Skill)</a:t>
            </a:r>
          </a:p>
          <a:p>
            <a:pPr>
              <a:spcAft>
                <a:spcPts val="100"/>
              </a:spcAft>
              <a:defRPr sz="1100">
                <a:solidFill>
                  <a:srgbClr val="7EC68E"/>
                </a:solidFill>
                <a:latin typeface="Consolas"/>
              </a:defRPr>
            </a:pPr>
            <a:r>
              <a:t>RETURN s.nome, avg(h.livello) AS media</a:t>
            </a:r>
          </a:p>
          <a:p>
            <a:pPr>
              <a:spcAft>
                <a:spcPts val="100"/>
              </a:spcAft>
              <a:defRPr sz="1100">
                <a:solidFill>
                  <a:srgbClr val="7EC68E"/>
                </a:solidFill>
                <a:latin typeface="Consolas"/>
              </a:defRPr>
            </a:pPr>
            <a:r>
              <a:t>ORDER BY media DESC;</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COLLECT: progetti per persona:</a:t>
            </a:r>
          </a:p>
          <a:p>
            <a:pPr>
              <a:spcAft>
                <a:spcPts val="100"/>
              </a:spcAft>
              <a:defRPr sz="1100">
                <a:solidFill>
                  <a:srgbClr val="7EC68E"/>
                </a:solidFill>
                <a:latin typeface="Consolas"/>
              </a:defRPr>
            </a:pPr>
            <a:r>
              <a:t>MATCH (p:Person)-[:WORKED_ON]-&gt;(proj:Project)</a:t>
            </a:r>
          </a:p>
          <a:p>
            <a:pPr>
              <a:spcAft>
                <a:spcPts val="100"/>
              </a:spcAft>
              <a:defRPr sz="1100">
                <a:solidFill>
                  <a:srgbClr val="7EC68E"/>
                </a:solidFill>
                <a:latin typeface="Consolas"/>
              </a:defRPr>
            </a:pPr>
            <a:r>
              <a:t>RETURN p.nome, collect(proj.nome) AS progetti;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Ordinamento e Paginazione</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ORDER BY ... ASC (default) / DESC</a:t>
            </a:r>
          </a:p>
          <a:p>
            <a:pPr algn="l">
              <a:spcAft>
                <a:spcPts val="800"/>
              </a:spcAft>
              <a:defRPr sz="1400">
                <a:solidFill>
                  <a:srgbClr val="FFFFFF"/>
                </a:solidFill>
                <a:latin typeface="Calibri"/>
              </a:defRPr>
            </a:pPr>
            <a:r>
              <a:t>•  Multiplo: ORDER BY eta DESC, nome ASC</a:t>
            </a:r>
          </a:p>
          <a:p>
            <a:pPr algn="l">
              <a:spcAft>
                <a:spcPts val="800"/>
              </a:spcAft>
              <a:defRPr sz="1400">
                <a:solidFill>
                  <a:srgbClr val="FFFFFF"/>
                </a:solidFill>
                <a:latin typeface="Calibri"/>
              </a:defRPr>
            </a:pPr>
            <a:r>
              <a:t>•  LIMIT n — prime n righe</a:t>
            </a:r>
          </a:p>
          <a:p>
            <a:pPr algn="l">
              <a:spcAft>
                <a:spcPts val="800"/>
              </a:spcAft>
              <a:defRPr sz="1400">
                <a:solidFill>
                  <a:srgbClr val="FFFFFF"/>
                </a:solidFill>
                <a:latin typeface="Calibri"/>
              </a:defRPr>
            </a:pPr>
            <a:r>
              <a:t>•  SKIP n — salta n righe (per paginazione)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Top 5 skill più comuni:</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s.nome, count(*) AS cnt</a:t>
            </a:r>
          </a:p>
          <a:p>
            <a:pPr>
              <a:spcAft>
                <a:spcPts val="100"/>
              </a:spcAft>
              <a:defRPr sz="1100">
                <a:solidFill>
                  <a:srgbClr val="7EC68E"/>
                </a:solidFill>
                <a:latin typeface="Consolas"/>
              </a:defRPr>
            </a:pPr>
            <a:r>
              <a:t>ORDER BY cnt DESC LIMIT 5;</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Paginazione (pagina 3, 10 risultati):</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p.nome, collect(s.nome) AS skills</a:t>
            </a:r>
          </a:p>
          <a:p>
            <a:pPr>
              <a:spcAft>
                <a:spcPts val="100"/>
              </a:spcAft>
              <a:defRPr sz="1100">
                <a:solidFill>
                  <a:srgbClr val="7EC68E"/>
                </a:solidFill>
                <a:latin typeface="Consolas"/>
              </a:defRPr>
            </a:pPr>
            <a:r>
              <a:t>ORDER BY p.nome</a:t>
            </a:r>
          </a:p>
          <a:p>
            <a:pPr>
              <a:spcAft>
                <a:spcPts val="100"/>
              </a:spcAft>
              <a:defRPr sz="1100">
                <a:solidFill>
                  <a:srgbClr val="7EC68E"/>
                </a:solidFill>
                <a:latin typeface="Consolas"/>
              </a:defRPr>
            </a:pPr>
            <a:r>
              <a:t>SKIP 20 LIMIT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Subquery con CALL { ... }</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CALL { subquery } — esegue una query nel contesto corrente</a:t>
            </a:r>
          </a:p>
          <a:p>
            <a:pPr algn="l">
              <a:spcAft>
                <a:spcPts val="800"/>
              </a:spcAft>
              <a:defRPr sz="1400">
                <a:solidFill>
                  <a:srgbClr val="FFFFFF"/>
                </a:solidFill>
                <a:latin typeface="Calibri"/>
              </a:defRPr>
            </a:pPr>
            <a:r>
              <a:t>•  Utile per UNION, COUNT su pattern multipli</a:t>
            </a:r>
          </a:p>
          <a:p>
            <a:pPr algn="l">
              <a:spcAft>
                <a:spcPts val="800"/>
              </a:spcAft>
              <a:defRPr sz="1400">
                <a:solidFill>
                  <a:srgbClr val="FFFFFF"/>
                </a:solidFill>
                <a:latin typeface="Calibri"/>
              </a:defRPr>
            </a:pPr>
            <a:r>
              <a:t>•  Subquery correlate (riferiscono variabili esterne)</a:t>
            </a:r>
          </a:p>
          <a:p>
            <a:pPr algn="l">
              <a:spcAft>
                <a:spcPts val="800"/>
              </a:spcAft>
              <a:defRPr sz="1400">
                <a:solidFill>
                  <a:srgbClr val="FFFFFF"/>
                </a:solidFill>
                <a:latin typeface="Calibri"/>
              </a:defRPr>
            </a:pPr>
            <a:r>
              <a:t>•  Equivalente a WITH + combinazione, ma più leggibile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UNION: skill e progetti in un’unica lista:</a:t>
            </a:r>
          </a:p>
          <a:p>
            <a:pPr>
              <a:spcAft>
                <a:spcPts val="100"/>
              </a:spcAft>
              <a:defRPr sz="1100">
                <a:solidFill>
                  <a:srgbClr val="7EC68E"/>
                </a:solidFill>
                <a:latin typeface="Consolas"/>
              </a:defRPr>
            </a:pPr>
            <a:r>
              <a:t>CALL { MATCH (s:Skill) RETURN s.nome AS nome, "Skill" AS tipo }</a:t>
            </a:r>
          </a:p>
          <a:p>
            <a:pPr>
              <a:spcAft>
                <a:spcPts val="100"/>
              </a:spcAft>
              <a:defRPr sz="1100">
                <a:solidFill>
                  <a:srgbClr val="7EC68E"/>
                </a:solidFill>
                <a:latin typeface="Consolas"/>
              </a:defRPr>
            </a:pPr>
            <a:r>
              <a:t>UNION</a:t>
            </a:r>
          </a:p>
          <a:p>
            <a:pPr>
              <a:spcAft>
                <a:spcPts val="100"/>
              </a:spcAft>
              <a:defRPr sz="1100">
                <a:solidFill>
                  <a:srgbClr val="7EC68E"/>
                </a:solidFill>
                <a:latin typeface="Consolas"/>
              </a:defRPr>
            </a:pPr>
            <a:r>
              <a:t>CALL { MATCH (p:Project) RETURN p.nome AS nome, "Progetto" AS tipo }</a:t>
            </a:r>
          </a:p>
          <a:p>
            <a:pPr>
              <a:spcAft>
                <a:spcPts val="100"/>
              </a:spcAft>
              <a:defRPr sz="1100">
                <a:solidFill>
                  <a:srgbClr val="7EC68E"/>
                </a:solidFill>
                <a:latin typeface="Consolas"/>
              </a:defRPr>
            </a:pPr>
            <a:r>
              <a:t>RETURN nome, tipo ORDER BY 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Conteggi multipli per persona (subquery correlate):</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RETURN p.nome,</a:t>
            </a:r>
          </a:p>
          <a:p>
            <a:pPr>
              <a:spcAft>
                <a:spcPts val="100"/>
              </a:spcAft>
              <a:defRPr sz="1100">
                <a:solidFill>
                  <a:srgbClr val="7EC68E"/>
                </a:solidFill>
                <a:latin typeface="Consolas"/>
              </a:defRPr>
            </a:pPr>
            <a:r>
              <a:t>  CALL { MATCH (p)-[:HAS_SKILL]-&gt;(s:Skill) RETURN count(*) }</a:t>
            </a:r>
          </a:p>
          <a:p>
            <a:pPr>
              <a:spcAft>
                <a:spcPts val="100"/>
              </a:spcAft>
              <a:defRPr sz="1100">
                <a:solidFill>
                  <a:srgbClr val="7EC68E"/>
                </a:solidFill>
                <a:latin typeface="Consolas"/>
              </a:defRPr>
            </a:pPr>
            <a:r>
              <a:t>    AS num_skill,</a:t>
            </a:r>
          </a:p>
          <a:p>
            <a:pPr>
              <a:spcAft>
                <a:spcPts val="100"/>
              </a:spcAft>
              <a:defRPr sz="1100">
                <a:solidFill>
                  <a:srgbClr val="7EC68E"/>
                </a:solidFill>
                <a:latin typeface="Consolas"/>
              </a:defRPr>
            </a:pPr>
            <a:r>
              <a:t>  CALL { MATCH (p)-[:WORKED_ON]-&gt;(proj:Project) RETURN count(*) }</a:t>
            </a:r>
          </a:p>
          <a:p>
            <a:pPr>
              <a:spcAft>
                <a:spcPts val="100"/>
              </a:spcAft>
              <a:defRPr sz="1100">
                <a:solidFill>
                  <a:srgbClr val="7EC68E"/>
                </a:solidFill>
                <a:latin typeface="Consolas"/>
              </a:defRPr>
            </a:pPr>
            <a:r>
              <a:t>    AS num_progetti;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Date, Liste e Mappe</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Date: date(), datetime(), date.transaction()</a:t>
            </a:r>
          </a:p>
          <a:p>
            <a:pPr algn="l">
              <a:spcAft>
                <a:spcPts val="800"/>
              </a:spcAft>
              <a:defRPr sz="1400">
                <a:solidFill>
                  <a:srgbClr val="FFFFFF"/>
                </a:solidFill>
                <a:latin typeface="Calibri"/>
              </a:defRPr>
            </a:pPr>
            <a:r>
              <a:t>•  Liste: range(0, n), [x IN list | x.prop], reduce()</a:t>
            </a:r>
          </a:p>
          <a:p>
            <a:pPr algn="l">
              <a:spcAft>
                <a:spcPts val="800"/>
              </a:spcAft>
              <a:defRPr sz="1400">
                <a:solidFill>
                  <a:srgbClr val="FFFFFF"/>
                </a:solidFill>
                <a:latin typeface="Calibri"/>
              </a:defRPr>
            </a:pPr>
            <a:r>
              <a:t>•  Mappe: {chiave: valore, ...}, accesso con .key</a:t>
            </a:r>
          </a:p>
          <a:p>
            <a:pPr algn="l">
              <a:spcAft>
                <a:spcPts val="800"/>
              </a:spcAft>
              <a:defRPr sz="1400">
                <a:solidFill>
                  <a:srgbClr val="FFFFFF"/>
                </a:solidFill>
                <a:latin typeface="Calibri"/>
              </a:defRPr>
            </a:pPr>
            <a:r>
              <a:t>•  UNWIND: espande una lista in righe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Date:</a:t>
            </a:r>
          </a:p>
          <a:p>
            <a:pPr>
              <a:spcAft>
                <a:spcPts val="100"/>
              </a:spcAft>
              <a:defRPr sz="1100">
                <a:solidFill>
                  <a:srgbClr val="7EC68E"/>
                </a:solidFill>
                <a:latin typeface="Consolas"/>
              </a:defRPr>
            </a:pPr>
            <a:r>
              <a:t>RETURN date() AS oggi,</a:t>
            </a:r>
          </a:p>
          <a:p>
            <a:pPr>
              <a:spcAft>
                <a:spcPts val="100"/>
              </a:spcAft>
              <a:defRPr sz="1100">
                <a:solidFill>
                  <a:srgbClr val="7EC68E"/>
                </a:solidFill>
                <a:latin typeface="Consolas"/>
              </a:defRPr>
            </a:pPr>
            <a:r>
              <a:t>  date("2026-07-01") AS inizio_corso;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Range + UNWIND per generare righe:</a:t>
            </a:r>
          </a:p>
          <a:p>
            <a:pPr>
              <a:spcAft>
                <a:spcPts val="100"/>
              </a:spcAft>
              <a:defRPr sz="1100">
                <a:solidFill>
                  <a:srgbClr val="7EC68E"/>
                </a:solidFill>
                <a:latin typeface="Consolas"/>
              </a:defRPr>
            </a:pPr>
            <a:r>
              <a:t>UNWIND range(2020, 2026) AS anno</a:t>
            </a:r>
          </a:p>
          <a:p>
            <a:pPr>
              <a:spcAft>
                <a:spcPts val="100"/>
              </a:spcAft>
              <a:defRPr sz="1100">
                <a:solidFill>
                  <a:srgbClr val="7EC68E"/>
                </a:solidFill>
                <a:latin typeface="Consolas"/>
              </a:defRPr>
            </a:pPr>
            <a:r>
              <a:t>RETURN anno;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List comprehension:</a:t>
            </a:r>
          </a:p>
          <a:p>
            <a:pPr>
              <a:spcAft>
                <a:spcPts val="100"/>
              </a:spcAft>
              <a:defRPr sz="1100">
                <a:solidFill>
                  <a:srgbClr val="7EC68E"/>
                </a:solidFill>
                <a:latin typeface="Consolas"/>
              </a:defRPr>
            </a:pPr>
            <a:r>
              <a:t>WITH [1, 2, 3, 4, 5] AS numeri</a:t>
            </a:r>
          </a:p>
          <a:p>
            <a:pPr>
              <a:spcAft>
                <a:spcPts val="100"/>
              </a:spcAft>
              <a:defRPr sz="1100">
                <a:solidFill>
                  <a:srgbClr val="7EC68E"/>
                </a:solidFill>
                <a:latin typeface="Consolas"/>
              </a:defRPr>
            </a:pPr>
            <a:r>
              <a:t>RETURN [x IN numeri WHERE x &gt; 2 | x * 10] AS trasformati;</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Mappe:</a:t>
            </a:r>
          </a:p>
          <a:p>
            <a:pPr>
              <a:spcAft>
                <a:spcPts val="100"/>
              </a:spcAft>
              <a:defRPr sz="1100">
                <a:solidFill>
                  <a:srgbClr val="7EC68E"/>
                </a:solidFill>
                <a:latin typeface="Consolas"/>
              </a:defRPr>
            </a:pPr>
            <a:r>
              <a:t>RETURN {nome: "Alice", eta: 30}.nome AS nome;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Query Tuning: PROFILE ed EXPLAIN</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EXPLAIN — mostra il piano senza eseguire (stima)</a:t>
            </a:r>
          </a:p>
          <a:p>
            <a:pPr algn="l">
              <a:spcAft>
                <a:spcPts val="800"/>
              </a:spcAft>
              <a:defRPr sz="1400">
                <a:solidFill>
                  <a:srgbClr val="FFFFFF"/>
                </a:solidFill>
                <a:latin typeface="Calibri"/>
              </a:defRPr>
            </a:pPr>
            <a:r>
              <a:t>•  PROFILE — esegue e mostra statistiche reali (dbHits, rows)</a:t>
            </a:r>
          </a:p>
          <a:p>
            <a:pPr algn="l">
              <a:spcAft>
                <a:spcPts val="800"/>
              </a:spcAft>
              <a:defRPr sz="1400">
                <a:solidFill>
                  <a:srgbClr val="FFFFFF"/>
                </a:solidFill>
                <a:latin typeface="Calibri"/>
              </a:defRPr>
            </a:pPr>
            <a:r>
              <a:t>•  Indicatori: AllNodesScan vs NodeByLabelScan vs NodeIndexSeek</a:t>
            </a:r>
          </a:p>
          <a:p>
            <a:pPr algn="l">
              <a:spcAft>
                <a:spcPts val="800"/>
              </a:spcAft>
              <a:defRPr sz="1400">
                <a:solidFill>
                  <a:srgbClr val="FFFFFF"/>
                </a:solidFill>
                <a:latin typeface="Calibri"/>
              </a:defRPr>
            </a:pPr>
            <a:r>
              <a:t>•  CartesianProduct → segnale di pattern non ottimale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Piano stimato:</a:t>
            </a:r>
          </a:p>
          <a:p>
            <a:pPr>
              <a:spcAft>
                <a:spcPts val="100"/>
              </a:spcAft>
              <a:defRPr sz="1100">
                <a:solidFill>
                  <a:srgbClr val="7EC68E"/>
                </a:solidFill>
                <a:latin typeface="Consolas"/>
              </a:defRPr>
            </a:pPr>
            <a:r>
              <a:t>EXPLAIN MATCH (p:Person)-[:HAS_SKILL]-&gt;(s:Skill)</a:t>
            </a:r>
          </a:p>
          <a:p>
            <a:pPr>
              <a:spcAft>
                <a:spcPts val="100"/>
              </a:spcAft>
              <a:defRPr sz="1100">
                <a:solidFill>
                  <a:srgbClr val="7EC68E"/>
                </a:solidFill>
                <a:latin typeface="Consolas"/>
              </a:defRPr>
            </a:pPr>
            <a:r>
              <a:t>WHERE p.location = "Roma"</a:t>
            </a:r>
          </a:p>
          <a:p>
            <a:pPr>
              <a:spcAft>
                <a:spcPts val="100"/>
              </a:spcAft>
              <a:defRPr sz="1100">
                <a:solidFill>
                  <a:srgbClr val="7EC68E"/>
                </a:solidFill>
                <a:latin typeface="Consolas"/>
              </a:defRPr>
            </a:pPr>
            <a:r>
              <a:t>RETURN p.nome, s.nome;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Esecuzione con metriche reali:</a:t>
            </a:r>
          </a:p>
          <a:p>
            <a:pPr>
              <a:spcAft>
                <a:spcPts val="100"/>
              </a:spcAft>
              <a:defRPr sz="1100">
                <a:solidFill>
                  <a:srgbClr val="7EC68E"/>
                </a:solidFill>
                <a:latin typeface="Consolas"/>
              </a:defRPr>
            </a:pPr>
            <a:r>
              <a:t>PROFILE MATCH (p:Person {location: "Roma"})</a:t>
            </a:r>
          </a:p>
          <a:p>
            <a:pPr>
              <a:spcAft>
                <a:spcPts val="100"/>
              </a:spcAft>
              <a:defRPr sz="1100">
                <a:solidFill>
                  <a:srgbClr val="7EC68E"/>
                </a:solidFill>
                <a:latin typeface="Consolas"/>
              </a:defRPr>
            </a:pPr>
            <a:r>
              <a:t>  -[:HAS_SKILL]-&gt;(s:Skill)</a:t>
            </a:r>
          </a:p>
          <a:p>
            <a:pPr>
              <a:spcAft>
                <a:spcPts val="100"/>
              </a:spcAft>
              <a:defRPr sz="1100">
                <a:solidFill>
                  <a:srgbClr val="7EC68E"/>
                </a:solidFill>
                <a:latin typeface="Consolas"/>
              </a:defRPr>
            </a:pPr>
            <a:r>
              <a:t>RETURN p.nome, s.nome;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Cosa cercare:</a:t>
            </a:r>
          </a:p>
          <a:p>
            <a:pPr>
              <a:spcAft>
                <a:spcPts val="100"/>
              </a:spcAft>
              <a:defRPr sz="1100">
                <a:solidFill>
                  <a:srgbClr val="7EC68E"/>
                </a:solidFill>
                <a:latin typeface="Consolas"/>
              </a:defRPr>
            </a:pPr>
            <a:r>
              <a:t>// - NodeIndexSeek  bene (usa indice)</a:t>
            </a:r>
          </a:p>
          <a:p>
            <a:pPr>
              <a:spcAft>
                <a:spcPts val="100"/>
              </a:spcAft>
              <a:defRPr sz="1100">
                <a:solidFill>
                  <a:srgbClr val="7EC68E"/>
                </a:solidFill>
                <a:latin typeface="Consolas"/>
              </a:defRPr>
            </a:pPr>
            <a:r>
              <a:t>// - AllNodesScan   male (scan completo)</a:t>
            </a:r>
          </a:p>
          <a:p>
            <a:pPr>
              <a:spcAft>
                <a:spcPts val="100"/>
              </a:spcAft>
              <a:defRPr sz="1100">
                <a:solidFill>
                  <a:srgbClr val="7EC68E"/>
                </a:solidFill>
                <a:latin typeface="Consolas"/>
              </a:defRPr>
            </a:pPr>
            <a:r>
              <a:t>// - dbHits alti    candidato a ottimizzazione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APOC: Procedure Standard</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APOC = Awesome Procedures On Cypher (libreria ufficiale)</a:t>
            </a:r>
          </a:p>
          <a:p>
            <a:pPr algn="l">
              <a:spcAft>
                <a:spcPts val="800"/>
              </a:spcAft>
              <a:defRPr sz="1400">
                <a:solidFill>
                  <a:srgbClr val="FFFFFF"/>
                </a:solidFill>
                <a:latin typeface="Calibri"/>
              </a:defRPr>
            </a:pPr>
            <a:r>
              <a:t>•  Già disponibile su AuraDB (sottoinsieme)</a:t>
            </a:r>
          </a:p>
          <a:p>
            <a:pPr algn="l">
              <a:spcAft>
                <a:spcPts val="800"/>
              </a:spcAft>
              <a:defRPr sz="1400">
                <a:solidFill>
                  <a:srgbClr val="FFFFFF"/>
                </a:solidFill>
                <a:latin typeface="Calibri"/>
              </a:defRPr>
            </a:pPr>
            <a:r>
              <a:t>•  Utilità: apoc.load.csv, apoc.periodic.iterate, apoc.coll.*</a:t>
            </a:r>
          </a:p>
          <a:p>
            <a:pPr algn="l">
              <a:spcAft>
                <a:spcPts val="800"/>
              </a:spcAft>
              <a:defRPr sz="1400">
                <a:solidFill>
                  <a:srgbClr val="FFFFFF"/>
                </a:solidFill>
                <a:latin typeface="Calibri"/>
              </a:defRPr>
            </a:pPr>
            <a:r>
              <a:t>•  Conversioni: apoc.convert.*, apoc.text.*, apoc.date.*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Unire due liste:</a:t>
            </a:r>
          </a:p>
          <a:p>
            <a:pPr>
              <a:spcAft>
                <a:spcPts val="100"/>
              </a:spcAft>
              <a:defRPr sz="1100">
                <a:solidFill>
                  <a:srgbClr val="7EC68E"/>
                </a:solidFill>
                <a:latin typeface="Consolas"/>
              </a:defRPr>
            </a:pPr>
            <a:r>
              <a:t>RETURN apoc.coll.zip([1,2,3], ["a","b","c"]) AS zippato;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Pulizia testo:</a:t>
            </a:r>
          </a:p>
          <a:p>
            <a:pPr>
              <a:spcAft>
                <a:spcPts val="100"/>
              </a:spcAft>
              <a:defRPr sz="1100">
                <a:solidFill>
                  <a:srgbClr val="7EC68E"/>
                </a:solidFill>
                <a:latin typeface="Consolas"/>
              </a:defRPr>
            </a:pPr>
            <a:r>
              <a:t>RETURN apoc.text.clean("Hello World!") AS pulito;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Caricamento CSV con APOC:</a:t>
            </a:r>
          </a:p>
          <a:p>
            <a:pPr>
              <a:spcAft>
                <a:spcPts val="100"/>
              </a:spcAft>
              <a:defRPr sz="1100">
                <a:solidFill>
                  <a:srgbClr val="7EC68E"/>
                </a:solidFill>
                <a:latin typeface="Consolas"/>
              </a:defRPr>
            </a:pPr>
            <a:r>
              <a:t>CALL apoc.load.csv("file:///persone.csv")</a:t>
            </a:r>
          </a:p>
          <a:p>
            <a:pPr>
              <a:spcAft>
                <a:spcPts val="100"/>
              </a:spcAft>
              <a:defRPr sz="1100">
                <a:solidFill>
                  <a:srgbClr val="7EC68E"/>
                </a:solidFill>
                <a:latin typeface="Consolas"/>
              </a:defRPr>
            </a:pPr>
            <a:r>
              <a:t>YIELD map AS row</a:t>
            </a:r>
          </a:p>
          <a:p>
            <a:pPr>
              <a:spcAft>
                <a:spcPts val="100"/>
              </a:spcAft>
              <a:defRPr sz="1100">
                <a:solidFill>
                  <a:srgbClr val="7EC68E"/>
                </a:solidFill>
                <a:latin typeface="Consolas"/>
              </a:defRPr>
            </a:pPr>
            <a:r>
              <a:t>MERGE (p:Person {id: row.id})</a:t>
            </a:r>
          </a:p>
          <a:p>
            <a:pPr>
              <a:spcAft>
                <a:spcPts val="100"/>
              </a:spcAft>
              <a:defRPr sz="1100">
                <a:solidFill>
                  <a:srgbClr val="7EC68E"/>
                </a:solidFill>
                <a:latin typeface="Consolas"/>
              </a:defRPr>
            </a:pPr>
            <a:r>
              <a:t>  SET p.nome = row.nome;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Esecuzione periodica batch:</a:t>
            </a:r>
          </a:p>
          <a:p>
            <a:pPr>
              <a:spcAft>
                <a:spcPts val="100"/>
              </a:spcAft>
              <a:defRPr sz="1100">
                <a:solidFill>
                  <a:srgbClr val="7EC68E"/>
                </a:solidFill>
                <a:latin typeface="Consolas"/>
              </a:defRPr>
            </a:pPr>
            <a:r>
              <a:t>CALL apoc.periodic.iterate(</a:t>
            </a:r>
          </a:p>
          <a:p>
            <a:pPr>
              <a:spcAft>
                <a:spcPts val="100"/>
              </a:spcAft>
              <a:defRPr sz="1100">
                <a:solidFill>
                  <a:srgbClr val="7EC68E"/>
                </a:solidFill>
                <a:latin typeface="Consolas"/>
              </a:defRPr>
            </a:pPr>
            <a:r>
              <a:t>  "MATCH (p:Person) RETURN p",</a:t>
            </a:r>
          </a:p>
          <a:p>
            <a:pPr>
              <a:spcAft>
                <a:spcPts val="100"/>
              </a:spcAft>
              <a:defRPr sz="1100">
                <a:solidFill>
                  <a:srgbClr val="7EC68E"/>
                </a:solidFill>
                <a:latin typeface="Consolas"/>
              </a:defRPr>
            </a:pPr>
            <a:r>
              <a:t>  "SET p.aggiornato = timestamp()",</a:t>
            </a:r>
          </a:p>
          <a:p>
            <a:pPr>
              <a:spcAft>
                <a:spcPts val="100"/>
              </a:spcAft>
              <a:defRPr sz="1100">
                <a:solidFill>
                  <a:srgbClr val="7EC68E"/>
                </a:solidFill>
                <a:latin typeface="Consolas"/>
              </a:defRPr>
            </a:pPr>
            <a:r>
              <a:t>  {batchSize: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Esercizi</a:t>
            </a:r>
          </a:p>
        </p:txBody>
      </p:sp>
      <p:sp>
        <p:nvSpPr>
          <p:cNvPr id="3" name="TextBox 2"/>
          <p:cNvSpPr txBox="1"/>
          <p:nvPr/>
        </p:nvSpPr>
        <p:spPr>
          <a:xfrm>
            <a:off x="731520" y="1143000"/>
            <a:ext cx="8595360" cy="4114800"/>
          </a:xfrm>
          <a:prstGeom prst="rect">
            <a:avLst/>
          </a:prstGeom>
          <a:noFill/>
        </p:spPr>
        <p:txBody>
          <a:bodyPr wrap="square">
            <a:spAutoFit/>
          </a:bodyPr>
          <a:lstStyle/>
          <a:p>
            <a:pPr algn="l">
              <a:spcAft>
                <a:spcPts val="1300"/>
              </a:spcAft>
              <a:defRPr sz="1500">
                <a:solidFill>
                  <a:srgbClr val="FFFFFF"/>
                </a:solidFill>
                <a:latin typeface="Calibri"/>
              </a:defRPr>
            </a:pPr>
            <a:r>
              <a:t>•  Trova le 5 skill più diffuse tra i dipendenti</a:t>
            </a:r>
          </a:p>
          <a:p>
            <a:pPr algn="l">
              <a:spcAft>
                <a:spcPts val="1300"/>
              </a:spcAft>
              <a:defRPr sz="1500">
                <a:solidFill>
                  <a:srgbClr val="FFFFFF"/>
                </a:solidFill>
                <a:latin typeface="Calibri"/>
              </a:defRPr>
            </a:pPr>
            <a:r>
              <a:t>•  Per ogni persona, conta skill e progetti (subquery correlate)</a:t>
            </a:r>
          </a:p>
          <a:p>
            <a:pPr algn="l">
              <a:spcAft>
                <a:spcPts val="1300"/>
              </a:spcAft>
              <a:defRPr sz="1500">
                <a:solidFill>
                  <a:srgbClr val="FFFFFF"/>
                </a:solidFill>
                <a:latin typeface="Calibri"/>
              </a:defRPr>
            </a:pPr>
            <a:r>
              <a:t>•  Trova il cammino minimo tra due impiegati qualsiasi</a:t>
            </a:r>
          </a:p>
          <a:p>
            <a:pPr algn="l">
              <a:spcAft>
                <a:spcPts val="1300"/>
              </a:spcAft>
              <a:defRPr sz="1500">
                <a:solidFill>
                  <a:srgbClr val="FFFFFF"/>
                </a:solidFill>
                <a:latin typeface="Calibri"/>
              </a:defRPr>
            </a:pPr>
            <a:r>
              <a:t>•  Skill overlap: impiegati che condividono almeno 3 skill</a:t>
            </a:r>
          </a:p>
          <a:p>
            <a:pPr algn="l">
              <a:spcAft>
                <a:spcPts val="1300"/>
              </a:spcAft>
              <a:defRPr sz="1500">
                <a:solidFill>
                  <a:srgbClr val="FFFFFF"/>
                </a:solidFill>
                <a:latin typeface="Calibri"/>
              </a:defRPr>
            </a:pPr>
            <a:r>
              <a:t>•  Catena di comando: persone sotto uno stesso supervisor (path variabile)</a:t>
            </a:r>
          </a:p>
          <a:p>
            <a:pPr algn="l">
              <a:spcAft>
                <a:spcPts val="1300"/>
              </a:spcAft>
              <a:defRPr sz="1500">
                <a:solidFill>
                  <a:srgbClr val="FFFFFF"/>
                </a:solidFill>
                <a:latin typeface="Calibri"/>
              </a:defRPr>
            </a:pPr>
            <a:r>
              <a:t>•  Paginazione: mostra le persone 11–20 in ordine alfabetico</a:t>
            </a:r>
          </a:p>
        </p:txBody>
      </p:sp>
      <p:sp>
        <p:nvSpPr>
          <p:cNvPr id="4" name="TextBox 3"/>
          <p:cNvSpPr txBox="1"/>
          <p:nvPr/>
        </p:nvSpPr>
        <p:spPr>
          <a:xfrm>
            <a:off x="731520" y="5303520"/>
            <a:ext cx="8595360" cy="365760"/>
          </a:xfrm>
          <a:prstGeom prst="rect">
            <a:avLst/>
          </a:prstGeom>
          <a:noFill/>
        </p:spPr>
        <p:txBody>
          <a:bodyPr wrap="square">
            <a:spAutoFit/>
          </a:bodyPr>
          <a:lstStyle/>
          <a:p>
            <a:pPr algn="l">
              <a:defRPr sz="1300" b="0">
                <a:solidFill>
                  <a:srgbClr val="F0C040"/>
                </a:solidFill>
                <a:latin typeface="Calibri"/>
              </a:defRPr>
            </a:pPr>
            <a:r>
              <a:t>Le soluzioni sono nel notebook della Sessione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143000"/>
            <a:ext cx="8595360" cy="5029200"/>
          </a:xfrm>
          <a:prstGeom prst="rect">
            <a:avLst/>
          </a:prstGeom>
          <a:noFill/>
        </p:spPr>
        <p:txBody>
          <a:bodyPr wrap="square">
            <a:spAutoFit/>
          </a:bodyPr>
          <a:lstStyle/>
          <a:p>
            <a:pPr algn="l">
              <a:spcAft>
                <a:spcPts val="1300"/>
              </a:spcAft>
              <a:defRPr sz="1500">
                <a:solidFill>
                  <a:srgbClr val="FFFFFF"/>
                </a:solidFill>
                <a:latin typeface="Calibri"/>
              </a:defRPr>
            </a:pPr>
            <a:r>
              <a:t>•  Pattern MATCH con path variables e multi-hop: espressività del grafo</a:t>
            </a:r>
          </a:p>
          <a:p>
            <a:pPr algn="l">
              <a:spcAft>
                <a:spcPts val="1300"/>
              </a:spcAft>
              <a:defRPr sz="1500">
                <a:solidFill>
                  <a:srgbClr val="FFFFFF"/>
                </a:solidFill>
                <a:latin typeface="Calibri"/>
              </a:defRPr>
            </a:pPr>
            <a:r>
              <a:t>•  MERGE è idempotente — preferiscilo a CREATE per caricamenti ripetuti</a:t>
            </a:r>
          </a:p>
          <a:p>
            <a:pPr algn="l">
              <a:spcAft>
                <a:spcPts val="1300"/>
              </a:spcAft>
              <a:defRPr sz="1500">
                <a:solidFill>
                  <a:srgbClr val="FFFFFF"/>
                </a:solidFill>
                <a:latin typeface="Calibri"/>
              </a:defRPr>
            </a:pPr>
            <a:r>
              <a:t>•  WHERE supporta AND/OR/IN/CONTAINS per filtri complessi</a:t>
            </a:r>
          </a:p>
          <a:p>
            <a:pPr algn="l">
              <a:spcAft>
                <a:spcPts val="1300"/>
              </a:spcAft>
              <a:defRPr sz="1500">
                <a:solidFill>
                  <a:srgbClr val="FFFFFF"/>
                </a:solidFill>
                <a:latin typeface="Calibri"/>
              </a:defRPr>
            </a:pPr>
            <a:r>
              <a:t>•  Aggregazioni: COUNT, COLLECT, AVG senza GROUP BY esplicito</a:t>
            </a:r>
          </a:p>
          <a:p>
            <a:pPr algn="l">
              <a:spcAft>
                <a:spcPts val="1300"/>
              </a:spcAft>
              <a:defRPr sz="1500">
                <a:solidFill>
                  <a:srgbClr val="FFFFFF"/>
                </a:solidFill>
                <a:latin typeface="Calibri"/>
              </a:defRPr>
            </a:pPr>
            <a:r>
              <a:t>•  Subquery CALL { ... } per UNION e conteggi multipli</a:t>
            </a:r>
          </a:p>
          <a:p>
            <a:pPr algn="l">
              <a:spcAft>
                <a:spcPts val="1300"/>
              </a:spcAft>
              <a:defRPr sz="1500">
                <a:solidFill>
                  <a:srgbClr val="FFFFFF"/>
                </a:solidFill>
                <a:latin typeface="Calibri"/>
              </a:defRPr>
            </a:pPr>
            <a:r>
              <a:t>•  PROFILE per diagnosticare performance (cerca NodeIndexSeek)</a:t>
            </a:r>
          </a:p>
          <a:p>
            <a:pPr algn="l">
              <a:spcAft>
                <a:spcPts val="1300"/>
              </a:spcAft>
              <a:defRPr sz="1500">
                <a:solidFill>
                  <a:srgbClr val="FFFFFF"/>
                </a:solidFill>
                <a:latin typeface="Calibri"/>
              </a:defRPr>
            </a:pPr>
            <a:r>
              <a:t>•  APOC estende Cypher con centinaia di utilità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3: Data Modeling &amp; Import</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di modellazione: fan-out, hyperedge</a:t>
            </a:r>
          </a:p>
          <a:p>
            <a:pPr algn="l">
              <a:spcAft>
                <a:spcPts val="1200"/>
              </a:spcAft>
              <a:defRPr sz="1400">
                <a:solidFill>
                  <a:srgbClr val="CCCCCC"/>
                </a:solidFill>
                <a:latin typeface="Calibri"/>
              </a:defRPr>
            </a:pPr>
            <a:r>
              <a:t>•  Da relazione a grafo: mappatura tabella → nodi/relazioni</a:t>
            </a:r>
          </a:p>
          <a:p>
            <a:pPr algn="l">
              <a:spcAft>
                <a:spcPts val="1200"/>
              </a:spcAft>
              <a:defRPr sz="1400">
                <a:solidFill>
                  <a:srgbClr val="CCCCCC"/>
                </a:solidFill>
                <a:latin typeface="Calibri"/>
              </a:defRPr>
            </a:pPr>
            <a:r>
              <a:t>•  Antipattern: supernodi, abuso di proprietà</a:t>
            </a:r>
          </a:p>
          <a:p>
            <a:pPr algn="l">
              <a:spcAft>
                <a:spcPts val="1200"/>
              </a:spcAft>
              <a:defRPr sz="1400">
                <a:solidFill>
                  <a:srgbClr val="CCCCCC"/>
                </a:solidFill>
                <a:latin typeface="Calibri"/>
              </a:defRPr>
            </a:pPr>
            <a:r>
              <a:t>•  Constraints e indici (UNIQUE, RANGE, TEXT)</a:t>
            </a:r>
          </a:p>
          <a:p>
            <a:pPr algn="l">
              <a:spcAft>
                <a:spcPts val="1200"/>
              </a:spcAft>
              <a:defRPr sz="1400">
                <a:solidFill>
                  <a:srgbClr val="CCCCCC"/>
                </a:solidFill>
                <a:latin typeface="Calibri"/>
              </a:defRPr>
            </a:pPr>
            <a:r>
              <a:t>•  LOAD CSV e strumenti di import</a:t>
            </a:r>
          </a:p>
          <a:p>
            <a:pPr algn="l">
              <a:spcAft>
                <a:spcPts val="1200"/>
              </a:spcAft>
              <a:defRPr sz="1400">
                <a:solidFill>
                  <a:srgbClr val="CCCCCC"/>
                </a:solidFill>
                <a:latin typeface="Calibri"/>
              </a:defRPr>
            </a:pPr>
            <a:r>
              <a:t>•  Refactoring Org Graph con nuove labels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